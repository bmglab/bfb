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What can you share, claim and sign your name to?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code can replace a name while a linkage key remains elsewhere.
Genomic patterns and combinations of metadata can permit re-identification.
Anonymity is a contextual assessment, not a blanket promise about a file format.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What data leave which institution?
Who receives them, where are they processed, and for what purpose?
Who can access them, for how long, and under what approval?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KVKK treats genetic and health data within special categories.
Processing conditions and international-transfer requirements must both be considered.
GDPR applicability and obligations depend on the situation; seek institutional advice.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legitimate processing basis does not by itself solve every transfer or security obligation.
Minimize data, limit access and document purpose and retention.
Use the institution's approved environment for real sensitive data.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Synthetic examples do not represent real patients.
Public excerpts remain subject to source and license conditions.
Use course pseudonyms; do not embed student numbers in public notebooks.
Checkpoint: ask a student to state one conclusion the data do NOT support.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Name the tool and date or version where known.
Describe what it assisted with and which checks you performed.
State responsibility for the submitted result; No AI used is acceptable.
Checkpoint: ask a student to state one conclusion the data do NOT support.
Read technical terms aloud; ask students to explain the measurement before interpreting the model. Accept justified uncertainty.
[Sources]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Data provenance, code or steps, versions, parameters and independent unit.
A clean rerun plus a plain-language explanation of limitations.
A record of corrections is more useful than a claim of perfection.
Checkpoint: ask a student to state one conclusion the data do NOT support.
Read technical terms aloud; ask students to explain the measurement before interpreting the model. Accept justified uncertainty.
[Sources]
S05: Python 3 tutorial: introduction and control flow.
https://docs.python.org/3/tutorial/
S10: DESeq2: Analyzing RNA-seq data with DESeq2, release vignette.
https://bioconductor.org/packages/release/bioc/vignettes/DESeq2/inst/doc/DESeq2.html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D1: an experiment you can justify.
D2: a prediction you can evaluate honestly.
A model card, structure card and variant statement showing the limits of your claims.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S20: Turkish Personal Data Protection Law No. 6698, official English translation with 2024 amendments.
https://www.kvkk.gov.tr/Icerik/6649/Personal-Data-Protection-Law
S21: KVKK: international transfers, Article 9 amendments and safeguards.
https://www.kvkk.gov.tr/Icerik/2053/Yurtdisina-Aktarim
S22: Regulation (EU) 2016/679 (GDPR), official EUR-Lex text.
https://eur-lex.europa.eu/eli/reg/2016/679/oj/eng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14</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Responsible bioinformatics and your scientific record</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What can you share, claim and sign your name to?</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pseudonymized data from a justified anonymity claim.</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Identify when a data flow needs institutional privacy review.</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Submit a reproducible portfolio with a precise AI-use disclosure.</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Genetic and health information can be sensitive even when a name column has been removed.</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Removing names does not remove all risk</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S22  |  4</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Pseudonymization</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Anonymity claim</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code can replace a name while a linkage key remains elsewhere.</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47" dirty="0">
                <a:solidFill>
                  <a:srgbClr val="232D3B"/>
                </a:solidFill>
                <a:latin typeface="Aptos" pitchFamily="34" charset="0"/>
                <a:ea typeface="Aptos" pitchFamily="34" charset="-122"/>
                <a:cs typeface="Aptos" pitchFamily="34" charset="-120"/>
              </a:rPr>
              <a:t>Genomic patterns and combinations of metadata can permit re-identification.</a:t>
            </a:r>
            <a:endParaRPr lang="en-US" sz="224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156" dirty="0">
                <a:solidFill>
                  <a:srgbClr val="232D3B"/>
                </a:solidFill>
                <a:latin typeface="Aptos" pitchFamily="34" charset="0"/>
                <a:ea typeface="Aptos" pitchFamily="34" charset="-122"/>
                <a:cs typeface="Aptos" pitchFamily="34" charset="-120"/>
              </a:rPr>
              <a:t>Anonymity is a contextual assessment, not a blanket promise about a file format.</a:t>
            </a:r>
            <a:endParaRPr lang="en-US" sz="215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Map the data flow before uploading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S21 / S22  |  5</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data leave which institution?</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Who receives them, where are they processed, and for what purpose?</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Who can access them, for how long, and under what approval?</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KVKK and GDPR are not interchangeable labels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S21 / S22  |  6</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KVKK treats genetic and health data within special categories.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Processing conditions and international-transfer requirements must both be considered.</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GDPR applicability and obligations depend on the situation; seek institutional advice.</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Consent is not a universal shortcut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S21 / S22  |  7</a:t>
            </a:r>
            <a:endParaRPr lang="en-US" sz="800" dirty="0"/>
          </a:p>
        </p:txBody>
      </p:sp>
      <p:sp>
        <p:nvSpPr>
          <p:cNvPr id="9" name="Shape 7"/>
          <p:cNvSpPr/>
          <p:nvPr/>
        </p:nvSpPr>
        <p:spPr>
          <a:xfrm>
            <a:off x="603504" y="2011680"/>
            <a:ext cx="502920" cy="502920"/>
          </a:xfrm>
          <a:prstGeom prst="rect">
            <a:avLst/>
          </a:prstGeom>
          <a:solidFill>
            <a:srgbClr val="EAF2FC"/>
          </a:solidFill>
          <a:ln w="7620">
            <a:solidFill>
              <a:srgbClr val="EAF2FC"/>
            </a:solidFill>
            <a:prstDash val="solid"/>
          </a:ln>
        </p:spPr>
      </p:sp>
      <p:sp>
        <p:nvSpPr>
          <p:cNvPr id="10" name="Text 8"/>
          <p:cNvSpPr/>
          <p:nvPr/>
        </p:nvSpPr>
        <p:spPr>
          <a:xfrm>
            <a:off x="731520" y="206654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353312" y="1911096"/>
            <a:ext cx="9829800" cy="941832"/>
          </a:xfrm>
          <a:prstGeom prst="rect">
            <a:avLst/>
          </a:prstGeom>
          <a:noFill/>
          <a:ln/>
        </p:spPr>
        <p:txBody>
          <a:bodyPr wrap="square" lIns="0" tIns="0" rIns="0" bIns="0" rtlCol="0" anchor="ctr">
            <a:normAutofit/>
          </a:bodyPr>
          <a:lstStyle/>
          <a:p>
            <a:pPr indent="0" marL="0">
              <a:buNone/>
            </a:pPr>
            <a:r>
              <a:rPr lang="en-US" sz="2188" dirty="0">
                <a:solidFill>
                  <a:srgbClr val="232D3B"/>
                </a:solidFill>
                <a:latin typeface="Aptos" pitchFamily="34" charset="0"/>
                <a:ea typeface="Aptos" pitchFamily="34" charset="-122"/>
                <a:cs typeface="Aptos" pitchFamily="34" charset="-120"/>
              </a:rPr>
              <a:t>A legitimate processing basis does not by itself solve every transfer or security obligation.</a:t>
            </a:r>
            <a:endParaRPr lang="en-US" sz="2188" dirty="0"/>
          </a:p>
        </p:txBody>
      </p:sp>
      <p:sp>
        <p:nvSpPr>
          <p:cNvPr id="12" name="Shape 10"/>
          <p:cNvSpPr/>
          <p:nvPr/>
        </p:nvSpPr>
        <p:spPr>
          <a:xfrm>
            <a:off x="603504" y="3291840"/>
            <a:ext cx="502920" cy="502920"/>
          </a:xfrm>
          <a:prstGeom prst="rect">
            <a:avLst/>
          </a:prstGeom>
          <a:solidFill>
            <a:srgbClr val="EAF2FC"/>
          </a:solidFill>
          <a:ln w="7620">
            <a:solidFill>
              <a:srgbClr val="EAF2FC"/>
            </a:solidFill>
            <a:prstDash val="solid"/>
          </a:ln>
        </p:spPr>
      </p:sp>
      <p:sp>
        <p:nvSpPr>
          <p:cNvPr id="13" name="Text 11"/>
          <p:cNvSpPr/>
          <p:nvPr/>
        </p:nvSpPr>
        <p:spPr>
          <a:xfrm>
            <a:off x="731520" y="334670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353312" y="319125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Minimize data, limit access and document purpose and retention.</a:t>
            </a:r>
            <a:endParaRPr lang="en-US" sz="2297" dirty="0"/>
          </a:p>
        </p:txBody>
      </p:sp>
      <p:sp>
        <p:nvSpPr>
          <p:cNvPr id="15" name="Shape 13"/>
          <p:cNvSpPr/>
          <p:nvPr/>
        </p:nvSpPr>
        <p:spPr>
          <a:xfrm>
            <a:off x="603504" y="4572000"/>
            <a:ext cx="502920" cy="502920"/>
          </a:xfrm>
          <a:prstGeom prst="rect">
            <a:avLst/>
          </a:prstGeom>
          <a:solidFill>
            <a:srgbClr val="EAF2FC"/>
          </a:solidFill>
          <a:ln w="7620">
            <a:solidFill>
              <a:srgbClr val="EAF2FC"/>
            </a:solidFill>
            <a:prstDash val="solid"/>
          </a:ln>
        </p:spPr>
      </p:sp>
      <p:sp>
        <p:nvSpPr>
          <p:cNvPr id="16" name="Text 14"/>
          <p:cNvSpPr/>
          <p:nvPr/>
        </p:nvSpPr>
        <p:spPr>
          <a:xfrm>
            <a:off x="731520" y="462686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353312" y="447141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the institution's approved environment for real sensitive data.</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classroom uses safer data by design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S23  |  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Synthetic examples do not represent real patients.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Public excerpts remain subject to source and license conditions.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course pseudonyms; do not embed student numbers in public notebooks.</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Make an AI disclosure that can be checked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S23  |  9</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Name the tool and date or version where known.</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Describe what it assisted with and which checks you performed.</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State responsibility for the submitted result; No AI used is acceptable.</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Reproducibility has a practical minimum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S05 / S10 / S23  |  10</a:t>
            </a:r>
            <a:endParaRPr lang="en-US" sz="800" dirty="0"/>
          </a:p>
        </p:txBody>
      </p:sp>
      <p:sp>
        <p:nvSpPr>
          <p:cNvPr id="9" name="Shape 7"/>
          <p:cNvSpPr/>
          <p:nvPr/>
        </p:nvSpPr>
        <p:spPr>
          <a:xfrm>
            <a:off x="603504" y="2011680"/>
            <a:ext cx="502920" cy="502920"/>
          </a:xfrm>
          <a:prstGeom prst="rect">
            <a:avLst/>
          </a:prstGeom>
          <a:solidFill>
            <a:srgbClr val="EAF2FC"/>
          </a:solidFill>
          <a:ln w="7620">
            <a:solidFill>
              <a:srgbClr val="EAF2FC"/>
            </a:solidFill>
            <a:prstDash val="solid"/>
          </a:ln>
        </p:spPr>
      </p:sp>
      <p:sp>
        <p:nvSpPr>
          <p:cNvPr id="10" name="Text 8"/>
          <p:cNvSpPr/>
          <p:nvPr/>
        </p:nvSpPr>
        <p:spPr>
          <a:xfrm>
            <a:off x="731520" y="206654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1</a:t>
            </a:r>
            <a:endParaRPr lang="en-US" sz="1700" dirty="0"/>
          </a:p>
        </p:txBody>
      </p:sp>
      <p:sp>
        <p:nvSpPr>
          <p:cNvPr id="11" name="Text 9"/>
          <p:cNvSpPr/>
          <p:nvPr/>
        </p:nvSpPr>
        <p:spPr>
          <a:xfrm>
            <a:off x="1353312" y="1911096"/>
            <a:ext cx="9829800" cy="941832"/>
          </a:xfrm>
          <a:prstGeom prst="rect">
            <a:avLst/>
          </a:prstGeom>
          <a:noFill/>
          <a:ln/>
        </p:spPr>
        <p:txBody>
          <a:bodyPr wrap="square" lIns="0" tIns="0" rIns="0" bIns="0" rtlCol="0" anchor="ctr">
            <a:normAutofit/>
          </a:bodyPr>
          <a:lstStyle/>
          <a:p>
            <a:pPr indent="0" marL="0">
              <a:buNone/>
            </a:pPr>
            <a:r>
              <a:rPr lang="en-US" sz="2188" dirty="0">
                <a:solidFill>
                  <a:srgbClr val="232D3B"/>
                </a:solidFill>
                <a:latin typeface="Aptos" pitchFamily="34" charset="0"/>
                <a:ea typeface="Aptos" pitchFamily="34" charset="-122"/>
                <a:cs typeface="Aptos" pitchFamily="34" charset="-120"/>
              </a:rPr>
              <a:t>Data provenance, code or steps, versions, parameters and independent unit.</a:t>
            </a:r>
            <a:endParaRPr lang="en-US" sz="2188" dirty="0"/>
          </a:p>
        </p:txBody>
      </p:sp>
      <p:sp>
        <p:nvSpPr>
          <p:cNvPr id="12" name="Shape 10"/>
          <p:cNvSpPr/>
          <p:nvPr/>
        </p:nvSpPr>
        <p:spPr>
          <a:xfrm>
            <a:off x="603504" y="3291840"/>
            <a:ext cx="502920" cy="502920"/>
          </a:xfrm>
          <a:prstGeom prst="rect">
            <a:avLst/>
          </a:prstGeom>
          <a:solidFill>
            <a:srgbClr val="EAF2FC"/>
          </a:solidFill>
          <a:ln w="7620">
            <a:solidFill>
              <a:srgbClr val="EAF2FC"/>
            </a:solidFill>
            <a:prstDash val="solid"/>
          </a:ln>
        </p:spPr>
      </p:sp>
      <p:sp>
        <p:nvSpPr>
          <p:cNvPr id="13" name="Text 11"/>
          <p:cNvSpPr/>
          <p:nvPr/>
        </p:nvSpPr>
        <p:spPr>
          <a:xfrm>
            <a:off x="731520" y="334670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2</a:t>
            </a:r>
            <a:endParaRPr lang="en-US" sz="1700" dirty="0"/>
          </a:p>
        </p:txBody>
      </p:sp>
      <p:sp>
        <p:nvSpPr>
          <p:cNvPr id="14" name="Text 12"/>
          <p:cNvSpPr/>
          <p:nvPr/>
        </p:nvSpPr>
        <p:spPr>
          <a:xfrm>
            <a:off x="1353312" y="319125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clean rerun plus a plain-language explanation of limitations.</a:t>
            </a:r>
            <a:endParaRPr lang="en-US" sz="2297" dirty="0"/>
          </a:p>
        </p:txBody>
      </p:sp>
      <p:sp>
        <p:nvSpPr>
          <p:cNvPr id="15" name="Shape 13"/>
          <p:cNvSpPr/>
          <p:nvPr/>
        </p:nvSpPr>
        <p:spPr>
          <a:xfrm>
            <a:off x="603504" y="4572000"/>
            <a:ext cx="502920" cy="502920"/>
          </a:xfrm>
          <a:prstGeom prst="rect">
            <a:avLst/>
          </a:prstGeom>
          <a:solidFill>
            <a:srgbClr val="EAF2FC"/>
          </a:solidFill>
          <a:ln w="7620">
            <a:solidFill>
              <a:srgbClr val="EAF2FC"/>
            </a:solidFill>
            <a:prstDash val="solid"/>
          </a:ln>
        </p:spPr>
      </p:sp>
      <p:sp>
        <p:nvSpPr>
          <p:cNvPr id="16" name="Text 14"/>
          <p:cNvSpPr/>
          <p:nvPr/>
        </p:nvSpPr>
        <p:spPr>
          <a:xfrm>
            <a:off x="731520" y="4626864"/>
            <a:ext cx="246888" cy="365760"/>
          </a:xfrm>
          <a:prstGeom prst="rect">
            <a:avLst/>
          </a:prstGeom>
          <a:noFill/>
          <a:ln/>
        </p:spPr>
        <p:txBody>
          <a:bodyPr wrap="square" lIns="0" tIns="0" rIns="0" bIns="0" rtlCol="0" anchor="ctr">
            <a:normAutofit/>
          </a:bodyPr>
          <a:lstStyle/>
          <a:p>
            <a:pPr indent="0" marL="0">
              <a:buNone/>
            </a:pPr>
            <a:r>
              <a:rPr lang="en-US" sz="1700" b="1" dirty="0">
                <a:solidFill>
                  <a:srgbClr val="2A78D6"/>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1353312" y="4471416"/>
            <a:ext cx="9829800" cy="94183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record of corrections is more useful than a claim of perfection.</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Your portfolio is evidence of skills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D1: an experiment you can justify.</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D2: a prediction you can evaluate honestly.</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119" dirty="0">
                <a:solidFill>
                  <a:srgbClr val="232D3B"/>
                </a:solidFill>
                <a:latin typeface="Aptos" pitchFamily="34" charset="0"/>
                <a:ea typeface="Aptos" pitchFamily="34" charset="-122"/>
                <a:cs typeface="Aptos" pitchFamily="34" charset="-120"/>
              </a:rPr>
              <a:t>A model card, structure card and variant statement showing the limits of your claims.</a:t>
            </a:r>
            <a:endParaRPr lang="en-US" sz="21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the cloud-upload decision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A colleague removes names from patient VCF files and proposes uploading them to a public chatbot for annotation.</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Genetic information remains; removing names does not establish anonymity.</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data flow and vendor processing can require privacy and transfer review.</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upload; consult the authorized institutional process and use synthetic examples for teaching.</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Write a one-sentence AI disclosure for a notebook where a tool explained a Python error but did not choose the biological conclusion.</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Example: I used [tool and date] to explain a Python error, checked the revised calculation with the stated test inputs, and independently wrote and take responsibility for the interpretation.</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W14 studio: complete a data-flow decision card, a disclosure and a skills-ledger reflection. Bring your D1 notebook for the individual oral check.</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privacy</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pseudonymization</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transfer</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disclosure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provenance</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compare controlled-access and federated analysis designs without moving real patient data.</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S20 / S21 / S22 / S23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S20  Turkish Personal Data Protection Law No. 6698, official English translation with 2024 amendments.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S21  KVKK: international transfers, Article 9 amendments and safeguards.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S22  Regulation (EU) 2016/679 (GDPR), official EUR-Lex text.</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S23  ICMJE recommendations: use of AI by authors.</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bioinformatics and your scientific record</dc:title>
  <dc:subject>Scaffolded fourth-year bioengineering</dc:subject>
  <dc:creator>BIB course teaching materials</dc:creator>
  <cp:lastModifiedBy>BIB course teaching materials</cp:lastModifiedBy>
  <cp:revision>1</cp:revision>
  <dcterms:created xsi:type="dcterms:W3CDTF">2026-09-14T18:26:59Z</dcterms:created>
  <dcterms:modified xsi:type="dcterms:W3CDTF">2026-09-14T18:26:59Z</dcterms:modified>
</cp:coreProperties>
</file>