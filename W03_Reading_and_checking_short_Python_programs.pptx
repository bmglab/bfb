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2 minutes
Audience: fourth-year bioengineering with limited prior genetics and coding.
Opening question: Can a program run successfully and still answer the wrong question?
Do not require students to know all terms yet. Elicit a prediction.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these observable outcomes for feedback. Core assessment requires interpretation and short arithmetic, not reproducing a full specialist pipeline.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students to draw or name the biological experimental unit. Revisit the Week 00 bridge if terminology is unclear.
Read technical terms aloud; ask students to explain the measurement before interpreting the model. Accept justified uncertainty.
[Sources]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variable is a name associated with a value.
The equals sign in Python assigns; it does not assert a mathematical identity.
Run the next line using the current value, not the previous one.
Checkpoint: ask a student to state one conclusion the data do NOT support.
Read technical terms aloud; ask students to explain the measurement before interpreting the model. Accept justified uncertainty.
[Sources]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Python starts list indices at zero.
A slice includes its start but excludes its end.
For seq = ACGTAC, seq[1:4] is CGT.
Checkpoint: ask a student to state one conclusion the data do NOT support.
Read technical terms aloud; ask students to explain the measurement before interpreting the model. Accept justified uncertainty.
[Sources]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Start with count = 0.
For each base, ask whether it is G or C.
Increase the count when the condition is true.
Checkpoint: ask a student to state one conclusion the data do NOT support.
Read technical terms aloud; ask students to explain the measurement before interpreting the model. Accept justified uncertainty.
[Sources]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State its input, output and assumptions.
Decide what an unknown base should do to the denominator.
Decide what an empty sequence should return or reject.
Checkpoint: ask a student to state one conclusion the data do NOT support.
Read technical terms aloud; ask students to explain the measurement before interpreting the model. Accept justified uncertainty.
[Sources]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For AGC, the running counts are 0, 1, 2.
The numerator is 2 and the denominator is 3.
A trace table makes a hidden assumption visible.
Checkpoint: ask a student to state one conclusion the data do NOT support.
Read technical terms aloud; ask students to explain the measurement before interpreting the model. Accept justified uncertainty.
[Sources]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Here N means unknown and should be excluded by the stated contract.
The numerator ignores N but the denominator below includes it.
The code runs; the biological definition is violated.
Checkpoint: ask a student to state one conclusion the data do NOT support.
Read technical terms aloud; ask students to explain the measurement before interpreting the model. Accept justified uncertainty.
[Sources]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All GC bases should give 1.0. All AT bases should give 0.0.
GCNN should give 1.0 under our known-base definition.
An empty or all-N sequence should be reported as undefined, not 0%.
Checkpoint: ask a student to state one conclusion the data do NOT support.
Read technical terms aloud; ask students to explain the measurement before interpreting the model. Accept justified uncertainty.
[Sources]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Read the last line: what kind of error occurred?
Read upward to the line in your notebook that triggered it.
A failed test can be more informative than a clean run.
Checkpoint: ask a student to state one conclusion the data do NOT support.
Read technical terms aloud; ask students to explain the measurement before interpreting the model. Accept justified uncertainty.
[Sources]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Allow 60-90 seconds for a prediction. Do not rush to the numerical answer. The following slide shows the reasoning.
Read technical terms aloud; ask students to explain the measurement before interpreting the model. Accept justified uncertainty.
[Sources]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Show the arithmetic or logical steps one at a time orally. Ask which assumption is necessary at each step.
Read technical terms aloud; ask students to explain the measurement before interpreting the model. Accept justified uncertainty.
[Sources]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Collect two contrasting answers before advancing. Give one minute solo and two minutes in pairs. This is formative, not an exam item.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Accept other scientifically justified responses. Probe the boundary between measured result, model assumption and biological conclusion.
Read technical terms aloud; ask students to explain the measurement before interpreting the model. Accept justified uncertainty.
[Sources]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45-minute studio; not part of 90-minute lecture
Audience: fourth-year bioengineering with limited prior genetics and coding.
Use the matching standalone notebook and Lab Workbook. Students may work in pairs while discussing, but submit their own reasoning. Paper fallback carries no penalty. Plotting and extensions are optional.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for a plain-language definition and one example per term. Students may use the glossary. Definitions are not a substitute for interpreting an example.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a quick handwritten or LMS response. Do not add new weighted grading; this is formative feedback. Use common mistakes to plan a short retrieval exercise next week.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Do not use optional extension achievement to disadvantage students with limited computing access. Direct interested students to the primary sources.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Reference slide; do not lecture through every citation
Audience: fourth-year bioengineering with limited prior genetics and coding.
Full links are in the Course Source Register and these speaker notes. Source selection checked September 14, 2026. Older sources support stable foundational ideas, not unverified current clinical policy.
Read technical terms aloud; ask students to explain the measurement before interpreting the model. Accept justified uncertainty.
[Sources]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D3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B6834"/>
          </a:solidFill>
          <a:ln w="7620">
            <a:solidFill>
              <a:srgbClr val="EB6834"/>
            </a:solidFill>
            <a:prstDash val="solid"/>
          </a:ln>
        </p:spPr>
      </p:sp>
      <p:sp>
        <p:nvSpPr>
          <p:cNvPr id="3" name="Text 1"/>
          <p:cNvSpPr/>
          <p:nvPr/>
        </p:nvSpPr>
        <p:spPr>
          <a:xfrm>
            <a:off x="640080" y="530352"/>
            <a:ext cx="10789920" cy="438912"/>
          </a:xfrm>
          <a:prstGeom prst="rect">
            <a:avLst/>
          </a:prstGeom>
          <a:noFill/>
          <a:ln/>
        </p:spPr>
        <p:txBody>
          <a:bodyPr wrap="square" lIns="0" tIns="0" rIns="0" bIns="0" rtlCol="0" anchor="ctr">
            <a:normAutofit/>
          </a:bodyPr>
          <a:lstStyle/>
          <a:p>
            <a:pPr indent="0" marL="0">
              <a:buNone/>
            </a:pPr>
            <a:r>
              <a:rPr lang="en-US" sz="1300" b="1" dirty="0">
                <a:solidFill>
                  <a:srgbClr val="D1DCE9"/>
                </a:solidFill>
                <a:latin typeface="Aptos" pitchFamily="34" charset="0"/>
                <a:ea typeface="Aptos" pitchFamily="34" charset="-122"/>
                <a:cs typeface="Aptos" pitchFamily="34" charset="-120"/>
              </a:rPr>
              <a:t>BIOINFORMATICS FOR BIOENGINEERING</a:t>
            </a:r>
            <a:endParaRPr lang="en-US" sz="1300" dirty="0"/>
          </a:p>
        </p:txBody>
      </p:sp>
      <p:sp>
        <p:nvSpPr>
          <p:cNvPr id="4" name="Text 2"/>
          <p:cNvSpPr/>
          <p:nvPr/>
        </p:nvSpPr>
        <p:spPr>
          <a:xfrm>
            <a:off x="685800" y="1380744"/>
            <a:ext cx="9144000" cy="548640"/>
          </a:xfrm>
          <a:prstGeom prst="rect">
            <a:avLst/>
          </a:prstGeom>
          <a:noFill/>
          <a:ln/>
        </p:spPr>
        <p:txBody>
          <a:bodyPr wrap="square" lIns="0" tIns="0" rIns="0" bIns="0" rtlCol="0" anchor="ctr">
            <a:normAutofit/>
          </a:bodyPr>
          <a:lstStyle/>
          <a:p>
            <a:pPr indent="0" marL="0">
              <a:buNone/>
            </a:pPr>
            <a:r>
              <a:rPr lang="en-US" sz="2000" b="1" dirty="0">
                <a:solidFill>
                  <a:srgbClr val="7EB5F1"/>
                </a:solidFill>
                <a:latin typeface="Aptos" pitchFamily="34" charset="0"/>
                <a:ea typeface="Aptos" pitchFamily="34" charset="-122"/>
                <a:cs typeface="Aptos" pitchFamily="34" charset="-120"/>
              </a:rPr>
              <a:t>WEEK 03</a:t>
            </a:r>
            <a:endParaRPr lang="en-US" sz="2000" dirty="0"/>
          </a:p>
        </p:txBody>
      </p:sp>
      <p:sp>
        <p:nvSpPr>
          <p:cNvPr id="5" name="Text 3"/>
          <p:cNvSpPr/>
          <p:nvPr/>
        </p:nvSpPr>
        <p:spPr>
          <a:xfrm>
            <a:off x="685800" y="2157984"/>
            <a:ext cx="10744200" cy="1783080"/>
          </a:xfrm>
          <a:prstGeom prst="rect">
            <a:avLst/>
          </a:prstGeom>
          <a:noFill/>
          <a:ln/>
        </p:spPr>
        <p:txBody>
          <a:bodyPr wrap="square" lIns="0" tIns="0" rIns="0" bIns="0" rtlCol="0" anchor="ctr">
            <a:normAutofit/>
          </a:bodyPr>
          <a:lstStyle/>
          <a:p>
            <a:pPr indent="0" marL="0">
              <a:buNone/>
            </a:pPr>
            <a:r>
              <a:rPr lang="en-US" sz="3897" b="1" dirty="0">
                <a:solidFill>
                  <a:srgbClr val="FFFFFF"/>
                </a:solidFill>
                <a:latin typeface="Aptos" pitchFamily="34" charset="0"/>
                <a:ea typeface="Aptos" pitchFamily="34" charset="-122"/>
                <a:cs typeface="Aptos" pitchFamily="34" charset="-120"/>
              </a:rPr>
              <a:t>Reading and checking short Python programs</a:t>
            </a:r>
            <a:endParaRPr lang="en-US" sz="3897" dirty="0"/>
          </a:p>
        </p:txBody>
      </p:sp>
      <p:sp>
        <p:nvSpPr>
          <p:cNvPr id="6" name="Text 4"/>
          <p:cNvSpPr/>
          <p:nvPr/>
        </p:nvSpPr>
        <p:spPr>
          <a:xfrm>
            <a:off x="731520" y="4599432"/>
            <a:ext cx="10561320" cy="923544"/>
          </a:xfrm>
          <a:prstGeom prst="rect">
            <a:avLst/>
          </a:prstGeom>
          <a:noFill/>
          <a:ln/>
        </p:spPr>
        <p:txBody>
          <a:bodyPr wrap="square" lIns="0" tIns="0" rIns="0" bIns="0" rtlCol="0" anchor="ctr">
            <a:normAutofit/>
          </a:bodyPr>
          <a:lstStyle/>
          <a:p>
            <a:pPr indent="0" marL="0">
              <a:buNone/>
            </a:pPr>
            <a:r>
              <a:rPr lang="en-US" sz="2497" dirty="0">
                <a:solidFill>
                  <a:srgbClr val="D1DCE9"/>
                </a:solidFill>
                <a:latin typeface="Aptos" pitchFamily="34" charset="0"/>
                <a:ea typeface="Aptos" pitchFamily="34" charset="-122"/>
                <a:cs typeface="Aptos" pitchFamily="34" charset="-120"/>
              </a:rPr>
              <a:t>Can a program run successfully and still answer the wrong question?</a:t>
            </a:r>
            <a:endParaRPr lang="en-US" sz="2497" dirty="0"/>
          </a:p>
        </p:txBody>
      </p:sp>
      <p:sp>
        <p:nvSpPr>
          <p:cNvPr id="7" name="Text 5"/>
          <p:cNvSpPr/>
          <p:nvPr/>
        </p:nvSpPr>
        <p:spPr>
          <a:xfrm>
            <a:off x="731520" y="6199632"/>
            <a:ext cx="10607040" cy="274320"/>
          </a:xfrm>
          <a:prstGeom prst="rect">
            <a:avLst/>
          </a:prstGeom>
          <a:noFill/>
          <a:ln/>
        </p:spPr>
        <p:txBody>
          <a:bodyPr wrap="square" lIns="0" tIns="0" rIns="0" bIns="0" rtlCol="0" anchor="ctr">
            <a:normAutofit/>
          </a:bodyPr>
          <a:lstStyle/>
          <a:p>
            <a:pPr indent="0" marL="0">
              <a:buNone/>
            </a:pPr>
            <a:r>
              <a:rPr lang="en-US" sz="1100" dirty="0">
                <a:solidFill>
                  <a:srgbClr val="D1DCE9"/>
                </a:solidFill>
                <a:latin typeface="Aptos" pitchFamily="34" charset="0"/>
                <a:ea typeface="Aptos" pitchFamily="34" charset="-122"/>
                <a:cs typeface="Aptos" pitchFamily="34" charset="-120"/>
              </a:rPr>
              <a:t>Yasin Kaymaz, PhD  |  Ege University  |  Teaching edition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LEARNING TARGETS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By the end, you should be able to...</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2</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Trace assignment, a loop and a function on a short sequence.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Explain what a function calculates in biological language.</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Use small tests to detect a denominator or boundary error.</a:t>
            </a:r>
            <a:endParaRPr lang="en-US" sz="229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RETRIEVAL</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Reconnect with the biology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3</a:t>
            </a:r>
            <a:endParaRPr lang="en-US" sz="800" dirty="0"/>
          </a:p>
        </p:txBody>
      </p:sp>
      <p:sp>
        <p:nvSpPr>
          <p:cNvPr id="9" name="Shape 7"/>
          <p:cNvSpPr/>
          <p:nvPr/>
        </p:nvSpPr>
        <p:spPr>
          <a:xfrm>
            <a:off x="612648" y="1984248"/>
            <a:ext cx="10972800" cy="1828800"/>
          </a:xfrm>
          <a:prstGeom prst="rect">
            <a:avLst/>
          </a:prstGeom>
          <a:solidFill>
            <a:srgbClr val="EAF2FC"/>
          </a:solidFill>
          <a:ln w="7620">
            <a:solidFill>
              <a:srgbClr val="EAF2FC"/>
            </a:solidFill>
            <a:prstDash val="solid"/>
          </a:ln>
        </p:spPr>
      </p:sp>
      <p:sp>
        <p:nvSpPr>
          <p:cNvPr id="10" name="Text 8"/>
          <p:cNvSpPr/>
          <p:nvPr/>
        </p:nvSpPr>
        <p:spPr>
          <a:xfrm>
            <a:off x="850392" y="2258568"/>
            <a:ext cx="10497312" cy="1280160"/>
          </a:xfrm>
          <a:prstGeom prst="rect">
            <a:avLst/>
          </a:prstGeom>
          <a:noFill/>
          <a:ln/>
        </p:spPr>
        <p:txBody>
          <a:bodyPr wrap="square" lIns="0" tIns="0" rIns="0" bIns="0" rtlCol="0" anchor="ctr">
            <a:normAutofit/>
          </a:bodyPr>
          <a:lstStyle/>
          <a:p>
            <a:pPr indent="0" marL="0">
              <a:buNone/>
            </a:pPr>
            <a:r>
              <a:rPr lang="en-US" sz="2697" dirty="0">
                <a:solidFill>
                  <a:srgbClr val="232D3B"/>
                </a:solidFill>
                <a:latin typeface="Aptos" pitchFamily="34" charset="0"/>
                <a:ea typeface="Aptos" pitchFamily="34" charset="-122"/>
                <a:cs typeface="Aptos" pitchFamily="34" charset="-120"/>
              </a:rPr>
              <a:t>GC fraction counts G and C bases among the bases your denominator actually includes.</a:t>
            </a:r>
            <a:endParaRPr lang="en-US" sz="2697" dirty="0"/>
          </a:p>
        </p:txBody>
      </p:sp>
      <p:sp>
        <p:nvSpPr>
          <p:cNvPr id="11" name="Text 9"/>
          <p:cNvSpPr/>
          <p:nvPr/>
        </p:nvSpPr>
        <p:spPr>
          <a:xfrm>
            <a:off x="859536" y="4370832"/>
            <a:ext cx="10424160" cy="914400"/>
          </a:xfrm>
          <a:prstGeom prst="rect">
            <a:avLst/>
          </a:prstGeom>
          <a:noFill/>
          <a:ln/>
        </p:spPr>
        <p:txBody>
          <a:bodyPr wrap="square" lIns="0" tIns="0" rIns="0" bIns="0" rtlCol="0" anchor="ctr">
            <a:normAutofit/>
          </a:bodyPr>
          <a:lstStyle/>
          <a:p>
            <a:pPr indent="0" marL="0">
              <a:buNone/>
            </a:pPr>
            <a:r>
              <a:rPr lang="en-US" sz="2497" b="1" dirty="0">
                <a:solidFill>
                  <a:srgbClr val="2A78D6"/>
                </a:solidFill>
                <a:latin typeface="Aptos" pitchFamily="34" charset="0"/>
                <a:ea typeface="Aptos" pitchFamily="34" charset="-122"/>
                <a:cs typeface="Aptos" pitchFamily="34" charset="-120"/>
              </a:rPr>
              <a:t>Think silently -&gt; explain to a neighbour -&gt; check the measurement.</a:t>
            </a:r>
            <a:endParaRPr lang="en-US" sz="249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Value, name, update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S05  |  4</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variable is a name associated with a value.</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13" dirty="0">
                <a:solidFill>
                  <a:srgbClr val="232D3B"/>
                </a:solidFill>
                <a:latin typeface="Aptos" pitchFamily="34" charset="0"/>
                <a:ea typeface="Aptos" pitchFamily="34" charset="-122"/>
                <a:cs typeface="Aptos" pitchFamily="34" charset="-120"/>
              </a:rPr>
              <a:t>The equals sign in Python assigns; it does not assert a mathematical identity.</a:t>
            </a:r>
            <a:endParaRPr lang="en-US" sz="2213"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Run the next line using the current value, not the previous one.</a:t>
            </a:r>
            <a:endParaRPr lang="en-US" sz="2297" dirty="0"/>
          </a:p>
        </p:txBody>
      </p:sp>
      <p:sp>
        <p:nvSpPr>
          <p:cNvPr id="16" name="Text 14"/>
          <p:cNvSpPr/>
          <p:nvPr/>
        </p:nvSpPr>
        <p:spPr>
          <a:xfrm>
            <a:off x="841248" y="2340864"/>
            <a:ext cx="4471416" cy="3383280"/>
          </a:xfrm>
          <a:prstGeom prst="rect">
            <a:avLst/>
          </a:prstGeom>
          <a:noFill/>
          <a:ln/>
        </p:spPr>
        <p:txBody>
          <a:bodyPr wrap="square" lIns="0" tIns="0" rIns="0" bIns="0" rtlCol="0" anchor="t">
            <a:normAutofit/>
          </a:bodyPr>
          <a:lstStyle/>
          <a:p>
            <a:pPr indent="0" marL="0">
              <a:buNone/>
            </a:pPr>
            <a:r>
              <a:rPr lang="en-US" sz="2197" dirty="0">
                <a:solidFill>
                  <a:srgbClr val="232D3B"/>
                </a:solidFill>
                <a:latin typeface="Consolas" pitchFamily="34" charset="0"/>
                <a:ea typeface="Consolas" pitchFamily="34" charset="-122"/>
                <a:cs typeface="Consolas" pitchFamily="34" charset="-120"/>
              </a:rPr>
              <a:t>count = 0</a:t>
            </a:r>
            <a:endParaRPr lang="en-US" sz="2197" dirty="0"/>
          </a:p>
          <a:p>
            <a:pPr indent="0" marL="0">
              <a:buNone/>
            </a:pPr>
            <a:r>
              <a:rPr lang="en-US" sz="2197" dirty="0">
                <a:solidFill>
                  <a:srgbClr val="232D3B"/>
                </a:solidFill>
                <a:latin typeface="Consolas" pitchFamily="34" charset="0"/>
                <a:ea typeface="Consolas" pitchFamily="34" charset="-122"/>
                <a:cs typeface="Consolas" pitchFamily="34" charset="-120"/>
              </a:rPr>
              <a:t>count = count + 1</a:t>
            </a:r>
            <a:endParaRPr lang="en-US" sz="2197" dirty="0"/>
          </a:p>
          <a:p>
            <a:pPr indent="0" marL="0">
              <a:buNone/>
            </a:pPr>
            <a:r>
              <a:rPr lang="en-US" sz="2197" dirty="0">
                <a:solidFill>
                  <a:srgbClr val="232D3B"/>
                </a:solidFill>
                <a:latin typeface="Consolas" pitchFamily="34" charset="0"/>
                <a:ea typeface="Consolas" pitchFamily="34" charset="-122"/>
                <a:cs typeface="Consolas" pitchFamily="34" charset="-120"/>
              </a:rPr>
              <a:t>print(count)</a:t>
            </a:r>
            <a:endParaRPr lang="en-US" sz="219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Lists and slices have boundaries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S05  |  5</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Python starts list indices at zero.</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slice includes its start but excludes its end.</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For seq = ACGTAC, seq[1:4] is CGT.</a:t>
            </a:r>
            <a:endParaRPr lang="en-US" sz="2297" dirty="0"/>
          </a:p>
        </p:txBody>
      </p:sp>
      <p:sp>
        <p:nvSpPr>
          <p:cNvPr id="16" name="Text 14"/>
          <p:cNvSpPr/>
          <p:nvPr/>
        </p:nvSpPr>
        <p:spPr>
          <a:xfrm>
            <a:off x="841248" y="2340864"/>
            <a:ext cx="4471416" cy="3383280"/>
          </a:xfrm>
          <a:prstGeom prst="rect">
            <a:avLst/>
          </a:prstGeom>
          <a:noFill/>
          <a:ln/>
        </p:spPr>
        <p:txBody>
          <a:bodyPr wrap="square" lIns="0" tIns="0" rIns="0" bIns="0" rtlCol="0" anchor="t">
            <a:normAutofit/>
          </a:bodyPr>
          <a:lstStyle/>
          <a:p>
            <a:pPr indent="0" marL="0">
              <a:buNone/>
            </a:pPr>
            <a:r>
              <a:rPr lang="en-US" sz="2197" dirty="0">
                <a:solidFill>
                  <a:srgbClr val="232D3B"/>
                </a:solidFill>
                <a:latin typeface="Consolas" pitchFamily="34" charset="0"/>
                <a:ea typeface="Consolas" pitchFamily="34" charset="-122"/>
                <a:cs typeface="Consolas" pitchFamily="34" charset="-120"/>
              </a:rPr>
              <a:t>seq = "ACGTAC"</a:t>
            </a:r>
            <a:endParaRPr lang="en-US" sz="2197" dirty="0"/>
          </a:p>
          <a:p>
            <a:pPr indent="0" marL="0">
              <a:buNone/>
            </a:pPr>
            <a:r>
              <a:rPr lang="en-US" sz="2197" dirty="0">
                <a:solidFill>
                  <a:srgbClr val="232D3B"/>
                </a:solidFill>
                <a:latin typeface="Consolas" pitchFamily="34" charset="0"/>
                <a:ea typeface="Consolas" pitchFamily="34" charset="-122"/>
                <a:cs typeface="Consolas" pitchFamily="34" charset="-120"/>
              </a:rPr>
              <a:t>print(seq[1:4])</a:t>
            </a:r>
            <a:endParaRPr lang="en-US" sz="219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loop repeats a small operation</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S05  |  6</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Start with count = 0.</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For each base, ask whether it is G or C.</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Increase the count when the condition is true.</a:t>
            </a:r>
            <a:endParaRPr lang="en-US" sz="2297" dirty="0"/>
          </a:p>
        </p:txBody>
      </p:sp>
      <p:sp>
        <p:nvSpPr>
          <p:cNvPr id="16" name="Text 14"/>
          <p:cNvSpPr/>
          <p:nvPr/>
        </p:nvSpPr>
        <p:spPr>
          <a:xfrm>
            <a:off x="841248" y="2340864"/>
            <a:ext cx="4471416" cy="3383280"/>
          </a:xfrm>
          <a:prstGeom prst="rect">
            <a:avLst/>
          </a:prstGeom>
          <a:noFill/>
          <a:ln/>
        </p:spPr>
        <p:txBody>
          <a:bodyPr wrap="square" lIns="0" tIns="0" rIns="0" bIns="0" rtlCol="0" anchor="t">
            <a:normAutofit/>
          </a:bodyPr>
          <a:lstStyle/>
          <a:p>
            <a:pPr indent="0" marL="0">
              <a:buNone/>
            </a:pPr>
            <a:r>
              <a:rPr lang="en-US" sz="2197" dirty="0">
                <a:solidFill>
                  <a:srgbClr val="232D3B"/>
                </a:solidFill>
                <a:latin typeface="Consolas" pitchFamily="34" charset="0"/>
                <a:ea typeface="Consolas" pitchFamily="34" charset="-122"/>
                <a:cs typeface="Consolas" pitchFamily="34" charset="-120"/>
              </a:rPr>
              <a:t>count = 0</a:t>
            </a:r>
            <a:endParaRPr lang="en-US" sz="2197" dirty="0"/>
          </a:p>
          <a:p>
            <a:pPr indent="0" marL="0">
              <a:buNone/>
            </a:pPr>
            <a:r>
              <a:rPr lang="en-US" sz="2197" dirty="0">
                <a:solidFill>
                  <a:srgbClr val="232D3B"/>
                </a:solidFill>
                <a:latin typeface="Consolas" pitchFamily="34" charset="0"/>
                <a:ea typeface="Consolas" pitchFamily="34" charset="-122"/>
                <a:cs typeface="Consolas" pitchFamily="34" charset="-120"/>
              </a:rPr>
              <a:t>for base in "AGC":</a:t>
            </a:r>
            <a:endParaRPr lang="en-US" sz="2197" dirty="0"/>
          </a:p>
          <a:p>
            <a:pPr indent="0" marL="0">
              <a:buNone/>
            </a:pPr>
            <a:r>
              <a:rPr lang="en-US" sz="2197" dirty="0">
                <a:solidFill>
                  <a:srgbClr val="232D3B"/>
                </a:solidFill>
                <a:latin typeface="Consolas" pitchFamily="34" charset="0"/>
                <a:ea typeface="Consolas" pitchFamily="34" charset="-122"/>
                <a:cs typeface="Consolas" pitchFamily="34" charset="-120"/>
              </a:rPr>
              <a:t>    if base in "GC":</a:t>
            </a:r>
            <a:endParaRPr lang="en-US" sz="2197" dirty="0"/>
          </a:p>
          <a:p>
            <a:pPr indent="0" marL="0">
              <a:buNone/>
            </a:pPr>
            <a:r>
              <a:rPr lang="en-US" sz="2197" dirty="0">
                <a:solidFill>
                  <a:srgbClr val="232D3B"/>
                </a:solidFill>
                <a:latin typeface="Consolas" pitchFamily="34" charset="0"/>
                <a:ea typeface="Consolas" pitchFamily="34" charset="-122"/>
                <a:cs typeface="Consolas" pitchFamily="34" charset="-120"/>
              </a:rPr>
              <a:t>        count += 1</a:t>
            </a:r>
            <a:endParaRPr lang="en-US" sz="219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function has a contract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S05  |  7</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State its input, output and assumptions.</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Decide what an unknown base should do to the denominator.</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Decide what an empty sequence should return or reject.</a:t>
            </a:r>
            <a:endParaRPr lang="en-US" sz="229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Trace before you execute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S05  |  8</a:t>
            </a:r>
            <a:endParaRPr lang="en-US" sz="800" dirty="0"/>
          </a:p>
        </p:txBody>
      </p:sp>
      <p:sp>
        <p:nvSpPr>
          <p:cNvPr id="9" name="Shape 7"/>
          <p:cNvSpPr/>
          <p:nvPr/>
        </p:nvSpPr>
        <p:spPr>
          <a:xfrm>
            <a:off x="594360" y="1828800"/>
            <a:ext cx="3631692" cy="516636"/>
          </a:xfrm>
          <a:prstGeom prst="rect">
            <a:avLst/>
          </a:prstGeom>
          <a:solidFill>
            <a:srgbClr val="2A78D6"/>
          </a:solidFill>
          <a:ln w="7620">
            <a:solidFill>
              <a:srgbClr val="2A78D6"/>
            </a:solidFill>
            <a:prstDash val="solid"/>
          </a:ln>
        </p:spPr>
      </p:sp>
      <p:sp>
        <p:nvSpPr>
          <p:cNvPr id="10" name="Text 8"/>
          <p:cNvSpPr/>
          <p:nvPr/>
        </p:nvSpPr>
        <p:spPr>
          <a:xfrm>
            <a:off x="713232" y="1901952"/>
            <a:ext cx="3389376" cy="37490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Base</a:t>
            </a:r>
            <a:endParaRPr lang="en-US" sz="1600" dirty="0"/>
          </a:p>
        </p:txBody>
      </p:sp>
      <p:sp>
        <p:nvSpPr>
          <p:cNvPr id="11" name="Shape 9"/>
          <p:cNvSpPr/>
          <p:nvPr/>
        </p:nvSpPr>
        <p:spPr>
          <a:xfrm>
            <a:off x="4258056" y="1828800"/>
            <a:ext cx="3631692" cy="516636"/>
          </a:xfrm>
          <a:prstGeom prst="rect">
            <a:avLst/>
          </a:prstGeom>
          <a:solidFill>
            <a:srgbClr val="2A78D6"/>
          </a:solidFill>
          <a:ln w="7620">
            <a:solidFill>
              <a:srgbClr val="2A78D6"/>
            </a:solidFill>
            <a:prstDash val="solid"/>
          </a:ln>
        </p:spPr>
      </p:sp>
      <p:sp>
        <p:nvSpPr>
          <p:cNvPr id="12" name="Text 10"/>
          <p:cNvSpPr/>
          <p:nvPr/>
        </p:nvSpPr>
        <p:spPr>
          <a:xfrm>
            <a:off x="4376928" y="1901952"/>
            <a:ext cx="3389376" cy="37490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GC?</a:t>
            </a:r>
            <a:endParaRPr lang="en-US" sz="1600" dirty="0"/>
          </a:p>
        </p:txBody>
      </p:sp>
      <p:sp>
        <p:nvSpPr>
          <p:cNvPr id="13" name="Shape 11"/>
          <p:cNvSpPr/>
          <p:nvPr/>
        </p:nvSpPr>
        <p:spPr>
          <a:xfrm>
            <a:off x="7921752" y="1828800"/>
            <a:ext cx="3631692" cy="516636"/>
          </a:xfrm>
          <a:prstGeom prst="rect">
            <a:avLst/>
          </a:prstGeom>
          <a:solidFill>
            <a:srgbClr val="2A78D6"/>
          </a:solidFill>
          <a:ln w="7620">
            <a:solidFill>
              <a:srgbClr val="2A78D6"/>
            </a:solidFill>
            <a:prstDash val="solid"/>
          </a:ln>
        </p:spPr>
      </p:sp>
      <p:sp>
        <p:nvSpPr>
          <p:cNvPr id="14" name="Text 12"/>
          <p:cNvSpPr/>
          <p:nvPr/>
        </p:nvSpPr>
        <p:spPr>
          <a:xfrm>
            <a:off x="8040624" y="1901952"/>
            <a:ext cx="3389376" cy="37490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Running count</a:t>
            </a:r>
            <a:endParaRPr lang="en-US" sz="1600" dirty="0"/>
          </a:p>
        </p:txBody>
      </p:sp>
      <p:sp>
        <p:nvSpPr>
          <p:cNvPr id="15" name="Shape 13"/>
          <p:cNvSpPr/>
          <p:nvPr/>
        </p:nvSpPr>
        <p:spPr>
          <a:xfrm>
            <a:off x="594360" y="2377440"/>
            <a:ext cx="3631692" cy="516636"/>
          </a:xfrm>
          <a:prstGeom prst="rect">
            <a:avLst/>
          </a:prstGeom>
          <a:solidFill>
            <a:srgbClr val="EAF2FC"/>
          </a:solidFill>
          <a:ln w="7620">
            <a:solidFill>
              <a:srgbClr val="EAF2FC"/>
            </a:solidFill>
            <a:prstDash val="solid"/>
          </a:ln>
        </p:spPr>
      </p:sp>
      <p:sp>
        <p:nvSpPr>
          <p:cNvPr id="16" name="Text 14"/>
          <p:cNvSpPr/>
          <p:nvPr/>
        </p:nvSpPr>
        <p:spPr>
          <a:xfrm>
            <a:off x="713232" y="244144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A</a:t>
            </a:r>
            <a:endParaRPr lang="en-US" sz="1600" dirty="0"/>
          </a:p>
        </p:txBody>
      </p:sp>
      <p:sp>
        <p:nvSpPr>
          <p:cNvPr id="17" name="Shape 15"/>
          <p:cNvSpPr/>
          <p:nvPr/>
        </p:nvSpPr>
        <p:spPr>
          <a:xfrm>
            <a:off x="4258056" y="2377440"/>
            <a:ext cx="3631692" cy="516636"/>
          </a:xfrm>
          <a:prstGeom prst="rect">
            <a:avLst/>
          </a:prstGeom>
          <a:solidFill>
            <a:srgbClr val="EAF2FC"/>
          </a:solidFill>
          <a:ln w="7620">
            <a:solidFill>
              <a:srgbClr val="EAF2FC"/>
            </a:solidFill>
            <a:prstDash val="solid"/>
          </a:ln>
        </p:spPr>
      </p:sp>
      <p:sp>
        <p:nvSpPr>
          <p:cNvPr id="18" name="Text 16"/>
          <p:cNvSpPr/>
          <p:nvPr/>
        </p:nvSpPr>
        <p:spPr>
          <a:xfrm>
            <a:off x="4376928" y="244144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No</a:t>
            </a:r>
            <a:endParaRPr lang="en-US" sz="1600" dirty="0"/>
          </a:p>
        </p:txBody>
      </p:sp>
      <p:sp>
        <p:nvSpPr>
          <p:cNvPr id="19" name="Shape 17"/>
          <p:cNvSpPr/>
          <p:nvPr/>
        </p:nvSpPr>
        <p:spPr>
          <a:xfrm>
            <a:off x="7921752" y="2377440"/>
            <a:ext cx="3631692" cy="516636"/>
          </a:xfrm>
          <a:prstGeom prst="rect">
            <a:avLst/>
          </a:prstGeom>
          <a:solidFill>
            <a:srgbClr val="EAF2FC"/>
          </a:solidFill>
          <a:ln w="7620">
            <a:solidFill>
              <a:srgbClr val="EAF2FC"/>
            </a:solidFill>
            <a:prstDash val="solid"/>
          </a:ln>
        </p:spPr>
      </p:sp>
      <p:sp>
        <p:nvSpPr>
          <p:cNvPr id="20" name="Text 18"/>
          <p:cNvSpPr/>
          <p:nvPr/>
        </p:nvSpPr>
        <p:spPr>
          <a:xfrm>
            <a:off x="8040624" y="244144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a:t>
            </a:r>
            <a:endParaRPr lang="en-US" sz="1600" dirty="0"/>
          </a:p>
        </p:txBody>
      </p:sp>
      <p:sp>
        <p:nvSpPr>
          <p:cNvPr id="21" name="Shape 19"/>
          <p:cNvSpPr/>
          <p:nvPr/>
        </p:nvSpPr>
        <p:spPr>
          <a:xfrm>
            <a:off x="594360" y="2926080"/>
            <a:ext cx="3631692" cy="516636"/>
          </a:xfrm>
          <a:prstGeom prst="rect">
            <a:avLst/>
          </a:prstGeom>
          <a:solidFill>
            <a:srgbClr val="FFFFFF"/>
          </a:solidFill>
          <a:ln w="7620">
            <a:solidFill>
              <a:srgbClr val="FFFFFF"/>
            </a:solidFill>
            <a:prstDash val="solid"/>
          </a:ln>
        </p:spPr>
      </p:sp>
      <p:sp>
        <p:nvSpPr>
          <p:cNvPr id="22" name="Text 20"/>
          <p:cNvSpPr/>
          <p:nvPr/>
        </p:nvSpPr>
        <p:spPr>
          <a:xfrm>
            <a:off x="713232" y="299008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G</a:t>
            </a:r>
            <a:endParaRPr lang="en-US" sz="1600" dirty="0"/>
          </a:p>
        </p:txBody>
      </p:sp>
      <p:sp>
        <p:nvSpPr>
          <p:cNvPr id="23" name="Shape 21"/>
          <p:cNvSpPr/>
          <p:nvPr/>
        </p:nvSpPr>
        <p:spPr>
          <a:xfrm>
            <a:off x="4258056" y="2926080"/>
            <a:ext cx="3631692" cy="516636"/>
          </a:xfrm>
          <a:prstGeom prst="rect">
            <a:avLst/>
          </a:prstGeom>
          <a:solidFill>
            <a:srgbClr val="FFFFFF"/>
          </a:solidFill>
          <a:ln w="7620">
            <a:solidFill>
              <a:srgbClr val="FFFFFF"/>
            </a:solidFill>
            <a:prstDash val="solid"/>
          </a:ln>
        </p:spPr>
      </p:sp>
      <p:sp>
        <p:nvSpPr>
          <p:cNvPr id="24" name="Text 22"/>
          <p:cNvSpPr/>
          <p:nvPr/>
        </p:nvSpPr>
        <p:spPr>
          <a:xfrm>
            <a:off x="4376928" y="299008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Yes</a:t>
            </a:r>
            <a:endParaRPr lang="en-US" sz="1600" dirty="0"/>
          </a:p>
        </p:txBody>
      </p:sp>
      <p:sp>
        <p:nvSpPr>
          <p:cNvPr id="25" name="Shape 23"/>
          <p:cNvSpPr/>
          <p:nvPr/>
        </p:nvSpPr>
        <p:spPr>
          <a:xfrm>
            <a:off x="7921752" y="2926080"/>
            <a:ext cx="3631692" cy="516636"/>
          </a:xfrm>
          <a:prstGeom prst="rect">
            <a:avLst/>
          </a:prstGeom>
          <a:solidFill>
            <a:srgbClr val="FFFFFF"/>
          </a:solidFill>
          <a:ln w="7620">
            <a:solidFill>
              <a:srgbClr val="FFFFFF"/>
            </a:solidFill>
            <a:prstDash val="solid"/>
          </a:ln>
        </p:spPr>
      </p:sp>
      <p:sp>
        <p:nvSpPr>
          <p:cNvPr id="26" name="Text 24"/>
          <p:cNvSpPr/>
          <p:nvPr/>
        </p:nvSpPr>
        <p:spPr>
          <a:xfrm>
            <a:off x="8040624" y="299008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a:t>
            </a:r>
            <a:endParaRPr lang="en-US" sz="1600" dirty="0"/>
          </a:p>
        </p:txBody>
      </p:sp>
      <p:sp>
        <p:nvSpPr>
          <p:cNvPr id="27" name="Shape 25"/>
          <p:cNvSpPr/>
          <p:nvPr/>
        </p:nvSpPr>
        <p:spPr>
          <a:xfrm>
            <a:off x="594360" y="3474720"/>
            <a:ext cx="3631692" cy="516636"/>
          </a:xfrm>
          <a:prstGeom prst="rect">
            <a:avLst/>
          </a:prstGeom>
          <a:solidFill>
            <a:srgbClr val="EAF2FC"/>
          </a:solidFill>
          <a:ln w="7620">
            <a:solidFill>
              <a:srgbClr val="EAF2FC"/>
            </a:solidFill>
            <a:prstDash val="solid"/>
          </a:ln>
        </p:spPr>
      </p:sp>
      <p:sp>
        <p:nvSpPr>
          <p:cNvPr id="28" name="Text 26"/>
          <p:cNvSpPr/>
          <p:nvPr/>
        </p:nvSpPr>
        <p:spPr>
          <a:xfrm>
            <a:off x="713232" y="353872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C</a:t>
            </a:r>
            <a:endParaRPr lang="en-US" sz="1600" dirty="0"/>
          </a:p>
        </p:txBody>
      </p:sp>
      <p:sp>
        <p:nvSpPr>
          <p:cNvPr id="29" name="Shape 27"/>
          <p:cNvSpPr/>
          <p:nvPr/>
        </p:nvSpPr>
        <p:spPr>
          <a:xfrm>
            <a:off x="4258056" y="3474720"/>
            <a:ext cx="3631692" cy="516636"/>
          </a:xfrm>
          <a:prstGeom prst="rect">
            <a:avLst/>
          </a:prstGeom>
          <a:solidFill>
            <a:srgbClr val="EAF2FC"/>
          </a:solidFill>
          <a:ln w="7620">
            <a:solidFill>
              <a:srgbClr val="EAF2FC"/>
            </a:solidFill>
            <a:prstDash val="solid"/>
          </a:ln>
        </p:spPr>
      </p:sp>
      <p:sp>
        <p:nvSpPr>
          <p:cNvPr id="30" name="Text 28"/>
          <p:cNvSpPr/>
          <p:nvPr/>
        </p:nvSpPr>
        <p:spPr>
          <a:xfrm>
            <a:off x="4376928" y="353872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Yes</a:t>
            </a:r>
            <a:endParaRPr lang="en-US" sz="1600" dirty="0"/>
          </a:p>
        </p:txBody>
      </p:sp>
      <p:sp>
        <p:nvSpPr>
          <p:cNvPr id="31" name="Shape 29"/>
          <p:cNvSpPr/>
          <p:nvPr/>
        </p:nvSpPr>
        <p:spPr>
          <a:xfrm>
            <a:off x="7921752" y="3474720"/>
            <a:ext cx="3631692" cy="516636"/>
          </a:xfrm>
          <a:prstGeom prst="rect">
            <a:avLst/>
          </a:prstGeom>
          <a:solidFill>
            <a:srgbClr val="EAF2FC"/>
          </a:solidFill>
          <a:ln w="7620">
            <a:solidFill>
              <a:srgbClr val="EAF2FC"/>
            </a:solidFill>
            <a:prstDash val="solid"/>
          </a:ln>
        </p:spPr>
      </p:sp>
      <p:sp>
        <p:nvSpPr>
          <p:cNvPr id="32" name="Text 30"/>
          <p:cNvSpPr/>
          <p:nvPr/>
        </p:nvSpPr>
        <p:spPr>
          <a:xfrm>
            <a:off x="8040624" y="353872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2</a:t>
            </a:r>
            <a:endParaRPr lang="en-US" sz="1600" dirty="0"/>
          </a:p>
        </p:txBody>
      </p:sp>
      <p:sp>
        <p:nvSpPr>
          <p:cNvPr id="33" name="Shape 31"/>
          <p:cNvSpPr/>
          <p:nvPr/>
        </p:nvSpPr>
        <p:spPr>
          <a:xfrm>
            <a:off x="612648" y="4279392"/>
            <a:ext cx="50292" cy="435864"/>
          </a:xfrm>
          <a:prstGeom prst="rect">
            <a:avLst/>
          </a:prstGeom>
          <a:solidFill>
            <a:srgbClr val="2A78D6"/>
          </a:solidFill>
          <a:ln w="7620">
            <a:solidFill>
              <a:srgbClr val="2A78D6"/>
            </a:solidFill>
            <a:prstDash val="solid"/>
          </a:ln>
        </p:spPr>
      </p:sp>
      <p:sp>
        <p:nvSpPr>
          <p:cNvPr id="34" name="Text 32"/>
          <p:cNvSpPr/>
          <p:nvPr/>
        </p:nvSpPr>
        <p:spPr>
          <a:xfrm>
            <a:off x="813816" y="4279392"/>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For AGC, the running counts are 0, 1, 2.</a:t>
            </a:r>
            <a:endParaRPr lang="en-US" sz="2100" dirty="0"/>
          </a:p>
        </p:txBody>
      </p:sp>
      <p:sp>
        <p:nvSpPr>
          <p:cNvPr id="35" name="Shape 33"/>
          <p:cNvSpPr/>
          <p:nvPr/>
        </p:nvSpPr>
        <p:spPr>
          <a:xfrm>
            <a:off x="612648" y="4916424"/>
            <a:ext cx="50292" cy="435864"/>
          </a:xfrm>
          <a:prstGeom prst="rect">
            <a:avLst/>
          </a:prstGeom>
          <a:solidFill>
            <a:srgbClr val="2A78D6"/>
          </a:solidFill>
          <a:ln w="7620">
            <a:solidFill>
              <a:srgbClr val="2A78D6"/>
            </a:solidFill>
            <a:prstDash val="solid"/>
          </a:ln>
        </p:spPr>
      </p:sp>
      <p:sp>
        <p:nvSpPr>
          <p:cNvPr id="36" name="Text 34"/>
          <p:cNvSpPr/>
          <p:nvPr/>
        </p:nvSpPr>
        <p:spPr>
          <a:xfrm>
            <a:off x="813816" y="4916424"/>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The numerator is 2 and the denominator is 3.</a:t>
            </a:r>
            <a:endParaRPr lang="en-US" sz="2100" dirty="0"/>
          </a:p>
        </p:txBody>
      </p:sp>
      <p:sp>
        <p:nvSpPr>
          <p:cNvPr id="37" name="Shape 35"/>
          <p:cNvSpPr/>
          <p:nvPr/>
        </p:nvSpPr>
        <p:spPr>
          <a:xfrm>
            <a:off x="612648" y="5553456"/>
            <a:ext cx="50292" cy="435864"/>
          </a:xfrm>
          <a:prstGeom prst="rect">
            <a:avLst/>
          </a:prstGeom>
          <a:solidFill>
            <a:srgbClr val="2A78D6"/>
          </a:solidFill>
          <a:ln w="7620">
            <a:solidFill>
              <a:srgbClr val="2A78D6"/>
            </a:solidFill>
            <a:prstDash val="solid"/>
          </a:ln>
        </p:spPr>
      </p:sp>
      <p:sp>
        <p:nvSpPr>
          <p:cNvPr id="38" name="Text 36"/>
          <p:cNvSpPr/>
          <p:nvPr/>
        </p:nvSpPr>
        <p:spPr>
          <a:xfrm>
            <a:off x="813816" y="5553456"/>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A trace table makes a hidden assumption visible.</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deliberate bug: the wrong denominator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S05  |  9</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Here N means unknown and should be excluded by the stated contract.</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numerator ignores N but the denominator below includes it.</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code runs; the biological definition is violated.</a:t>
            </a:r>
            <a:endParaRPr lang="en-US" sz="2297" dirty="0"/>
          </a:p>
        </p:txBody>
      </p:sp>
      <p:sp>
        <p:nvSpPr>
          <p:cNvPr id="16" name="Text 14"/>
          <p:cNvSpPr/>
          <p:nvPr/>
        </p:nvSpPr>
        <p:spPr>
          <a:xfrm>
            <a:off x="841248" y="2340864"/>
            <a:ext cx="4471416" cy="3383280"/>
          </a:xfrm>
          <a:prstGeom prst="rect">
            <a:avLst/>
          </a:prstGeom>
          <a:noFill/>
          <a:ln/>
        </p:spPr>
        <p:txBody>
          <a:bodyPr wrap="square" lIns="0" tIns="0" rIns="0" bIns="0" rtlCol="0" anchor="t">
            <a:normAutofit/>
          </a:bodyPr>
          <a:lstStyle/>
          <a:p>
            <a:pPr indent="0" marL="0">
              <a:buNone/>
            </a:pPr>
            <a:r>
              <a:rPr lang="en-US" sz="2197" dirty="0">
                <a:solidFill>
                  <a:srgbClr val="232D3B"/>
                </a:solidFill>
                <a:latin typeface="Consolas" pitchFamily="34" charset="0"/>
                <a:ea typeface="Consolas" pitchFamily="34" charset="-122"/>
                <a:cs typeface="Consolas" pitchFamily="34" charset="-120"/>
              </a:rPr>
              <a:t>seq = "GCNN"</a:t>
            </a:r>
            <a:endParaRPr lang="en-US" sz="2197" dirty="0"/>
          </a:p>
          <a:p>
            <a:pPr indent="0" marL="0">
              <a:buNone/>
            </a:pPr>
            <a:r>
              <a:rPr lang="en-US" sz="2197" dirty="0">
                <a:solidFill>
                  <a:srgbClr val="232D3B"/>
                </a:solidFill>
                <a:latin typeface="Consolas" pitchFamily="34" charset="0"/>
                <a:ea typeface="Consolas" pitchFamily="34" charset="-122"/>
                <a:cs typeface="Consolas" pitchFamily="34" charset="-120"/>
              </a:rPr>
              <a:t>wrong_gc = sum(b in "GC" for b in seq) / len(seq)</a:t>
            </a:r>
            <a:endParaRPr lang="en-US" sz="219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Tests should include awkward inputs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S05  |  10</a:t>
            </a:r>
            <a:endParaRPr lang="en-US" sz="800" dirty="0"/>
          </a:p>
        </p:txBody>
      </p:sp>
      <p:sp>
        <p:nvSpPr>
          <p:cNvPr id="9" name="Shape 7"/>
          <p:cNvSpPr/>
          <p:nvPr/>
        </p:nvSpPr>
        <p:spPr>
          <a:xfrm>
            <a:off x="594360" y="1828800"/>
            <a:ext cx="5463540" cy="406908"/>
          </a:xfrm>
          <a:prstGeom prst="rect">
            <a:avLst/>
          </a:prstGeom>
          <a:solidFill>
            <a:srgbClr val="2A78D6"/>
          </a:solidFill>
          <a:ln w="7620">
            <a:solidFill>
              <a:srgbClr val="2A78D6"/>
            </a:solidFill>
            <a:prstDash val="solid"/>
          </a:ln>
        </p:spPr>
      </p:sp>
      <p:sp>
        <p:nvSpPr>
          <p:cNvPr id="10" name="Text 8"/>
          <p:cNvSpPr/>
          <p:nvPr/>
        </p:nvSpPr>
        <p:spPr>
          <a:xfrm>
            <a:off x="713232" y="1901952"/>
            <a:ext cx="5221224" cy="265176"/>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Input</a:t>
            </a:r>
            <a:endParaRPr lang="en-US" sz="1600" dirty="0"/>
          </a:p>
        </p:txBody>
      </p:sp>
      <p:sp>
        <p:nvSpPr>
          <p:cNvPr id="11" name="Shape 9"/>
          <p:cNvSpPr/>
          <p:nvPr/>
        </p:nvSpPr>
        <p:spPr>
          <a:xfrm>
            <a:off x="6089904" y="1828800"/>
            <a:ext cx="5463540" cy="406908"/>
          </a:xfrm>
          <a:prstGeom prst="rect">
            <a:avLst/>
          </a:prstGeom>
          <a:solidFill>
            <a:srgbClr val="2A78D6"/>
          </a:solidFill>
          <a:ln w="7620">
            <a:solidFill>
              <a:srgbClr val="2A78D6"/>
            </a:solidFill>
            <a:prstDash val="solid"/>
          </a:ln>
        </p:spPr>
      </p:sp>
      <p:sp>
        <p:nvSpPr>
          <p:cNvPr id="12" name="Text 10"/>
          <p:cNvSpPr/>
          <p:nvPr/>
        </p:nvSpPr>
        <p:spPr>
          <a:xfrm>
            <a:off x="6208776" y="1901952"/>
            <a:ext cx="5221224" cy="265176"/>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Expected</a:t>
            </a:r>
            <a:endParaRPr lang="en-US" sz="1600" dirty="0"/>
          </a:p>
        </p:txBody>
      </p:sp>
      <p:sp>
        <p:nvSpPr>
          <p:cNvPr id="13" name="Shape 11"/>
          <p:cNvSpPr/>
          <p:nvPr/>
        </p:nvSpPr>
        <p:spPr>
          <a:xfrm>
            <a:off x="594360" y="2267712"/>
            <a:ext cx="5463540" cy="406908"/>
          </a:xfrm>
          <a:prstGeom prst="rect">
            <a:avLst/>
          </a:prstGeom>
          <a:solidFill>
            <a:srgbClr val="EAF2FC"/>
          </a:solidFill>
          <a:ln w="7620">
            <a:solidFill>
              <a:srgbClr val="EAF2FC"/>
            </a:solidFill>
            <a:prstDash val="solid"/>
          </a:ln>
        </p:spPr>
      </p:sp>
      <p:sp>
        <p:nvSpPr>
          <p:cNvPr id="14" name="Text 12"/>
          <p:cNvSpPr/>
          <p:nvPr/>
        </p:nvSpPr>
        <p:spPr>
          <a:xfrm>
            <a:off x="713232" y="2331720"/>
            <a:ext cx="5221224"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GCGC</a:t>
            </a:r>
            <a:endParaRPr lang="en-US" sz="1600" dirty="0"/>
          </a:p>
        </p:txBody>
      </p:sp>
      <p:sp>
        <p:nvSpPr>
          <p:cNvPr id="15" name="Shape 13"/>
          <p:cNvSpPr/>
          <p:nvPr/>
        </p:nvSpPr>
        <p:spPr>
          <a:xfrm>
            <a:off x="6089904" y="2267712"/>
            <a:ext cx="5463540" cy="406908"/>
          </a:xfrm>
          <a:prstGeom prst="rect">
            <a:avLst/>
          </a:prstGeom>
          <a:solidFill>
            <a:srgbClr val="EAF2FC"/>
          </a:solidFill>
          <a:ln w="7620">
            <a:solidFill>
              <a:srgbClr val="EAF2FC"/>
            </a:solidFill>
            <a:prstDash val="solid"/>
          </a:ln>
        </p:spPr>
      </p:sp>
      <p:sp>
        <p:nvSpPr>
          <p:cNvPr id="16" name="Text 14"/>
          <p:cNvSpPr/>
          <p:nvPr/>
        </p:nvSpPr>
        <p:spPr>
          <a:xfrm>
            <a:off x="6208776" y="2331720"/>
            <a:ext cx="5221224"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a:t>
            </a:r>
            <a:endParaRPr lang="en-US" sz="1600" dirty="0"/>
          </a:p>
        </p:txBody>
      </p:sp>
      <p:sp>
        <p:nvSpPr>
          <p:cNvPr id="17" name="Shape 15"/>
          <p:cNvSpPr/>
          <p:nvPr/>
        </p:nvSpPr>
        <p:spPr>
          <a:xfrm>
            <a:off x="594360" y="2706624"/>
            <a:ext cx="5463540" cy="406908"/>
          </a:xfrm>
          <a:prstGeom prst="rect">
            <a:avLst/>
          </a:prstGeom>
          <a:solidFill>
            <a:srgbClr val="FFFFFF"/>
          </a:solidFill>
          <a:ln w="7620">
            <a:solidFill>
              <a:srgbClr val="FFFFFF"/>
            </a:solidFill>
            <a:prstDash val="solid"/>
          </a:ln>
        </p:spPr>
      </p:sp>
      <p:sp>
        <p:nvSpPr>
          <p:cNvPr id="18" name="Text 16"/>
          <p:cNvSpPr/>
          <p:nvPr/>
        </p:nvSpPr>
        <p:spPr>
          <a:xfrm>
            <a:off x="713232" y="2770632"/>
            <a:ext cx="5221224"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ATAT</a:t>
            </a:r>
            <a:endParaRPr lang="en-US" sz="1600" dirty="0"/>
          </a:p>
        </p:txBody>
      </p:sp>
      <p:sp>
        <p:nvSpPr>
          <p:cNvPr id="19" name="Shape 17"/>
          <p:cNvSpPr/>
          <p:nvPr/>
        </p:nvSpPr>
        <p:spPr>
          <a:xfrm>
            <a:off x="6089904" y="2706624"/>
            <a:ext cx="5463540" cy="406908"/>
          </a:xfrm>
          <a:prstGeom prst="rect">
            <a:avLst/>
          </a:prstGeom>
          <a:solidFill>
            <a:srgbClr val="FFFFFF"/>
          </a:solidFill>
          <a:ln w="7620">
            <a:solidFill>
              <a:srgbClr val="FFFFFF"/>
            </a:solidFill>
            <a:prstDash val="solid"/>
          </a:ln>
        </p:spPr>
      </p:sp>
      <p:sp>
        <p:nvSpPr>
          <p:cNvPr id="20" name="Text 18"/>
          <p:cNvSpPr/>
          <p:nvPr/>
        </p:nvSpPr>
        <p:spPr>
          <a:xfrm>
            <a:off x="6208776" y="2770632"/>
            <a:ext cx="5221224"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0.0</a:t>
            </a:r>
            <a:endParaRPr lang="en-US" sz="1600" dirty="0"/>
          </a:p>
        </p:txBody>
      </p:sp>
      <p:sp>
        <p:nvSpPr>
          <p:cNvPr id="21" name="Shape 19"/>
          <p:cNvSpPr/>
          <p:nvPr/>
        </p:nvSpPr>
        <p:spPr>
          <a:xfrm>
            <a:off x="594360" y="3145536"/>
            <a:ext cx="5463540" cy="406908"/>
          </a:xfrm>
          <a:prstGeom prst="rect">
            <a:avLst/>
          </a:prstGeom>
          <a:solidFill>
            <a:srgbClr val="EAF2FC"/>
          </a:solidFill>
          <a:ln w="7620">
            <a:solidFill>
              <a:srgbClr val="EAF2FC"/>
            </a:solidFill>
            <a:prstDash val="solid"/>
          </a:ln>
        </p:spPr>
      </p:sp>
      <p:sp>
        <p:nvSpPr>
          <p:cNvPr id="22" name="Text 20"/>
          <p:cNvSpPr/>
          <p:nvPr/>
        </p:nvSpPr>
        <p:spPr>
          <a:xfrm>
            <a:off x="713232" y="3209544"/>
            <a:ext cx="5221224"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GCNN</a:t>
            </a:r>
            <a:endParaRPr lang="en-US" sz="1600" dirty="0"/>
          </a:p>
        </p:txBody>
      </p:sp>
      <p:sp>
        <p:nvSpPr>
          <p:cNvPr id="23" name="Shape 21"/>
          <p:cNvSpPr/>
          <p:nvPr/>
        </p:nvSpPr>
        <p:spPr>
          <a:xfrm>
            <a:off x="6089904" y="3145536"/>
            <a:ext cx="5463540" cy="406908"/>
          </a:xfrm>
          <a:prstGeom prst="rect">
            <a:avLst/>
          </a:prstGeom>
          <a:solidFill>
            <a:srgbClr val="EAF2FC"/>
          </a:solidFill>
          <a:ln w="7620">
            <a:solidFill>
              <a:srgbClr val="EAF2FC"/>
            </a:solidFill>
            <a:prstDash val="solid"/>
          </a:ln>
        </p:spPr>
      </p:sp>
      <p:sp>
        <p:nvSpPr>
          <p:cNvPr id="24" name="Text 22"/>
          <p:cNvSpPr/>
          <p:nvPr/>
        </p:nvSpPr>
        <p:spPr>
          <a:xfrm>
            <a:off x="6208776" y="3209544"/>
            <a:ext cx="5221224"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a:t>
            </a:r>
            <a:endParaRPr lang="en-US" sz="1600" dirty="0"/>
          </a:p>
        </p:txBody>
      </p:sp>
      <p:sp>
        <p:nvSpPr>
          <p:cNvPr id="25" name="Shape 23"/>
          <p:cNvSpPr/>
          <p:nvPr/>
        </p:nvSpPr>
        <p:spPr>
          <a:xfrm>
            <a:off x="594360" y="3584448"/>
            <a:ext cx="5463540" cy="406908"/>
          </a:xfrm>
          <a:prstGeom prst="rect">
            <a:avLst/>
          </a:prstGeom>
          <a:solidFill>
            <a:srgbClr val="FFFFFF"/>
          </a:solidFill>
          <a:ln w="7620">
            <a:solidFill>
              <a:srgbClr val="FFFFFF"/>
            </a:solidFill>
            <a:prstDash val="solid"/>
          </a:ln>
        </p:spPr>
      </p:sp>
      <p:sp>
        <p:nvSpPr>
          <p:cNvPr id="26" name="Text 24"/>
          <p:cNvSpPr/>
          <p:nvPr/>
        </p:nvSpPr>
        <p:spPr>
          <a:xfrm>
            <a:off x="713232" y="3648456"/>
            <a:ext cx="5221224"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NN / empty</a:t>
            </a:r>
            <a:endParaRPr lang="en-US" sz="1600" dirty="0"/>
          </a:p>
        </p:txBody>
      </p:sp>
      <p:sp>
        <p:nvSpPr>
          <p:cNvPr id="27" name="Shape 25"/>
          <p:cNvSpPr/>
          <p:nvPr/>
        </p:nvSpPr>
        <p:spPr>
          <a:xfrm>
            <a:off x="6089904" y="3584448"/>
            <a:ext cx="5463540" cy="406908"/>
          </a:xfrm>
          <a:prstGeom prst="rect">
            <a:avLst/>
          </a:prstGeom>
          <a:solidFill>
            <a:srgbClr val="FFFFFF"/>
          </a:solidFill>
          <a:ln w="7620">
            <a:solidFill>
              <a:srgbClr val="FFFFFF"/>
            </a:solidFill>
            <a:prstDash val="solid"/>
          </a:ln>
        </p:spPr>
      </p:sp>
      <p:sp>
        <p:nvSpPr>
          <p:cNvPr id="28" name="Text 26"/>
          <p:cNvSpPr/>
          <p:nvPr/>
        </p:nvSpPr>
        <p:spPr>
          <a:xfrm>
            <a:off x="6208776" y="3648456"/>
            <a:ext cx="5221224"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Undefined</a:t>
            </a:r>
            <a:endParaRPr lang="en-US" sz="1600" dirty="0"/>
          </a:p>
        </p:txBody>
      </p:sp>
      <p:sp>
        <p:nvSpPr>
          <p:cNvPr id="29" name="Shape 27"/>
          <p:cNvSpPr/>
          <p:nvPr/>
        </p:nvSpPr>
        <p:spPr>
          <a:xfrm>
            <a:off x="612648" y="4279392"/>
            <a:ext cx="50292" cy="435864"/>
          </a:xfrm>
          <a:prstGeom prst="rect">
            <a:avLst/>
          </a:prstGeom>
          <a:solidFill>
            <a:srgbClr val="2A78D6"/>
          </a:solidFill>
          <a:ln w="7620">
            <a:solidFill>
              <a:srgbClr val="2A78D6"/>
            </a:solidFill>
            <a:prstDash val="solid"/>
          </a:ln>
        </p:spPr>
      </p:sp>
      <p:sp>
        <p:nvSpPr>
          <p:cNvPr id="30" name="Text 28"/>
          <p:cNvSpPr/>
          <p:nvPr/>
        </p:nvSpPr>
        <p:spPr>
          <a:xfrm>
            <a:off x="813816" y="4279392"/>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All GC bases should give 1.0. All AT bases should give 0.0.</a:t>
            </a:r>
            <a:endParaRPr lang="en-US" sz="2100" dirty="0"/>
          </a:p>
        </p:txBody>
      </p:sp>
      <p:sp>
        <p:nvSpPr>
          <p:cNvPr id="31" name="Shape 29"/>
          <p:cNvSpPr/>
          <p:nvPr/>
        </p:nvSpPr>
        <p:spPr>
          <a:xfrm>
            <a:off x="612648" y="4916424"/>
            <a:ext cx="50292" cy="435864"/>
          </a:xfrm>
          <a:prstGeom prst="rect">
            <a:avLst/>
          </a:prstGeom>
          <a:solidFill>
            <a:srgbClr val="2A78D6"/>
          </a:solidFill>
          <a:ln w="7620">
            <a:solidFill>
              <a:srgbClr val="2A78D6"/>
            </a:solidFill>
            <a:prstDash val="solid"/>
          </a:ln>
        </p:spPr>
      </p:sp>
      <p:sp>
        <p:nvSpPr>
          <p:cNvPr id="32" name="Text 30"/>
          <p:cNvSpPr/>
          <p:nvPr/>
        </p:nvSpPr>
        <p:spPr>
          <a:xfrm>
            <a:off x="813816" y="4916424"/>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GCNN should give 1.0 under our known-base definition.</a:t>
            </a:r>
            <a:endParaRPr lang="en-US" sz="2100" dirty="0"/>
          </a:p>
        </p:txBody>
      </p:sp>
      <p:sp>
        <p:nvSpPr>
          <p:cNvPr id="33" name="Shape 31"/>
          <p:cNvSpPr/>
          <p:nvPr/>
        </p:nvSpPr>
        <p:spPr>
          <a:xfrm>
            <a:off x="612648" y="5553456"/>
            <a:ext cx="50292" cy="435864"/>
          </a:xfrm>
          <a:prstGeom prst="rect">
            <a:avLst/>
          </a:prstGeom>
          <a:solidFill>
            <a:srgbClr val="2A78D6"/>
          </a:solidFill>
          <a:ln w="7620">
            <a:solidFill>
              <a:srgbClr val="2A78D6"/>
            </a:solidFill>
            <a:prstDash val="solid"/>
          </a:ln>
        </p:spPr>
      </p:sp>
      <p:sp>
        <p:nvSpPr>
          <p:cNvPr id="34" name="Text 32"/>
          <p:cNvSpPr/>
          <p:nvPr/>
        </p:nvSpPr>
        <p:spPr>
          <a:xfrm>
            <a:off x="813816" y="5553456"/>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An empty or all-N sequence should be reported as undefined, not 0%.</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traceback is a location clue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S05  |  11</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Read the last line: what kind of error occurred?</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Read upward to the line in your notebook that triggered it.</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failed test can be more informative than a clean run.</a:t>
            </a:r>
            <a:endParaRPr lang="en-US" sz="2297" dirty="0"/>
          </a:p>
        </p:txBody>
      </p:sp>
      <p:sp>
        <p:nvSpPr>
          <p:cNvPr id="16" name="Text 14"/>
          <p:cNvSpPr/>
          <p:nvPr/>
        </p:nvSpPr>
        <p:spPr>
          <a:xfrm>
            <a:off x="841248" y="2340864"/>
            <a:ext cx="4471416" cy="3383280"/>
          </a:xfrm>
          <a:prstGeom prst="rect">
            <a:avLst/>
          </a:prstGeom>
          <a:noFill/>
          <a:ln/>
        </p:spPr>
        <p:txBody>
          <a:bodyPr wrap="square" lIns="0" tIns="0" rIns="0" bIns="0" rtlCol="0" anchor="t">
            <a:normAutofit/>
          </a:bodyPr>
          <a:lstStyle/>
          <a:p>
            <a:pPr indent="0" marL="0">
              <a:buNone/>
            </a:pPr>
            <a:r>
              <a:rPr lang="en-US" sz="2197" dirty="0">
                <a:solidFill>
                  <a:srgbClr val="232D3B"/>
                </a:solidFill>
                <a:latin typeface="Consolas" pitchFamily="34" charset="0"/>
                <a:ea typeface="Consolas" pitchFamily="34" charset="-122"/>
                <a:cs typeface="Consolas" pitchFamily="34" charset="-120"/>
              </a:rPr>
              <a:t>NameError: name 'sequence' is not defined</a:t>
            </a:r>
            <a:endParaRPr lang="en-US" sz="2197" dirty="0"/>
          </a:p>
          <a:p>
            <a:pPr indent="0" marL="0">
              <a:buNone/>
            </a:pPr>
            <a:r>
              <a:rPr lang="en-US" sz="2197" dirty="0">
                <a:solidFill>
                  <a:srgbClr val="232D3B"/>
                </a:solidFill>
                <a:latin typeface="Consolas" pitchFamily="34" charset="0"/>
                <a:ea typeface="Consolas" pitchFamily="34" charset="-122"/>
                <a:cs typeface="Consolas" pitchFamily="34" charset="-120"/>
              </a:rPr>
              <a:t># Check spelling and execution order.</a:t>
            </a:r>
            <a:endParaRPr lang="en-US" sz="219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Worked example: repair without rewriting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12</a:t>
            </a:r>
            <a:endParaRPr lang="en-US" sz="800" dirty="0"/>
          </a:p>
        </p:txBody>
      </p:sp>
      <p:sp>
        <p:nvSpPr>
          <p:cNvPr id="9" name="Text 7"/>
          <p:cNvSpPr/>
          <p:nvPr/>
        </p:nvSpPr>
        <p:spPr>
          <a:xfrm>
            <a:off x="685800" y="2148840"/>
            <a:ext cx="10881360" cy="1783080"/>
          </a:xfrm>
          <a:prstGeom prst="rect">
            <a:avLst/>
          </a:prstGeom>
          <a:noFill/>
          <a:ln/>
        </p:spPr>
        <p:txBody>
          <a:bodyPr wrap="square" lIns="0" tIns="0" rIns="0" bIns="0" rtlCol="0" anchor="ctr">
            <a:normAutofit/>
          </a:bodyPr>
          <a:lstStyle/>
          <a:p>
            <a:pPr indent="0" marL="0">
              <a:buNone/>
            </a:pPr>
            <a:r>
              <a:rPr lang="en-US" sz="2997" dirty="0">
                <a:solidFill>
                  <a:srgbClr val="232D3B"/>
                </a:solidFill>
                <a:latin typeface="Aptos" pitchFamily="34" charset="0"/>
                <a:ea typeface="Aptos" pitchFamily="34" charset="-122"/>
                <a:cs typeface="Aptos" pitchFamily="34" charset="-120"/>
              </a:rPr>
              <a:t>The function should calculate GC among A/C/G/T positions only.</a:t>
            </a:r>
            <a:endParaRPr lang="en-US" sz="2997" dirty="0"/>
          </a:p>
        </p:txBody>
      </p:sp>
      <p:sp>
        <p:nvSpPr>
          <p:cNvPr id="10" name="Shape 8"/>
          <p:cNvSpPr/>
          <p:nvPr/>
        </p:nvSpPr>
        <p:spPr>
          <a:xfrm>
            <a:off x="685800" y="4572000"/>
            <a:ext cx="10817352" cy="1024128"/>
          </a:xfrm>
          <a:prstGeom prst="rect">
            <a:avLst/>
          </a:prstGeom>
          <a:solidFill>
            <a:srgbClr val="EAF2FC"/>
          </a:solidFill>
          <a:ln w="7620">
            <a:solidFill>
              <a:srgbClr val="EAF2FC"/>
            </a:solidFill>
            <a:prstDash val="solid"/>
          </a:ln>
        </p:spPr>
      </p:sp>
      <p:sp>
        <p:nvSpPr>
          <p:cNvPr id="11" name="Text 9"/>
          <p:cNvSpPr/>
          <p:nvPr/>
        </p:nvSpPr>
        <p:spPr>
          <a:xfrm>
            <a:off x="932688" y="4791456"/>
            <a:ext cx="10287000" cy="576072"/>
          </a:xfrm>
          <a:prstGeom prst="rect">
            <a:avLst/>
          </a:prstGeom>
          <a:noFill/>
          <a:ln/>
        </p:spPr>
        <p:txBody>
          <a:bodyPr wrap="square" lIns="0" tIns="0" rIns="0" bIns="0" rtlCol="0" anchor="ctr">
            <a:normAutofit/>
          </a:bodyPr>
          <a:lstStyle/>
          <a:p>
            <a:pPr indent="0" marL="0">
              <a:buNone/>
            </a:pPr>
            <a:r>
              <a:rPr lang="en-US" sz="2100" b="1" dirty="0">
                <a:solidFill>
                  <a:srgbClr val="2A78D6"/>
                </a:solidFill>
                <a:latin typeface="Aptos" pitchFamily="34" charset="0"/>
                <a:ea typeface="Aptos" pitchFamily="34" charset="-122"/>
                <a:cs typeface="Aptos" pitchFamily="34" charset="-120"/>
              </a:rPr>
              <a:t>Predict the result and one limitation before calculating.</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 through the reasoning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13</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Make known = [b for b in seq.upper() if b in "ACGT"].</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Divide the GC count by len(known), not len(seq).</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Return None when known is empty; check GCNN and NN as controls.</a:t>
            </a:r>
            <a:endParaRPr lang="en-US" sz="229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PAIR CHECK</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Pause: make a defensible claim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14</a:t>
            </a:r>
            <a:endParaRPr lang="en-US" sz="800" dirty="0"/>
          </a:p>
        </p:txBody>
      </p:sp>
      <p:sp>
        <p:nvSpPr>
          <p:cNvPr id="9" name="Text 7"/>
          <p:cNvSpPr/>
          <p:nvPr/>
        </p:nvSpPr>
        <p:spPr>
          <a:xfrm>
            <a:off x="713232" y="2130552"/>
            <a:ext cx="10762488" cy="2496312"/>
          </a:xfrm>
          <a:prstGeom prst="rect">
            <a:avLst/>
          </a:prstGeom>
          <a:noFill/>
          <a:ln/>
        </p:spPr>
        <p:txBody>
          <a:bodyPr wrap="square" lIns="0" tIns="0" rIns="0" bIns="0" rtlCol="0" anchor="ctr">
            <a:normAutofit/>
          </a:bodyPr>
          <a:lstStyle/>
          <a:p>
            <a:pPr indent="0" marL="0">
              <a:buNone/>
            </a:pPr>
            <a:r>
              <a:rPr lang="en-US" sz="2897" dirty="0">
                <a:solidFill>
                  <a:srgbClr val="232D3B"/>
                </a:solidFill>
                <a:latin typeface="Aptos" pitchFamily="34" charset="0"/>
                <a:ea typeface="Aptos" pitchFamily="34" charset="-122"/>
                <a:cs typeface="Aptos" pitchFamily="34" charset="-120"/>
              </a:rPr>
              <a:t>A function returns 0.5 for GCNN. Under our contract, locate the error and predict the correct result.</a:t>
            </a:r>
            <a:endParaRPr lang="en-US" sz="2897" dirty="0"/>
          </a:p>
        </p:txBody>
      </p:sp>
      <p:sp>
        <p:nvSpPr>
          <p:cNvPr id="10" name="Text 8"/>
          <p:cNvSpPr/>
          <p:nvPr/>
        </p:nvSpPr>
        <p:spPr>
          <a:xfrm>
            <a:off x="731520" y="5074920"/>
            <a:ext cx="10698480" cy="640080"/>
          </a:xfrm>
          <a:prstGeom prst="rect">
            <a:avLst/>
          </a:prstGeom>
          <a:noFill/>
          <a:ln/>
        </p:spPr>
        <p:txBody>
          <a:bodyPr wrap="square" lIns="0" tIns="0" rIns="0" bIns="0" rtlCol="0" anchor="ctr">
            <a:normAutofit/>
          </a:bodyPr>
          <a:lstStyle/>
          <a:p>
            <a:pPr indent="0" marL="0">
              <a:buNone/>
            </a:pPr>
            <a:r>
              <a:rPr lang="en-US" sz="2197" b="1" dirty="0">
                <a:solidFill>
                  <a:srgbClr val="2A78D6"/>
                </a:solidFill>
                <a:latin typeface="Aptos" pitchFamily="34" charset="0"/>
                <a:ea typeface="Aptos" pitchFamily="34" charset="-122"/>
                <a:cs typeface="Aptos" pitchFamily="34" charset="-120"/>
              </a:rPr>
              <a:t>First answer alone. Then compare the evidence, not just the conclusion.</a:t>
            </a:r>
            <a:endParaRPr lang="en-US" sz="219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DEBRIEF</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defensible response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15</a:t>
            </a:r>
            <a:endParaRPr lang="en-US" sz="800" dirty="0"/>
          </a:p>
        </p:txBody>
      </p:sp>
      <p:sp>
        <p:nvSpPr>
          <p:cNvPr id="9" name="Shape 7"/>
          <p:cNvSpPr/>
          <p:nvPr/>
        </p:nvSpPr>
        <p:spPr>
          <a:xfrm>
            <a:off x="685800" y="2075688"/>
            <a:ext cx="10826496" cy="2816352"/>
          </a:xfrm>
          <a:prstGeom prst="rect">
            <a:avLst/>
          </a:prstGeom>
          <a:solidFill>
            <a:srgbClr val="EAF2FC"/>
          </a:solidFill>
          <a:ln w="7620">
            <a:solidFill>
              <a:srgbClr val="EAF2FC"/>
            </a:solidFill>
            <a:prstDash val="solid"/>
          </a:ln>
        </p:spPr>
      </p:sp>
      <p:sp>
        <p:nvSpPr>
          <p:cNvPr id="10" name="Text 8"/>
          <p:cNvSpPr/>
          <p:nvPr/>
        </p:nvSpPr>
        <p:spPr>
          <a:xfrm>
            <a:off x="941832" y="2331720"/>
            <a:ext cx="10305288" cy="2276856"/>
          </a:xfrm>
          <a:prstGeom prst="rect">
            <a:avLst/>
          </a:prstGeom>
          <a:noFill/>
          <a:ln/>
        </p:spPr>
        <p:txBody>
          <a:bodyPr wrap="square" lIns="0" tIns="0" rIns="0" bIns="0" rtlCol="0" anchor="ctr">
            <a:normAutofit/>
          </a:bodyPr>
          <a:lstStyle/>
          <a:p>
            <a:pPr indent="0" marL="0">
              <a:buNone/>
            </a:pPr>
            <a:r>
              <a:rPr lang="en-US" sz="2597" dirty="0">
                <a:solidFill>
                  <a:srgbClr val="232D3B"/>
                </a:solidFill>
                <a:latin typeface="Aptos" pitchFamily="34" charset="0"/>
                <a:ea typeface="Aptos" pitchFamily="34" charset="-122"/>
                <a:cs typeface="Aptos" pitchFamily="34" charset="-120"/>
              </a:rPr>
              <a:t>The denominator includes the two unknown bases. There are two GC bases among two known positions, so the fraction is 1.0.</a:t>
            </a:r>
            <a:endParaRPr lang="en-US" sz="259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45-MINUTE STUDIO</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Today's practical</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16</a:t>
            </a:r>
            <a:endParaRPr lang="en-US" sz="800" dirty="0"/>
          </a:p>
        </p:txBody>
      </p:sp>
      <p:sp>
        <p:nvSpPr>
          <p:cNvPr id="9" name="Text 7"/>
          <p:cNvSpPr/>
          <p:nvPr/>
        </p:nvSpPr>
        <p:spPr>
          <a:xfrm>
            <a:off x="731520" y="1929384"/>
            <a:ext cx="10698480" cy="1508760"/>
          </a:xfrm>
          <a:prstGeom prst="rect">
            <a:avLst/>
          </a:prstGeom>
          <a:noFill/>
          <a:ln/>
        </p:spPr>
        <p:txBody>
          <a:bodyPr wrap="square" lIns="0" tIns="0" rIns="0" bIns="0" rtlCol="0" anchor="ctr">
            <a:normAutofit/>
          </a:bodyPr>
          <a:lstStyle/>
          <a:p>
            <a:pPr indent="0" marL="0">
              <a:buNone/>
            </a:pPr>
            <a:r>
              <a:rPr lang="en-US" sz="2497" dirty="0">
                <a:solidFill>
                  <a:srgbClr val="232D3B"/>
                </a:solidFill>
                <a:latin typeface="Aptos" pitchFamily="34" charset="0"/>
                <a:ea typeface="Aptos" pitchFamily="34" charset="-122"/>
                <a:cs typeface="Aptos" pitchFamily="34" charset="-120"/>
              </a:rPr>
              <a:t>W03: trace four inputs, compare a supplied buggy and corrected function, and explain one test in words. No program from scratch is required.</a:t>
            </a:r>
            <a:endParaRPr lang="en-US" sz="2497" dirty="0"/>
          </a:p>
        </p:txBody>
      </p:sp>
      <p:sp>
        <p:nvSpPr>
          <p:cNvPr id="10" name="Shape 8"/>
          <p:cNvSpPr/>
          <p:nvPr/>
        </p:nvSpPr>
        <p:spPr>
          <a:xfrm>
            <a:off x="731520" y="3721608"/>
            <a:ext cx="5317236" cy="395935"/>
          </a:xfrm>
          <a:prstGeom prst="rect">
            <a:avLst/>
          </a:prstGeom>
          <a:solidFill>
            <a:srgbClr val="2A78D6"/>
          </a:solidFill>
          <a:ln w="7620">
            <a:solidFill>
              <a:srgbClr val="2A78D6"/>
            </a:solidFill>
            <a:prstDash val="solid"/>
          </a:ln>
        </p:spPr>
      </p:sp>
      <p:sp>
        <p:nvSpPr>
          <p:cNvPr id="11" name="Text 9"/>
          <p:cNvSpPr/>
          <p:nvPr/>
        </p:nvSpPr>
        <p:spPr>
          <a:xfrm>
            <a:off x="85039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Minutes</a:t>
            </a:r>
            <a:endParaRPr lang="en-US" sz="1600" dirty="0"/>
          </a:p>
        </p:txBody>
      </p:sp>
      <p:sp>
        <p:nvSpPr>
          <p:cNvPr id="12" name="Shape 10"/>
          <p:cNvSpPr/>
          <p:nvPr/>
        </p:nvSpPr>
        <p:spPr>
          <a:xfrm>
            <a:off x="6080760" y="3721608"/>
            <a:ext cx="5317236" cy="395935"/>
          </a:xfrm>
          <a:prstGeom prst="rect">
            <a:avLst/>
          </a:prstGeom>
          <a:solidFill>
            <a:srgbClr val="2A78D6"/>
          </a:solidFill>
          <a:ln w="7620">
            <a:solidFill>
              <a:srgbClr val="2A78D6"/>
            </a:solidFill>
            <a:prstDash val="solid"/>
          </a:ln>
        </p:spPr>
      </p:sp>
      <p:sp>
        <p:nvSpPr>
          <p:cNvPr id="13" name="Text 11"/>
          <p:cNvSpPr/>
          <p:nvPr/>
        </p:nvSpPr>
        <p:spPr>
          <a:xfrm>
            <a:off x="619963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Action</a:t>
            </a:r>
            <a:endParaRPr lang="en-US" sz="1600" dirty="0"/>
          </a:p>
        </p:txBody>
      </p:sp>
      <p:sp>
        <p:nvSpPr>
          <p:cNvPr id="14" name="Shape 12"/>
          <p:cNvSpPr/>
          <p:nvPr/>
        </p:nvSpPr>
        <p:spPr>
          <a:xfrm>
            <a:off x="731520" y="4149547"/>
            <a:ext cx="5317236" cy="395935"/>
          </a:xfrm>
          <a:prstGeom prst="rect">
            <a:avLst/>
          </a:prstGeom>
          <a:solidFill>
            <a:srgbClr val="EAF2FC"/>
          </a:solidFill>
          <a:ln w="7620">
            <a:solidFill>
              <a:srgbClr val="EAF2FC"/>
            </a:solidFill>
            <a:prstDash val="solid"/>
          </a:ln>
        </p:spPr>
      </p:sp>
      <p:sp>
        <p:nvSpPr>
          <p:cNvPr id="15" name="Text 13"/>
          <p:cNvSpPr/>
          <p:nvPr/>
        </p:nvSpPr>
        <p:spPr>
          <a:xfrm>
            <a:off x="85039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0-10</a:t>
            </a:r>
            <a:endParaRPr lang="en-US" sz="1600" dirty="0"/>
          </a:p>
        </p:txBody>
      </p:sp>
      <p:sp>
        <p:nvSpPr>
          <p:cNvPr id="16" name="Shape 14"/>
          <p:cNvSpPr/>
          <p:nvPr/>
        </p:nvSpPr>
        <p:spPr>
          <a:xfrm>
            <a:off x="6080760" y="4149547"/>
            <a:ext cx="5317236" cy="395935"/>
          </a:xfrm>
          <a:prstGeom prst="rect">
            <a:avLst/>
          </a:prstGeom>
          <a:solidFill>
            <a:srgbClr val="EAF2FC"/>
          </a:solidFill>
          <a:ln w="7620">
            <a:solidFill>
              <a:srgbClr val="EAF2FC"/>
            </a:solidFill>
            <a:prstDash val="solid"/>
          </a:ln>
        </p:spPr>
      </p:sp>
      <p:sp>
        <p:nvSpPr>
          <p:cNvPr id="17" name="Text 15"/>
          <p:cNvSpPr/>
          <p:nvPr/>
        </p:nvSpPr>
        <p:spPr>
          <a:xfrm>
            <a:off x="619963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Predict + set up</a:t>
            </a:r>
            <a:endParaRPr lang="en-US" sz="1600" dirty="0"/>
          </a:p>
        </p:txBody>
      </p:sp>
      <p:sp>
        <p:nvSpPr>
          <p:cNvPr id="18" name="Shape 16"/>
          <p:cNvSpPr/>
          <p:nvPr/>
        </p:nvSpPr>
        <p:spPr>
          <a:xfrm>
            <a:off x="731520" y="4577486"/>
            <a:ext cx="5317236" cy="395935"/>
          </a:xfrm>
          <a:prstGeom prst="rect">
            <a:avLst/>
          </a:prstGeom>
          <a:solidFill>
            <a:srgbClr val="FFFFFF"/>
          </a:solidFill>
          <a:ln w="7620">
            <a:solidFill>
              <a:srgbClr val="FFFFFF"/>
            </a:solidFill>
            <a:prstDash val="solid"/>
          </a:ln>
        </p:spPr>
      </p:sp>
      <p:sp>
        <p:nvSpPr>
          <p:cNvPr id="19" name="Text 17"/>
          <p:cNvSpPr/>
          <p:nvPr/>
        </p:nvSpPr>
        <p:spPr>
          <a:xfrm>
            <a:off x="85039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10-30</a:t>
            </a:r>
            <a:endParaRPr lang="en-US" sz="1600" dirty="0"/>
          </a:p>
        </p:txBody>
      </p:sp>
      <p:sp>
        <p:nvSpPr>
          <p:cNvPr id="20" name="Shape 18"/>
          <p:cNvSpPr/>
          <p:nvPr/>
        </p:nvSpPr>
        <p:spPr>
          <a:xfrm>
            <a:off x="6080760" y="4577486"/>
            <a:ext cx="5317236" cy="395935"/>
          </a:xfrm>
          <a:prstGeom prst="rect">
            <a:avLst/>
          </a:prstGeom>
          <a:solidFill>
            <a:srgbClr val="FFFFFF"/>
          </a:solidFill>
          <a:ln w="7620">
            <a:solidFill>
              <a:srgbClr val="FFFFFF"/>
            </a:solidFill>
            <a:prstDash val="solid"/>
          </a:ln>
        </p:spPr>
      </p:sp>
      <p:sp>
        <p:nvSpPr>
          <p:cNvPr id="21" name="Text 19"/>
          <p:cNvSpPr/>
          <p:nvPr/>
        </p:nvSpPr>
        <p:spPr>
          <a:xfrm>
            <a:off x="619963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Run + inspect + check</a:t>
            </a:r>
            <a:endParaRPr lang="en-US" sz="1600" dirty="0"/>
          </a:p>
        </p:txBody>
      </p:sp>
      <p:sp>
        <p:nvSpPr>
          <p:cNvPr id="22" name="Shape 20"/>
          <p:cNvSpPr/>
          <p:nvPr/>
        </p:nvSpPr>
        <p:spPr>
          <a:xfrm>
            <a:off x="731520" y="5005426"/>
            <a:ext cx="5317236" cy="395935"/>
          </a:xfrm>
          <a:prstGeom prst="rect">
            <a:avLst/>
          </a:prstGeom>
          <a:solidFill>
            <a:srgbClr val="EAF2FC"/>
          </a:solidFill>
          <a:ln w="7620">
            <a:solidFill>
              <a:srgbClr val="EAF2FC"/>
            </a:solidFill>
            <a:prstDash val="solid"/>
          </a:ln>
        </p:spPr>
      </p:sp>
      <p:sp>
        <p:nvSpPr>
          <p:cNvPr id="23" name="Text 21"/>
          <p:cNvSpPr/>
          <p:nvPr/>
        </p:nvSpPr>
        <p:spPr>
          <a:xfrm>
            <a:off x="85039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30-40</a:t>
            </a:r>
            <a:endParaRPr lang="en-US" sz="1600" dirty="0"/>
          </a:p>
        </p:txBody>
      </p:sp>
      <p:sp>
        <p:nvSpPr>
          <p:cNvPr id="24" name="Shape 22"/>
          <p:cNvSpPr/>
          <p:nvPr/>
        </p:nvSpPr>
        <p:spPr>
          <a:xfrm>
            <a:off x="6080760" y="5005426"/>
            <a:ext cx="5317236" cy="395935"/>
          </a:xfrm>
          <a:prstGeom prst="rect">
            <a:avLst/>
          </a:prstGeom>
          <a:solidFill>
            <a:srgbClr val="EAF2FC"/>
          </a:solidFill>
          <a:ln w="7620">
            <a:solidFill>
              <a:srgbClr val="EAF2FC"/>
            </a:solidFill>
            <a:prstDash val="solid"/>
          </a:ln>
        </p:spPr>
      </p:sp>
      <p:sp>
        <p:nvSpPr>
          <p:cNvPr id="25" name="Text 23"/>
          <p:cNvSpPr/>
          <p:nvPr/>
        </p:nvSpPr>
        <p:spPr>
          <a:xfrm>
            <a:off x="619963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Explain + compare</a:t>
            </a:r>
            <a:endParaRPr lang="en-US" sz="1600" dirty="0"/>
          </a:p>
        </p:txBody>
      </p:sp>
      <p:sp>
        <p:nvSpPr>
          <p:cNvPr id="26" name="Shape 24"/>
          <p:cNvSpPr/>
          <p:nvPr/>
        </p:nvSpPr>
        <p:spPr>
          <a:xfrm>
            <a:off x="731520" y="5433365"/>
            <a:ext cx="5317236" cy="395935"/>
          </a:xfrm>
          <a:prstGeom prst="rect">
            <a:avLst/>
          </a:prstGeom>
          <a:solidFill>
            <a:srgbClr val="FFFFFF"/>
          </a:solidFill>
          <a:ln w="7620">
            <a:solidFill>
              <a:srgbClr val="FFFFFF"/>
            </a:solidFill>
            <a:prstDash val="solid"/>
          </a:ln>
        </p:spPr>
      </p:sp>
      <p:sp>
        <p:nvSpPr>
          <p:cNvPr id="27" name="Text 25"/>
          <p:cNvSpPr/>
          <p:nvPr/>
        </p:nvSpPr>
        <p:spPr>
          <a:xfrm>
            <a:off x="85039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40-45</a:t>
            </a:r>
            <a:endParaRPr lang="en-US" sz="1600" dirty="0"/>
          </a:p>
        </p:txBody>
      </p:sp>
      <p:sp>
        <p:nvSpPr>
          <p:cNvPr id="28" name="Shape 26"/>
          <p:cNvSpPr/>
          <p:nvPr/>
        </p:nvSpPr>
        <p:spPr>
          <a:xfrm>
            <a:off x="6080760" y="5433365"/>
            <a:ext cx="5317236" cy="395935"/>
          </a:xfrm>
          <a:prstGeom prst="rect">
            <a:avLst/>
          </a:prstGeom>
          <a:solidFill>
            <a:srgbClr val="FFFFFF"/>
          </a:solidFill>
          <a:ln w="7620">
            <a:solidFill>
              <a:srgbClr val="FFFFFF"/>
            </a:solidFill>
            <a:prstDash val="solid"/>
          </a:ln>
        </p:spPr>
      </p:sp>
      <p:sp>
        <p:nvSpPr>
          <p:cNvPr id="29" name="Text 27"/>
          <p:cNvSpPr/>
          <p:nvPr/>
        </p:nvSpPr>
        <p:spPr>
          <a:xfrm>
            <a:off x="619963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Save + submit / exit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CONSOLIDATE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Five terms to use precisely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17</a:t>
            </a:r>
            <a:endParaRPr lang="en-US" sz="800" dirty="0"/>
          </a:p>
        </p:txBody>
      </p:sp>
      <p:sp>
        <p:nvSpPr>
          <p:cNvPr id="9" name="Shape 7"/>
          <p:cNvSpPr/>
          <p:nvPr/>
        </p:nvSpPr>
        <p:spPr>
          <a:xfrm>
            <a:off x="713232" y="1984248"/>
            <a:ext cx="475488" cy="457200"/>
          </a:xfrm>
          <a:prstGeom prst="rect">
            <a:avLst/>
          </a:prstGeom>
          <a:solidFill>
            <a:srgbClr val="2A78D6"/>
          </a:solidFill>
          <a:ln w="7620">
            <a:solidFill>
              <a:srgbClr val="2A78D6"/>
            </a:solidFill>
            <a:prstDash val="solid"/>
          </a:ln>
        </p:spPr>
      </p:sp>
      <p:sp>
        <p:nvSpPr>
          <p:cNvPr id="10" name="Text 8"/>
          <p:cNvSpPr/>
          <p:nvPr/>
        </p:nvSpPr>
        <p:spPr>
          <a:xfrm>
            <a:off x="850392" y="2057400"/>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1" name="Text 9"/>
          <p:cNvSpPr/>
          <p:nvPr/>
        </p:nvSpPr>
        <p:spPr>
          <a:xfrm>
            <a:off x="1426464" y="2011680"/>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variable</a:t>
            </a:r>
            <a:endParaRPr lang="en-US" sz="2500" dirty="0"/>
          </a:p>
        </p:txBody>
      </p:sp>
      <p:sp>
        <p:nvSpPr>
          <p:cNvPr id="12" name="Shape 10"/>
          <p:cNvSpPr/>
          <p:nvPr/>
        </p:nvSpPr>
        <p:spPr>
          <a:xfrm>
            <a:off x="713232" y="2752344"/>
            <a:ext cx="475488" cy="457200"/>
          </a:xfrm>
          <a:prstGeom prst="rect">
            <a:avLst/>
          </a:prstGeom>
          <a:solidFill>
            <a:srgbClr val="2A78D6"/>
          </a:solidFill>
          <a:ln w="7620">
            <a:solidFill>
              <a:srgbClr val="2A78D6"/>
            </a:solidFill>
            <a:prstDash val="solid"/>
          </a:ln>
        </p:spPr>
      </p:sp>
      <p:sp>
        <p:nvSpPr>
          <p:cNvPr id="13" name="Text 11"/>
          <p:cNvSpPr/>
          <p:nvPr/>
        </p:nvSpPr>
        <p:spPr>
          <a:xfrm>
            <a:off x="850392" y="2825496"/>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4" name="Text 12"/>
          <p:cNvSpPr/>
          <p:nvPr/>
        </p:nvSpPr>
        <p:spPr>
          <a:xfrm>
            <a:off x="1426464" y="2779776"/>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index</a:t>
            </a:r>
            <a:endParaRPr lang="en-US" sz="2500" dirty="0"/>
          </a:p>
        </p:txBody>
      </p:sp>
      <p:sp>
        <p:nvSpPr>
          <p:cNvPr id="15" name="Shape 13"/>
          <p:cNvSpPr/>
          <p:nvPr/>
        </p:nvSpPr>
        <p:spPr>
          <a:xfrm>
            <a:off x="713232" y="3520440"/>
            <a:ext cx="475488" cy="457200"/>
          </a:xfrm>
          <a:prstGeom prst="rect">
            <a:avLst/>
          </a:prstGeom>
          <a:solidFill>
            <a:srgbClr val="2A78D6"/>
          </a:solidFill>
          <a:ln w="7620">
            <a:solidFill>
              <a:srgbClr val="2A78D6"/>
            </a:solidFill>
            <a:prstDash val="solid"/>
          </a:ln>
        </p:spPr>
      </p:sp>
      <p:sp>
        <p:nvSpPr>
          <p:cNvPr id="16" name="Text 14"/>
          <p:cNvSpPr/>
          <p:nvPr/>
        </p:nvSpPr>
        <p:spPr>
          <a:xfrm>
            <a:off x="850392" y="3593592"/>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17" name="Text 15"/>
          <p:cNvSpPr/>
          <p:nvPr/>
        </p:nvSpPr>
        <p:spPr>
          <a:xfrm>
            <a:off x="1426464" y="3547872"/>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loop</a:t>
            </a:r>
            <a:endParaRPr lang="en-US" sz="2500" dirty="0"/>
          </a:p>
        </p:txBody>
      </p:sp>
      <p:sp>
        <p:nvSpPr>
          <p:cNvPr id="18" name="Shape 16"/>
          <p:cNvSpPr/>
          <p:nvPr/>
        </p:nvSpPr>
        <p:spPr>
          <a:xfrm>
            <a:off x="713232" y="4288536"/>
            <a:ext cx="475488" cy="457200"/>
          </a:xfrm>
          <a:prstGeom prst="rect">
            <a:avLst/>
          </a:prstGeom>
          <a:solidFill>
            <a:srgbClr val="2A78D6"/>
          </a:solidFill>
          <a:ln w="7620">
            <a:solidFill>
              <a:srgbClr val="2A78D6"/>
            </a:solidFill>
            <a:prstDash val="solid"/>
          </a:ln>
        </p:spPr>
      </p:sp>
      <p:sp>
        <p:nvSpPr>
          <p:cNvPr id="19" name="Text 17"/>
          <p:cNvSpPr/>
          <p:nvPr/>
        </p:nvSpPr>
        <p:spPr>
          <a:xfrm>
            <a:off x="850392" y="4361688"/>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0" name="Text 18"/>
          <p:cNvSpPr/>
          <p:nvPr/>
        </p:nvSpPr>
        <p:spPr>
          <a:xfrm>
            <a:off x="1426464" y="4315968"/>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function</a:t>
            </a:r>
            <a:endParaRPr lang="en-US" sz="2500" dirty="0"/>
          </a:p>
        </p:txBody>
      </p:sp>
      <p:sp>
        <p:nvSpPr>
          <p:cNvPr id="21" name="Shape 19"/>
          <p:cNvSpPr/>
          <p:nvPr/>
        </p:nvSpPr>
        <p:spPr>
          <a:xfrm>
            <a:off x="713232" y="5056632"/>
            <a:ext cx="475488" cy="457200"/>
          </a:xfrm>
          <a:prstGeom prst="rect">
            <a:avLst/>
          </a:prstGeom>
          <a:solidFill>
            <a:srgbClr val="2A78D6"/>
          </a:solidFill>
          <a:ln w="7620">
            <a:solidFill>
              <a:srgbClr val="2A78D6"/>
            </a:solidFill>
            <a:prstDash val="solid"/>
          </a:ln>
        </p:spPr>
      </p:sp>
      <p:sp>
        <p:nvSpPr>
          <p:cNvPr id="22" name="Text 20"/>
          <p:cNvSpPr/>
          <p:nvPr/>
        </p:nvSpPr>
        <p:spPr>
          <a:xfrm>
            <a:off x="850392" y="5129784"/>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23" name="Text 21"/>
          <p:cNvSpPr/>
          <p:nvPr/>
        </p:nvSpPr>
        <p:spPr>
          <a:xfrm>
            <a:off x="1426464" y="5084064"/>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test</a:t>
            </a:r>
            <a:endParaRPr lang="en-US"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2 MINUTES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Exit ticket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18</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did we actually measure or calculate?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is one assumption or limitation of that result?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check would you perform before sharing it?</a:t>
            </a:r>
            <a:endParaRPr lang="en-US" sz="229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OPTIONAL EXTENSION</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Go further only after the core is clear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19</a:t>
            </a:r>
            <a:endParaRPr lang="en-US" sz="800" dirty="0"/>
          </a:p>
        </p:txBody>
      </p:sp>
      <p:sp>
        <p:nvSpPr>
          <p:cNvPr id="9" name="Text 7"/>
          <p:cNvSpPr/>
          <p:nvPr/>
        </p:nvSpPr>
        <p:spPr>
          <a:xfrm>
            <a:off x="768096" y="2212848"/>
            <a:ext cx="10698480" cy="2057400"/>
          </a:xfrm>
          <a:prstGeom prst="rect">
            <a:avLst/>
          </a:prstGeom>
          <a:noFill/>
          <a:ln/>
        </p:spPr>
        <p:txBody>
          <a:bodyPr wrap="square" lIns="0" tIns="0" rIns="0" bIns="0" rtlCol="0" anchor="ctr">
            <a:normAutofit/>
          </a:bodyPr>
          <a:lstStyle/>
          <a:p>
            <a:pPr indent="0" marL="0">
              <a:buNone/>
            </a:pPr>
            <a:r>
              <a:rPr lang="en-US" sz="2797" dirty="0">
                <a:solidFill>
                  <a:srgbClr val="232D3B"/>
                </a:solidFill>
                <a:latin typeface="Aptos" pitchFamily="34" charset="0"/>
                <a:ea typeface="Aptos" pitchFamily="34" charset="-122"/>
                <a:cs typeface="Aptos" pitchFamily="34" charset="-120"/>
              </a:rPr>
              <a:t>Optional: write a new test for lower-case letters and explain why it matters.</a:t>
            </a:r>
            <a:endParaRPr lang="en-US" sz="2797" dirty="0"/>
          </a:p>
        </p:txBody>
      </p:sp>
      <p:sp>
        <p:nvSpPr>
          <p:cNvPr id="10" name="Text 8"/>
          <p:cNvSpPr/>
          <p:nvPr/>
        </p:nvSpPr>
        <p:spPr>
          <a:xfrm>
            <a:off x="786384" y="4828032"/>
            <a:ext cx="10561320" cy="804672"/>
          </a:xfrm>
          <a:prstGeom prst="rect">
            <a:avLst/>
          </a:prstGeom>
          <a:noFill/>
          <a:ln/>
        </p:spPr>
        <p:txBody>
          <a:bodyPr wrap="square" lIns="0" tIns="0" rIns="0" bIns="0" rtlCol="0" anchor="ctr">
            <a:normAutofit/>
          </a:bodyPr>
          <a:lstStyle/>
          <a:p>
            <a:pPr indent="0" marL="0">
              <a:buNone/>
            </a:pPr>
            <a:r>
              <a:rPr lang="en-US" sz="2197" b="1" dirty="0">
                <a:solidFill>
                  <a:srgbClr val="EB6834"/>
                </a:solidFill>
                <a:latin typeface="Aptos" pitchFamily="34" charset="0"/>
                <a:ea typeface="Aptos" pitchFamily="34" charset="-122"/>
                <a:cs typeface="Aptos" pitchFamily="34" charset="-120"/>
              </a:rPr>
              <a:t>Not required for the core grade. No advanced model training is expected.</a:t>
            </a:r>
            <a:endParaRPr lang="en-US" sz="2197"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SOURCE MAP</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 the evidence, not only the slide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S05  |  20</a:t>
            </a:r>
            <a:endParaRPr lang="en-US" sz="800" dirty="0"/>
          </a:p>
        </p:txBody>
      </p:sp>
      <p:sp>
        <p:nvSpPr>
          <p:cNvPr id="9" name="Text 7"/>
          <p:cNvSpPr/>
          <p:nvPr/>
        </p:nvSpPr>
        <p:spPr>
          <a:xfrm>
            <a:off x="694944" y="1856232"/>
            <a:ext cx="10881360" cy="4160520"/>
          </a:xfrm>
          <a:prstGeom prst="rect">
            <a:avLst/>
          </a:prstGeom>
          <a:noFill/>
          <a:ln/>
        </p:spPr>
        <p:txBody>
          <a:bodyPr wrap="square" lIns="0" tIns="0" rIns="0" bIns="0" rtlCol="0" anchor="t">
            <a:normAutofit/>
          </a:bodyPr>
          <a:lstStyle/>
          <a:p>
            <a:pPr indent="0" marL="0">
              <a:buNone/>
            </a:pPr>
            <a:r>
              <a:rPr lang="en-US" sz="1997" dirty="0">
                <a:solidFill>
                  <a:srgbClr val="232D3B"/>
                </a:solidFill>
                <a:latin typeface="Aptos" pitchFamily="34" charset="0"/>
                <a:ea typeface="Aptos" pitchFamily="34" charset="-122"/>
                <a:cs typeface="Aptos" pitchFamily="34" charset="-120"/>
              </a:rPr>
              <a:t>S05  Python 3 tutorial: introduction and control flow.</a:t>
            </a:r>
            <a:endParaRPr lang="en-US" sz="199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Ege University | Bioengineering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and checking short Python programs</dc:title>
  <dc:subject>Scaffolded fourth-year bioengineering</dc:subject>
  <dc:creator>BIB course teaching materials</dc:creator>
  <cp:lastModifiedBy>BIB course teaching materials</cp:lastModifiedBy>
  <cp:revision>1</cp:revision>
  <dcterms:created xsi:type="dcterms:W3CDTF">2026-09-14T18:26:54Z</dcterms:created>
  <dcterms:modified xsi:type="dcterms:W3CDTF">2026-09-14T18:26:54Z</dcterms:modified>
</cp:coreProperties>
</file>