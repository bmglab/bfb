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Better than what, for which task, on which unseen data?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S11: scikit-learn: Common pitfalls and recommended practices.
https://scikit-learn.org/stable/common_pitfalls.html
S14: Cui et al. (2024). scGPT: toward building a foundation model for single-cell multi-omics using generative AI.
https://doi.org/10.1038/s41592-024-02201-0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sequence or cell profile can be represented by a vector of numbers.
Nearby vectors may share patterns useful for a particular task.
The numbers have no automatic biological interpretation.
Checkpoint: ask a student to state one conclusion the data do NOT support.
Read technical terms aloud; ask students to explain the measurement before interpreting the model. Accept justified uncertainty.
[Sources]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Pretraining uses a broad dataset and a specified objective.
Fine-tuning updates a model for another task using additional data.
Zero-shot use does not perform task-specific model training.
Checkpoint: ask a student to state one conclusion the data do NOT support.
Read technical terms aloud; ask students to explain the measurement before interpreting the model. Accept justified uncertainty.
[Sources]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scGPT is one published approach to pretrained single-cell representations.
Its original study investigated several adapted downstream tasks.
Those results do not establish success for every tissue or unseen setting.
Checkpoint: ask a student to state one conclusion the data do NOT support.
Read technical terms aloud; ask students to explain the measurement before interpreting the model. Accept justified uncertainty.
[Sources]
S14: Cui et al. (2024). scGPT: toward building a foundation model for single-cell multi-omics using generative AI.
https://doi.org/10.1038/s41592-024-02201-0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Kedzierska et al. tested zero-shot behavior of specified models and datasets.
In some tested settings, simpler approaches performed better.
This is not evidence that all biological foundation models always fail.
Checkpoint: ask a student to state one conclusion the data do NOT support.
Read technical terms aloud; ask students to explain the measurement before interpreting the model. Accept justified uncertainty.
[Sources]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Use the same task, eligible inputs, evaluation split and metric.
Include a simple baseline and explain training-data overlap where known.
Separate validation choices from the final test.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Performance on held-out independent units.
Data coverage, uncertainty, computation and failures.
A stronger number on one dataset does not prove transfer to another.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Which intervention, biological scale and outcome are modeled?
Which predictions were checked experimentally or on independent data?
What is outside the validated scope?
Checkpoint: ask a student to state one conclusion the data do NOT support.
Read technical terms aloud; ask students to explain the measurement before interpreting the model. Accept justified uncertainty.
[Sources]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Complexity adds dependencies and opportunities for hidden failure.
A small baseline is an informative comparator, not an embarrassment.
Select the method supported by the evaluation and constraints.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S11: scikit-learn: Common pitfalls and recommended practices.
https://scikit-learn.org/stable/common_pitfalls.html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S11: scikit-learn: Common pitfalls and recommended practices.
https://scikit-learn.org/stable/common_pitfalls.html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S11: scikit-learn: Common pitfalls and recommended practices.
https://scikit-learn.org/stable/common_pitfalls.html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S11: scikit-learn: Common pitfalls and recommended practices.
https://scikit-learn.org/stable/common_pitfalls.html
S14: Cui et al. (2024). scGPT: toward building a foundation model for single-cell multi-omics using generative AI.
https://doi.org/10.1038/s41592-024-02201-0
S15: Kedzierska et al. (2025). Zero-shot evaluation reveals limitations of single-cell foundation models.
https://doi.org/10.1186/s13059-025-03574-x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11</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Biological AI and the honest model scorecard</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Better than what, for which task, on which unseen data?</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Explain an embedding and the difference between zero-shot use and fine-tuning.</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Compare a model with a simple baseline under a matched evaluation.</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Write a claim limited to the task, data and evidence actually tested.</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581" dirty="0">
                <a:solidFill>
                  <a:srgbClr val="232D3B"/>
                </a:solidFill>
                <a:latin typeface="Aptos" pitchFamily="34" charset="0"/>
                <a:ea typeface="Aptos" pitchFamily="34" charset="-122"/>
                <a:cs typeface="Aptos" pitchFamily="34" charset="-120"/>
              </a:rPr>
              <a:t>Models see numerical representations of biological measurements. A useful representation does not itself establish a mechanism.</a:t>
            </a:r>
            <a:endParaRPr lang="en-US" sz="2581"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An embedding is a numerical representation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S14 / S15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sequence or cell profile can be represented by a vector of numbers.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Nearby vectors may share patterns useful for a particular task.</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numbers have no automatic biological interpretation.</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Pretraining and task adaptation are different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S14 / S15  |  5</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Pretraining</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Task-specific adaptation</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Pretraining uses a broad dataset and a specified objective.</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Fine-tuning updates a model for another task using additional data.</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Zero-shot use does not perform task-specific model training.</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biological example: scGPT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S14  |  6</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scGPT is one published approach to pretrained single-cell representations.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Its original study investigated several adapted downstream tasks.</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Those results do not establish success for every tissue or unseen setting.</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Independent evaluation can ask a different question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S15  |  7</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Original task evidence</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Independent stress test</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84" dirty="0">
                <a:solidFill>
                  <a:srgbClr val="232D3B"/>
                </a:solidFill>
                <a:latin typeface="Aptos" pitchFamily="34" charset="0"/>
                <a:ea typeface="Aptos" pitchFamily="34" charset="-122"/>
                <a:cs typeface="Aptos" pitchFamily="34" charset="-120"/>
              </a:rPr>
              <a:t>Kedzierska et al. tested zero-shot behavior of specified models and datasets.</a:t>
            </a:r>
            <a:endParaRPr lang="en-US" sz="2284"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 some tested settings, simpler approaches performed better.</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This is not evidence that all biological foundation models always fail.</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fair comparison fixes the rules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S15  |  8</a:t>
            </a:r>
            <a:endParaRPr lang="en-US" sz="800" dirty="0"/>
          </a:p>
        </p:txBody>
      </p:sp>
      <p:sp>
        <p:nvSpPr>
          <p:cNvPr id="9" name="Shape 7"/>
          <p:cNvSpPr/>
          <p:nvPr/>
        </p:nvSpPr>
        <p:spPr>
          <a:xfrm>
            <a:off x="603504" y="2011680"/>
            <a:ext cx="502920" cy="502920"/>
          </a:xfrm>
          <a:prstGeom prst="rect">
            <a:avLst/>
          </a:prstGeom>
          <a:solidFill>
            <a:srgbClr val="EAF2FC"/>
          </a:solidFill>
          <a:ln w="7620">
            <a:solidFill>
              <a:srgbClr val="EAF2FC"/>
            </a:solidFill>
            <a:prstDash val="solid"/>
          </a:ln>
        </p:spPr>
      </p:sp>
      <p:sp>
        <p:nvSpPr>
          <p:cNvPr id="10" name="Text 8"/>
          <p:cNvSpPr/>
          <p:nvPr/>
        </p:nvSpPr>
        <p:spPr>
          <a:xfrm>
            <a:off x="731520" y="206654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353312" y="191109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the same task, eligible inputs, evaluation split and metric.</a:t>
            </a:r>
            <a:endParaRPr lang="en-US" sz="2297" dirty="0"/>
          </a:p>
        </p:txBody>
      </p:sp>
      <p:sp>
        <p:nvSpPr>
          <p:cNvPr id="12" name="Shape 10"/>
          <p:cNvSpPr/>
          <p:nvPr/>
        </p:nvSpPr>
        <p:spPr>
          <a:xfrm>
            <a:off x="603504" y="3291840"/>
            <a:ext cx="502920" cy="502920"/>
          </a:xfrm>
          <a:prstGeom prst="rect">
            <a:avLst/>
          </a:prstGeom>
          <a:solidFill>
            <a:srgbClr val="EAF2FC"/>
          </a:solidFill>
          <a:ln w="7620">
            <a:solidFill>
              <a:srgbClr val="EAF2FC"/>
            </a:solidFill>
            <a:prstDash val="solid"/>
          </a:ln>
        </p:spPr>
      </p:sp>
      <p:sp>
        <p:nvSpPr>
          <p:cNvPr id="13" name="Text 11"/>
          <p:cNvSpPr/>
          <p:nvPr/>
        </p:nvSpPr>
        <p:spPr>
          <a:xfrm>
            <a:off x="731520" y="334670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353312" y="3191256"/>
            <a:ext cx="9829800" cy="941832"/>
          </a:xfrm>
          <a:prstGeom prst="rect">
            <a:avLst/>
          </a:prstGeom>
          <a:noFill/>
          <a:ln/>
        </p:spPr>
        <p:txBody>
          <a:bodyPr wrap="square" lIns="0" tIns="0" rIns="0" bIns="0" rtlCol="0" anchor="ctr">
            <a:normAutofit/>
          </a:bodyPr>
          <a:lstStyle/>
          <a:p>
            <a:pPr indent="0" marL="0">
              <a:buNone/>
            </a:pPr>
            <a:r>
              <a:rPr lang="en-US" sz="2206" dirty="0">
                <a:solidFill>
                  <a:srgbClr val="232D3B"/>
                </a:solidFill>
                <a:latin typeface="Aptos" pitchFamily="34" charset="0"/>
                <a:ea typeface="Aptos" pitchFamily="34" charset="-122"/>
                <a:cs typeface="Aptos" pitchFamily="34" charset="-120"/>
              </a:rPr>
              <a:t>Include a simple baseline and explain training-data overlap where known.</a:t>
            </a:r>
            <a:endParaRPr lang="en-US" sz="2206" dirty="0"/>
          </a:p>
        </p:txBody>
      </p:sp>
      <p:sp>
        <p:nvSpPr>
          <p:cNvPr id="15" name="Shape 13"/>
          <p:cNvSpPr/>
          <p:nvPr/>
        </p:nvSpPr>
        <p:spPr>
          <a:xfrm>
            <a:off x="603504" y="4572000"/>
            <a:ext cx="502920" cy="502920"/>
          </a:xfrm>
          <a:prstGeom prst="rect">
            <a:avLst/>
          </a:prstGeom>
          <a:solidFill>
            <a:srgbClr val="EAF2FC"/>
          </a:solidFill>
          <a:ln w="7620">
            <a:solidFill>
              <a:srgbClr val="EAF2FC"/>
            </a:solidFill>
            <a:prstDash val="solid"/>
          </a:ln>
        </p:spPr>
      </p:sp>
      <p:sp>
        <p:nvSpPr>
          <p:cNvPr id="16" name="Text 14"/>
          <p:cNvSpPr/>
          <p:nvPr/>
        </p:nvSpPr>
        <p:spPr>
          <a:xfrm>
            <a:off x="731520" y="462686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353312" y="447141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Separate validation choices from the final test.</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Record the score and what it leaves out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S15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Performance on held-out independent units.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Data coverage, uncertainty, computation and failures.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stronger number on one dataset does not prove transfer to another.</a:t>
            </a:r>
            <a:endParaRPr lang="en-US" sz="2297" dirty="0"/>
          </a:p>
        </p:txBody>
      </p:sp>
      <p:sp>
        <p:nvSpPr>
          <p:cNvPr id="16" name="Shape 14"/>
          <p:cNvSpPr/>
          <p:nvPr/>
        </p:nvSpPr>
        <p:spPr>
          <a:xfrm>
            <a:off x="841248" y="2304288"/>
            <a:ext cx="4471416" cy="658368"/>
          </a:xfrm>
          <a:prstGeom prst="rect">
            <a:avLst/>
          </a:prstGeom>
          <a:solidFill>
            <a:srgbClr val="FFFFFF"/>
          </a:solidFill>
          <a:ln w="7620">
            <a:solidFill>
              <a:srgbClr val="FFFFFF"/>
            </a:solidFill>
            <a:prstDash val="solid"/>
          </a:ln>
        </p:spPr>
      </p:sp>
      <p:sp>
        <p:nvSpPr>
          <p:cNvPr id="17" name="Text 15"/>
          <p:cNvSpPr/>
          <p:nvPr/>
        </p:nvSpPr>
        <p:spPr>
          <a:xfrm>
            <a:off x="1005840" y="2450592"/>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Task + data</a:t>
            </a:r>
            <a:endParaRPr lang="en-US" sz="1900" dirty="0"/>
          </a:p>
        </p:txBody>
      </p:sp>
      <p:sp>
        <p:nvSpPr>
          <p:cNvPr id="18" name="Shape 16"/>
          <p:cNvSpPr/>
          <p:nvPr/>
        </p:nvSpPr>
        <p:spPr>
          <a:xfrm>
            <a:off x="841248" y="3163824"/>
            <a:ext cx="4471416" cy="658368"/>
          </a:xfrm>
          <a:prstGeom prst="rect">
            <a:avLst/>
          </a:prstGeom>
          <a:solidFill>
            <a:srgbClr val="FFFFFF"/>
          </a:solidFill>
          <a:ln w="7620">
            <a:solidFill>
              <a:srgbClr val="FFFFFF"/>
            </a:solidFill>
            <a:prstDash val="solid"/>
          </a:ln>
        </p:spPr>
      </p:sp>
      <p:sp>
        <p:nvSpPr>
          <p:cNvPr id="19" name="Text 17"/>
          <p:cNvSpPr/>
          <p:nvPr/>
        </p:nvSpPr>
        <p:spPr>
          <a:xfrm>
            <a:off x="1005840" y="3310128"/>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Split + adaptation</a:t>
            </a:r>
            <a:endParaRPr lang="en-US" sz="1900" dirty="0"/>
          </a:p>
        </p:txBody>
      </p:sp>
      <p:sp>
        <p:nvSpPr>
          <p:cNvPr id="20" name="Shape 18"/>
          <p:cNvSpPr/>
          <p:nvPr/>
        </p:nvSpPr>
        <p:spPr>
          <a:xfrm>
            <a:off x="841248" y="4023360"/>
            <a:ext cx="4471416" cy="658368"/>
          </a:xfrm>
          <a:prstGeom prst="rect">
            <a:avLst/>
          </a:prstGeom>
          <a:solidFill>
            <a:srgbClr val="FFFFFF"/>
          </a:solidFill>
          <a:ln w="7620">
            <a:solidFill>
              <a:srgbClr val="FFFFFF"/>
            </a:solidFill>
            <a:prstDash val="solid"/>
          </a:ln>
        </p:spPr>
      </p:sp>
      <p:sp>
        <p:nvSpPr>
          <p:cNvPr id="21" name="Text 19"/>
          <p:cNvSpPr/>
          <p:nvPr/>
        </p:nvSpPr>
        <p:spPr>
          <a:xfrm>
            <a:off x="1005840" y="4169664"/>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Baseline + metric</a:t>
            </a:r>
            <a:endParaRPr lang="en-US" sz="1900" dirty="0"/>
          </a:p>
        </p:txBody>
      </p:sp>
      <p:sp>
        <p:nvSpPr>
          <p:cNvPr id="22" name="Shape 20"/>
          <p:cNvSpPr/>
          <p:nvPr/>
        </p:nvSpPr>
        <p:spPr>
          <a:xfrm>
            <a:off x="841248" y="4882896"/>
            <a:ext cx="4471416" cy="658368"/>
          </a:xfrm>
          <a:prstGeom prst="rect">
            <a:avLst/>
          </a:prstGeom>
          <a:solidFill>
            <a:srgbClr val="FFFFFF"/>
          </a:solidFill>
          <a:ln w="7620">
            <a:solidFill>
              <a:srgbClr val="FFFFFF"/>
            </a:solidFill>
            <a:prstDash val="solid"/>
          </a:ln>
        </p:spPr>
      </p:sp>
      <p:sp>
        <p:nvSpPr>
          <p:cNvPr id="23" name="Text 21"/>
          <p:cNvSpPr/>
          <p:nvPr/>
        </p:nvSpPr>
        <p:spPr>
          <a:xfrm>
            <a:off x="1005840" y="5029200"/>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Limits + uncertainty</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virtual cell is a claim to unpack</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S14 / S15  |  10</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Which intervention, biological scale and outcome are modeled?</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Which predictions were checked experimentally or on independent data?</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outside the validated scope?</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Use the least complex sufficient method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S15  |  11</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Complexity adds dependencies and opportunities for hidden failure.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small baseline is an informative comparator, not an embarrassment.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Select the method supported by the evaluation and constraints.</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a result with honest scope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A fictional scorecard gives baseline accuracy 0.78 and model accuracy 0.82 on 50 held-out donors.</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observed difference is 0.04 on this test set.</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Uncertainty and paired errors are needed before declaring a reliable improvement.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result does not establish performance in another tissue or hospital.</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Model A uses leaked donor rows and reports 0.95; model B holds out donors and reports 0.75. Can their scores rank the models fairly?</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No. The evaluation targets differ. Re-evaluate on matched independent test units before comparing performance.</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W11 studio: complete a six-field model scorecard from supplied fictional results and two verified publication evidence cards. No model training or GPU is needed.</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embedding</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pretraining</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fine-tuning</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zero-shot</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baseline</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sketch a domain-shift stress test without implementing a foundation model.</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S14 / S15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S11  scikit-learn: Common pitfalls and recommended practices.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S14  Cui et al. (2024). scGPT: toward building a foundation model for single-cell multi-omics using generative AI.</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S15  Kedzierska et al. (2025). Zero-shot evaluation reveals limitations of single-cell foundation models.</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AI and the honest model scorecard</dc:title>
  <dc:subject>Scaffolded fourth-year bioengineering</dc:subject>
  <dc:creator>BIB course teaching materials</dc:creator>
  <cp:lastModifiedBy>BIB course teaching materials</cp:lastModifiedBy>
  <cp:revision>1</cp:revision>
  <dcterms:created xsi:type="dcterms:W3CDTF">2026-09-14T18:26:57Z</dcterms:created>
  <dcterms:modified xsi:type="dcterms:W3CDTF">2026-09-14T18:26:57Z</dcterms:modified>
</cp:coreProperties>
</file>