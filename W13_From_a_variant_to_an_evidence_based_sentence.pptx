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2 minutes
Audience: fourth-year bioengineering with limited prior genetics and coding.
Opening question: How do we report uncertainty without turning it into a diagnosis?
Do not require students to know all terms yet. Elicit a prediction.
Read technical terms aloud; ask students to explain the measurement before interpreting the model. Accept justified uncertainty.
[Sources]
Original teaching design / explicitly synthetic classroom example. No external asset used.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Use these observable outcomes for feedback. Core assessment requires interpretation and short arithmetic, not reproducing a full specialist pipeline.
Read technical terms aloud; ask students to explain the measurement before interpreting the model. Accept justified uncertainty.
[Sources]
Original teaching design / explicitly synthetic classroom example. No external asset used.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Ask students to draw or name the biological experimental unit. Revisit the Week 00 bridge if terminology is unclear.
Read technical terms aloud; ask students to explain the measurement before interpreting the model. Accept justified uncertainty.
[Sources]
S03: SAM/BAM, VCF and BED specifications, maintained by the HTS community.
https://samtools.github.io/hts-specs/
S18: NCBI ClinVar: review status and representation of classifications.
https://www.ncbi.nlm.nih.gov/clinvar/docs/review_status/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Explain the slide using one concrete example.
A variant can be described at genomic, transcript or protein level.
Different transcript choices can change a predicted consequence.
Record the reference accession and version before comparing labels.
Checkpoint: ask a student to state one conclusion the data do NOT support.
Read technical terms aloud; ask students to explain the measurement before interpreting the model. Accept justified uncertainty.
[Sources]
S03: SAM/BAM, VCF and BED specifications, maintained by the HTS community.
https://samtools.github.io/hts-specs/
S19: Richards et al. (2015). ACMG/AMP standards and guidelines for interpretation of sequence variants.
https://pmc.ncbi.nlm.nih.gov/articles/PMC4544753/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Explain the slide using one concrete example.
Missense means an amino-acid substitution in a specified coding context.
A stop-gain or splice prediction does not automatically establish pathogenicity.
Gene-disease mechanism and other evidence matter.
Checkpoint: ask a student to state one conclusion the data do NOT support.
Read technical terms aloud; ask students to explain the measurement before interpreting the model. Accept justified uncertainty.
[Sources]
S19: Richards et al. (2015). ACMG/AMP standards and guidelines for interpretation of sequence variants.
https://pmc.ncbi.nlm.nih.gov/articles/PMC4544753/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Explain the slide using one concrete example.
Benign; likely benign; uncertain significance; likely pathogenic; pathogenic.
These categories were established for Mendelian germline variant interpretation.
Somatic treatment claims require their own framework and clinical context.
Checkpoint: ask a student to state one conclusion the data do NOT support.
Read technical terms aloud; ask students to explain the measurement before interpreting the model. Accept justified uncertainty.
[Sources]
S18: NCBI ClinVar: review status and representation of classifications.
https://www.ncbi.nlm.nih.gov/clinvar/docs/review_status/
S19: Richards et al. (2015). ACMG/AMP standards and guidelines for interpretation of sequence variants.
https://pmc.ncbi.nlm.nih.gov/articles/PMC4544753/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Explain the slide using one concrete example.
Population frequency, segregation and functional studies can contribute.
Computational predictors provide another type of evidence.
Do not count correlated predictors as independent proof.
Checkpoint: ask a student to state one conclusion the data do NOT support.
Read technical terms aloud; ask students to explain the measurement before interpreting the model. Accept justified uncertainty.
[Sources]
S19: Richards et al. (2015). ACMG/AMP standards and guidelines for interpretation of sequence variants.
https://pmc.ncbi.nlm.nih.gov/articles/PMC4544753/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Explain the slide using one concrete example.
Check the exact variant, condition, submission dates and supporting evidence.
Conflicts or older assertions may require investigation.
Review stars describe review status, not a pathogenicity probability.
Checkpoint: ask a student to state one conclusion the data do NOT support.
Read technical terms aloud; ask students to explain the measurement before interpreting the model. Accept justified uncertainty.
[Sources]
S18: NCBI ClinVar: review status and representation of classifications.
https://www.ncbi.nlm.nih.gov/clinvar/docs/review_status/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Explain the slide using one concrete example.
Uncertain significance means available evidence is insufficient or conflicting.
Do not use a VUS alone to establish a diagnosis or change treatment.
Escalate real clinical questions to qualified clinical professionals.
Checkpoint: ask a student to state one conclusion the data do NOT support.
Read technical terms aloud; ask students to explain the measurement before interpreting the model. Accept justified uncertainty.
[Sources]
S19: Richards et al. (2015). ACMG/AMP standards and guidelines for interpretation of sequence variants.
https://pmc.ncbi.nlm.nih.gov/articles/PMC4544753/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Explain the slide using one concrete example.
Identity: the exact variant and reference context.
Evidence: what supports the current interpretation and what is missing.
Scope: an educational interpretation, not clinical advice.
Checkpoint: ask a student to state one conclusion the data do NOT support.
Read technical terms aloud; ask students to explain the measurement before interpreting the model. Accept justified uncertainty.
[Sources]
S18: NCBI ClinVar: review status and representation of classifications.
https://www.ncbi.nlm.nih.gov/clinvar/docs/review_status/
S19: Richards et al. (2015). ACMG/AMP standards and guidelines for interpretation of sequence variants.
https://pmc.ncbi.nlm.nih.gov/articles/PMC4544753/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Explain the slide using one concrete example.
EDU-V1, EDU-V2 and EDU-V3 are synthetic evidence cards.
They have no real patient identifiers or claimed ClinVar accessions.
The goal is to audit reasoning, not independently certify a clinical classification.
Checkpoint: ask a student to state one conclusion the data do NOT support.
Read technical terms aloud; ask students to explain the measurement before interpreting the model. Accept justified uncertainty.
[Sources]
Original teaching design / explicitly synthetic classroom example. No external asset used.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Allow 60-90 seconds for a prediction. Do not rush to the numerical answer. The following slide shows the reasoning.
Read technical terms aloud; ask students to explain the measurement before interpreting the model. Accept justified uncertainty.
[Sources]
S03: SAM/BAM, VCF and BED specifications, maintained by the HTS community.
https://samtools.github.io/hts-specs/
S18: NCBI ClinVar: review status and representation of classifications.
https://www.ncbi.nlm.nih.gov/clinvar/docs/review_status/
S19: Richards et al. (2015). ACMG/AMP standards and guidelines for interpretation of sequence variants.
https://pmc.ncbi.nlm.nih.gov/articles/PMC4544753/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Show the arithmetic or logical steps one at a time orally. Ask which assumption is necessary at each step.
Read technical terms aloud; ask students to explain the measurement before interpreting the model. Accept justified uncertainty.
[Sources]
S03: SAM/BAM, VCF and BED specifications, maintained by the HTS community.
https://samtools.github.io/hts-specs/
S18: NCBI ClinVar: review status and representation of classifications.
https://www.ncbi.nlm.nih.gov/clinvar/docs/review_status/
S19: Richards et al. (2015). ACMG/AMP standards and guidelines for interpretation of sequence variants.
https://pmc.ncbi.nlm.nih.gov/articles/PMC4544753/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Collect two contrasting answers before advancing. Give one minute solo and two minutes in pairs. This is formative, not an exam item.
Read technical terms aloud; ask students to explain the measurement before interpreting the model. Accept justified uncertainty.
[Sources]
Original teaching design / explicitly synthetic classroom example. No external asset used.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Accept other scientifically justified responses. Probe the boundary between measured result, model assumption and biological conclusion.
Read technical terms aloud; ask students to explain the measurement before interpreting the model. Accept justified uncertainty.
[Sources]
S03: SAM/BAM, VCF and BED specifications, maintained by the HTS community.
https://samtools.github.io/hts-specs/
S18: NCBI ClinVar: review status and representation of classifications.
https://www.ncbi.nlm.nih.gov/clinvar/docs/review_status/
S19: Richards et al. (2015). ACMG/AMP standards and guidelines for interpretation of sequence variants.
https://pmc.ncbi.nlm.nih.gov/articles/PMC4544753/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45-minute studio; not part of 90-minute lecture
Audience: fourth-year bioengineering with limited prior genetics and coding.
Use the matching standalone notebook and Lab Workbook. Students may work in pairs while discussing, but submit their own reasoning. Paper fallback carries no penalty. Plotting and extensions are optional.
Read technical terms aloud; ask students to explain the measurement before interpreting the model. Accept justified uncertainty.
[Sources]
Original teaching design / explicitly synthetic classroom example. No external asset used.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Ask for a plain-language definition and one example per term. Students may use the glossary. Definitions are not a substitute for interpreting an example.
Read technical terms aloud; ask students to explain the measurement before interpreting the model. Accept justified uncertainty.
[Sources]
Original teaching design / explicitly synthetic classroom example. No external asset used.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Use a quick handwritten or LMS response. Do not add new weighted grading; this is formative feedback. Use common mistakes to plan a short retrieval exercise next week.
Read technical terms aloud; ask students to explain the measurement before interpreting the model. Accept justified uncertainty.
[Sources]
Original teaching design / explicitly synthetic classroom example. No external asset used.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Do not use optional extension achievement to disadvantage students with limited computing access. Direct interested students to the primary sources.
Read technical terms aloud; ask students to explain the measurement before interpreting the model. Accept justified uncertainty.
[Sources]
Original teaching design / explicitly synthetic classroom example. No external asset used.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Reference slide; do not lecture through every citation
Audience: fourth-year bioengineering with limited prior genetics and coding.
Full links are in the Course Source Register and these speaker notes. Source selection checked September 14, 2026. Older sources support stable foundational ideas, not unverified current clinical policy.
Read technical terms aloud; ask students to explain the measurement before interpreting the model. Accept justified uncertainty.
[Sources]
S03: SAM/BAM, VCF and BED specifications, maintained by the HTS community.
https://samtools.github.io/hts-specs/
S18: NCBI ClinVar: review status and representation of classifications.
https://www.ncbi.nlm.nih.gov/clinvar/docs/review_status/
S19: Richards et al. (2015). ACMG/AMP standards and guidelines for interpretation of sequence variants.
https://pmc.ncbi.nlm.nih.gov/articles/PMC4544753/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32D3B"/>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B6834"/>
          </a:solidFill>
          <a:ln w="7620">
            <a:solidFill>
              <a:srgbClr val="EB6834"/>
            </a:solidFill>
            <a:prstDash val="solid"/>
          </a:ln>
        </p:spPr>
      </p:sp>
      <p:sp>
        <p:nvSpPr>
          <p:cNvPr id="3" name="Text 1"/>
          <p:cNvSpPr/>
          <p:nvPr/>
        </p:nvSpPr>
        <p:spPr>
          <a:xfrm>
            <a:off x="640080" y="530352"/>
            <a:ext cx="10789920" cy="438912"/>
          </a:xfrm>
          <a:prstGeom prst="rect">
            <a:avLst/>
          </a:prstGeom>
          <a:noFill/>
          <a:ln/>
        </p:spPr>
        <p:txBody>
          <a:bodyPr wrap="square" lIns="0" tIns="0" rIns="0" bIns="0" rtlCol="0" anchor="ctr">
            <a:normAutofit/>
          </a:bodyPr>
          <a:lstStyle/>
          <a:p>
            <a:pPr indent="0" marL="0">
              <a:buNone/>
            </a:pPr>
            <a:r>
              <a:rPr lang="en-US" sz="1300" b="1" dirty="0">
                <a:solidFill>
                  <a:srgbClr val="D1DCE9"/>
                </a:solidFill>
                <a:latin typeface="Aptos" pitchFamily="34" charset="0"/>
                <a:ea typeface="Aptos" pitchFamily="34" charset="-122"/>
                <a:cs typeface="Aptos" pitchFamily="34" charset="-120"/>
              </a:rPr>
              <a:t>BIOINFORMATICS FOR BIOENGINEERING</a:t>
            </a:r>
            <a:endParaRPr lang="en-US" sz="1300" dirty="0"/>
          </a:p>
        </p:txBody>
      </p:sp>
      <p:sp>
        <p:nvSpPr>
          <p:cNvPr id="4" name="Text 2"/>
          <p:cNvSpPr/>
          <p:nvPr/>
        </p:nvSpPr>
        <p:spPr>
          <a:xfrm>
            <a:off x="685800" y="1380744"/>
            <a:ext cx="9144000" cy="548640"/>
          </a:xfrm>
          <a:prstGeom prst="rect">
            <a:avLst/>
          </a:prstGeom>
          <a:noFill/>
          <a:ln/>
        </p:spPr>
        <p:txBody>
          <a:bodyPr wrap="square" lIns="0" tIns="0" rIns="0" bIns="0" rtlCol="0" anchor="ctr">
            <a:normAutofit/>
          </a:bodyPr>
          <a:lstStyle/>
          <a:p>
            <a:pPr indent="0" marL="0">
              <a:buNone/>
            </a:pPr>
            <a:r>
              <a:rPr lang="en-US" sz="2000" b="1" dirty="0">
                <a:solidFill>
                  <a:srgbClr val="7EB5F1"/>
                </a:solidFill>
                <a:latin typeface="Aptos" pitchFamily="34" charset="0"/>
                <a:ea typeface="Aptos" pitchFamily="34" charset="-122"/>
                <a:cs typeface="Aptos" pitchFamily="34" charset="-120"/>
              </a:rPr>
              <a:t>WEEK 13</a:t>
            </a:r>
            <a:endParaRPr lang="en-US" sz="2000" dirty="0"/>
          </a:p>
        </p:txBody>
      </p:sp>
      <p:sp>
        <p:nvSpPr>
          <p:cNvPr id="5" name="Text 3"/>
          <p:cNvSpPr/>
          <p:nvPr/>
        </p:nvSpPr>
        <p:spPr>
          <a:xfrm>
            <a:off x="685800" y="2157984"/>
            <a:ext cx="10744200" cy="1783080"/>
          </a:xfrm>
          <a:prstGeom prst="rect">
            <a:avLst/>
          </a:prstGeom>
          <a:noFill/>
          <a:ln/>
        </p:spPr>
        <p:txBody>
          <a:bodyPr wrap="square" lIns="0" tIns="0" rIns="0" bIns="0" rtlCol="0" anchor="ctr">
            <a:normAutofit/>
          </a:bodyPr>
          <a:lstStyle/>
          <a:p>
            <a:pPr indent="0" marL="0">
              <a:buNone/>
            </a:pPr>
            <a:r>
              <a:rPr lang="en-US" sz="3897" b="1" dirty="0">
                <a:solidFill>
                  <a:srgbClr val="FFFFFF"/>
                </a:solidFill>
                <a:latin typeface="Aptos" pitchFamily="34" charset="0"/>
                <a:ea typeface="Aptos" pitchFamily="34" charset="-122"/>
                <a:cs typeface="Aptos" pitchFamily="34" charset="-120"/>
              </a:rPr>
              <a:t>From a variant to an evidence-based sentence</a:t>
            </a:r>
            <a:endParaRPr lang="en-US" sz="3897" dirty="0"/>
          </a:p>
        </p:txBody>
      </p:sp>
      <p:sp>
        <p:nvSpPr>
          <p:cNvPr id="6" name="Text 4"/>
          <p:cNvSpPr/>
          <p:nvPr/>
        </p:nvSpPr>
        <p:spPr>
          <a:xfrm>
            <a:off x="731520" y="4599432"/>
            <a:ext cx="10561320" cy="923544"/>
          </a:xfrm>
          <a:prstGeom prst="rect">
            <a:avLst/>
          </a:prstGeom>
          <a:noFill/>
          <a:ln/>
        </p:spPr>
        <p:txBody>
          <a:bodyPr wrap="square" lIns="0" tIns="0" rIns="0" bIns="0" rtlCol="0" anchor="ctr">
            <a:normAutofit/>
          </a:bodyPr>
          <a:lstStyle/>
          <a:p>
            <a:pPr indent="0" marL="0">
              <a:buNone/>
            </a:pPr>
            <a:r>
              <a:rPr lang="en-US" sz="2497" dirty="0">
                <a:solidFill>
                  <a:srgbClr val="D1DCE9"/>
                </a:solidFill>
                <a:latin typeface="Aptos" pitchFamily="34" charset="0"/>
                <a:ea typeface="Aptos" pitchFamily="34" charset="-122"/>
                <a:cs typeface="Aptos" pitchFamily="34" charset="-120"/>
              </a:rPr>
              <a:t>How do we report uncertainty without turning it into a diagnosis?</a:t>
            </a:r>
            <a:endParaRPr lang="en-US" sz="2497" dirty="0"/>
          </a:p>
        </p:txBody>
      </p:sp>
      <p:sp>
        <p:nvSpPr>
          <p:cNvPr id="7" name="Text 5"/>
          <p:cNvSpPr/>
          <p:nvPr/>
        </p:nvSpPr>
        <p:spPr>
          <a:xfrm>
            <a:off x="731520" y="6199632"/>
            <a:ext cx="10607040" cy="274320"/>
          </a:xfrm>
          <a:prstGeom prst="rect">
            <a:avLst/>
          </a:prstGeom>
          <a:noFill/>
          <a:ln/>
        </p:spPr>
        <p:txBody>
          <a:bodyPr wrap="square" lIns="0" tIns="0" rIns="0" bIns="0" rtlCol="0" anchor="ctr">
            <a:normAutofit/>
          </a:bodyPr>
          <a:lstStyle/>
          <a:p>
            <a:pPr indent="0" marL="0">
              <a:buNone/>
            </a:pPr>
            <a:r>
              <a:rPr lang="en-US" sz="1100" dirty="0">
                <a:solidFill>
                  <a:srgbClr val="D1DCE9"/>
                </a:solidFill>
                <a:latin typeface="Aptos" pitchFamily="34" charset="0"/>
                <a:ea typeface="Aptos" pitchFamily="34" charset="-122"/>
                <a:cs typeface="Aptos" pitchFamily="34" charset="-120"/>
              </a:rPr>
              <a:t>Yasin Kaymaz, PhD  |  Ege University  |  Teaching edition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13</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LEARNING TARGETS</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By the end, you should be able to...</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2</a:t>
            </a:r>
            <a:endParaRPr lang="en-US" sz="800" dirty="0"/>
          </a:p>
        </p:txBody>
      </p:sp>
      <p:sp>
        <p:nvSpPr>
          <p:cNvPr id="9" name="Shape 7"/>
          <p:cNvSpPr/>
          <p:nvPr/>
        </p:nvSpPr>
        <p:spPr>
          <a:xfrm>
            <a:off x="594360" y="1920240"/>
            <a:ext cx="50292" cy="1207008"/>
          </a:xfrm>
          <a:prstGeom prst="rect">
            <a:avLst/>
          </a:prstGeom>
          <a:solidFill>
            <a:srgbClr val="2A78D6"/>
          </a:solidFill>
          <a:ln w="7620">
            <a:solidFill>
              <a:srgbClr val="2A78D6"/>
            </a:solidFill>
            <a:prstDash val="solid"/>
          </a:ln>
        </p:spPr>
      </p:sp>
      <p:sp>
        <p:nvSpPr>
          <p:cNvPr id="10" name="Text 8"/>
          <p:cNvSpPr/>
          <p:nvPr/>
        </p:nvSpPr>
        <p:spPr>
          <a:xfrm>
            <a:off x="795528" y="1920240"/>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Distinguish a variant, a predicted consequence and a clinical classification.</a:t>
            </a:r>
            <a:endParaRPr lang="en-US" sz="2297" dirty="0"/>
          </a:p>
        </p:txBody>
      </p:sp>
      <p:sp>
        <p:nvSpPr>
          <p:cNvPr id="11" name="Shape 9"/>
          <p:cNvSpPr/>
          <p:nvPr/>
        </p:nvSpPr>
        <p:spPr>
          <a:xfrm>
            <a:off x="594360" y="3328416"/>
            <a:ext cx="50292" cy="1207008"/>
          </a:xfrm>
          <a:prstGeom prst="rect">
            <a:avLst/>
          </a:prstGeom>
          <a:solidFill>
            <a:srgbClr val="2A78D6"/>
          </a:solidFill>
          <a:ln w="7620">
            <a:solidFill>
              <a:srgbClr val="2A78D6"/>
            </a:solidFill>
            <a:prstDash val="solid"/>
          </a:ln>
        </p:spPr>
      </p:sp>
      <p:sp>
        <p:nvSpPr>
          <p:cNvPr id="12" name="Text 10"/>
          <p:cNvSpPr/>
          <p:nvPr/>
        </p:nvSpPr>
        <p:spPr>
          <a:xfrm>
            <a:off x="795528" y="3328416"/>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Check reference, transcript, condition, date and review status.</a:t>
            </a:r>
            <a:endParaRPr lang="en-US" sz="2297" dirty="0"/>
          </a:p>
        </p:txBody>
      </p:sp>
      <p:sp>
        <p:nvSpPr>
          <p:cNvPr id="13" name="Shape 11"/>
          <p:cNvSpPr/>
          <p:nvPr/>
        </p:nvSpPr>
        <p:spPr>
          <a:xfrm>
            <a:off x="594360" y="4736592"/>
            <a:ext cx="50292" cy="1207008"/>
          </a:xfrm>
          <a:prstGeom prst="rect">
            <a:avLst/>
          </a:prstGeom>
          <a:solidFill>
            <a:srgbClr val="2A78D6"/>
          </a:solidFill>
          <a:ln w="7620">
            <a:solidFill>
              <a:srgbClr val="2A78D6"/>
            </a:solidFill>
            <a:prstDash val="solid"/>
          </a:ln>
        </p:spPr>
      </p:sp>
      <p:sp>
        <p:nvSpPr>
          <p:cNvPr id="14" name="Text 12"/>
          <p:cNvSpPr/>
          <p:nvPr/>
        </p:nvSpPr>
        <p:spPr>
          <a:xfrm>
            <a:off x="795528" y="4736592"/>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Write a non-diagnostic interpretation that preserves uncertainty.</a:t>
            </a:r>
            <a:endParaRPr lang="en-US" sz="2297"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13</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RETRIEVAL</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Reconnect with the biology</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3</a:t>
            </a:r>
            <a:endParaRPr lang="en-US" sz="800" dirty="0"/>
          </a:p>
        </p:txBody>
      </p:sp>
      <p:sp>
        <p:nvSpPr>
          <p:cNvPr id="9" name="Shape 7"/>
          <p:cNvSpPr/>
          <p:nvPr/>
        </p:nvSpPr>
        <p:spPr>
          <a:xfrm>
            <a:off x="612648" y="1984248"/>
            <a:ext cx="10972800" cy="1828800"/>
          </a:xfrm>
          <a:prstGeom prst="rect">
            <a:avLst/>
          </a:prstGeom>
          <a:solidFill>
            <a:srgbClr val="EAF2FC"/>
          </a:solidFill>
          <a:ln w="7620">
            <a:solidFill>
              <a:srgbClr val="EAF2FC"/>
            </a:solidFill>
            <a:prstDash val="solid"/>
          </a:ln>
        </p:spPr>
      </p:sp>
      <p:sp>
        <p:nvSpPr>
          <p:cNvPr id="10" name="Text 8"/>
          <p:cNvSpPr/>
          <p:nvPr/>
        </p:nvSpPr>
        <p:spPr>
          <a:xfrm>
            <a:off x="850392" y="2258568"/>
            <a:ext cx="10497312" cy="1280160"/>
          </a:xfrm>
          <a:prstGeom prst="rect">
            <a:avLst/>
          </a:prstGeom>
          <a:noFill/>
          <a:ln/>
        </p:spPr>
        <p:txBody>
          <a:bodyPr wrap="square" lIns="0" tIns="0" rIns="0" bIns="0" rtlCol="0" anchor="ctr">
            <a:normAutofit/>
          </a:bodyPr>
          <a:lstStyle/>
          <a:p>
            <a:pPr indent="0" marL="0">
              <a:buNone/>
            </a:pPr>
            <a:r>
              <a:rPr lang="en-US" sz="2697" dirty="0">
                <a:solidFill>
                  <a:srgbClr val="232D3B"/>
                </a:solidFill>
                <a:latin typeface="Aptos" pitchFamily="34" charset="0"/>
                <a:ea typeface="Aptos" pitchFamily="34" charset="-122"/>
                <a:cs typeface="Aptos" pitchFamily="34" charset="-120"/>
              </a:rPr>
              <a:t>A sequence difference is a variant. Its effect depends on location, transcript, mechanism and biological context.</a:t>
            </a:r>
            <a:endParaRPr lang="en-US" sz="2697" dirty="0"/>
          </a:p>
        </p:txBody>
      </p:sp>
      <p:sp>
        <p:nvSpPr>
          <p:cNvPr id="11" name="Text 9"/>
          <p:cNvSpPr/>
          <p:nvPr/>
        </p:nvSpPr>
        <p:spPr>
          <a:xfrm>
            <a:off x="859536" y="4370832"/>
            <a:ext cx="10424160" cy="914400"/>
          </a:xfrm>
          <a:prstGeom prst="rect">
            <a:avLst/>
          </a:prstGeom>
          <a:noFill/>
          <a:ln/>
        </p:spPr>
        <p:txBody>
          <a:bodyPr wrap="square" lIns="0" tIns="0" rIns="0" bIns="0" rtlCol="0" anchor="ctr">
            <a:normAutofit/>
          </a:bodyPr>
          <a:lstStyle/>
          <a:p>
            <a:pPr indent="0" marL="0">
              <a:buNone/>
            </a:pPr>
            <a:r>
              <a:rPr lang="en-US" sz="2497" b="1" dirty="0">
                <a:solidFill>
                  <a:srgbClr val="2A78D6"/>
                </a:solidFill>
                <a:latin typeface="Aptos" pitchFamily="34" charset="0"/>
                <a:ea typeface="Aptos" pitchFamily="34" charset="-122"/>
                <a:cs typeface="Aptos" pitchFamily="34" charset="-120"/>
              </a:rPr>
              <a:t>Think silently -&gt; explain to a neighbour -&gt; check the measurement.</a:t>
            </a:r>
            <a:endParaRPr lang="en-US" sz="2497"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13</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CORE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One change, several descriptions</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S03 / S19  |  4</a:t>
            </a:r>
            <a:endParaRPr lang="en-US" sz="800" dirty="0"/>
          </a:p>
        </p:txBody>
      </p:sp>
      <p:sp>
        <p:nvSpPr>
          <p:cNvPr id="9" name="Shape 7"/>
          <p:cNvSpPr/>
          <p:nvPr/>
        </p:nvSpPr>
        <p:spPr>
          <a:xfrm>
            <a:off x="594360" y="2148840"/>
            <a:ext cx="3429000" cy="3136392"/>
          </a:xfrm>
          <a:prstGeom prst="rect">
            <a:avLst/>
          </a:prstGeom>
          <a:solidFill>
            <a:srgbClr val="EAF2FC"/>
          </a:solidFill>
          <a:ln w="7620">
            <a:solidFill>
              <a:srgbClr val="EAF2FC"/>
            </a:solidFill>
            <a:prstDash val="solid"/>
          </a:ln>
        </p:spPr>
      </p:sp>
      <p:sp>
        <p:nvSpPr>
          <p:cNvPr id="10" name="Text 8"/>
          <p:cNvSpPr/>
          <p:nvPr/>
        </p:nvSpPr>
        <p:spPr>
          <a:xfrm>
            <a:off x="795528" y="2404872"/>
            <a:ext cx="914400" cy="502920"/>
          </a:xfrm>
          <a:prstGeom prst="rect">
            <a:avLst/>
          </a:prstGeom>
          <a:noFill/>
          <a:ln/>
        </p:spPr>
        <p:txBody>
          <a:bodyPr wrap="square" lIns="0" tIns="0" rIns="0" bIns="0" rtlCol="0" anchor="ctr">
            <a:normAutofit/>
          </a:bodyPr>
          <a:lstStyle/>
          <a:p>
            <a:pPr indent="0" marL="0">
              <a:buNone/>
            </a:pPr>
            <a:r>
              <a:rPr lang="en-US" sz="2900" b="1" dirty="0">
                <a:solidFill>
                  <a:srgbClr val="2A78D6"/>
                </a:solidFill>
                <a:latin typeface="Aptos" pitchFamily="34" charset="0"/>
                <a:ea typeface="Aptos" pitchFamily="34" charset="-122"/>
                <a:cs typeface="Aptos" pitchFamily="34" charset="-120"/>
              </a:rPr>
              <a:t>01</a:t>
            </a:r>
            <a:endParaRPr lang="en-US" sz="2900" dirty="0"/>
          </a:p>
        </p:txBody>
      </p:sp>
      <p:sp>
        <p:nvSpPr>
          <p:cNvPr id="11" name="Text 9"/>
          <p:cNvSpPr/>
          <p:nvPr/>
        </p:nvSpPr>
        <p:spPr>
          <a:xfrm>
            <a:off x="804672" y="3127248"/>
            <a:ext cx="3008376" cy="180136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A variant can be described at genomic, transcript or protein level.</a:t>
            </a:r>
            <a:endParaRPr lang="en-US" sz="2297" dirty="0"/>
          </a:p>
        </p:txBody>
      </p:sp>
      <p:sp>
        <p:nvSpPr>
          <p:cNvPr id="12" name="Text 10"/>
          <p:cNvSpPr/>
          <p:nvPr/>
        </p:nvSpPr>
        <p:spPr>
          <a:xfrm>
            <a:off x="4087368" y="3355848"/>
            <a:ext cx="219456" cy="457200"/>
          </a:xfrm>
          <a:prstGeom prst="rect">
            <a:avLst/>
          </a:prstGeom>
          <a:noFill/>
          <a:ln/>
        </p:spPr>
        <p:txBody>
          <a:bodyPr wrap="square" lIns="0" tIns="0" rIns="0" bIns="0" rtlCol="0" anchor="ctr">
            <a:normAutofit/>
          </a:bodyPr>
          <a:lstStyle/>
          <a:p>
            <a:pPr indent="0" marL="0">
              <a:buNone/>
            </a:pPr>
            <a:r>
              <a:rPr lang="en-US" sz="2300" b="1" dirty="0">
                <a:solidFill>
                  <a:srgbClr val="EB6834"/>
                </a:solidFill>
                <a:latin typeface="Aptos" pitchFamily="34" charset="0"/>
                <a:ea typeface="Aptos" pitchFamily="34" charset="-122"/>
                <a:cs typeface="Aptos" pitchFamily="34" charset="-120"/>
              </a:rPr>
              <a:t>&gt;</a:t>
            </a:r>
            <a:endParaRPr lang="en-US" sz="2300" dirty="0"/>
          </a:p>
        </p:txBody>
      </p:sp>
      <p:sp>
        <p:nvSpPr>
          <p:cNvPr id="13" name="Shape 11"/>
          <p:cNvSpPr/>
          <p:nvPr/>
        </p:nvSpPr>
        <p:spPr>
          <a:xfrm>
            <a:off x="4389120" y="2148840"/>
            <a:ext cx="3429000" cy="3136392"/>
          </a:xfrm>
          <a:prstGeom prst="rect">
            <a:avLst/>
          </a:prstGeom>
          <a:solidFill>
            <a:srgbClr val="EAF2FC"/>
          </a:solidFill>
          <a:ln w="7620">
            <a:solidFill>
              <a:srgbClr val="EAF2FC"/>
            </a:solidFill>
            <a:prstDash val="solid"/>
          </a:ln>
        </p:spPr>
      </p:sp>
      <p:sp>
        <p:nvSpPr>
          <p:cNvPr id="14" name="Text 12"/>
          <p:cNvSpPr/>
          <p:nvPr/>
        </p:nvSpPr>
        <p:spPr>
          <a:xfrm>
            <a:off x="4590288" y="2404872"/>
            <a:ext cx="914400" cy="502920"/>
          </a:xfrm>
          <a:prstGeom prst="rect">
            <a:avLst/>
          </a:prstGeom>
          <a:noFill/>
          <a:ln/>
        </p:spPr>
        <p:txBody>
          <a:bodyPr wrap="square" lIns="0" tIns="0" rIns="0" bIns="0" rtlCol="0" anchor="ctr">
            <a:normAutofit/>
          </a:bodyPr>
          <a:lstStyle/>
          <a:p>
            <a:pPr indent="0" marL="0">
              <a:buNone/>
            </a:pPr>
            <a:r>
              <a:rPr lang="en-US" sz="2900" b="1" dirty="0">
                <a:solidFill>
                  <a:srgbClr val="2A78D6"/>
                </a:solidFill>
                <a:latin typeface="Aptos" pitchFamily="34" charset="0"/>
                <a:ea typeface="Aptos" pitchFamily="34" charset="-122"/>
                <a:cs typeface="Aptos" pitchFamily="34" charset="-120"/>
              </a:rPr>
              <a:t>02</a:t>
            </a:r>
            <a:endParaRPr lang="en-US" sz="2900" dirty="0"/>
          </a:p>
        </p:txBody>
      </p:sp>
      <p:sp>
        <p:nvSpPr>
          <p:cNvPr id="15" name="Text 13"/>
          <p:cNvSpPr/>
          <p:nvPr/>
        </p:nvSpPr>
        <p:spPr>
          <a:xfrm>
            <a:off x="4599432" y="3127248"/>
            <a:ext cx="3008376" cy="180136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Different transcript choices can change a predicted consequence.</a:t>
            </a:r>
            <a:endParaRPr lang="en-US" sz="2297" dirty="0"/>
          </a:p>
        </p:txBody>
      </p:sp>
      <p:sp>
        <p:nvSpPr>
          <p:cNvPr id="16" name="Text 14"/>
          <p:cNvSpPr/>
          <p:nvPr/>
        </p:nvSpPr>
        <p:spPr>
          <a:xfrm>
            <a:off x="7882128" y="3355848"/>
            <a:ext cx="219456" cy="457200"/>
          </a:xfrm>
          <a:prstGeom prst="rect">
            <a:avLst/>
          </a:prstGeom>
          <a:noFill/>
          <a:ln/>
        </p:spPr>
        <p:txBody>
          <a:bodyPr wrap="square" lIns="0" tIns="0" rIns="0" bIns="0" rtlCol="0" anchor="ctr">
            <a:normAutofit/>
          </a:bodyPr>
          <a:lstStyle/>
          <a:p>
            <a:pPr indent="0" marL="0">
              <a:buNone/>
            </a:pPr>
            <a:r>
              <a:rPr lang="en-US" sz="2300" b="1" dirty="0">
                <a:solidFill>
                  <a:srgbClr val="EB6834"/>
                </a:solidFill>
                <a:latin typeface="Aptos" pitchFamily="34" charset="0"/>
                <a:ea typeface="Aptos" pitchFamily="34" charset="-122"/>
                <a:cs typeface="Aptos" pitchFamily="34" charset="-120"/>
              </a:rPr>
              <a:t>&gt;</a:t>
            </a:r>
            <a:endParaRPr lang="en-US" sz="2300" dirty="0"/>
          </a:p>
        </p:txBody>
      </p:sp>
      <p:sp>
        <p:nvSpPr>
          <p:cNvPr id="17" name="Shape 15"/>
          <p:cNvSpPr/>
          <p:nvPr/>
        </p:nvSpPr>
        <p:spPr>
          <a:xfrm>
            <a:off x="8183880" y="2148840"/>
            <a:ext cx="3429000" cy="3136392"/>
          </a:xfrm>
          <a:prstGeom prst="rect">
            <a:avLst/>
          </a:prstGeom>
          <a:solidFill>
            <a:srgbClr val="EAF2FC"/>
          </a:solidFill>
          <a:ln w="7620">
            <a:solidFill>
              <a:srgbClr val="EAF2FC"/>
            </a:solidFill>
            <a:prstDash val="solid"/>
          </a:ln>
        </p:spPr>
      </p:sp>
      <p:sp>
        <p:nvSpPr>
          <p:cNvPr id="18" name="Text 16"/>
          <p:cNvSpPr/>
          <p:nvPr/>
        </p:nvSpPr>
        <p:spPr>
          <a:xfrm>
            <a:off x="8385048" y="2404872"/>
            <a:ext cx="914400" cy="502920"/>
          </a:xfrm>
          <a:prstGeom prst="rect">
            <a:avLst/>
          </a:prstGeom>
          <a:noFill/>
          <a:ln/>
        </p:spPr>
        <p:txBody>
          <a:bodyPr wrap="square" lIns="0" tIns="0" rIns="0" bIns="0" rtlCol="0" anchor="ctr">
            <a:normAutofit/>
          </a:bodyPr>
          <a:lstStyle/>
          <a:p>
            <a:pPr indent="0" marL="0">
              <a:buNone/>
            </a:pPr>
            <a:r>
              <a:rPr lang="en-US" sz="2900" b="1" dirty="0">
                <a:solidFill>
                  <a:srgbClr val="2A78D6"/>
                </a:solidFill>
                <a:latin typeface="Aptos" pitchFamily="34" charset="0"/>
                <a:ea typeface="Aptos" pitchFamily="34" charset="-122"/>
                <a:cs typeface="Aptos" pitchFamily="34" charset="-120"/>
              </a:rPr>
              <a:t>03</a:t>
            </a:r>
            <a:endParaRPr lang="en-US" sz="2900" dirty="0"/>
          </a:p>
        </p:txBody>
      </p:sp>
      <p:sp>
        <p:nvSpPr>
          <p:cNvPr id="19" name="Text 17"/>
          <p:cNvSpPr/>
          <p:nvPr/>
        </p:nvSpPr>
        <p:spPr>
          <a:xfrm>
            <a:off x="8394192" y="3127248"/>
            <a:ext cx="3008376" cy="180136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Record the reference accession and version before comparing labels.</a:t>
            </a:r>
            <a:endParaRPr lang="en-US" sz="2297"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13</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CORE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Consequence is not clinical classification</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S19  |  5</a:t>
            </a:r>
            <a:endParaRPr lang="en-US" sz="800" dirty="0"/>
          </a:p>
        </p:txBody>
      </p:sp>
      <p:sp>
        <p:nvSpPr>
          <p:cNvPr id="9" name="Shape 7"/>
          <p:cNvSpPr/>
          <p:nvPr/>
        </p:nvSpPr>
        <p:spPr>
          <a:xfrm>
            <a:off x="594360" y="1865376"/>
            <a:ext cx="5321808" cy="1024128"/>
          </a:xfrm>
          <a:prstGeom prst="rect">
            <a:avLst/>
          </a:prstGeom>
          <a:solidFill>
            <a:srgbClr val="EAF2FC"/>
          </a:solidFill>
          <a:ln w="7620">
            <a:solidFill>
              <a:srgbClr val="EAF2FC"/>
            </a:solidFill>
            <a:prstDash val="solid"/>
          </a:ln>
        </p:spPr>
      </p:sp>
      <p:sp>
        <p:nvSpPr>
          <p:cNvPr id="10" name="Shape 8"/>
          <p:cNvSpPr/>
          <p:nvPr/>
        </p:nvSpPr>
        <p:spPr>
          <a:xfrm>
            <a:off x="6199632" y="1865376"/>
            <a:ext cx="5321808" cy="1024128"/>
          </a:xfrm>
          <a:prstGeom prst="rect">
            <a:avLst/>
          </a:prstGeom>
          <a:solidFill>
            <a:srgbClr val="FFF0E8"/>
          </a:solidFill>
          <a:ln w="7620">
            <a:solidFill>
              <a:srgbClr val="FFF0E8"/>
            </a:solidFill>
            <a:prstDash val="solid"/>
          </a:ln>
        </p:spPr>
      </p:sp>
      <p:sp>
        <p:nvSpPr>
          <p:cNvPr id="11" name="Text 9"/>
          <p:cNvSpPr/>
          <p:nvPr/>
        </p:nvSpPr>
        <p:spPr>
          <a:xfrm>
            <a:off x="822960" y="2048256"/>
            <a:ext cx="4846320" cy="640080"/>
          </a:xfrm>
          <a:prstGeom prst="rect">
            <a:avLst/>
          </a:prstGeom>
          <a:noFill/>
          <a:ln/>
        </p:spPr>
        <p:txBody>
          <a:bodyPr wrap="square" lIns="0" tIns="0" rIns="0" bIns="0" rtlCol="0" anchor="ctr">
            <a:normAutofit/>
          </a:bodyPr>
          <a:lstStyle/>
          <a:p>
            <a:pPr indent="0" marL="0">
              <a:buNone/>
            </a:pPr>
            <a:r>
              <a:rPr lang="en-US" sz="2372" b="1" dirty="0">
                <a:solidFill>
                  <a:srgbClr val="2A78D6"/>
                </a:solidFill>
                <a:latin typeface="Aptos" pitchFamily="34" charset="0"/>
                <a:ea typeface="Aptos" pitchFamily="34" charset="-122"/>
                <a:cs typeface="Aptos" pitchFamily="34" charset="-120"/>
              </a:rPr>
              <a:t>Predicted consequence</a:t>
            </a:r>
            <a:endParaRPr lang="en-US" sz="2372" dirty="0"/>
          </a:p>
        </p:txBody>
      </p:sp>
      <p:sp>
        <p:nvSpPr>
          <p:cNvPr id="12" name="Text 10"/>
          <p:cNvSpPr/>
          <p:nvPr/>
        </p:nvSpPr>
        <p:spPr>
          <a:xfrm>
            <a:off x="6428232" y="2048256"/>
            <a:ext cx="4846320" cy="640080"/>
          </a:xfrm>
          <a:prstGeom prst="rect">
            <a:avLst/>
          </a:prstGeom>
          <a:noFill/>
          <a:ln/>
        </p:spPr>
        <p:txBody>
          <a:bodyPr wrap="square" lIns="0" tIns="0" rIns="0" bIns="0" rtlCol="0" anchor="ctr">
            <a:normAutofit/>
          </a:bodyPr>
          <a:lstStyle/>
          <a:p>
            <a:pPr indent="0" marL="0">
              <a:buNone/>
            </a:pPr>
            <a:r>
              <a:rPr lang="en-US" sz="2372" b="1" dirty="0">
                <a:solidFill>
                  <a:srgbClr val="EB6834"/>
                </a:solidFill>
                <a:latin typeface="Aptos" pitchFamily="34" charset="0"/>
                <a:ea typeface="Aptos" pitchFamily="34" charset="-122"/>
                <a:cs typeface="Aptos" pitchFamily="34" charset="-120"/>
              </a:rPr>
              <a:t>Clinical significance</a:t>
            </a:r>
            <a:endParaRPr lang="en-US" sz="2372" dirty="0"/>
          </a:p>
        </p:txBody>
      </p:sp>
      <p:sp>
        <p:nvSpPr>
          <p:cNvPr id="13" name="Shape 11"/>
          <p:cNvSpPr/>
          <p:nvPr/>
        </p:nvSpPr>
        <p:spPr>
          <a:xfrm>
            <a:off x="658368" y="3218688"/>
            <a:ext cx="50292" cy="719328"/>
          </a:xfrm>
          <a:prstGeom prst="rect">
            <a:avLst/>
          </a:prstGeom>
          <a:solidFill>
            <a:srgbClr val="2A78D6"/>
          </a:solidFill>
          <a:ln w="7620">
            <a:solidFill>
              <a:srgbClr val="2A78D6"/>
            </a:solidFill>
            <a:prstDash val="solid"/>
          </a:ln>
        </p:spPr>
      </p:sp>
      <p:sp>
        <p:nvSpPr>
          <p:cNvPr id="14" name="Text 12"/>
          <p:cNvSpPr/>
          <p:nvPr/>
        </p:nvSpPr>
        <p:spPr>
          <a:xfrm>
            <a:off x="859536" y="3218688"/>
            <a:ext cx="10552176" cy="71932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Missense means an amino-acid substitution in a specified coding context.</a:t>
            </a:r>
            <a:endParaRPr lang="en-US" sz="2297" dirty="0"/>
          </a:p>
        </p:txBody>
      </p:sp>
      <p:sp>
        <p:nvSpPr>
          <p:cNvPr id="15" name="Shape 13"/>
          <p:cNvSpPr/>
          <p:nvPr/>
        </p:nvSpPr>
        <p:spPr>
          <a:xfrm>
            <a:off x="658368" y="4139184"/>
            <a:ext cx="50292" cy="719328"/>
          </a:xfrm>
          <a:prstGeom prst="rect">
            <a:avLst/>
          </a:prstGeom>
          <a:solidFill>
            <a:srgbClr val="2A78D6"/>
          </a:solidFill>
          <a:ln w="7620">
            <a:solidFill>
              <a:srgbClr val="2A78D6"/>
            </a:solidFill>
            <a:prstDash val="solid"/>
          </a:ln>
        </p:spPr>
      </p:sp>
      <p:sp>
        <p:nvSpPr>
          <p:cNvPr id="16" name="Text 14"/>
          <p:cNvSpPr/>
          <p:nvPr/>
        </p:nvSpPr>
        <p:spPr>
          <a:xfrm>
            <a:off x="859536" y="4139184"/>
            <a:ext cx="10552176" cy="719328"/>
          </a:xfrm>
          <a:prstGeom prst="rect">
            <a:avLst/>
          </a:prstGeom>
          <a:noFill/>
          <a:ln/>
        </p:spPr>
        <p:txBody>
          <a:bodyPr wrap="square" lIns="0" tIns="0" rIns="0" bIns="0" rtlCol="0" anchor="ctr">
            <a:normAutofit/>
          </a:bodyPr>
          <a:lstStyle/>
          <a:p>
            <a:pPr indent="0" marL="0">
              <a:buNone/>
            </a:pPr>
            <a:r>
              <a:rPr lang="en-US" sz="2219" dirty="0">
                <a:solidFill>
                  <a:srgbClr val="232D3B"/>
                </a:solidFill>
                <a:latin typeface="Aptos" pitchFamily="34" charset="0"/>
                <a:ea typeface="Aptos" pitchFamily="34" charset="-122"/>
                <a:cs typeface="Aptos" pitchFamily="34" charset="-120"/>
              </a:rPr>
              <a:t>A stop-gain or splice prediction does not automatically establish pathogenicity.</a:t>
            </a:r>
            <a:endParaRPr lang="en-US" sz="2219" dirty="0"/>
          </a:p>
        </p:txBody>
      </p:sp>
      <p:sp>
        <p:nvSpPr>
          <p:cNvPr id="17" name="Shape 15"/>
          <p:cNvSpPr/>
          <p:nvPr/>
        </p:nvSpPr>
        <p:spPr>
          <a:xfrm>
            <a:off x="658368" y="5059680"/>
            <a:ext cx="50292" cy="719328"/>
          </a:xfrm>
          <a:prstGeom prst="rect">
            <a:avLst/>
          </a:prstGeom>
          <a:solidFill>
            <a:srgbClr val="2A78D6"/>
          </a:solidFill>
          <a:ln w="7620">
            <a:solidFill>
              <a:srgbClr val="2A78D6"/>
            </a:solidFill>
            <a:prstDash val="solid"/>
          </a:ln>
        </p:spPr>
      </p:sp>
      <p:sp>
        <p:nvSpPr>
          <p:cNvPr id="18" name="Text 16"/>
          <p:cNvSpPr/>
          <p:nvPr/>
        </p:nvSpPr>
        <p:spPr>
          <a:xfrm>
            <a:off x="859536" y="5059680"/>
            <a:ext cx="10552176" cy="71932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Gene-disease mechanism and other evidence matter.</a:t>
            </a:r>
            <a:endParaRPr lang="en-US" sz="2297"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13</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CORE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Five categories preserve uncertainty</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S18 / S19  |  6</a:t>
            </a:r>
            <a:endParaRPr lang="en-US" sz="800" dirty="0"/>
          </a:p>
        </p:txBody>
      </p:sp>
      <p:sp>
        <p:nvSpPr>
          <p:cNvPr id="9" name="Shape 7"/>
          <p:cNvSpPr/>
          <p:nvPr/>
        </p:nvSpPr>
        <p:spPr>
          <a:xfrm>
            <a:off x="594360" y="1828800"/>
            <a:ext cx="4965192" cy="4224528"/>
          </a:xfrm>
          <a:prstGeom prst="rect">
            <a:avLst/>
          </a:prstGeom>
          <a:solidFill>
            <a:srgbClr val="EAF2FC"/>
          </a:solidFill>
          <a:ln w="7620">
            <a:solidFill>
              <a:srgbClr val="EAF2FC"/>
            </a:solidFill>
            <a:prstDash val="solid"/>
          </a:ln>
        </p:spPr>
      </p:sp>
      <p:sp>
        <p:nvSpPr>
          <p:cNvPr id="10" name="Shape 8"/>
          <p:cNvSpPr/>
          <p:nvPr/>
        </p:nvSpPr>
        <p:spPr>
          <a:xfrm>
            <a:off x="5943600" y="1901952"/>
            <a:ext cx="50292" cy="1216152"/>
          </a:xfrm>
          <a:prstGeom prst="rect">
            <a:avLst/>
          </a:prstGeom>
          <a:solidFill>
            <a:srgbClr val="2A78D6"/>
          </a:solidFill>
          <a:ln w="7620">
            <a:solidFill>
              <a:srgbClr val="2A78D6"/>
            </a:solidFill>
            <a:prstDash val="solid"/>
          </a:ln>
        </p:spPr>
      </p:sp>
      <p:sp>
        <p:nvSpPr>
          <p:cNvPr id="11" name="Text 9"/>
          <p:cNvSpPr/>
          <p:nvPr/>
        </p:nvSpPr>
        <p:spPr>
          <a:xfrm>
            <a:off x="6144768" y="1901952"/>
            <a:ext cx="5367528" cy="1216152"/>
          </a:xfrm>
          <a:prstGeom prst="rect">
            <a:avLst/>
          </a:prstGeom>
          <a:noFill/>
          <a:ln/>
        </p:spPr>
        <p:txBody>
          <a:bodyPr wrap="square" lIns="0" tIns="0" rIns="0" bIns="0" rtlCol="0" anchor="ctr">
            <a:normAutofit/>
          </a:bodyPr>
          <a:lstStyle/>
          <a:p>
            <a:pPr indent="0" marL="0">
              <a:buNone/>
            </a:pPr>
            <a:r>
              <a:rPr lang="en-US" sz="2100" dirty="0">
                <a:solidFill>
                  <a:srgbClr val="232D3B"/>
                </a:solidFill>
                <a:latin typeface="Aptos" pitchFamily="34" charset="0"/>
                <a:ea typeface="Aptos" pitchFamily="34" charset="-122"/>
                <a:cs typeface="Aptos" pitchFamily="34" charset="-120"/>
              </a:rPr>
              <a:t>Benign; likely benign; uncertain significance; likely pathogenic; pathogenic.</a:t>
            </a:r>
            <a:endParaRPr lang="en-US" sz="2100" dirty="0"/>
          </a:p>
        </p:txBody>
      </p:sp>
      <p:sp>
        <p:nvSpPr>
          <p:cNvPr id="12" name="Shape 10"/>
          <p:cNvSpPr/>
          <p:nvPr/>
        </p:nvSpPr>
        <p:spPr>
          <a:xfrm>
            <a:off x="5943600" y="3319272"/>
            <a:ext cx="50292" cy="1216152"/>
          </a:xfrm>
          <a:prstGeom prst="rect">
            <a:avLst/>
          </a:prstGeom>
          <a:solidFill>
            <a:srgbClr val="2A78D6"/>
          </a:solidFill>
          <a:ln w="7620">
            <a:solidFill>
              <a:srgbClr val="2A78D6"/>
            </a:solidFill>
            <a:prstDash val="solid"/>
          </a:ln>
        </p:spPr>
      </p:sp>
      <p:sp>
        <p:nvSpPr>
          <p:cNvPr id="13" name="Text 11"/>
          <p:cNvSpPr/>
          <p:nvPr/>
        </p:nvSpPr>
        <p:spPr>
          <a:xfrm>
            <a:off x="6144768" y="3319272"/>
            <a:ext cx="5367528" cy="1216152"/>
          </a:xfrm>
          <a:prstGeom prst="rect">
            <a:avLst/>
          </a:prstGeom>
          <a:noFill/>
          <a:ln/>
        </p:spPr>
        <p:txBody>
          <a:bodyPr wrap="square" lIns="0" tIns="0" rIns="0" bIns="0" rtlCol="0" anchor="ctr">
            <a:normAutofit/>
          </a:bodyPr>
          <a:lstStyle/>
          <a:p>
            <a:pPr indent="0" marL="0">
              <a:buNone/>
            </a:pPr>
            <a:r>
              <a:rPr lang="en-US" sz="2100" dirty="0">
                <a:solidFill>
                  <a:srgbClr val="232D3B"/>
                </a:solidFill>
                <a:latin typeface="Aptos" pitchFamily="34" charset="0"/>
                <a:ea typeface="Aptos" pitchFamily="34" charset="-122"/>
                <a:cs typeface="Aptos" pitchFamily="34" charset="-120"/>
              </a:rPr>
              <a:t>These categories were established for Mendelian germline variant interpretation.</a:t>
            </a:r>
            <a:endParaRPr lang="en-US" sz="2100" dirty="0"/>
          </a:p>
        </p:txBody>
      </p:sp>
      <p:sp>
        <p:nvSpPr>
          <p:cNvPr id="14" name="Shape 12"/>
          <p:cNvSpPr/>
          <p:nvPr/>
        </p:nvSpPr>
        <p:spPr>
          <a:xfrm>
            <a:off x="5943600" y="4736592"/>
            <a:ext cx="50292" cy="1216152"/>
          </a:xfrm>
          <a:prstGeom prst="rect">
            <a:avLst/>
          </a:prstGeom>
          <a:solidFill>
            <a:srgbClr val="2A78D6"/>
          </a:solidFill>
          <a:ln w="7620">
            <a:solidFill>
              <a:srgbClr val="2A78D6"/>
            </a:solidFill>
            <a:prstDash val="solid"/>
          </a:ln>
        </p:spPr>
      </p:sp>
      <p:sp>
        <p:nvSpPr>
          <p:cNvPr id="15" name="Text 13"/>
          <p:cNvSpPr/>
          <p:nvPr/>
        </p:nvSpPr>
        <p:spPr>
          <a:xfrm>
            <a:off x="6144768" y="4736592"/>
            <a:ext cx="5367528" cy="1216152"/>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Somatic treatment claims require their own framework and clinical context.</a:t>
            </a:r>
            <a:endParaRPr lang="en-US" sz="2297" dirty="0"/>
          </a:p>
        </p:txBody>
      </p:sp>
      <p:sp>
        <p:nvSpPr>
          <p:cNvPr id="16" name="Shape 14"/>
          <p:cNvSpPr/>
          <p:nvPr/>
        </p:nvSpPr>
        <p:spPr>
          <a:xfrm>
            <a:off x="841248" y="2249424"/>
            <a:ext cx="4471416" cy="548640"/>
          </a:xfrm>
          <a:prstGeom prst="rect">
            <a:avLst/>
          </a:prstGeom>
          <a:solidFill>
            <a:srgbClr val="FFFFFF"/>
          </a:solidFill>
          <a:ln w="7620">
            <a:solidFill>
              <a:srgbClr val="FFFFFF"/>
            </a:solidFill>
            <a:prstDash val="solid"/>
          </a:ln>
        </p:spPr>
      </p:sp>
      <p:sp>
        <p:nvSpPr>
          <p:cNvPr id="17" name="Text 15"/>
          <p:cNvSpPr/>
          <p:nvPr/>
        </p:nvSpPr>
        <p:spPr>
          <a:xfrm>
            <a:off x="987552" y="2340864"/>
            <a:ext cx="4178808" cy="347472"/>
          </a:xfrm>
          <a:prstGeom prst="rect">
            <a:avLst/>
          </a:prstGeom>
          <a:noFill/>
          <a:ln/>
        </p:spPr>
        <p:txBody>
          <a:bodyPr wrap="square" lIns="0" tIns="0" rIns="0" bIns="0" rtlCol="0" anchor="ctr">
            <a:normAutofit/>
          </a:bodyPr>
          <a:lstStyle/>
          <a:p>
            <a:pPr indent="0" marL="0">
              <a:buNone/>
            </a:pPr>
            <a:r>
              <a:rPr lang="en-US" sz="1800" b="1" dirty="0">
                <a:solidFill>
                  <a:srgbClr val="232D3B"/>
                </a:solidFill>
                <a:latin typeface="Aptos" pitchFamily="34" charset="0"/>
                <a:ea typeface="Aptos" pitchFamily="34" charset="-122"/>
                <a:cs typeface="Aptos" pitchFamily="34" charset="-120"/>
              </a:rPr>
              <a:t>Benign</a:t>
            </a:r>
            <a:endParaRPr lang="en-US" sz="1800" dirty="0"/>
          </a:p>
        </p:txBody>
      </p:sp>
      <p:sp>
        <p:nvSpPr>
          <p:cNvPr id="18" name="Shape 16"/>
          <p:cNvSpPr/>
          <p:nvPr/>
        </p:nvSpPr>
        <p:spPr>
          <a:xfrm>
            <a:off x="841248" y="2926080"/>
            <a:ext cx="4471416" cy="548640"/>
          </a:xfrm>
          <a:prstGeom prst="rect">
            <a:avLst/>
          </a:prstGeom>
          <a:solidFill>
            <a:srgbClr val="FFFFFF"/>
          </a:solidFill>
          <a:ln w="7620">
            <a:solidFill>
              <a:srgbClr val="FFFFFF"/>
            </a:solidFill>
            <a:prstDash val="solid"/>
          </a:ln>
        </p:spPr>
      </p:sp>
      <p:sp>
        <p:nvSpPr>
          <p:cNvPr id="19" name="Text 17"/>
          <p:cNvSpPr/>
          <p:nvPr/>
        </p:nvSpPr>
        <p:spPr>
          <a:xfrm>
            <a:off x="987552" y="3017520"/>
            <a:ext cx="4178808" cy="347472"/>
          </a:xfrm>
          <a:prstGeom prst="rect">
            <a:avLst/>
          </a:prstGeom>
          <a:noFill/>
          <a:ln/>
        </p:spPr>
        <p:txBody>
          <a:bodyPr wrap="square" lIns="0" tIns="0" rIns="0" bIns="0" rtlCol="0" anchor="ctr">
            <a:normAutofit/>
          </a:bodyPr>
          <a:lstStyle/>
          <a:p>
            <a:pPr indent="0" marL="0">
              <a:buNone/>
            </a:pPr>
            <a:r>
              <a:rPr lang="en-US" sz="1800" b="1" dirty="0">
                <a:solidFill>
                  <a:srgbClr val="232D3B"/>
                </a:solidFill>
                <a:latin typeface="Aptos" pitchFamily="34" charset="0"/>
                <a:ea typeface="Aptos" pitchFamily="34" charset="-122"/>
                <a:cs typeface="Aptos" pitchFamily="34" charset="-120"/>
              </a:rPr>
              <a:t>Likely benign</a:t>
            </a:r>
            <a:endParaRPr lang="en-US" sz="1800" dirty="0"/>
          </a:p>
        </p:txBody>
      </p:sp>
      <p:sp>
        <p:nvSpPr>
          <p:cNvPr id="20" name="Shape 18"/>
          <p:cNvSpPr/>
          <p:nvPr/>
        </p:nvSpPr>
        <p:spPr>
          <a:xfrm>
            <a:off x="841248" y="3602736"/>
            <a:ext cx="4471416" cy="548640"/>
          </a:xfrm>
          <a:prstGeom prst="rect">
            <a:avLst/>
          </a:prstGeom>
          <a:solidFill>
            <a:srgbClr val="FFF0E8"/>
          </a:solidFill>
          <a:ln w="7620">
            <a:solidFill>
              <a:srgbClr val="FFF0E8"/>
            </a:solidFill>
            <a:prstDash val="solid"/>
          </a:ln>
        </p:spPr>
      </p:sp>
      <p:sp>
        <p:nvSpPr>
          <p:cNvPr id="21" name="Text 19"/>
          <p:cNvSpPr/>
          <p:nvPr/>
        </p:nvSpPr>
        <p:spPr>
          <a:xfrm>
            <a:off x="987552" y="3694176"/>
            <a:ext cx="4178808" cy="347472"/>
          </a:xfrm>
          <a:prstGeom prst="rect">
            <a:avLst/>
          </a:prstGeom>
          <a:noFill/>
          <a:ln/>
        </p:spPr>
        <p:txBody>
          <a:bodyPr wrap="square" lIns="0" tIns="0" rIns="0" bIns="0" rtlCol="0" anchor="ctr">
            <a:normAutofit/>
          </a:bodyPr>
          <a:lstStyle/>
          <a:p>
            <a:pPr indent="0" marL="0">
              <a:buNone/>
            </a:pPr>
            <a:r>
              <a:rPr lang="en-US" sz="1800" b="1" dirty="0">
                <a:solidFill>
                  <a:srgbClr val="EB6834"/>
                </a:solidFill>
                <a:latin typeface="Aptos" pitchFamily="34" charset="0"/>
                <a:ea typeface="Aptos" pitchFamily="34" charset="-122"/>
                <a:cs typeface="Aptos" pitchFamily="34" charset="-120"/>
              </a:rPr>
              <a:t>Uncertain</a:t>
            </a:r>
            <a:endParaRPr lang="en-US" sz="1800" dirty="0"/>
          </a:p>
        </p:txBody>
      </p:sp>
      <p:sp>
        <p:nvSpPr>
          <p:cNvPr id="22" name="Shape 20"/>
          <p:cNvSpPr/>
          <p:nvPr/>
        </p:nvSpPr>
        <p:spPr>
          <a:xfrm>
            <a:off x="841248" y="4279392"/>
            <a:ext cx="4471416" cy="548640"/>
          </a:xfrm>
          <a:prstGeom prst="rect">
            <a:avLst/>
          </a:prstGeom>
          <a:solidFill>
            <a:srgbClr val="FFFFFF"/>
          </a:solidFill>
          <a:ln w="7620">
            <a:solidFill>
              <a:srgbClr val="FFFFFF"/>
            </a:solidFill>
            <a:prstDash val="solid"/>
          </a:ln>
        </p:spPr>
      </p:sp>
      <p:sp>
        <p:nvSpPr>
          <p:cNvPr id="23" name="Text 21"/>
          <p:cNvSpPr/>
          <p:nvPr/>
        </p:nvSpPr>
        <p:spPr>
          <a:xfrm>
            <a:off x="987552" y="4370832"/>
            <a:ext cx="4178808" cy="347472"/>
          </a:xfrm>
          <a:prstGeom prst="rect">
            <a:avLst/>
          </a:prstGeom>
          <a:noFill/>
          <a:ln/>
        </p:spPr>
        <p:txBody>
          <a:bodyPr wrap="square" lIns="0" tIns="0" rIns="0" bIns="0" rtlCol="0" anchor="ctr">
            <a:normAutofit/>
          </a:bodyPr>
          <a:lstStyle/>
          <a:p>
            <a:pPr indent="0" marL="0">
              <a:buNone/>
            </a:pPr>
            <a:r>
              <a:rPr lang="en-US" sz="1800" b="1" dirty="0">
                <a:solidFill>
                  <a:srgbClr val="232D3B"/>
                </a:solidFill>
                <a:latin typeface="Aptos" pitchFamily="34" charset="0"/>
                <a:ea typeface="Aptos" pitchFamily="34" charset="-122"/>
                <a:cs typeface="Aptos" pitchFamily="34" charset="-120"/>
              </a:rPr>
              <a:t>Likely pathogenic</a:t>
            </a:r>
            <a:endParaRPr lang="en-US" sz="1800" dirty="0"/>
          </a:p>
        </p:txBody>
      </p:sp>
      <p:sp>
        <p:nvSpPr>
          <p:cNvPr id="24" name="Shape 22"/>
          <p:cNvSpPr/>
          <p:nvPr/>
        </p:nvSpPr>
        <p:spPr>
          <a:xfrm>
            <a:off x="841248" y="4956048"/>
            <a:ext cx="4471416" cy="548640"/>
          </a:xfrm>
          <a:prstGeom prst="rect">
            <a:avLst/>
          </a:prstGeom>
          <a:solidFill>
            <a:srgbClr val="FFFFFF"/>
          </a:solidFill>
          <a:ln w="7620">
            <a:solidFill>
              <a:srgbClr val="FFFFFF"/>
            </a:solidFill>
            <a:prstDash val="solid"/>
          </a:ln>
        </p:spPr>
      </p:sp>
      <p:sp>
        <p:nvSpPr>
          <p:cNvPr id="25" name="Text 23"/>
          <p:cNvSpPr/>
          <p:nvPr/>
        </p:nvSpPr>
        <p:spPr>
          <a:xfrm>
            <a:off x="987552" y="5047488"/>
            <a:ext cx="4178808" cy="347472"/>
          </a:xfrm>
          <a:prstGeom prst="rect">
            <a:avLst/>
          </a:prstGeom>
          <a:noFill/>
          <a:ln/>
        </p:spPr>
        <p:txBody>
          <a:bodyPr wrap="square" lIns="0" tIns="0" rIns="0" bIns="0" rtlCol="0" anchor="ctr">
            <a:normAutofit/>
          </a:bodyPr>
          <a:lstStyle/>
          <a:p>
            <a:pPr indent="0" marL="0">
              <a:buNone/>
            </a:pPr>
            <a:r>
              <a:rPr lang="en-US" sz="1800" b="1" dirty="0">
                <a:solidFill>
                  <a:srgbClr val="232D3B"/>
                </a:solidFill>
                <a:latin typeface="Aptos" pitchFamily="34" charset="0"/>
                <a:ea typeface="Aptos" pitchFamily="34" charset="-122"/>
                <a:cs typeface="Aptos" pitchFamily="34" charset="-120"/>
              </a:rPr>
              <a:t>Pathogenic</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13</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CORE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Evidence comes from different sources</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S19  |  7</a:t>
            </a:r>
            <a:endParaRPr lang="en-US" sz="800" dirty="0"/>
          </a:p>
        </p:txBody>
      </p:sp>
      <p:sp>
        <p:nvSpPr>
          <p:cNvPr id="9" name="Shape 7"/>
          <p:cNvSpPr/>
          <p:nvPr/>
        </p:nvSpPr>
        <p:spPr>
          <a:xfrm>
            <a:off x="594360" y="2148840"/>
            <a:ext cx="3429000" cy="3136392"/>
          </a:xfrm>
          <a:prstGeom prst="rect">
            <a:avLst/>
          </a:prstGeom>
          <a:solidFill>
            <a:srgbClr val="EAF2FC"/>
          </a:solidFill>
          <a:ln w="7620">
            <a:solidFill>
              <a:srgbClr val="EAF2FC"/>
            </a:solidFill>
            <a:prstDash val="solid"/>
          </a:ln>
        </p:spPr>
      </p:sp>
      <p:sp>
        <p:nvSpPr>
          <p:cNvPr id="10" name="Text 8"/>
          <p:cNvSpPr/>
          <p:nvPr/>
        </p:nvSpPr>
        <p:spPr>
          <a:xfrm>
            <a:off x="795528" y="2404872"/>
            <a:ext cx="914400" cy="502920"/>
          </a:xfrm>
          <a:prstGeom prst="rect">
            <a:avLst/>
          </a:prstGeom>
          <a:noFill/>
          <a:ln/>
        </p:spPr>
        <p:txBody>
          <a:bodyPr wrap="square" lIns="0" tIns="0" rIns="0" bIns="0" rtlCol="0" anchor="ctr">
            <a:normAutofit/>
          </a:bodyPr>
          <a:lstStyle/>
          <a:p>
            <a:pPr indent="0" marL="0">
              <a:buNone/>
            </a:pPr>
            <a:r>
              <a:rPr lang="en-US" sz="2900" b="1" dirty="0">
                <a:solidFill>
                  <a:srgbClr val="2A78D6"/>
                </a:solidFill>
                <a:latin typeface="Aptos" pitchFamily="34" charset="0"/>
                <a:ea typeface="Aptos" pitchFamily="34" charset="-122"/>
                <a:cs typeface="Aptos" pitchFamily="34" charset="-120"/>
              </a:rPr>
              <a:t>01</a:t>
            </a:r>
            <a:endParaRPr lang="en-US" sz="2900" dirty="0"/>
          </a:p>
        </p:txBody>
      </p:sp>
      <p:sp>
        <p:nvSpPr>
          <p:cNvPr id="11" name="Text 9"/>
          <p:cNvSpPr/>
          <p:nvPr/>
        </p:nvSpPr>
        <p:spPr>
          <a:xfrm>
            <a:off x="804672" y="3127248"/>
            <a:ext cx="3008376" cy="1801368"/>
          </a:xfrm>
          <a:prstGeom prst="rect">
            <a:avLst/>
          </a:prstGeom>
          <a:noFill/>
          <a:ln/>
        </p:spPr>
        <p:txBody>
          <a:bodyPr wrap="square" lIns="0" tIns="0" rIns="0" bIns="0" rtlCol="0" anchor="ctr">
            <a:normAutofit/>
          </a:bodyPr>
          <a:lstStyle/>
          <a:p>
            <a:pPr indent="0" marL="0">
              <a:buNone/>
            </a:pPr>
            <a:r>
              <a:rPr lang="en-US" sz="2266" dirty="0">
                <a:solidFill>
                  <a:srgbClr val="232D3B"/>
                </a:solidFill>
                <a:latin typeface="Aptos" pitchFamily="34" charset="0"/>
                <a:ea typeface="Aptos" pitchFamily="34" charset="-122"/>
                <a:cs typeface="Aptos" pitchFamily="34" charset="-120"/>
              </a:rPr>
              <a:t>Population frequency, segregation and functional studies can contribute.</a:t>
            </a:r>
            <a:endParaRPr lang="en-US" sz="2266" dirty="0"/>
          </a:p>
        </p:txBody>
      </p:sp>
      <p:sp>
        <p:nvSpPr>
          <p:cNvPr id="12" name="Text 10"/>
          <p:cNvSpPr/>
          <p:nvPr/>
        </p:nvSpPr>
        <p:spPr>
          <a:xfrm>
            <a:off x="4087368" y="3355848"/>
            <a:ext cx="219456" cy="457200"/>
          </a:xfrm>
          <a:prstGeom prst="rect">
            <a:avLst/>
          </a:prstGeom>
          <a:noFill/>
          <a:ln/>
        </p:spPr>
        <p:txBody>
          <a:bodyPr wrap="square" lIns="0" tIns="0" rIns="0" bIns="0" rtlCol="0" anchor="ctr">
            <a:normAutofit/>
          </a:bodyPr>
          <a:lstStyle/>
          <a:p>
            <a:pPr indent="0" marL="0">
              <a:buNone/>
            </a:pPr>
            <a:r>
              <a:rPr lang="en-US" sz="2300" b="1" dirty="0">
                <a:solidFill>
                  <a:srgbClr val="EB6834"/>
                </a:solidFill>
                <a:latin typeface="Aptos" pitchFamily="34" charset="0"/>
                <a:ea typeface="Aptos" pitchFamily="34" charset="-122"/>
                <a:cs typeface="Aptos" pitchFamily="34" charset="-120"/>
              </a:rPr>
              <a:t>&gt;</a:t>
            </a:r>
            <a:endParaRPr lang="en-US" sz="2300" dirty="0"/>
          </a:p>
        </p:txBody>
      </p:sp>
      <p:sp>
        <p:nvSpPr>
          <p:cNvPr id="13" name="Shape 11"/>
          <p:cNvSpPr/>
          <p:nvPr/>
        </p:nvSpPr>
        <p:spPr>
          <a:xfrm>
            <a:off x="4389120" y="2148840"/>
            <a:ext cx="3429000" cy="3136392"/>
          </a:xfrm>
          <a:prstGeom prst="rect">
            <a:avLst/>
          </a:prstGeom>
          <a:solidFill>
            <a:srgbClr val="EAF2FC"/>
          </a:solidFill>
          <a:ln w="7620">
            <a:solidFill>
              <a:srgbClr val="EAF2FC"/>
            </a:solidFill>
            <a:prstDash val="solid"/>
          </a:ln>
        </p:spPr>
      </p:sp>
      <p:sp>
        <p:nvSpPr>
          <p:cNvPr id="14" name="Text 12"/>
          <p:cNvSpPr/>
          <p:nvPr/>
        </p:nvSpPr>
        <p:spPr>
          <a:xfrm>
            <a:off x="4590288" y="2404872"/>
            <a:ext cx="914400" cy="502920"/>
          </a:xfrm>
          <a:prstGeom prst="rect">
            <a:avLst/>
          </a:prstGeom>
          <a:noFill/>
          <a:ln/>
        </p:spPr>
        <p:txBody>
          <a:bodyPr wrap="square" lIns="0" tIns="0" rIns="0" bIns="0" rtlCol="0" anchor="ctr">
            <a:normAutofit/>
          </a:bodyPr>
          <a:lstStyle/>
          <a:p>
            <a:pPr indent="0" marL="0">
              <a:buNone/>
            </a:pPr>
            <a:r>
              <a:rPr lang="en-US" sz="2900" b="1" dirty="0">
                <a:solidFill>
                  <a:srgbClr val="2A78D6"/>
                </a:solidFill>
                <a:latin typeface="Aptos" pitchFamily="34" charset="0"/>
                <a:ea typeface="Aptos" pitchFamily="34" charset="-122"/>
                <a:cs typeface="Aptos" pitchFamily="34" charset="-120"/>
              </a:rPr>
              <a:t>02</a:t>
            </a:r>
            <a:endParaRPr lang="en-US" sz="2900" dirty="0"/>
          </a:p>
        </p:txBody>
      </p:sp>
      <p:sp>
        <p:nvSpPr>
          <p:cNvPr id="15" name="Text 13"/>
          <p:cNvSpPr/>
          <p:nvPr/>
        </p:nvSpPr>
        <p:spPr>
          <a:xfrm>
            <a:off x="4599432" y="3127248"/>
            <a:ext cx="3008376" cy="180136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Computational predictors provide another type of evidence.</a:t>
            </a:r>
            <a:endParaRPr lang="en-US" sz="2297" dirty="0"/>
          </a:p>
        </p:txBody>
      </p:sp>
      <p:sp>
        <p:nvSpPr>
          <p:cNvPr id="16" name="Text 14"/>
          <p:cNvSpPr/>
          <p:nvPr/>
        </p:nvSpPr>
        <p:spPr>
          <a:xfrm>
            <a:off x="7882128" y="3355848"/>
            <a:ext cx="219456" cy="457200"/>
          </a:xfrm>
          <a:prstGeom prst="rect">
            <a:avLst/>
          </a:prstGeom>
          <a:noFill/>
          <a:ln/>
        </p:spPr>
        <p:txBody>
          <a:bodyPr wrap="square" lIns="0" tIns="0" rIns="0" bIns="0" rtlCol="0" anchor="ctr">
            <a:normAutofit/>
          </a:bodyPr>
          <a:lstStyle/>
          <a:p>
            <a:pPr indent="0" marL="0">
              <a:buNone/>
            </a:pPr>
            <a:r>
              <a:rPr lang="en-US" sz="2300" b="1" dirty="0">
                <a:solidFill>
                  <a:srgbClr val="EB6834"/>
                </a:solidFill>
                <a:latin typeface="Aptos" pitchFamily="34" charset="0"/>
                <a:ea typeface="Aptos" pitchFamily="34" charset="-122"/>
                <a:cs typeface="Aptos" pitchFamily="34" charset="-120"/>
              </a:rPr>
              <a:t>&gt;</a:t>
            </a:r>
            <a:endParaRPr lang="en-US" sz="2300" dirty="0"/>
          </a:p>
        </p:txBody>
      </p:sp>
      <p:sp>
        <p:nvSpPr>
          <p:cNvPr id="17" name="Shape 15"/>
          <p:cNvSpPr/>
          <p:nvPr/>
        </p:nvSpPr>
        <p:spPr>
          <a:xfrm>
            <a:off x="8183880" y="2148840"/>
            <a:ext cx="3429000" cy="3136392"/>
          </a:xfrm>
          <a:prstGeom prst="rect">
            <a:avLst/>
          </a:prstGeom>
          <a:solidFill>
            <a:srgbClr val="EAF2FC"/>
          </a:solidFill>
          <a:ln w="7620">
            <a:solidFill>
              <a:srgbClr val="EAF2FC"/>
            </a:solidFill>
            <a:prstDash val="solid"/>
          </a:ln>
        </p:spPr>
      </p:sp>
      <p:sp>
        <p:nvSpPr>
          <p:cNvPr id="18" name="Text 16"/>
          <p:cNvSpPr/>
          <p:nvPr/>
        </p:nvSpPr>
        <p:spPr>
          <a:xfrm>
            <a:off x="8385048" y="2404872"/>
            <a:ext cx="914400" cy="502920"/>
          </a:xfrm>
          <a:prstGeom prst="rect">
            <a:avLst/>
          </a:prstGeom>
          <a:noFill/>
          <a:ln/>
        </p:spPr>
        <p:txBody>
          <a:bodyPr wrap="square" lIns="0" tIns="0" rIns="0" bIns="0" rtlCol="0" anchor="ctr">
            <a:normAutofit/>
          </a:bodyPr>
          <a:lstStyle/>
          <a:p>
            <a:pPr indent="0" marL="0">
              <a:buNone/>
            </a:pPr>
            <a:r>
              <a:rPr lang="en-US" sz="2900" b="1" dirty="0">
                <a:solidFill>
                  <a:srgbClr val="2A78D6"/>
                </a:solidFill>
                <a:latin typeface="Aptos" pitchFamily="34" charset="0"/>
                <a:ea typeface="Aptos" pitchFamily="34" charset="-122"/>
                <a:cs typeface="Aptos" pitchFamily="34" charset="-120"/>
              </a:rPr>
              <a:t>03</a:t>
            </a:r>
            <a:endParaRPr lang="en-US" sz="2900" dirty="0"/>
          </a:p>
        </p:txBody>
      </p:sp>
      <p:sp>
        <p:nvSpPr>
          <p:cNvPr id="19" name="Text 17"/>
          <p:cNvSpPr/>
          <p:nvPr/>
        </p:nvSpPr>
        <p:spPr>
          <a:xfrm>
            <a:off x="8394192" y="3127248"/>
            <a:ext cx="3008376" cy="180136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Do not count correlated predictors as independent proof.</a:t>
            </a:r>
            <a:endParaRPr lang="en-US" sz="2297"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13</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CORE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ClinVar records assertions and review status</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S18  |  8</a:t>
            </a:r>
            <a:endParaRPr lang="en-US" sz="800" dirty="0"/>
          </a:p>
        </p:txBody>
      </p:sp>
      <p:sp>
        <p:nvSpPr>
          <p:cNvPr id="9" name="Shape 7"/>
          <p:cNvSpPr/>
          <p:nvPr/>
        </p:nvSpPr>
        <p:spPr>
          <a:xfrm>
            <a:off x="594360" y="1828800"/>
            <a:ext cx="5463540" cy="516636"/>
          </a:xfrm>
          <a:prstGeom prst="rect">
            <a:avLst/>
          </a:prstGeom>
          <a:solidFill>
            <a:srgbClr val="2A78D6"/>
          </a:solidFill>
          <a:ln w="7620">
            <a:solidFill>
              <a:srgbClr val="2A78D6"/>
            </a:solidFill>
            <a:prstDash val="solid"/>
          </a:ln>
        </p:spPr>
      </p:sp>
      <p:sp>
        <p:nvSpPr>
          <p:cNvPr id="10" name="Text 8"/>
          <p:cNvSpPr/>
          <p:nvPr/>
        </p:nvSpPr>
        <p:spPr>
          <a:xfrm>
            <a:off x="713232" y="1901952"/>
            <a:ext cx="5221224" cy="374904"/>
          </a:xfrm>
          <a:prstGeom prst="rect">
            <a:avLst/>
          </a:prstGeom>
          <a:noFill/>
          <a:ln/>
        </p:spPr>
        <p:txBody>
          <a:bodyPr wrap="square" lIns="0" tIns="0" rIns="0" bIns="0" rtlCol="0" anchor="ctr">
            <a:normAutofit/>
          </a:bodyPr>
          <a:lstStyle/>
          <a:p>
            <a:pPr indent="0" marL="0">
              <a:buNone/>
            </a:pPr>
            <a:r>
              <a:rPr lang="en-US" sz="1600" b="1" dirty="0">
                <a:solidFill>
                  <a:srgbClr val="FFFFFF"/>
                </a:solidFill>
                <a:latin typeface="Aptos" pitchFamily="34" charset="0"/>
                <a:ea typeface="Aptos" pitchFamily="34" charset="-122"/>
                <a:cs typeface="Aptos" pitchFamily="34" charset="-120"/>
              </a:rPr>
              <a:t>Example status</a:t>
            </a:r>
            <a:endParaRPr lang="en-US" sz="1600" dirty="0"/>
          </a:p>
        </p:txBody>
      </p:sp>
      <p:sp>
        <p:nvSpPr>
          <p:cNvPr id="11" name="Shape 9"/>
          <p:cNvSpPr/>
          <p:nvPr/>
        </p:nvSpPr>
        <p:spPr>
          <a:xfrm>
            <a:off x="6089904" y="1828800"/>
            <a:ext cx="5463540" cy="516636"/>
          </a:xfrm>
          <a:prstGeom prst="rect">
            <a:avLst/>
          </a:prstGeom>
          <a:solidFill>
            <a:srgbClr val="2A78D6"/>
          </a:solidFill>
          <a:ln w="7620">
            <a:solidFill>
              <a:srgbClr val="2A78D6"/>
            </a:solidFill>
            <a:prstDash val="solid"/>
          </a:ln>
        </p:spPr>
      </p:sp>
      <p:sp>
        <p:nvSpPr>
          <p:cNvPr id="12" name="Text 10"/>
          <p:cNvSpPr/>
          <p:nvPr/>
        </p:nvSpPr>
        <p:spPr>
          <a:xfrm>
            <a:off x="6208776" y="1901952"/>
            <a:ext cx="5221224" cy="374904"/>
          </a:xfrm>
          <a:prstGeom prst="rect">
            <a:avLst/>
          </a:prstGeom>
          <a:noFill/>
          <a:ln/>
        </p:spPr>
        <p:txBody>
          <a:bodyPr wrap="square" lIns="0" tIns="0" rIns="0" bIns="0" rtlCol="0" anchor="ctr">
            <a:normAutofit/>
          </a:bodyPr>
          <a:lstStyle/>
          <a:p>
            <a:pPr indent="0" marL="0">
              <a:buNone/>
            </a:pPr>
            <a:r>
              <a:rPr lang="en-US" sz="1600" b="1" dirty="0">
                <a:solidFill>
                  <a:srgbClr val="FFFFFF"/>
                </a:solidFill>
                <a:latin typeface="Aptos" pitchFamily="34" charset="0"/>
                <a:ea typeface="Aptos" pitchFamily="34" charset="-122"/>
                <a:cs typeface="Aptos" pitchFamily="34" charset="-120"/>
              </a:rPr>
              <a:t>What it describes</a:t>
            </a:r>
            <a:endParaRPr lang="en-US" sz="1600" dirty="0"/>
          </a:p>
        </p:txBody>
      </p:sp>
      <p:sp>
        <p:nvSpPr>
          <p:cNvPr id="13" name="Shape 11"/>
          <p:cNvSpPr/>
          <p:nvPr/>
        </p:nvSpPr>
        <p:spPr>
          <a:xfrm>
            <a:off x="594360" y="2377440"/>
            <a:ext cx="5463540" cy="516636"/>
          </a:xfrm>
          <a:prstGeom prst="rect">
            <a:avLst/>
          </a:prstGeom>
          <a:solidFill>
            <a:srgbClr val="EAF2FC"/>
          </a:solidFill>
          <a:ln w="7620">
            <a:solidFill>
              <a:srgbClr val="EAF2FC"/>
            </a:solidFill>
            <a:prstDash val="solid"/>
          </a:ln>
        </p:spPr>
      </p:sp>
      <p:sp>
        <p:nvSpPr>
          <p:cNvPr id="14" name="Text 12"/>
          <p:cNvSpPr/>
          <p:nvPr/>
        </p:nvSpPr>
        <p:spPr>
          <a:xfrm>
            <a:off x="713232" y="2441448"/>
            <a:ext cx="5221224" cy="393192"/>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Expert panel</a:t>
            </a:r>
            <a:endParaRPr lang="en-US" sz="1600" dirty="0"/>
          </a:p>
        </p:txBody>
      </p:sp>
      <p:sp>
        <p:nvSpPr>
          <p:cNvPr id="15" name="Shape 13"/>
          <p:cNvSpPr/>
          <p:nvPr/>
        </p:nvSpPr>
        <p:spPr>
          <a:xfrm>
            <a:off x="6089904" y="2377440"/>
            <a:ext cx="5463540" cy="516636"/>
          </a:xfrm>
          <a:prstGeom prst="rect">
            <a:avLst/>
          </a:prstGeom>
          <a:solidFill>
            <a:srgbClr val="EAF2FC"/>
          </a:solidFill>
          <a:ln w="7620">
            <a:solidFill>
              <a:srgbClr val="EAF2FC"/>
            </a:solidFill>
            <a:prstDash val="solid"/>
          </a:ln>
        </p:spPr>
      </p:sp>
      <p:sp>
        <p:nvSpPr>
          <p:cNvPr id="16" name="Text 14"/>
          <p:cNvSpPr/>
          <p:nvPr/>
        </p:nvSpPr>
        <p:spPr>
          <a:xfrm>
            <a:off x="6208776" y="2441448"/>
            <a:ext cx="5221224" cy="393192"/>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Level of review</a:t>
            </a:r>
            <a:endParaRPr lang="en-US" sz="1600" dirty="0"/>
          </a:p>
        </p:txBody>
      </p:sp>
      <p:sp>
        <p:nvSpPr>
          <p:cNvPr id="17" name="Shape 15"/>
          <p:cNvSpPr/>
          <p:nvPr/>
        </p:nvSpPr>
        <p:spPr>
          <a:xfrm>
            <a:off x="594360" y="2926080"/>
            <a:ext cx="5463540" cy="516636"/>
          </a:xfrm>
          <a:prstGeom prst="rect">
            <a:avLst/>
          </a:prstGeom>
          <a:solidFill>
            <a:srgbClr val="FFFFFF"/>
          </a:solidFill>
          <a:ln w="7620">
            <a:solidFill>
              <a:srgbClr val="FFFFFF"/>
            </a:solidFill>
            <a:prstDash val="solid"/>
          </a:ln>
        </p:spPr>
      </p:sp>
      <p:sp>
        <p:nvSpPr>
          <p:cNvPr id="18" name="Text 16"/>
          <p:cNvSpPr/>
          <p:nvPr/>
        </p:nvSpPr>
        <p:spPr>
          <a:xfrm>
            <a:off x="713232" y="2990088"/>
            <a:ext cx="5221224" cy="393192"/>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Multiple submitters, no conflicts</a:t>
            </a:r>
            <a:endParaRPr lang="en-US" sz="1600" dirty="0"/>
          </a:p>
        </p:txBody>
      </p:sp>
      <p:sp>
        <p:nvSpPr>
          <p:cNvPr id="19" name="Shape 17"/>
          <p:cNvSpPr/>
          <p:nvPr/>
        </p:nvSpPr>
        <p:spPr>
          <a:xfrm>
            <a:off x="6089904" y="2926080"/>
            <a:ext cx="5463540" cy="516636"/>
          </a:xfrm>
          <a:prstGeom prst="rect">
            <a:avLst/>
          </a:prstGeom>
          <a:solidFill>
            <a:srgbClr val="FFFFFF"/>
          </a:solidFill>
          <a:ln w="7620">
            <a:solidFill>
              <a:srgbClr val="FFFFFF"/>
            </a:solidFill>
            <a:prstDash val="solid"/>
          </a:ln>
        </p:spPr>
      </p:sp>
      <p:sp>
        <p:nvSpPr>
          <p:cNvPr id="20" name="Text 18"/>
          <p:cNvSpPr/>
          <p:nvPr/>
        </p:nvSpPr>
        <p:spPr>
          <a:xfrm>
            <a:off x="6208776" y="2990088"/>
            <a:ext cx="5221224" cy="393192"/>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Concordant assertions with criteria</a:t>
            </a:r>
            <a:endParaRPr lang="en-US" sz="1600" dirty="0"/>
          </a:p>
        </p:txBody>
      </p:sp>
      <p:sp>
        <p:nvSpPr>
          <p:cNvPr id="21" name="Shape 19"/>
          <p:cNvSpPr/>
          <p:nvPr/>
        </p:nvSpPr>
        <p:spPr>
          <a:xfrm>
            <a:off x="594360" y="3474720"/>
            <a:ext cx="5463540" cy="516636"/>
          </a:xfrm>
          <a:prstGeom prst="rect">
            <a:avLst/>
          </a:prstGeom>
          <a:solidFill>
            <a:srgbClr val="EAF2FC"/>
          </a:solidFill>
          <a:ln w="7620">
            <a:solidFill>
              <a:srgbClr val="EAF2FC"/>
            </a:solidFill>
            <a:prstDash val="solid"/>
          </a:ln>
        </p:spPr>
      </p:sp>
      <p:sp>
        <p:nvSpPr>
          <p:cNvPr id="22" name="Text 20"/>
          <p:cNvSpPr/>
          <p:nvPr/>
        </p:nvSpPr>
        <p:spPr>
          <a:xfrm>
            <a:off x="713232" y="3538728"/>
            <a:ext cx="5221224" cy="393192"/>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Conflicting classifications</a:t>
            </a:r>
            <a:endParaRPr lang="en-US" sz="1600" dirty="0"/>
          </a:p>
        </p:txBody>
      </p:sp>
      <p:sp>
        <p:nvSpPr>
          <p:cNvPr id="23" name="Shape 21"/>
          <p:cNvSpPr/>
          <p:nvPr/>
        </p:nvSpPr>
        <p:spPr>
          <a:xfrm>
            <a:off x="6089904" y="3474720"/>
            <a:ext cx="5463540" cy="516636"/>
          </a:xfrm>
          <a:prstGeom prst="rect">
            <a:avLst/>
          </a:prstGeom>
          <a:solidFill>
            <a:srgbClr val="EAF2FC"/>
          </a:solidFill>
          <a:ln w="7620">
            <a:solidFill>
              <a:srgbClr val="EAF2FC"/>
            </a:solidFill>
            <a:prstDash val="solid"/>
          </a:ln>
        </p:spPr>
      </p:sp>
      <p:sp>
        <p:nvSpPr>
          <p:cNvPr id="24" name="Text 22"/>
          <p:cNvSpPr/>
          <p:nvPr/>
        </p:nvSpPr>
        <p:spPr>
          <a:xfrm>
            <a:off x="6208776" y="3538728"/>
            <a:ext cx="5221224" cy="393192"/>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Disagreement to examine</a:t>
            </a:r>
            <a:endParaRPr lang="en-US" sz="1600" dirty="0"/>
          </a:p>
        </p:txBody>
      </p:sp>
      <p:sp>
        <p:nvSpPr>
          <p:cNvPr id="25" name="Shape 23"/>
          <p:cNvSpPr/>
          <p:nvPr/>
        </p:nvSpPr>
        <p:spPr>
          <a:xfrm>
            <a:off x="612648" y="4279392"/>
            <a:ext cx="50292" cy="435864"/>
          </a:xfrm>
          <a:prstGeom prst="rect">
            <a:avLst/>
          </a:prstGeom>
          <a:solidFill>
            <a:srgbClr val="2A78D6"/>
          </a:solidFill>
          <a:ln w="7620">
            <a:solidFill>
              <a:srgbClr val="2A78D6"/>
            </a:solidFill>
            <a:prstDash val="solid"/>
          </a:ln>
        </p:spPr>
      </p:sp>
      <p:sp>
        <p:nvSpPr>
          <p:cNvPr id="26" name="Text 24"/>
          <p:cNvSpPr/>
          <p:nvPr/>
        </p:nvSpPr>
        <p:spPr>
          <a:xfrm>
            <a:off x="813816" y="4279392"/>
            <a:ext cx="10725912" cy="435864"/>
          </a:xfrm>
          <a:prstGeom prst="rect">
            <a:avLst/>
          </a:prstGeom>
          <a:noFill/>
          <a:ln/>
        </p:spPr>
        <p:txBody>
          <a:bodyPr wrap="square" lIns="0" tIns="0" rIns="0" bIns="0" rtlCol="0" anchor="ctr">
            <a:normAutofit/>
          </a:bodyPr>
          <a:lstStyle/>
          <a:p>
            <a:pPr indent="0" marL="0">
              <a:buNone/>
            </a:pPr>
            <a:r>
              <a:rPr lang="en-US" sz="2100" dirty="0">
                <a:solidFill>
                  <a:srgbClr val="232D3B"/>
                </a:solidFill>
                <a:latin typeface="Aptos" pitchFamily="34" charset="0"/>
                <a:ea typeface="Aptos" pitchFamily="34" charset="-122"/>
                <a:cs typeface="Aptos" pitchFamily="34" charset="-120"/>
              </a:rPr>
              <a:t>Check the exact variant, condition, submission dates and supporting evidence.</a:t>
            </a:r>
            <a:endParaRPr lang="en-US" sz="2100" dirty="0"/>
          </a:p>
        </p:txBody>
      </p:sp>
      <p:sp>
        <p:nvSpPr>
          <p:cNvPr id="27" name="Shape 25"/>
          <p:cNvSpPr/>
          <p:nvPr/>
        </p:nvSpPr>
        <p:spPr>
          <a:xfrm>
            <a:off x="612648" y="4916424"/>
            <a:ext cx="50292" cy="435864"/>
          </a:xfrm>
          <a:prstGeom prst="rect">
            <a:avLst/>
          </a:prstGeom>
          <a:solidFill>
            <a:srgbClr val="2A78D6"/>
          </a:solidFill>
          <a:ln w="7620">
            <a:solidFill>
              <a:srgbClr val="2A78D6"/>
            </a:solidFill>
            <a:prstDash val="solid"/>
          </a:ln>
        </p:spPr>
      </p:sp>
      <p:sp>
        <p:nvSpPr>
          <p:cNvPr id="28" name="Text 26"/>
          <p:cNvSpPr/>
          <p:nvPr/>
        </p:nvSpPr>
        <p:spPr>
          <a:xfrm>
            <a:off x="813816" y="4916424"/>
            <a:ext cx="10725912" cy="435864"/>
          </a:xfrm>
          <a:prstGeom prst="rect">
            <a:avLst/>
          </a:prstGeom>
          <a:noFill/>
          <a:ln/>
        </p:spPr>
        <p:txBody>
          <a:bodyPr wrap="square" lIns="0" tIns="0" rIns="0" bIns="0" rtlCol="0" anchor="ctr">
            <a:normAutofit/>
          </a:bodyPr>
          <a:lstStyle/>
          <a:p>
            <a:pPr indent="0" marL="0">
              <a:buNone/>
            </a:pPr>
            <a:r>
              <a:rPr lang="en-US" sz="2100" dirty="0">
                <a:solidFill>
                  <a:srgbClr val="232D3B"/>
                </a:solidFill>
                <a:latin typeface="Aptos" pitchFamily="34" charset="0"/>
                <a:ea typeface="Aptos" pitchFamily="34" charset="-122"/>
                <a:cs typeface="Aptos" pitchFamily="34" charset="-120"/>
              </a:rPr>
              <a:t>Conflicts or older assertions may require investigation.</a:t>
            </a:r>
            <a:endParaRPr lang="en-US" sz="2100" dirty="0"/>
          </a:p>
        </p:txBody>
      </p:sp>
      <p:sp>
        <p:nvSpPr>
          <p:cNvPr id="29" name="Shape 27"/>
          <p:cNvSpPr/>
          <p:nvPr/>
        </p:nvSpPr>
        <p:spPr>
          <a:xfrm>
            <a:off x="612648" y="5553456"/>
            <a:ext cx="50292" cy="435864"/>
          </a:xfrm>
          <a:prstGeom prst="rect">
            <a:avLst/>
          </a:prstGeom>
          <a:solidFill>
            <a:srgbClr val="2A78D6"/>
          </a:solidFill>
          <a:ln w="7620">
            <a:solidFill>
              <a:srgbClr val="2A78D6"/>
            </a:solidFill>
            <a:prstDash val="solid"/>
          </a:ln>
        </p:spPr>
      </p:sp>
      <p:sp>
        <p:nvSpPr>
          <p:cNvPr id="30" name="Text 28"/>
          <p:cNvSpPr/>
          <p:nvPr/>
        </p:nvSpPr>
        <p:spPr>
          <a:xfrm>
            <a:off x="813816" y="5553456"/>
            <a:ext cx="10725912" cy="435864"/>
          </a:xfrm>
          <a:prstGeom prst="rect">
            <a:avLst/>
          </a:prstGeom>
          <a:noFill/>
          <a:ln/>
        </p:spPr>
        <p:txBody>
          <a:bodyPr wrap="square" lIns="0" tIns="0" rIns="0" bIns="0" rtlCol="0" anchor="ctr">
            <a:normAutofit/>
          </a:bodyPr>
          <a:lstStyle/>
          <a:p>
            <a:pPr indent="0" marL="0">
              <a:buNone/>
            </a:pPr>
            <a:r>
              <a:rPr lang="en-US" sz="2100" dirty="0">
                <a:solidFill>
                  <a:srgbClr val="232D3B"/>
                </a:solidFill>
                <a:latin typeface="Aptos" pitchFamily="34" charset="0"/>
                <a:ea typeface="Aptos" pitchFamily="34" charset="-122"/>
                <a:cs typeface="Aptos" pitchFamily="34" charset="-120"/>
              </a:rPr>
              <a:t>Review stars describe review status, not a pathogenicity probability.</a:t>
            </a:r>
            <a:endParaRPr lang="en-US" sz="2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13</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CORE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A VUS is not a treatment instruction</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S19  |  9</a:t>
            </a:r>
            <a:endParaRPr lang="en-US" sz="800" dirty="0"/>
          </a:p>
        </p:txBody>
      </p:sp>
      <p:sp>
        <p:nvSpPr>
          <p:cNvPr id="9" name="Shape 7"/>
          <p:cNvSpPr/>
          <p:nvPr/>
        </p:nvSpPr>
        <p:spPr>
          <a:xfrm>
            <a:off x="594360" y="1920240"/>
            <a:ext cx="50292" cy="1207008"/>
          </a:xfrm>
          <a:prstGeom prst="rect">
            <a:avLst/>
          </a:prstGeom>
          <a:solidFill>
            <a:srgbClr val="2A78D6"/>
          </a:solidFill>
          <a:ln w="7620">
            <a:solidFill>
              <a:srgbClr val="2A78D6"/>
            </a:solidFill>
            <a:prstDash val="solid"/>
          </a:ln>
        </p:spPr>
      </p:sp>
      <p:sp>
        <p:nvSpPr>
          <p:cNvPr id="10" name="Text 8"/>
          <p:cNvSpPr/>
          <p:nvPr/>
        </p:nvSpPr>
        <p:spPr>
          <a:xfrm>
            <a:off x="795528" y="1920240"/>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Uncertain significance means available evidence is insufficient or conflicting.</a:t>
            </a:r>
            <a:endParaRPr lang="en-US" sz="2297" dirty="0"/>
          </a:p>
        </p:txBody>
      </p:sp>
      <p:sp>
        <p:nvSpPr>
          <p:cNvPr id="11" name="Shape 9"/>
          <p:cNvSpPr/>
          <p:nvPr/>
        </p:nvSpPr>
        <p:spPr>
          <a:xfrm>
            <a:off x="594360" y="3328416"/>
            <a:ext cx="50292" cy="1207008"/>
          </a:xfrm>
          <a:prstGeom prst="rect">
            <a:avLst/>
          </a:prstGeom>
          <a:solidFill>
            <a:srgbClr val="2A78D6"/>
          </a:solidFill>
          <a:ln w="7620">
            <a:solidFill>
              <a:srgbClr val="2A78D6"/>
            </a:solidFill>
            <a:prstDash val="solid"/>
          </a:ln>
        </p:spPr>
      </p:sp>
      <p:sp>
        <p:nvSpPr>
          <p:cNvPr id="12" name="Text 10"/>
          <p:cNvSpPr/>
          <p:nvPr/>
        </p:nvSpPr>
        <p:spPr>
          <a:xfrm>
            <a:off x="795528" y="3328416"/>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Do not use a VUS alone to establish a diagnosis or change treatment.</a:t>
            </a:r>
            <a:endParaRPr lang="en-US" sz="2297" dirty="0"/>
          </a:p>
        </p:txBody>
      </p:sp>
      <p:sp>
        <p:nvSpPr>
          <p:cNvPr id="13" name="Shape 11"/>
          <p:cNvSpPr/>
          <p:nvPr/>
        </p:nvSpPr>
        <p:spPr>
          <a:xfrm>
            <a:off x="594360" y="4736592"/>
            <a:ext cx="50292" cy="1207008"/>
          </a:xfrm>
          <a:prstGeom prst="rect">
            <a:avLst/>
          </a:prstGeom>
          <a:solidFill>
            <a:srgbClr val="2A78D6"/>
          </a:solidFill>
          <a:ln w="7620">
            <a:solidFill>
              <a:srgbClr val="2A78D6"/>
            </a:solidFill>
            <a:prstDash val="solid"/>
          </a:ln>
        </p:spPr>
      </p:sp>
      <p:sp>
        <p:nvSpPr>
          <p:cNvPr id="14" name="Text 12"/>
          <p:cNvSpPr/>
          <p:nvPr/>
        </p:nvSpPr>
        <p:spPr>
          <a:xfrm>
            <a:off x="795528" y="4736592"/>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Escalate real clinical questions to qualified clinical professionals.</a:t>
            </a:r>
            <a:endParaRPr lang="en-US" sz="2297"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13</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CORE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What a useful sentence contains</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S18 / S19  |  10</a:t>
            </a:r>
            <a:endParaRPr lang="en-US" sz="800" dirty="0"/>
          </a:p>
        </p:txBody>
      </p:sp>
      <p:sp>
        <p:nvSpPr>
          <p:cNvPr id="9" name="Shape 7"/>
          <p:cNvSpPr/>
          <p:nvPr/>
        </p:nvSpPr>
        <p:spPr>
          <a:xfrm>
            <a:off x="594360" y="2148840"/>
            <a:ext cx="3429000" cy="3136392"/>
          </a:xfrm>
          <a:prstGeom prst="rect">
            <a:avLst/>
          </a:prstGeom>
          <a:solidFill>
            <a:srgbClr val="EAF2FC"/>
          </a:solidFill>
          <a:ln w="7620">
            <a:solidFill>
              <a:srgbClr val="EAF2FC"/>
            </a:solidFill>
            <a:prstDash val="solid"/>
          </a:ln>
        </p:spPr>
      </p:sp>
      <p:sp>
        <p:nvSpPr>
          <p:cNvPr id="10" name="Text 8"/>
          <p:cNvSpPr/>
          <p:nvPr/>
        </p:nvSpPr>
        <p:spPr>
          <a:xfrm>
            <a:off x="795528" y="2404872"/>
            <a:ext cx="914400" cy="502920"/>
          </a:xfrm>
          <a:prstGeom prst="rect">
            <a:avLst/>
          </a:prstGeom>
          <a:noFill/>
          <a:ln/>
        </p:spPr>
        <p:txBody>
          <a:bodyPr wrap="square" lIns="0" tIns="0" rIns="0" bIns="0" rtlCol="0" anchor="ctr">
            <a:normAutofit/>
          </a:bodyPr>
          <a:lstStyle/>
          <a:p>
            <a:pPr indent="0" marL="0">
              <a:buNone/>
            </a:pPr>
            <a:r>
              <a:rPr lang="en-US" sz="2900" b="1" dirty="0">
                <a:solidFill>
                  <a:srgbClr val="2A78D6"/>
                </a:solidFill>
                <a:latin typeface="Aptos" pitchFamily="34" charset="0"/>
                <a:ea typeface="Aptos" pitchFamily="34" charset="-122"/>
                <a:cs typeface="Aptos" pitchFamily="34" charset="-120"/>
              </a:rPr>
              <a:t>01</a:t>
            </a:r>
            <a:endParaRPr lang="en-US" sz="2900" dirty="0"/>
          </a:p>
        </p:txBody>
      </p:sp>
      <p:sp>
        <p:nvSpPr>
          <p:cNvPr id="11" name="Text 9"/>
          <p:cNvSpPr/>
          <p:nvPr/>
        </p:nvSpPr>
        <p:spPr>
          <a:xfrm>
            <a:off x="804672" y="3127248"/>
            <a:ext cx="3008376" cy="180136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Identity: the exact variant and reference context.</a:t>
            </a:r>
            <a:endParaRPr lang="en-US" sz="2297" dirty="0"/>
          </a:p>
        </p:txBody>
      </p:sp>
      <p:sp>
        <p:nvSpPr>
          <p:cNvPr id="12" name="Text 10"/>
          <p:cNvSpPr/>
          <p:nvPr/>
        </p:nvSpPr>
        <p:spPr>
          <a:xfrm>
            <a:off x="4087368" y="3355848"/>
            <a:ext cx="219456" cy="457200"/>
          </a:xfrm>
          <a:prstGeom prst="rect">
            <a:avLst/>
          </a:prstGeom>
          <a:noFill/>
          <a:ln/>
        </p:spPr>
        <p:txBody>
          <a:bodyPr wrap="square" lIns="0" tIns="0" rIns="0" bIns="0" rtlCol="0" anchor="ctr">
            <a:normAutofit/>
          </a:bodyPr>
          <a:lstStyle/>
          <a:p>
            <a:pPr indent="0" marL="0">
              <a:buNone/>
            </a:pPr>
            <a:r>
              <a:rPr lang="en-US" sz="2300" b="1" dirty="0">
                <a:solidFill>
                  <a:srgbClr val="EB6834"/>
                </a:solidFill>
                <a:latin typeface="Aptos" pitchFamily="34" charset="0"/>
                <a:ea typeface="Aptos" pitchFamily="34" charset="-122"/>
                <a:cs typeface="Aptos" pitchFamily="34" charset="-120"/>
              </a:rPr>
              <a:t>&gt;</a:t>
            </a:r>
            <a:endParaRPr lang="en-US" sz="2300" dirty="0"/>
          </a:p>
        </p:txBody>
      </p:sp>
      <p:sp>
        <p:nvSpPr>
          <p:cNvPr id="13" name="Shape 11"/>
          <p:cNvSpPr/>
          <p:nvPr/>
        </p:nvSpPr>
        <p:spPr>
          <a:xfrm>
            <a:off x="4389120" y="2148840"/>
            <a:ext cx="3429000" cy="3136392"/>
          </a:xfrm>
          <a:prstGeom prst="rect">
            <a:avLst/>
          </a:prstGeom>
          <a:solidFill>
            <a:srgbClr val="EAF2FC"/>
          </a:solidFill>
          <a:ln w="7620">
            <a:solidFill>
              <a:srgbClr val="EAF2FC"/>
            </a:solidFill>
            <a:prstDash val="solid"/>
          </a:ln>
        </p:spPr>
      </p:sp>
      <p:sp>
        <p:nvSpPr>
          <p:cNvPr id="14" name="Text 12"/>
          <p:cNvSpPr/>
          <p:nvPr/>
        </p:nvSpPr>
        <p:spPr>
          <a:xfrm>
            <a:off x="4590288" y="2404872"/>
            <a:ext cx="914400" cy="502920"/>
          </a:xfrm>
          <a:prstGeom prst="rect">
            <a:avLst/>
          </a:prstGeom>
          <a:noFill/>
          <a:ln/>
        </p:spPr>
        <p:txBody>
          <a:bodyPr wrap="square" lIns="0" tIns="0" rIns="0" bIns="0" rtlCol="0" anchor="ctr">
            <a:normAutofit/>
          </a:bodyPr>
          <a:lstStyle/>
          <a:p>
            <a:pPr indent="0" marL="0">
              <a:buNone/>
            </a:pPr>
            <a:r>
              <a:rPr lang="en-US" sz="2900" b="1" dirty="0">
                <a:solidFill>
                  <a:srgbClr val="2A78D6"/>
                </a:solidFill>
                <a:latin typeface="Aptos" pitchFamily="34" charset="0"/>
                <a:ea typeface="Aptos" pitchFamily="34" charset="-122"/>
                <a:cs typeface="Aptos" pitchFamily="34" charset="-120"/>
              </a:rPr>
              <a:t>02</a:t>
            </a:r>
            <a:endParaRPr lang="en-US" sz="2900" dirty="0"/>
          </a:p>
        </p:txBody>
      </p:sp>
      <p:sp>
        <p:nvSpPr>
          <p:cNvPr id="15" name="Text 13"/>
          <p:cNvSpPr/>
          <p:nvPr/>
        </p:nvSpPr>
        <p:spPr>
          <a:xfrm>
            <a:off x="4599432" y="3127248"/>
            <a:ext cx="3008376" cy="180136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Evidence: what supports the current interpretation and what is missing.</a:t>
            </a:r>
            <a:endParaRPr lang="en-US" sz="2297" dirty="0"/>
          </a:p>
        </p:txBody>
      </p:sp>
      <p:sp>
        <p:nvSpPr>
          <p:cNvPr id="16" name="Text 14"/>
          <p:cNvSpPr/>
          <p:nvPr/>
        </p:nvSpPr>
        <p:spPr>
          <a:xfrm>
            <a:off x="7882128" y="3355848"/>
            <a:ext cx="219456" cy="457200"/>
          </a:xfrm>
          <a:prstGeom prst="rect">
            <a:avLst/>
          </a:prstGeom>
          <a:noFill/>
          <a:ln/>
        </p:spPr>
        <p:txBody>
          <a:bodyPr wrap="square" lIns="0" tIns="0" rIns="0" bIns="0" rtlCol="0" anchor="ctr">
            <a:normAutofit/>
          </a:bodyPr>
          <a:lstStyle/>
          <a:p>
            <a:pPr indent="0" marL="0">
              <a:buNone/>
            </a:pPr>
            <a:r>
              <a:rPr lang="en-US" sz="2300" b="1" dirty="0">
                <a:solidFill>
                  <a:srgbClr val="EB6834"/>
                </a:solidFill>
                <a:latin typeface="Aptos" pitchFamily="34" charset="0"/>
                <a:ea typeface="Aptos" pitchFamily="34" charset="-122"/>
                <a:cs typeface="Aptos" pitchFamily="34" charset="-120"/>
              </a:rPr>
              <a:t>&gt;</a:t>
            </a:r>
            <a:endParaRPr lang="en-US" sz="2300" dirty="0"/>
          </a:p>
        </p:txBody>
      </p:sp>
      <p:sp>
        <p:nvSpPr>
          <p:cNvPr id="17" name="Shape 15"/>
          <p:cNvSpPr/>
          <p:nvPr/>
        </p:nvSpPr>
        <p:spPr>
          <a:xfrm>
            <a:off x="8183880" y="2148840"/>
            <a:ext cx="3429000" cy="3136392"/>
          </a:xfrm>
          <a:prstGeom prst="rect">
            <a:avLst/>
          </a:prstGeom>
          <a:solidFill>
            <a:srgbClr val="EAF2FC"/>
          </a:solidFill>
          <a:ln w="7620">
            <a:solidFill>
              <a:srgbClr val="EAF2FC"/>
            </a:solidFill>
            <a:prstDash val="solid"/>
          </a:ln>
        </p:spPr>
      </p:sp>
      <p:sp>
        <p:nvSpPr>
          <p:cNvPr id="18" name="Text 16"/>
          <p:cNvSpPr/>
          <p:nvPr/>
        </p:nvSpPr>
        <p:spPr>
          <a:xfrm>
            <a:off x="8385048" y="2404872"/>
            <a:ext cx="914400" cy="502920"/>
          </a:xfrm>
          <a:prstGeom prst="rect">
            <a:avLst/>
          </a:prstGeom>
          <a:noFill/>
          <a:ln/>
        </p:spPr>
        <p:txBody>
          <a:bodyPr wrap="square" lIns="0" tIns="0" rIns="0" bIns="0" rtlCol="0" anchor="ctr">
            <a:normAutofit/>
          </a:bodyPr>
          <a:lstStyle/>
          <a:p>
            <a:pPr indent="0" marL="0">
              <a:buNone/>
            </a:pPr>
            <a:r>
              <a:rPr lang="en-US" sz="2900" b="1" dirty="0">
                <a:solidFill>
                  <a:srgbClr val="2A78D6"/>
                </a:solidFill>
                <a:latin typeface="Aptos" pitchFamily="34" charset="0"/>
                <a:ea typeface="Aptos" pitchFamily="34" charset="-122"/>
                <a:cs typeface="Aptos" pitchFamily="34" charset="-120"/>
              </a:rPr>
              <a:t>03</a:t>
            </a:r>
            <a:endParaRPr lang="en-US" sz="2900" dirty="0"/>
          </a:p>
        </p:txBody>
      </p:sp>
      <p:sp>
        <p:nvSpPr>
          <p:cNvPr id="19" name="Text 17"/>
          <p:cNvSpPr/>
          <p:nvPr/>
        </p:nvSpPr>
        <p:spPr>
          <a:xfrm>
            <a:off x="8394192" y="3127248"/>
            <a:ext cx="3008376" cy="180136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Scope: an educational interpretation, not clinical advice.</a:t>
            </a:r>
            <a:endParaRPr lang="en-US" sz="2297"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13</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CORE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Our cases are deliberately fictional</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11</a:t>
            </a:r>
            <a:endParaRPr lang="en-US" sz="800" dirty="0"/>
          </a:p>
        </p:txBody>
      </p:sp>
      <p:sp>
        <p:nvSpPr>
          <p:cNvPr id="9" name="Shape 7"/>
          <p:cNvSpPr/>
          <p:nvPr/>
        </p:nvSpPr>
        <p:spPr>
          <a:xfrm>
            <a:off x="594360" y="1920240"/>
            <a:ext cx="50292" cy="1207008"/>
          </a:xfrm>
          <a:prstGeom prst="rect">
            <a:avLst/>
          </a:prstGeom>
          <a:solidFill>
            <a:srgbClr val="2A78D6"/>
          </a:solidFill>
          <a:ln w="7620">
            <a:solidFill>
              <a:srgbClr val="2A78D6"/>
            </a:solidFill>
            <a:prstDash val="solid"/>
          </a:ln>
        </p:spPr>
      </p:sp>
      <p:sp>
        <p:nvSpPr>
          <p:cNvPr id="10" name="Text 8"/>
          <p:cNvSpPr/>
          <p:nvPr/>
        </p:nvSpPr>
        <p:spPr>
          <a:xfrm>
            <a:off x="795528" y="1920240"/>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EDU-V1, EDU-V2 and EDU-V3 are synthetic evidence cards.</a:t>
            </a:r>
            <a:endParaRPr lang="en-US" sz="2297" dirty="0"/>
          </a:p>
        </p:txBody>
      </p:sp>
      <p:sp>
        <p:nvSpPr>
          <p:cNvPr id="11" name="Shape 9"/>
          <p:cNvSpPr/>
          <p:nvPr/>
        </p:nvSpPr>
        <p:spPr>
          <a:xfrm>
            <a:off x="594360" y="3328416"/>
            <a:ext cx="50292" cy="1207008"/>
          </a:xfrm>
          <a:prstGeom prst="rect">
            <a:avLst/>
          </a:prstGeom>
          <a:solidFill>
            <a:srgbClr val="2A78D6"/>
          </a:solidFill>
          <a:ln w="7620">
            <a:solidFill>
              <a:srgbClr val="2A78D6"/>
            </a:solidFill>
            <a:prstDash val="solid"/>
          </a:ln>
        </p:spPr>
      </p:sp>
      <p:sp>
        <p:nvSpPr>
          <p:cNvPr id="12" name="Text 10"/>
          <p:cNvSpPr/>
          <p:nvPr/>
        </p:nvSpPr>
        <p:spPr>
          <a:xfrm>
            <a:off x="795528" y="3328416"/>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They have no real patient identifiers or claimed ClinVar accessions.</a:t>
            </a:r>
            <a:endParaRPr lang="en-US" sz="2297" dirty="0"/>
          </a:p>
        </p:txBody>
      </p:sp>
      <p:sp>
        <p:nvSpPr>
          <p:cNvPr id="13" name="Shape 11"/>
          <p:cNvSpPr/>
          <p:nvPr/>
        </p:nvSpPr>
        <p:spPr>
          <a:xfrm>
            <a:off x="594360" y="4736592"/>
            <a:ext cx="50292" cy="1207008"/>
          </a:xfrm>
          <a:prstGeom prst="rect">
            <a:avLst/>
          </a:prstGeom>
          <a:solidFill>
            <a:srgbClr val="2A78D6"/>
          </a:solidFill>
          <a:ln w="7620">
            <a:solidFill>
              <a:srgbClr val="2A78D6"/>
            </a:solidFill>
            <a:prstDash val="solid"/>
          </a:ln>
        </p:spPr>
      </p:sp>
      <p:sp>
        <p:nvSpPr>
          <p:cNvPr id="14" name="Text 12"/>
          <p:cNvSpPr/>
          <p:nvPr/>
        </p:nvSpPr>
        <p:spPr>
          <a:xfrm>
            <a:off x="795528" y="4736592"/>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The goal is to audit reasoning, not independently certify a clinical classification.</a:t>
            </a:r>
            <a:endParaRPr lang="en-US" sz="2297"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13</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WORKED EXAMPLE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Worked example: a cautious report</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12</a:t>
            </a:r>
            <a:endParaRPr lang="en-US" sz="800" dirty="0"/>
          </a:p>
        </p:txBody>
      </p:sp>
      <p:sp>
        <p:nvSpPr>
          <p:cNvPr id="9" name="Text 7"/>
          <p:cNvSpPr/>
          <p:nvPr/>
        </p:nvSpPr>
        <p:spPr>
          <a:xfrm>
            <a:off x="685800" y="2148840"/>
            <a:ext cx="10881360" cy="1783080"/>
          </a:xfrm>
          <a:prstGeom prst="rect">
            <a:avLst/>
          </a:prstGeom>
          <a:noFill/>
          <a:ln/>
        </p:spPr>
        <p:txBody>
          <a:bodyPr wrap="square" lIns="0" tIns="0" rIns="0" bIns="0" rtlCol="0" anchor="ctr">
            <a:normAutofit/>
          </a:bodyPr>
          <a:lstStyle/>
          <a:p>
            <a:pPr indent="0" marL="0">
              <a:buNone/>
            </a:pPr>
            <a:r>
              <a:rPr lang="en-US" sz="2997" dirty="0">
                <a:solidFill>
                  <a:srgbClr val="232D3B"/>
                </a:solidFill>
                <a:latin typeface="Aptos" pitchFamily="34" charset="0"/>
                <a:ea typeface="Aptos" pitchFamily="34" charset="-122"/>
                <a:cs typeface="Aptos" pitchFamily="34" charset="-120"/>
              </a:rPr>
              <a:t>EDU-V1 is a rare fictional missense variant with only two correlated computational predictions and no functional or segregation evidence.</a:t>
            </a:r>
            <a:endParaRPr lang="en-US" sz="2997" dirty="0"/>
          </a:p>
        </p:txBody>
      </p:sp>
      <p:sp>
        <p:nvSpPr>
          <p:cNvPr id="10" name="Shape 8"/>
          <p:cNvSpPr/>
          <p:nvPr/>
        </p:nvSpPr>
        <p:spPr>
          <a:xfrm>
            <a:off x="685800" y="4572000"/>
            <a:ext cx="10817352" cy="1024128"/>
          </a:xfrm>
          <a:prstGeom prst="rect">
            <a:avLst/>
          </a:prstGeom>
          <a:solidFill>
            <a:srgbClr val="EAF2FC"/>
          </a:solidFill>
          <a:ln w="7620">
            <a:solidFill>
              <a:srgbClr val="EAF2FC"/>
            </a:solidFill>
            <a:prstDash val="solid"/>
          </a:ln>
        </p:spPr>
      </p:sp>
      <p:sp>
        <p:nvSpPr>
          <p:cNvPr id="11" name="Text 9"/>
          <p:cNvSpPr/>
          <p:nvPr/>
        </p:nvSpPr>
        <p:spPr>
          <a:xfrm>
            <a:off x="932688" y="4791456"/>
            <a:ext cx="10287000" cy="576072"/>
          </a:xfrm>
          <a:prstGeom prst="rect">
            <a:avLst/>
          </a:prstGeom>
          <a:noFill/>
          <a:ln/>
        </p:spPr>
        <p:txBody>
          <a:bodyPr wrap="square" lIns="0" tIns="0" rIns="0" bIns="0" rtlCol="0" anchor="ctr">
            <a:normAutofit/>
          </a:bodyPr>
          <a:lstStyle/>
          <a:p>
            <a:pPr indent="0" marL="0">
              <a:buNone/>
            </a:pPr>
            <a:r>
              <a:rPr lang="en-US" sz="2100" b="1" dirty="0">
                <a:solidFill>
                  <a:srgbClr val="2A78D6"/>
                </a:solidFill>
                <a:latin typeface="Aptos" pitchFamily="34" charset="0"/>
                <a:ea typeface="Aptos" pitchFamily="34" charset="-122"/>
                <a:cs typeface="Aptos" pitchFamily="34" charset="-120"/>
              </a:rPr>
              <a:t>Predict the result and one limitation before calculating.</a:t>
            </a:r>
            <a:endParaRPr lang="en-US" sz="2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13</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WORKED EXAMPLE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Work through the reasoning</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13</a:t>
            </a:r>
            <a:endParaRPr lang="en-US" sz="800" dirty="0"/>
          </a:p>
        </p:txBody>
      </p:sp>
      <p:sp>
        <p:nvSpPr>
          <p:cNvPr id="9" name="Shape 7"/>
          <p:cNvSpPr/>
          <p:nvPr/>
        </p:nvSpPr>
        <p:spPr>
          <a:xfrm>
            <a:off x="594360" y="1920240"/>
            <a:ext cx="50292" cy="1207008"/>
          </a:xfrm>
          <a:prstGeom prst="rect">
            <a:avLst/>
          </a:prstGeom>
          <a:solidFill>
            <a:srgbClr val="2A78D6"/>
          </a:solidFill>
          <a:ln w="7620">
            <a:solidFill>
              <a:srgbClr val="2A78D6"/>
            </a:solidFill>
            <a:prstDash val="solid"/>
          </a:ln>
        </p:spPr>
      </p:sp>
      <p:sp>
        <p:nvSpPr>
          <p:cNvPr id="10" name="Text 8"/>
          <p:cNvSpPr/>
          <p:nvPr/>
        </p:nvSpPr>
        <p:spPr>
          <a:xfrm>
            <a:off x="795528" y="1920240"/>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Rarity and predicted damage do not alone establish disease causality.</a:t>
            </a:r>
            <a:endParaRPr lang="en-US" sz="2297" dirty="0"/>
          </a:p>
        </p:txBody>
      </p:sp>
      <p:sp>
        <p:nvSpPr>
          <p:cNvPr id="11" name="Shape 9"/>
          <p:cNvSpPr/>
          <p:nvPr/>
        </p:nvSpPr>
        <p:spPr>
          <a:xfrm>
            <a:off x="594360" y="3328416"/>
            <a:ext cx="50292" cy="1207008"/>
          </a:xfrm>
          <a:prstGeom prst="rect">
            <a:avLst/>
          </a:prstGeom>
          <a:solidFill>
            <a:srgbClr val="2A78D6"/>
          </a:solidFill>
          <a:ln w="7620">
            <a:solidFill>
              <a:srgbClr val="2A78D6"/>
            </a:solidFill>
            <a:prstDash val="solid"/>
          </a:ln>
        </p:spPr>
      </p:sp>
      <p:sp>
        <p:nvSpPr>
          <p:cNvPr id="12" name="Text 10"/>
          <p:cNvSpPr/>
          <p:nvPr/>
        </p:nvSpPr>
        <p:spPr>
          <a:xfrm>
            <a:off x="795528" y="3328416"/>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The evidence is insufficient for a confident pathogenic interpretation.</a:t>
            </a:r>
            <a:endParaRPr lang="en-US" sz="2297" dirty="0"/>
          </a:p>
        </p:txBody>
      </p:sp>
      <p:sp>
        <p:nvSpPr>
          <p:cNvPr id="13" name="Shape 11"/>
          <p:cNvSpPr/>
          <p:nvPr/>
        </p:nvSpPr>
        <p:spPr>
          <a:xfrm>
            <a:off x="594360" y="4736592"/>
            <a:ext cx="50292" cy="1207008"/>
          </a:xfrm>
          <a:prstGeom prst="rect">
            <a:avLst/>
          </a:prstGeom>
          <a:solidFill>
            <a:srgbClr val="2A78D6"/>
          </a:solidFill>
          <a:ln w="7620">
            <a:solidFill>
              <a:srgbClr val="2A78D6"/>
            </a:solidFill>
            <a:prstDash val="solid"/>
          </a:ln>
        </p:spPr>
      </p:sp>
      <p:sp>
        <p:nvSpPr>
          <p:cNvPr id="14" name="Text 12"/>
          <p:cNvSpPr/>
          <p:nvPr/>
        </p:nvSpPr>
        <p:spPr>
          <a:xfrm>
            <a:off x="795528" y="4736592"/>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Report the uncertainty and request relevant independent evidence; do not diagnose.</a:t>
            </a:r>
            <a:endParaRPr lang="en-US" sz="2297"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13</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PAIR CHECK</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Pause: make a defensible claim</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14</a:t>
            </a:r>
            <a:endParaRPr lang="en-US" sz="800" dirty="0"/>
          </a:p>
        </p:txBody>
      </p:sp>
      <p:sp>
        <p:nvSpPr>
          <p:cNvPr id="9" name="Text 7"/>
          <p:cNvSpPr/>
          <p:nvPr/>
        </p:nvSpPr>
        <p:spPr>
          <a:xfrm>
            <a:off x="713232" y="2130552"/>
            <a:ext cx="10762488" cy="2496312"/>
          </a:xfrm>
          <a:prstGeom prst="rect">
            <a:avLst/>
          </a:prstGeom>
          <a:noFill/>
          <a:ln/>
        </p:spPr>
        <p:txBody>
          <a:bodyPr wrap="square" lIns="0" tIns="0" rIns="0" bIns="0" rtlCol="0" anchor="ctr">
            <a:normAutofit/>
          </a:bodyPr>
          <a:lstStyle/>
          <a:p>
            <a:pPr indent="0" marL="0">
              <a:buNone/>
            </a:pPr>
            <a:r>
              <a:rPr lang="en-US" sz="2897" dirty="0">
                <a:solidFill>
                  <a:srgbClr val="232D3B"/>
                </a:solidFill>
                <a:latin typeface="Aptos" pitchFamily="34" charset="0"/>
                <a:ea typeface="Aptos" pitchFamily="34" charset="-122"/>
                <a:cs typeface="Aptos" pitchFamily="34" charset="-120"/>
              </a:rPr>
              <a:t>A variant is rare and a predictor calls it damaging. Does this establish pathogenicity? Name one independent type of evidence to investigate.</a:t>
            </a:r>
            <a:endParaRPr lang="en-US" sz="2897" dirty="0"/>
          </a:p>
        </p:txBody>
      </p:sp>
      <p:sp>
        <p:nvSpPr>
          <p:cNvPr id="10" name="Text 8"/>
          <p:cNvSpPr/>
          <p:nvPr/>
        </p:nvSpPr>
        <p:spPr>
          <a:xfrm>
            <a:off x="731520" y="5074920"/>
            <a:ext cx="10698480" cy="640080"/>
          </a:xfrm>
          <a:prstGeom prst="rect">
            <a:avLst/>
          </a:prstGeom>
          <a:noFill/>
          <a:ln/>
        </p:spPr>
        <p:txBody>
          <a:bodyPr wrap="square" lIns="0" tIns="0" rIns="0" bIns="0" rtlCol="0" anchor="ctr">
            <a:normAutofit/>
          </a:bodyPr>
          <a:lstStyle/>
          <a:p>
            <a:pPr indent="0" marL="0">
              <a:buNone/>
            </a:pPr>
            <a:r>
              <a:rPr lang="en-US" sz="2197" b="1" dirty="0">
                <a:solidFill>
                  <a:srgbClr val="2A78D6"/>
                </a:solidFill>
                <a:latin typeface="Aptos" pitchFamily="34" charset="0"/>
                <a:ea typeface="Aptos" pitchFamily="34" charset="-122"/>
                <a:cs typeface="Aptos" pitchFamily="34" charset="-120"/>
              </a:rPr>
              <a:t>First answer alone. Then compare the evidence, not just the conclusion.</a:t>
            </a:r>
            <a:endParaRPr lang="en-US" sz="2197"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13</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DEBRIEF</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A defensible response</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15</a:t>
            </a:r>
            <a:endParaRPr lang="en-US" sz="800" dirty="0"/>
          </a:p>
        </p:txBody>
      </p:sp>
      <p:sp>
        <p:nvSpPr>
          <p:cNvPr id="9" name="Shape 7"/>
          <p:cNvSpPr/>
          <p:nvPr/>
        </p:nvSpPr>
        <p:spPr>
          <a:xfrm>
            <a:off x="685800" y="2075688"/>
            <a:ext cx="10826496" cy="2816352"/>
          </a:xfrm>
          <a:prstGeom prst="rect">
            <a:avLst/>
          </a:prstGeom>
          <a:solidFill>
            <a:srgbClr val="EAF2FC"/>
          </a:solidFill>
          <a:ln w="7620">
            <a:solidFill>
              <a:srgbClr val="EAF2FC"/>
            </a:solidFill>
            <a:prstDash val="solid"/>
          </a:ln>
        </p:spPr>
      </p:sp>
      <p:sp>
        <p:nvSpPr>
          <p:cNvPr id="10" name="Text 8"/>
          <p:cNvSpPr/>
          <p:nvPr/>
        </p:nvSpPr>
        <p:spPr>
          <a:xfrm>
            <a:off x="941832" y="2331720"/>
            <a:ext cx="10305288" cy="2276856"/>
          </a:xfrm>
          <a:prstGeom prst="rect">
            <a:avLst/>
          </a:prstGeom>
          <a:noFill/>
          <a:ln/>
        </p:spPr>
        <p:txBody>
          <a:bodyPr wrap="square" lIns="0" tIns="0" rIns="0" bIns="0" rtlCol="0" anchor="ctr">
            <a:normAutofit/>
          </a:bodyPr>
          <a:lstStyle/>
          <a:p>
            <a:pPr indent="0" marL="0">
              <a:buNone/>
            </a:pPr>
            <a:r>
              <a:rPr lang="en-US" sz="2597" dirty="0">
                <a:solidFill>
                  <a:srgbClr val="232D3B"/>
                </a:solidFill>
                <a:latin typeface="Aptos" pitchFamily="34" charset="0"/>
                <a:ea typeface="Aptos" pitchFamily="34" charset="-122"/>
                <a:cs typeface="Aptos" pitchFamily="34" charset="-120"/>
              </a:rPr>
              <a:t>No. Examples include appropriate functional evidence, segregation with the relevant phenotype, or well-curated condition-specific evidence evaluated in context.</a:t>
            </a:r>
            <a:endParaRPr lang="en-US" sz="2597"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13</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45-MINUTE STUDIO</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Today's practical</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16</a:t>
            </a:r>
            <a:endParaRPr lang="en-US" sz="800" dirty="0"/>
          </a:p>
        </p:txBody>
      </p:sp>
      <p:sp>
        <p:nvSpPr>
          <p:cNvPr id="9" name="Text 7"/>
          <p:cNvSpPr/>
          <p:nvPr/>
        </p:nvSpPr>
        <p:spPr>
          <a:xfrm>
            <a:off x="731520" y="1929384"/>
            <a:ext cx="10698480" cy="1508760"/>
          </a:xfrm>
          <a:prstGeom prst="rect">
            <a:avLst/>
          </a:prstGeom>
          <a:noFill/>
          <a:ln/>
        </p:spPr>
        <p:txBody>
          <a:bodyPr wrap="square" lIns="0" tIns="0" rIns="0" bIns="0" rtlCol="0" anchor="ctr">
            <a:normAutofit/>
          </a:bodyPr>
          <a:lstStyle/>
          <a:p>
            <a:pPr indent="0" marL="0">
              <a:buNone/>
            </a:pPr>
            <a:r>
              <a:rPr lang="en-US" sz="2497" dirty="0">
                <a:solidFill>
                  <a:srgbClr val="232D3B"/>
                </a:solidFill>
                <a:latin typeface="Aptos" pitchFamily="34" charset="0"/>
                <a:ea typeface="Aptos" pitchFamily="34" charset="-122"/>
                <a:cs typeface="Aptos" pitchFamily="34" charset="-120"/>
              </a:rPr>
              <a:t>W13 studio: inspect three synthetic variant cards and write three short evidence-bounded statements. No patient data or clinical recommendation is required.</a:t>
            </a:r>
            <a:endParaRPr lang="en-US" sz="2497" dirty="0"/>
          </a:p>
        </p:txBody>
      </p:sp>
      <p:sp>
        <p:nvSpPr>
          <p:cNvPr id="10" name="Shape 8"/>
          <p:cNvSpPr/>
          <p:nvPr/>
        </p:nvSpPr>
        <p:spPr>
          <a:xfrm>
            <a:off x="731520" y="3721608"/>
            <a:ext cx="5317236" cy="395935"/>
          </a:xfrm>
          <a:prstGeom prst="rect">
            <a:avLst/>
          </a:prstGeom>
          <a:solidFill>
            <a:srgbClr val="2A78D6"/>
          </a:solidFill>
          <a:ln w="7620">
            <a:solidFill>
              <a:srgbClr val="2A78D6"/>
            </a:solidFill>
            <a:prstDash val="solid"/>
          </a:ln>
        </p:spPr>
      </p:sp>
      <p:sp>
        <p:nvSpPr>
          <p:cNvPr id="11" name="Text 9"/>
          <p:cNvSpPr/>
          <p:nvPr/>
        </p:nvSpPr>
        <p:spPr>
          <a:xfrm>
            <a:off x="850392" y="3794760"/>
            <a:ext cx="5074920" cy="254203"/>
          </a:xfrm>
          <a:prstGeom prst="rect">
            <a:avLst/>
          </a:prstGeom>
          <a:noFill/>
          <a:ln/>
        </p:spPr>
        <p:txBody>
          <a:bodyPr wrap="square" lIns="0" tIns="0" rIns="0" bIns="0" rtlCol="0" anchor="ctr">
            <a:normAutofit/>
          </a:bodyPr>
          <a:lstStyle/>
          <a:p>
            <a:pPr indent="0" marL="0">
              <a:buNone/>
            </a:pPr>
            <a:r>
              <a:rPr lang="en-US" sz="1600" b="1" dirty="0">
                <a:solidFill>
                  <a:srgbClr val="FFFFFF"/>
                </a:solidFill>
                <a:latin typeface="Aptos" pitchFamily="34" charset="0"/>
                <a:ea typeface="Aptos" pitchFamily="34" charset="-122"/>
                <a:cs typeface="Aptos" pitchFamily="34" charset="-120"/>
              </a:rPr>
              <a:t>Minutes</a:t>
            </a:r>
            <a:endParaRPr lang="en-US" sz="1600" dirty="0"/>
          </a:p>
        </p:txBody>
      </p:sp>
      <p:sp>
        <p:nvSpPr>
          <p:cNvPr id="12" name="Shape 10"/>
          <p:cNvSpPr/>
          <p:nvPr/>
        </p:nvSpPr>
        <p:spPr>
          <a:xfrm>
            <a:off x="6080760" y="3721608"/>
            <a:ext cx="5317236" cy="395935"/>
          </a:xfrm>
          <a:prstGeom prst="rect">
            <a:avLst/>
          </a:prstGeom>
          <a:solidFill>
            <a:srgbClr val="2A78D6"/>
          </a:solidFill>
          <a:ln w="7620">
            <a:solidFill>
              <a:srgbClr val="2A78D6"/>
            </a:solidFill>
            <a:prstDash val="solid"/>
          </a:ln>
        </p:spPr>
      </p:sp>
      <p:sp>
        <p:nvSpPr>
          <p:cNvPr id="13" name="Text 11"/>
          <p:cNvSpPr/>
          <p:nvPr/>
        </p:nvSpPr>
        <p:spPr>
          <a:xfrm>
            <a:off x="6199632" y="3794760"/>
            <a:ext cx="5074920" cy="254203"/>
          </a:xfrm>
          <a:prstGeom prst="rect">
            <a:avLst/>
          </a:prstGeom>
          <a:noFill/>
          <a:ln/>
        </p:spPr>
        <p:txBody>
          <a:bodyPr wrap="square" lIns="0" tIns="0" rIns="0" bIns="0" rtlCol="0" anchor="ctr">
            <a:normAutofit/>
          </a:bodyPr>
          <a:lstStyle/>
          <a:p>
            <a:pPr indent="0" marL="0">
              <a:buNone/>
            </a:pPr>
            <a:r>
              <a:rPr lang="en-US" sz="1600" b="1" dirty="0">
                <a:solidFill>
                  <a:srgbClr val="FFFFFF"/>
                </a:solidFill>
                <a:latin typeface="Aptos" pitchFamily="34" charset="0"/>
                <a:ea typeface="Aptos" pitchFamily="34" charset="-122"/>
                <a:cs typeface="Aptos" pitchFamily="34" charset="-120"/>
              </a:rPr>
              <a:t>Action</a:t>
            </a:r>
            <a:endParaRPr lang="en-US" sz="1600" dirty="0"/>
          </a:p>
        </p:txBody>
      </p:sp>
      <p:sp>
        <p:nvSpPr>
          <p:cNvPr id="14" name="Shape 12"/>
          <p:cNvSpPr/>
          <p:nvPr/>
        </p:nvSpPr>
        <p:spPr>
          <a:xfrm>
            <a:off x="731520" y="4149547"/>
            <a:ext cx="5317236" cy="395935"/>
          </a:xfrm>
          <a:prstGeom prst="rect">
            <a:avLst/>
          </a:prstGeom>
          <a:solidFill>
            <a:srgbClr val="EAF2FC"/>
          </a:solidFill>
          <a:ln w="7620">
            <a:solidFill>
              <a:srgbClr val="EAF2FC"/>
            </a:solidFill>
            <a:prstDash val="solid"/>
          </a:ln>
        </p:spPr>
      </p:sp>
      <p:sp>
        <p:nvSpPr>
          <p:cNvPr id="15" name="Text 13"/>
          <p:cNvSpPr/>
          <p:nvPr/>
        </p:nvSpPr>
        <p:spPr>
          <a:xfrm>
            <a:off x="850392" y="4213555"/>
            <a:ext cx="5074920" cy="272491"/>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0-10</a:t>
            </a:r>
            <a:endParaRPr lang="en-US" sz="1600" dirty="0"/>
          </a:p>
        </p:txBody>
      </p:sp>
      <p:sp>
        <p:nvSpPr>
          <p:cNvPr id="16" name="Shape 14"/>
          <p:cNvSpPr/>
          <p:nvPr/>
        </p:nvSpPr>
        <p:spPr>
          <a:xfrm>
            <a:off x="6080760" y="4149547"/>
            <a:ext cx="5317236" cy="395935"/>
          </a:xfrm>
          <a:prstGeom prst="rect">
            <a:avLst/>
          </a:prstGeom>
          <a:solidFill>
            <a:srgbClr val="EAF2FC"/>
          </a:solidFill>
          <a:ln w="7620">
            <a:solidFill>
              <a:srgbClr val="EAF2FC"/>
            </a:solidFill>
            <a:prstDash val="solid"/>
          </a:ln>
        </p:spPr>
      </p:sp>
      <p:sp>
        <p:nvSpPr>
          <p:cNvPr id="17" name="Text 15"/>
          <p:cNvSpPr/>
          <p:nvPr/>
        </p:nvSpPr>
        <p:spPr>
          <a:xfrm>
            <a:off x="6199632" y="4213555"/>
            <a:ext cx="5074920" cy="272491"/>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Predict + set up</a:t>
            </a:r>
            <a:endParaRPr lang="en-US" sz="1600" dirty="0"/>
          </a:p>
        </p:txBody>
      </p:sp>
      <p:sp>
        <p:nvSpPr>
          <p:cNvPr id="18" name="Shape 16"/>
          <p:cNvSpPr/>
          <p:nvPr/>
        </p:nvSpPr>
        <p:spPr>
          <a:xfrm>
            <a:off x="731520" y="4577486"/>
            <a:ext cx="5317236" cy="395935"/>
          </a:xfrm>
          <a:prstGeom prst="rect">
            <a:avLst/>
          </a:prstGeom>
          <a:solidFill>
            <a:srgbClr val="FFFFFF"/>
          </a:solidFill>
          <a:ln w="7620">
            <a:solidFill>
              <a:srgbClr val="FFFFFF"/>
            </a:solidFill>
            <a:prstDash val="solid"/>
          </a:ln>
        </p:spPr>
      </p:sp>
      <p:sp>
        <p:nvSpPr>
          <p:cNvPr id="19" name="Text 17"/>
          <p:cNvSpPr/>
          <p:nvPr/>
        </p:nvSpPr>
        <p:spPr>
          <a:xfrm>
            <a:off x="850392" y="4641494"/>
            <a:ext cx="5074920" cy="272491"/>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10-30</a:t>
            </a:r>
            <a:endParaRPr lang="en-US" sz="1600" dirty="0"/>
          </a:p>
        </p:txBody>
      </p:sp>
      <p:sp>
        <p:nvSpPr>
          <p:cNvPr id="20" name="Shape 18"/>
          <p:cNvSpPr/>
          <p:nvPr/>
        </p:nvSpPr>
        <p:spPr>
          <a:xfrm>
            <a:off x="6080760" y="4577486"/>
            <a:ext cx="5317236" cy="395935"/>
          </a:xfrm>
          <a:prstGeom prst="rect">
            <a:avLst/>
          </a:prstGeom>
          <a:solidFill>
            <a:srgbClr val="FFFFFF"/>
          </a:solidFill>
          <a:ln w="7620">
            <a:solidFill>
              <a:srgbClr val="FFFFFF"/>
            </a:solidFill>
            <a:prstDash val="solid"/>
          </a:ln>
        </p:spPr>
      </p:sp>
      <p:sp>
        <p:nvSpPr>
          <p:cNvPr id="21" name="Text 19"/>
          <p:cNvSpPr/>
          <p:nvPr/>
        </p:nvSpPr>
        <p:spPr>
          <a:xfrm>
            <a:off x="6199632" y="4641494"/>
            <a:ext cx="5074920" cy="272491"/>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Run + inspect + check</a:t>
            </a:r>
            <a:endParaRPr lang="en-US" sz="1600" dirty="0"/>
          </a:p>
        </p:txBody>
      </p:sp>
      <p:sp>
        <p:nvSpPr>
          <p:cNvPr id="22" name="Shape 20"/>
          <p:cNvSpPr/>
          <p:nvPr/>
        </p:nvSpPr>
        <p:spPr>
          <a:xfrm>
            <a:off x="731520" y="5005426"/>
            <a:ext cx="5317236" cy="395935"/>
          </a:xfrm>
          <a:prstGeom prst="rect">
            <a:avLst/>
          </a:prstGeom>
          <a:solidFill>
            <a:srgbClr val="EAF2FC"/>
          </a:solidFill>
          <a:ln w="7620">
            <a:solidFill>
              <a:srgbClr val="EAF2FC"/>
            </a:solidFill>
            <a:prstDash val="solid"/>
          </a:ln>
        </p:spPr>
      </p:sp>
      <p:sp>
        <p:nvSpPr>
          <p:cNvPr id="23" name="Text 21"/>
          <p:cNvSpPr/>
          <p:nvPr/>
        </p:nvSpPr>
        <p:spPr>
          <a:xfrm>
            <a:off x="850392" y="5069434"/>
            <a:ext cx="5074920" cy="272491"/>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30-40</a:t>
            </a:r>
            <a:endParaRPr lang="en-US" sz="1600" dirty="0"/>
          </a:p>
        </p:txBody>
      </p:sp>
      <p:sp>
        <p:nvSpPr>
          <p:cNvPr id="24" name="Shape 22"/>
          <p:cNvSpPr/>
          <p:nvPr/>
        </p:nvSpPr>
        <p:spPr>
          <a:xfrm>
            <a:off x="6080760" y="5005426"/>
            <a:ext cx="5317236" cy="395935"/>
          </a:xfrm>
          <a:prstGeom prst="rect">
            <a:avLst/>
          </a:prstGeom>
          <a:solidFill>
            <a:srgbClr val="EAF2FC"/>
          </a:solidFill>
          <a:ln w="7620">
            <a:solidFill>
              <a:srgbClr val="EAF2FC"/>
            </a:solidFill>
            <a:prstDash val="solid"/>
          </a:ln>
        </p:spPr>
      </p:sp>
      <p:sp>
        <p:nvSpPr>
          <p:cNvPr id="25" name="Text 23"/>
          <p:cNvSpPr/>
          <p:nvPr/>
        </p:nvSpPr>
        <p:spPr>
          <a:xfrm>
            <a:off x="6199632" y="5069434"/>
            <a:ext cx="5074920" cy="272491"/>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Explain + compare</a:t>
            </a:r>
            <a:endParaRPr lang="en-US" sz="1600" dirty="0"/>
          </a:p>
        </p:txBody>
      </p:sp>
      <p:sp>
        <p:nvSpPr>
          <p:cNvPr id="26" name="Shape 24"/>
          <p:cNvSpPr/>
          <p:nvPr/>
        </p:nvSpPr>
        <p:spPr>
          <a:xfrm>
            <a:off x="731520" y="5433365"/>
            <a:ext cx="5317236" cy="395935"/>
          </a:xfrm>
          <a:prstGeom prst="rect">
            <a:avLst/>
          </a:prstGeom>
          <a:solidFill>
            <a:srgbClr val="FFFFFF"/>
          </a:solidFill>
          <a:ln w="7620">
            <a:solidFill>
              <a:srgbClr val="FFFFFF"/>
            </a:solidFill>
            <a:prstDash val="solid"/>
          </a:ln>
        </p:spPr>
      </p:sp>
      <p:sp>
        <p:nvSpPr>
          <p:cNvPr id="27" name="Text 25"/>
          <p:cNvSpPr/>
          <p:nvPr/>
        </p:nvSpPr>
        <p:spPr>
          <a:xfrm>
            <a:off x="850392" y="5497373"/>
            <a:ext cx="5074920" cy="272491"/>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40-45</a:t>
            </a:r>
            <a:endParaRPr lang="en-US" sz="1600" dirty="0"/>
          </a:p>
        </p:txBody>
      </p:sp>
      <p:sp>
        <p:nvSpPr>
          <p:cNvPr id="28" name="Shape 26"/>
          <p:cNvSpPr/>
          <p:nvPr/>
        </p:nvSpPr>
        <p:spPr>
          <a:xfrm>
            <a:off x="6080760" y="5433365"/>
            <a:ext cx="5317236" cy="395935"/>
          </a:xfrm>
          <a:prstGeom prst="rect">
            <a:avLst/>
          </a:prstGeom>
          <a:solidFill>
            <a:srgbClr val="FFFFFF"/>
          </a:solidFill>
          <a:ln w="7620">
            <a:solidFill>
              <a:srgbClr val="FFFFFF"/>
            </a:solidFill>
            <a:prstDash val="solid"/>
          </a:ln>
        </p:spPr>
      </p:sp>
      <p:sp>
        <p:nvSpPr>
          <p:cNvPr id="29" name="Text 27"/>
          <p:cNvSpPr/>
          <p:nvPr/>
        </p:nvSpPr>
        <p:spPr>
          <a:xfrm>
            <a:off x="6199632" y="5497373"/>
            <a:ext cx="5074920" cy="272491"/>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Save + submit / exit</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13</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CONSOLIDATE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Five terms to use precisely</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17</a:t>
            </a:r>
            <a:endParaRPr lang="en-US" sz="800" dirty="0"/>
          </a:p>
        </p:txBody>
      </p:sp>
      <p:sp>
        <p:nvSpPr>
          <p:cNvPr id="9" name="Shape 7"/>
          <p:cNvSpPr/>
          <p:nvPr/>
        </p:nvSpPr>
        <p:spPr>
          <a:xfrm>
            <a:off x="713232" y="1984248"/>
            <a:ext cx="475488" cy="457200"/>
          </a:xfrm>
          <a:prstGeom prst="rect">
            <a:avLst/>
          </a:prstGeom>
          <a:solidFill>
            <a:srgbClr val="2A78D6"/>
          </a:solidFill>
          <a:ln w="7620">
            <a:solidFill>
              <a:srgbClr val="2A78D6"/>
            </a:solidFill>
            <a:prstDash val="solid"/>
          </a:ln>
        </p:spPr>
      </p:sp>
      <p:sp>
        <p:nvSpPr>
          <p:cNvPr id="10" name="Text 8"/>
          <p:cNvSpPr/>
          <p:nvPr/>
        </p:nvSpPr>
        <p:spPr>
          <a:xfrm>
            <a:off x="850392" y="2057400"/>
            <a:ext cx="201168" cy="301752"/>
          </a:xfrm>
          <a:prstGeom prst="rect">
            <a:avLst/>
          </a:prstGeom>
          <a:noFill/>
          <a:ln/>
        </p:spPr>
        <p:txBody>
          <a:bodyPr wrap="square" lIns="0" tIns="0" rIns="0" bIns="0" rtlCol="0" anchor="ctr">
            <a:normAutofit/>
          </a:bodyPr>
          <a:lstStyle/>
          <a:p>
            <a:pPr indent="0" marL="0">
              <a:buNone/>
            </a:pPr>
            <a:r>
              <a:rPr lang="en-US" sz="1500" b="1" dirty="0">
                <a:solidFill>
                  <a:srgbClr val="FFFFFF"/>
                </a:solidFill>
                <a:latin typeface="Aptos" pitchFamily="34" charset="0"/>
                <a:ea typeface="Aptos" pitchFamily="34" charset="-122"/>
                <a:cs typeface="Aptos" pitchFamily="34" charset="-120"/>
              </a:rPr>
              <a:t>1</a:t>
            </a:r>
            <a:endParaRPr lang="en-US" sz="1500" dirty="0"/>
          </a:p>
        </p:txBody>
      </p:sp>
      <p:sp>
        <p:nvSpPr>
          <p:cNvPr id="11" name="Text 9"/>
          <p:cNvSpPr/>
          <p:nvPr/>
        </p:nvSpPr>
        <p:spPr>
          <a:xfrm>
            <a:off x="1426464" y="2011680"/>
            <a:ext cx="9756648" cy="448056"/>
          </a:xfrm>
          <a:prstGeom prst="rect">
            <a:avLst/>
          </a:prstGeom>
          <a:noFill/>
          <a:ln/>
        </p:spPr>
        <p:txBody>
          <a:bodyPr wrap="square" lIns="0" tIns="0" rIns="0" bIns="0" rtlCol="0" anchor="ctr">
            <a:normAutofit/>
          </a:bodyPr>
          <a:lstStyle/>
          <a:p>
            <a:pPr indent="0" marL="0">
              <a:buNone/>
            </a:pPr>
            <a:r>
              <a:rPr lang="en-US" sz="2500" dirty="0">
                <a:solidFill>
                  <a:srgbClr val="232D3B"/>
                </a:solidFill>
                <a:latin typeface="Aptos" pitchFamily="34" charset="0"/>
                <a:ea typeface="Aptos" pitchFamily="34" charset="-122"/>
                <a:cs typeface="Aptos" pitchFamily="34" charset="-120"/>
              </a:rPr>
              <a:t>variant</a:t>
            </a:r>
            <a:endParaRPr lang="en-US" sz="2500" dirty="0"/>
          </a:p>
        </p:txBody>
      </p:sp>
      <p:sp>
        <p:nvSpPr>
          <p:cNvPr id="12" name="Shape 10"/>
          <p:cNvSpPr/>
          <p:nvPr/>
        </p:nvSpPr>
        <p:spPr>
          <a:xfrm>
            <a:off x="713232" y="2752344"/>
            <a:ext cx="475488" cy="457200"/>
          </a:xfrm>
          <a:prstGeom prst="rect">
            <a:avLst/>
          </a:prstGeom>
          <a:solidFill>
            <a:srgbClr val="2A78D6"/>
          </a:solidFill>
          <a:ln w="7620">
            <a:solidFill>
              <a:srgbClr val="2A78D6"/>
            </a:solidFill>
            <a:prstDash val="solid"/>
          </a:ln>
        </p:spPr>
      </p:sp>
      <p:sp>
        <p:nvSpPr>
          <p:cNvPr id="13" name="Text 11"/>
          <p:cNvSpPr/>
          <p:nvPr/>
        </p:nvSpPr>
        <p:spPr>
          <a:xfrm>
            <a:off x="850392" y="2825496"/>
            <a:ext cx="201168" cy="301752"/>
          </a:xfrm>
          <a:prstGeom prst="rect">
            <a:avLst/>
          </a:prstGeom>
          <a:noFill/>
          <a:ln/>
        </p:spPr>
        <p:txBody>
          <a:bodyPr wrap="square" lIns="0" tIns="0" rIns="0" bIns="0" rtlCol="0" anchor="ctr">
            <a:normAutofit/>
          </a:bodyPr>
          <a:lstStyle/>
          <a:p>
            <a:pPr indent="0" marL="0">
              <a:buNone/>
            </a:pPr>
            <a:r>
              <a:rPr lang="en-US" sz="1500" b="1" dirty="0">
                <a:solidFill>
                  <a:srgbClr val="FFFFFF"/>
                </a:solidFill>
                <a:latin typeface="Aptos" pitchFamily="34" charset="0"/>
                <a:ea typeface="Aptos" pitchFamily="34" charset="-122"/>
                <a:cs typeface="Aptos" pitchFamily="34" charset="-120"/>
              </a:rPr>
              <a:t>2</a:t>
            </a:r>
            <a:endParaRPr lang="en-US" sz="1500" dirty="0"/>
          </a:p>
        </p:txBody>
      </p:sp>
      <p:sp>
        <p:nvSpPr>
          <p:cNvPr id="14" name="Text 12"/>
          <p:cNvSpPr/>
          <p:nvPr/>
        </p:nvSpPr>
        <p:spPr>
          <a:xfrm>
            <a:off x="1426464" y="2779776"/>
            <a:ext cx="9756648" cy="448056"/>
          </a:xfrm>
          <a:prstGeom prst="rect">
            <a:avLst/>
          </a:prstGeom>
          <a:noFill/>
          <a:ln/>
        </p:spPr>
        <p:txBody>
          <a:bodyPr wrap="square" lIns="0" tIns="0" rIns="0" bIns="0" rtlCol="0" anchor="ctr">
            <a:normAutofit/>
          </a:bodyPr>
          <a:lstStyle/>
          <a:p>
            <a:pPr indent="0" marL="0">
              <a:buNone/>
            </a:pPr>
            <a:r>
              <a:rPr lang="en-US" sz="2500" dirty="0">
                <a:solidFill>
                  <a:srgbClr val="232D3B"/>
                </a:solidFill>
                <a:latin typeface="Aptos" pitchFamily="34" charset="0"/>
                <a:ea typeface="Aptos" pitchFamily="34" charset="-122"/>
                <a:cs typeface="Aptos" pitchFamily="34" charset="-120"/>
              </a:rPr>
              <a:t>transcript</a:t>
            </a:r>
            <a:endParaRPr lang="en-US" sz="2500" dirty="0"/>
          </a:p>
        </p:txBody>
      </p:sp>
      <p:sp>
        <p:nvSpPr>
          <p:cNvPr id="15" name="Shape 13"/>
          <p:cNvSpPr/>
          <p:nvPr/>
        </p:nvSpPr>
        <p:spPr>
          <a:xfrm>
            <a:off x="713232" y="3520440"/>
            <a:ext cx="475488" cy="457200"/>
          </a:xfrm>
          <a:prstGeom prst="rect">
            <a:avLst/>
          </a:prstGeom>
          <a:solidFill>
            <a:srgbClr val="2A78D6"/>
          </a:solidFill>
          <a:ln w="7620">
            <a:solidFill>
              <a:srgbClr val="2A78D6"/>
            </a:solidFill>
            <a:prstDash val="solid"/>
          </a:ln>
        </p:spPr>
      </p:sp>
      <p:sp>
        <p:nvSpPr>
          <p:cNvPr id="16" name="Text 14"/>
          <p:cNvSpPr/>
          <p:nvPr/>
        </p:nvSpPr>
        <p:spPr>
          <a:xfrm>
            <a:off x="850392" y="3593592"/>
            <a:ext cx="201168" cy="301752"/>
          </a:xfrm>
          <a:prstGeom prst="rect">
            <a:avLst/>
          </a:prstGeom>
          <a:noFill/>
          <a:ln/>
        </p:spPr>
        <p:txBody>
          <a:bodyPr wrap="square" lIns="0" tIns="0" rIns="0" bIns="0" rtlCol="0" anchor="ctr">
            <a:normAutofit/>
          </a:bodyPr>
          <a:lstStyle/>
          <a:p>
            <a:pPr indent="0" marL="0">
              <a:buNone/>
            </a:pPr>
            <a:r>
              <a:rPr lang="en-US" sz="1500" b="1" dirty="0">
                <a:solidFill>
                  <a:srgbClr val="FFFFFF"/>
                </a:solidFill>
                <a:latin typeface="Aptos" pitchFamily="34" charset="0"/>
                <a:ea typeface="Aptos" pitchFamily="34" charset="-122"/>
                <a:cs typeface="Aptos" pitchFamily="34" charset="-120"/>
              </a:rPr>
              <a:t>3</a:t>
            </a:r>
            <a:endParaRPr lang="en-US" sz="1500" dirty="0"/>
          </a:p>
        </p:txBody>
      </p:sp>
      <p:sp>
        <p:nvSpPr>
          <p:cNvPr id="17" name="Text 15"/>
          <p:cNvSpPr/>
          <p:nvPr/>
        </p:nvSpPr>
        <p:spPr>
          <a:xfrm>
            <a:off x="1426464" y="3547872"/>
            <a:ext cx="9756648" cy="448056"/>
          </a:xfrm>
          <a:prstGeom prst="rect">
            <a:avLst/>
          </a:prstGeom>
          <a:noFill/>
          <a:ln/>
        </p:spPr>
        <p:txBody>
          <a:bodyPr wrap="square" lIns="0" tIns="0" rIns="0" bIns="0" rtlCol="0" anchor="ctr">
            <a:normAutofit/>
          </a:bodyPr>
          <a:lstStyle/>
          <a:p>
            <a:pPr indent="0" marL="0">
              <a:buNone/>
            </a:pPr>
            <a:r>
              <a:rPr lang="en-US" sz="2500" dirty="0">
                <a:solidFill>
                  <a:srgbClr val="232D3B"/>
                </a:solidFill>
                <a:latin typeface="Aptos" pitchFamily="34" charset="0"/>
                <a:ea typeface="Aptos" pitchFamily="34" charset="-122"/>
                <a:cs typeface="Aptos" pitchFamily="34" charset="-120"/>
              </a:rPr>
              <a:t>missense</a:t>
            </a:r>
            <a:endParaRPr lang="en-US" sz="2500" dirty="0"/>
          </a:p>
        </p:txBody>
      </p:sp>
      <p:sp>
        <p:nvSpPr>
          <p:cNvPr id="18" name="Shape 16"/>
          <p:cNvSpPr/>
          <p:nvPr/>
        </p:nvSpPr>
        <p:spPr>
          <a:xfrm>
            <a:off x="713232" y="4288536"/>
            <a:ext cx="475488" cy="457200"/>
          </a:xfrm>
          <a:prstGeom prst="rect">
            <a:avLst/>
          </a:prstGeom>
          <a:solidFill>
            <a:srgbClr val="2A78D6"/>
          </a:solidFill>
          <a:ln w="7620">
            <a:solidFill>
              <a:srgbClr val="2A78D6"/>
            </a:solidFill>
            <a:prstDash val="solid"/>
          </a:ln>
        </p:spPr>
      </p:sp>
      <p:sp>
        <p:nvSpPr>
          <p:cNvPr id="19" name="Text 17"/>
          <p:cNvSpPr/>
          <p:nvPr/>
        </p:nvSpPr>
        <p:spPr>
          <a:xfrm>
            <a:off x="850392" y="4361688"/>
            <a:ext cx="201168" cy="301752"/>
          </a:xfrm>
          <a:prstGeom prst="rect">
            <a:avLst/>
          </a:prstGeom>
          <a:noFill/>
          <a:ln/>
        </p:spPr>
        <p:txBody>
          <a:bodyPr wrap="square" lIns="0" tIns="0" rIns="0" bIns="0" rtlCol="0" anchor="ctr">
            <a:normAutofit/>
          </a:bodyPr>
          <a:lstStyle/>
          <a:p>
            <a:pPr indent="0" marL="0">
              <a:buNone/>
            </a:pPr>
            <a:r>
              <a:rPr lang="en-US" sz="1500" b="1" dirty="0">
                <a:solidFill>
                  <a:srgbClr val="FFFFFF"/>
                </a:solidFill>
                <a:latin typeface="Aptos" pitchFamily="34" charset="0"/>
                <a:ea typeface="Aptos" pitchFamily="34" charset="-122"/>
                <a:cs typeface="Aptos" pitchFamily="34" charset="-120"/>
              </a:rPr>
              <a:t>4</a:t>
            </a:r>
            <a:endParaRPr lang="en-US" sz="1500" dirty="0"/>
          </a:p>
        </p:txBody>
      </p:sp>
      <p:sp>
        <p:nvSpPr>
          <p:cNvPr id="20" name="Text 18"/>
          <p:cNvSpPr/>
          <p:nvPr/>
        </p:nvSpPr>
        <p:spPr>
          <a:xfrm>
            <a:off x="1426464" y="4315968"/>
            <a:ext cx="9756648" cy="448056"/>
          </a:xfrm>
          <a:prstGeom prst="rect">
            <a:avLst/>
          </a:prstGeom>
          <a:noFill/>
          <a:ln/>
        </p:spPr>
        <p:txBody>
          <a:bodyPr wrap="square" lIns="0" tIns="0" rIns="0" bIns="0" rtlCol="0" anchor="ctr">
            <a:normAutofit/>
          </a:bodyPr>
          <a:lstStyle/>
          <a:p>
            <a:pPr indent="0" marL="0">
              <a:buNone/>
            </a:pPr>
            <a:r>
              <a:rPr lang="en-US" sz="2500" dirty="0">
                <a:solidFill>
                  <a:srgbClr val="232D3B"/>
                </a:solidFill>
                <a:latin typeface="Aptos" pitchFamily="34" charset="0"/>
                <a:ea typeface="Aptos" pitchFamily="34" charset="-122"/>
                <a:cs typeface="Aptos" pitchFamily="34" charset="-120"/>
              </a:rPr>
              <a:t>classification</a:t>
            </a:r>
            <a:endParaRPr lang="en-US" sz="2500" dirty="0"/>
          </a:p>
        </p:txBody>
      </p:sp>
      <p:sp>
        <p:nvSpPr>
          <p:cNvPr id="21" name="Shape 19"/>
          <p:cNvSpPr/>
          <p:nvPr/>
        </p:nvSpPr>
        <p:spPr>
          <a:xfrm>
            <a:off x="713232" y="5056632"/>
            <a:ext cx="475488" cy="457200"/>
          </a:xfrm>
          <a:prstGeom prst="rect">
            <a:avLst/>
          </a:prstGeom>
          <a:solidFill>
            <a:srgbClr val="2A78D6"/>
          </a:solidFill>
          <a:ln w="7620">
            <a:solidFill>
              <a:srgbClr val="2A78D6"/>
            </a:solidFill>
            <a:prstDash val="solid"/>
          </a:ln>
        </p:spPr>
      </p:sp>
      <p:sp>
        <p:nvSpPr>
          <p:cNvPr id="22" name="Text 20"/>
          <p:cNvSpPr/>
          <p:nvPr/>
        </p:nvSpPr>
        <p:spPr>
          <a:xfrm>
            <a:off x="850392" y="5129784"/>
            <a:ext cx="201168" cy="301752"/>
          </a:xfrm>
          <a:prstGeom prst="rect">
            <a:avLst/>
          </a:prstGeom>
          <a:noFill/>
          <a:ln/>
        </p:spPr>
        <p:txBody>
          <a:bodyPr wrap="square" lIns="0" tIns="0" rIns="0" bIns="0" rtlCol="0" anchor="ctr">
            <a:normAutofit/>
          </a:bodyPr>
          <a:lstStyle/>
          <a:p>
            <a:pPr indent="0" marL="0">
              <a:buNone/>
            </a:pPr>
            <a:r>
              <a:rPr lang="en-US" sz="1500" b="1" dirty="0">
                <a:solidFill>
                  <a:srgbClr val="FFFFFF"/>
                </a:solidFill>
                <a:latin typeface="Aptos" pitchFamily="34" charset="0"/>
                <a:ea typeface="Aptos" pitchFamily="34" charset="-122"/>
                <a:cs typeface="Aptos" pitchFamily="34" charset="-120"/>
              </a:rPr>
              <a:t>5</a:t>
            </a:r>
            <a:endParaRPr lang="en-US" sz="1500" dirty="0"/>
          </a:p>
        </p:txBody>
      </p:sp>
      <p:sp>
        <p:nvSpPr>
          <p:cNvPr id="23" name="Text 21"/>
          <p:cNvSpPr/>
          <p:nvPr/>
        </p:nvSpPr>
        <p:spPr>
          <a:xfrm>
            <a:off x="1426464" y="5084064"/>
            <a:ext cx="9756648" cy="448056"/>
          </a:xfrm>
          <a:prstGeom prst="rect">
            <a:avLst/>
          </a:prstGeom>
          <a:noFill/>
          <a:ln/>
        </p:spPr>
        <p:txBody>
          <a:bodyPr wrap="square" lIns="0" tIns="0" rIns="0" bIns="0" rtlCol="0" anchor="ctr">
            <a:normAutofit/>
          </a:bodyPr>
          <a:lstStyle/>
          <a:p>
            <a:pPr indent="0" marL="0">
              <a:buNone/>
            </a:pPr>
            <a:r>
              <a:rPr lang="en-US" sz="2500" dirty="0">
                <a:solidFill>
                  <a:srgbClr val="232D3B"/>
                </a:solidFill>
                <a:latin typeface="Aptos" pitchFamily="34" charset="0"/>
                <a:ea typeface="Aptos" pitchFamily="34" charset="-122"/>
                <a:cs typeface="Aptos" pitchFamily="34" charset="-120"/>
              </a:rPr>
              <a:t>VUS</a:t>
            </a:r>
            <a:endParaRPr lang="en-US" sz="2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13</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2 MINUTES</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Exit ticket</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18</a:t>
            </a:r>
            <a:endParaRPr lang="en-US" sz="800" dirty="0"/>
          </a:p>
        </p:txBody>
      </p:sp>
      <p:sp>
        <p:nvSpPr>
          <p:cNvPr id="9" name="Shape 7"/>
          <p:cNvSpPr/>
          <p:nvPr/>
        </p:nvSpPr>
        <p:spPr>
          <a:xfrm>
            <a:off x="594360" y="1920240"/>
            <a:ext cx="50292" cy="1207008"/>
          </a:xfrm>
          <a:prstGeom prst="rect">
            <a:avLst/>
          </a:prstGeom>
          <a:solidFill>
            <a:srgbClr val="2A78D6"/>
          </a:solidFill>
          <a:ln w="7620">
            <a:solidFill>
              <a:srgbClr val="2A78D6"/>
            </a:solidFill>
            <a:prstDash val="solid"/>
          </a:ln>
        </p:spPr>
      </p:sp>
      <p:sp>
        <p:nvSpPr>
          <p:cNvPr id="10" name="Text 8"/>
          <p:cNvSpPr/>
          <p:nvPr/>
        </p:nvSpPr>
        <p:spPr>
          <a:xfrm>
            <a:off x="795528" y="1920240"/>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What did we actually measure or calculate?</a:t>
            </a:r>
            <a:endParaRPr lang="en-US" sz="2297" dirty="0"/>
          </a:p>
        </p:txBody>
      </p:sp>
      <p:sp>
        <p:nvSpPr>
          <p:cNvPr id="11" name="Shape 9"/>
          <p:cNvSpPr/>
          <p:nvPr/>
        </p:nvSpPr>
        <p:spPr>
          <a:xfrm>
            <a:off x="594360" y="3328416"/>
            <a:ext cx="50292" cy="1207008"/>
          </a:xfrm>
          <a:prstGeom prst="rect">
            <a:avLst/>
          </a:prstGeom>
          <a:solidFill>
            <a:srgbClr val="2A78D6"/>
          </a:solidFill>
          <a:ln w="7620">
            <a:solidFill>
              <a:srgbClr val="2A78D6"/>
            </a:solidFill>
            <a:prstDash val="solid"/>
          </a:ln>
        </p:spPr>
      </p:sp>
      <p:sp>
        <p:nvSpPr>
          <p:cNvPr id="12" name="Text 10"/>
          <p:cNvSpPr/>
          <p:nvPr/>
        </p:nvSpPr>
        <p:spPr>
          <a:xfrm>
            <a:off x="795528" y="3328416"/>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What is one assumption or limitation of that result?</a:t>
            </a:r>
            <a:endParaRPr lang="en-US" sz="2297" dirty="0"/>
          </a:p>
        </p:txBody>
      </p:sp>
      <p:sp>
        <p:nvSpPr>
          <p:cNvPr id="13" name="Shape 11"/>
          <p:cNvSpPr/>
          <p:nvPr/>
        </p:nvSpPr>
        <p:spPr>
          <a:xfrm>
            <a:off x="594360" y="4736592"/>
            <a:ext cx="50292" cy="1207008"/>
          </a:xfrm>
          <a:prstGeom prst="rect">
            <a:avLst/>
          </a:prstGeom>
          <a:solidFill>
            <a:srgbClr val="2A78D6"/>
          </a:solidFill>
          <a:ln w="7620">
            <a:solidFill>
              <a:srgbClr val="2A78D6"/>
            </a:solidFill>
            <a:prstDash val="solid"/>
          </a:ln>
        </p:spPr>
      </p:sp>
      <p:sp>
        <p:nvSpPr>
          <p:cNvPr id="14" name="Text 12"/>
          <p:cNvSpPr/>
          <p:nvPr/>
        </p:nvSpPr>
        <p:spPr>
          <a:xfrm>
            <a:off x="795528" y="4736592"/>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What check would you perform before sharing it?</a:t>
            </a:r>
            <a:endParaRPr lang="en-US" sz="2297"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13</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OPTIONAL EXTENSION</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Go further only after the core is clear</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19</a:t>
            </a:r>
            <a:endParaRPr lang="en-US" sz="800" dirty="0"/>
          </a:p>
        </p:txBody>
      </p:sp>
      <p:sp>
        <p:nvSpPr>
          <p:cNvPr id="9" name="Text 7"/>
          <p:cNvSpPr/>
          <p:nvPr/>
        </p:nvSpPr>
        <p:spPr>
          <a:xfrm>
            <a:off x="768096" y="2212848"/>
            <a:ext cx="10698480" cy="2057400"/>
          </a:xfrm>
          <a:prstGeom prst="rect">
            <a:avLst/>
          </a:prstGeom>
          <a:noFill/>
          <a:ln/>
        </p:spPr>
        <p:txBody>
          <a:bodyPr wrap="square" lIns="0" tIns="0" rIns="0" bIns="0" rtlCol="0" anchor="ctr">
            <a:normAutofit/>
          </a:bodyPr>
          <a:lstStyle/>
          <a:p>
            <a:pPr indent="0" marL="0">
              <a:buNone/>
            </a:pPr>
            <a:r>
              <a:rPr lang="en-US" sz="2797" dirty="0">
                <a:solidFill>
                  <a:srgbClr val="232D3B"/>
                </a:solidFill>
                <a:latin typeface="Aptos" pitchFamily="34" charset="0"/>
                <a:ea typeface="Aptos" pitchFamily="34" charset="-122"/>
                <a:cs typeface="Aptos" pitchFamily="34" charset="-120"/>
              </a:rPr>
              <a:t>Optional: explore current gene-specific ClinGen specifications as a supervised follow-on topic.</a:t>
            </a:r>
            <a:endParaRPr lang="en-US" sz="2797" dirty="0"/>
          </a:p>
        </p:txBody>
      </p:sp>
      <p:sp>
        <p:nvSpPr>
          <p:cNvPr id="10" name="Text 8"/>
          <p:cNvSpPr/>
          <p:nvPr/>
        </p:nvSpPr>
        <p:spPr>
          <a:xfrm>
            <a:off x="786384" y="4828032"/>
            <a:ext cx="10561320" cy="804672"/>
          </a:xfrm>
          <a:prstGeom prst="rect">
            <a:avLst/>
          </a:prstGeom>
          <a:noFill/>
          <a:ln/>
        </p:spPr>
        <p:txBody>
          <a:bodyPr wrap="square" lIns="0" tIns="0" rIns="0" bIns="0" rtlCol="0" anchor="ctr">
            <a:normAutofit/>
          </a:bodyPr>
          <a:lstStyle/>
          <a:p>
            <a:pPr indent="0" marL="0">
              <a:buNone/>
            </a:pPr>
            <a:r>
              <a:rPr lang="en-US" sz="2197" b="1" dirty="0">
                <a:solidFill>
                  <a:srgbClr val="EB6834"/>
                </a:solidFill>
                <a:latin typeface="Aptos" pitchFamily="34" charset="0"/>
                <a:ea typeface="Aptos" pitchFamily="34" charset="-122"/>
                <a:cs typeface="Aptos" pitchFamily="34" charset="-120"/>
              </a:rPr>
              <a:t>Not required for the core grade. No advanced model training is expected.</a:t>
            </a:r>
            <a:endParaRPr lang="en-US" sz="2197"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13</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SOURCE MAP</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Read the evidence, not only the slide</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S03 / S18 / S19  |  20</a:t>
            </a:r>
            <a:endParaRPr lang="en-US" sz="800" dirty="0"/>
          </a:p>
        </p:txBody>
      </p:sp>
      <p:sp>
        <p:nvSpPr>
          <p:cNvPr id="9" name="Text 7"/>
          <p:cNvSpPr/>
          <p:nvPr/>
        </p:nvSpPr>
        <p:spPr>
          <a:xfrm>
            <a:off x="694944" y="1856232"/>
            <a:ext cx="10881360" cy="4160520"/>
          </a:xfrm>
          <a:prstGeom prst="rect">
            <a:avLst/>
          </a:prstGeom>
          <a:noFill/>
          <a:ln/>
        </p:spPr>
        <p:txBody>
          <a:bodyPr wrap="square" lIns="0" tIns="0" rIns="0" bIns="0" rtlCol="0" anchor="t">
            <a:normAutofit/>
          </a:bodyPr>
          <a:lstStyle/>
          <a:p>
            <a:pPr indent="0" marL="0">
              <a:buNone/>
            </a:pPr>
            <a:r>
              <a:rPr lang="en-US" sz="1997" dirty="0">
                <a:solidFill>
                  <a:srgbClr val="232D3B"/>
                </a:solidFill>
                <a:latin typeface="Aptos" pitchFamily="34" charset="0"/>
                <a:ea typeface="Aptos" pitchFamily="34" charset="-122"/>
                <a:cs typeface="Aptos" pitchFamily="34" charset="-120"/>
              </a:rPr>
              <a:t>S03  SAM/BAM, VCF and BED specifications, maintained by the HTS community.</a:t>
            </a:r>
            <a:endParaRPr lang="en-US" sz="1997" dirty="0"/>
          </a:p>
          <a:p>
            <a:pPr indent="0" marL="0">
              <a:buNone/>
            </a:pPr>
            <a:endParaRPr lang="en-US" sz="1997" dirty="0"/>
          </a:p>
          <a:p>
            <a:pPr indent="0" marL="0">
              <a:buNone/>
            </a:pPr>
            <a:r>
              <a:rPr lang="en-US" sz="1997" dirty="0">
                <a:solidFill>
                  <a:srgbClr val="232D3B"/>
                </a:solidFill>
                <a:latin typeface="Aptos" pitchFamily="34" charset="0"/>
                <a:ea typeface="Aptos" pitchFamily="34" charset="-122"/>
                <a:cs typeface="Aptos" pitchFamily="34" charset="-120"/>
              </a:rPr>
              <a:t>S18  NCBI ClinVar: review status and representation of classifications.</a:t>
            </a:r>
            <a:endParaRPr lang="en-US" sz="1997" dirty="0"/>
          </a:p>
          <a:p>
            <a:pPr indent="0" marL="0">
              <a:buNone/>
            </a:pPr>
            <a:endParaRPr lang="en-US" sz="1997" dirty="0"/>
          </a:p>
          <a:p>
            <a:pPr indent="0" marL="0">
              <a:buNone/>
            </a:pPr>
            <a:r>
              <a:rPr lang="en-US" sz="1997" dirty="0">
                <a:solidFill>
                  <a:srgbClr val="232D3B"/>
                </a:solidFill>
                <a:latin typeface="Aptos" pitchFamily="34" charset="0"/>
                <a:ea typeface="Aptos" pitchFamily="34" charset="-122"/>
                <a:cs typeface="Aptos" pitchFamily="34" charset="-120"/>
              </a:rPr>
              <a:t>S19  Richards et al. (2015). ACMG/AMP standards and guidelines for interpretation of sequence variants.</a:t>
            </a:r>
            <a:endParaRPr lang="en-US" sz="1997"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Ege University | Bioengineering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From a variant to an evidence-based sentence</dc:title>
  <dc:subject>Scaffolded fourth-year bioengineering</dc:subject>
  <dc:creator>BIB course teaching materials</dc:creator>
  <cp:lastModifiedBy>BIB course teaching materials</cp:lastModifiedBy>
  <cp:revision>1</cp:revision>
  <dcterms:created xsi:type="dcterms:W3CDTF">2026-09-14T18:26:58Z</dcterms:created>
  <dcterms:modified xsi:type="dcterms:W3CDTF">2026-09-14T18:26:58Z</dcterms:modified>
</cp:coreProperties>
</file>