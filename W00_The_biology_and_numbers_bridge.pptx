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7"/>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2 minutes
Audience: fourth-year bioengineering with limited prior genetics and coding.
Opening question: What exactly does a biological measurement measure?
Do not require students to know all terms yet. Elicit a prediction.
Read technical terms aloud; ask students to explain the measurement before interpreting the model. Accept justified uncertainty.
[Sources]
Original teaching design / explicitly synthetic classroom example. No external asset used.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Use these observable outcomes for feedback. Core assessment requires interpretation and short arithmetic, not reproducing a full specialist pipeline.
Read technical terms aloud; ask students to explain the measurement before interpreting the model. Accept justified uncertainty.
[Sources]
Original teaching design / explicitly synthetic classroom example. No external asset used.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Ask students to draw or name the biological experimental unit. Revisit the Week 00 bridge if terminology is unclear.
Read technical terms aloud; ask students to explain the measurement before interpreting the model. Accept justified uncertainty.
[Sources]
S01: Alberts et al. Molecular Biology of the Cell, 4th ed. Foundational cell biology chapters.
https://www.ncbi.nlm.nih.gov/books/NBK21054/
S10: DESeq2: Analyzing RNA-seq data with DESeq2, release vignette.
https://bioconductor.org/packages/release/bioc/vignettes/DESeq2/inst/doc/DESeq2.html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Explain the slide using one concrete example.
Organism: the whole biological system.
Cell: a compartment containing molecules and processes.
DNA: a sequence that stores heritable information.
Checkpoint: ask a student to state one conclusion the data do NOT support.
Read technical terms aloud; ask students to explain the measurement before interpreting the model. Accept justified uncertainty.
[Sources]
S01: Alberts et al. Molecular Biology of the Cell, 4th ed. Foundational cell biology chapters.
https://www.ncbi.nlm.nih.gov/books/NBK21054/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Explain the slide using one concrete example.
A gene is a genomic region associated with a functional product.
Some genes produce functional RNAs, not proteins.
Protein-coding genes can give rise to different transcript isoforms.
Checkpoint: ask a student to state one conclusion the data do NOT support.
Read technical terms aloud; ask students to explain the measurement before interpreting the model. Accept justified uncertainty.
[Sources]
S01: Alberts et al. Molecular Biology of the Cell, 4th ed. Foundational cell biology chapters.
https://www.ncbi.nlm.nih.gov/books/NBK21054/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Explain the slide using one concrete example.
DNA sequence: which bases are present?
RNA measurement: which transcripts were detected, and how much?
Protein / function assay: which molecule or activity was measured?
Checkpoint: ask a student to state one conclusion the data do NOT support.
Read technical terms aloud; ask students to explain the measurement before interpreting the model. Accept justified uncertainty.
[Sources]
S01: Alberts et al. Molecular Biology of the Cell, 4th ed. Foundational cell biology chapters.
https://www.ncbi.nlm.nih.gov/books/NBK21054/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Explain the slide using one concrete example.
DNA is written with A, C, G and T; RNA uses U instead of T.
Sequences have direction: label 5-prime and 3-prime ends.
An unknown base N is not a fifth ordinary DNA base.
Checkpoint: ask a student to state one conclusion the data do NOT support.
Read technical terms aloud; ask students to explain the measurement before interpreting the model. Accept justified uncertainty.
[Sources]
S01: Alberts et al. Molecular Biology of the Cell, 4th ed. Foundational cell biology chapters.
https://www.ncbi.nlm.nih.gov/books/NBK21054/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Explain the slide using one concrete example.
An RNA precursor can include introns that are removed by splicing.
Exons are retained in a mature transcript; not every exon base is translated.
Alternative splicing can produce different transcripts from one gene.
Checkpoint: ask a student to state one conclusion the data do NOT support.
Read technical terms aloud; ask students to explain the measurement before interpreting the model. Accept justified uncertainty.
[Sources]
S01: Alberts et al. Molecular Biology of the Cell, 4th ed. Foundational cell biology chapters.
https://www.ncbi.nlm.nih.gov/books/NBK21054/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Explain the slide using one concrete example.
For an appropriate coding sequence, three RNA bases make a codon.
AUG encodes methionine; UAA, UAG and UGA are stop codons in the standard code.
Do not translate an arbitrary genomic interval and assume it is a protein.
Checkpoint: ask a student to state one conclusion the data do NOT support.
Read technical terms aloud; ask students to explain the measurement before interpreting the model. Accept justified uncertainty.
[Sources]
S01: Alberts et al. Molecular Biology of the Cell, 4th ed. Foundational cell biology chapters.
https://www.ncbi.nlm.nih.gov/books/NBK21054/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Explain the slide using one concrete example.
In this table: rows are genes; columns are samples.
An entry is an observed count, not a number of patients.
Always read the labels before doing arithmetic.
Checkpoint: ask a student to state one conclusion the data do NOT support.
Read technical terms aloud; ask students to explain the measurement before interpreting the model. Accept justified uncertainty.
[Sources]
S10: DESeq2: Analyzing RNA-seq data with DESeq2, release vignette.
https://bioconductor.org/packages/release/bioc/vignettes/DESeq2/inst/doc/DESeq2.html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Explain the slide using one concrete example.
A change from 10 to 20 is a two-fold increase.
log2(2) = 1; log2(1) = 0; log2(0.5) = -1.
A denominator of zero needs an explicit rule, not a hidden fix.
Checkpoint: ask a student to state one conclusion the data do NOT support.
Read technical terms aloud; ask students to explain the measurement before interpreting the model. Accept justified uncertainty.
[Sources]
Original teaching design / explicitly synthetic classroom example. No external asset used.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Allow 60-90 seconds for a prediction. Do not rush to the numerical answer. The following slide shows the reasoning.
Read technical terms aloud; ask students to explain the measurement before interpreting the model. Accept justified uncertainty.
[Sources]
S01: Alberts et al. Molecular Biology of the Cell, 4th ed. Foundational cell biology chapters.
https://www.ncbi.nlm.nih.gov/books/NBK21054/
S10: DESeq2: Analyzing RNA-seq data with DESeq2, release vignette.
https://bioconductor.org/packages/release/bioc/vignettes/DESeq2/inst/doc/DESeq2.html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Show the arithmetic or logical steps one at a time orally. Ask which assumption is necessary at each step.
Read technical terms aloud; ask students to explain the measurement before interpreting the model. Accept justified uncertainty.
[Sources]
S01: Alberts et al. Molecular Biology of the Cell, 4th ed. Foundational cell biology chapters.
https://www.ncbi.nlm.nih.gov/books/NBK21054/
S10: DESeq2: Analyzing RNA-seq data with DESeq2, release vignette.
https://bioconductor.org/packages/release/bioc/vignettes/DESeq2/inst/doc/DESeq2.html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Collect two contrasting answers before advancing. Give one minute solo and two minutes in pairs. This is formative, not an exam item.
Read technical terms aloud; ask students to explain the measurement before interpreting the model. Accept justified uncertainty.
[Sources]
Original teaching design / explicitly synthetic classroom example. No external asset used.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Accept other scientifically justified responses. Probe the boundary between measured result, model assumption and biological conclusion.
Read technical terms aloud; ask students to explain the measurement before interpreting the model. Accept justified uncertainty.
[Sources]
S01: Alberts et al. Molecular Biology of the Cell, 4th ed. Foundational cell biology chapters.
https://www.ncbi.nlm.nih.gov/books/NBK21054/
S10: DESeq2: Analyzing RNA-seq data with DESeq2, release vignette.
https://bioconductor.org/packages/release/bioc/vignettes/DESeq2/inst/doc/DESeq2.html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45-minute studio; not part of 90-minute lecture
Audience: fourth-year bioengineering with limited prior genetics and coding.
Use the matching standalone notebook and Lab Workbook. Students may work in pairs while discussing, but submit their own reasoning. Paper fallback carries no penalty. Plotting and extensions are optional.
Read technical terms aloud; ask students to explain the measurement before interpreting the model. Accept justified uncertainty.
[Sources]
Original teaching design / explicitly synthetic classroom example. No external asset used.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Ask for a plain-language definition and one example per term. Students may use the glossary. Definitions are not a substitute for interpreting an example.
Read technical terms aloud; ask students to explain the measurement before interpreting the model. Accept justified uncertainty.
[Sources]
Original teaching design / explicitly synthetic classroom example. No external asset used.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Use a quick handwritten or LMS response. Do not add new weighted grading; this is formative feedback. Use common mistakes to plan a short retrieval exercise next week.
Read technical terms aloud; ask students to explain the measurement before interpreting the model. Accept justified uncertainty.
[Sources]
Original teaching design / explicitly synthetic classroom example. No external asset used.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3-5 minutes
Audience: fourth-year bioengineering with limited prior genetics and coding.
Do not use optional extension achievement to disadvantage students with limited computing access. Direct interested students to the primary sources.
Read technical terms aloud; ask students to explain the measurement before interpreting the model. Accept justified uncertainty.
[Sources]
Original teaching design / explicitly synthetic classroom example. No external asset used.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guide | Reference slide; do not lecture through every citation
Audience: fourth-year bioengineering with limited prior genetics and coding.
Full links are in the Course Source Register and these speaker notes. Source selection checked September 14, 2026. Older sources support stable foundational ideas, not unverified current clinical policy.
Read technical terms aloud; ask students to explain the measurement before interpreting the model. Accept justified uncertainty.
[Sources]
S01: Alberts et al. Molecular Biology of the Cell, 4th ed. Foundational cell biology chapters.
https://www.ncbi.nlm.nih.gov/books/NBK21054/
S10: DESeq2: Analyzing RNA-seq data with DESeq2, release vignette.
https://bioconductor.org/packages/release/bioc/vignettes/DESeq2/inst/doc/DESeq2.html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D3B"/>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B6834"/>
          </a:solidFill>
          <a:ln w="7620">
            <a:solidFill>
              <a:srgbClr val="EB6834"/>
            </a:solidFill>
            <a:prstDash val="solid"/>
          </a:ln>
        </p:spPr>
      </p:sp>
      <p:sp>
        <p:nvSpPr>
          <p:cNvPr id="3" name="Text 1"/>
          <p:cNvSpPr/>
          <p:nvPr/>
        </p:nvSpPr>
        <p:spPr>
          <a:xfrm>
            <a:off x="640080" y="530352"/>
            <a:ext cx="10789920" cy="438912"/>
          </a:xfrm>
          <a:prstGeom prst="rect">
            <a:avLst/>
          </a:prstGeom>
          <a:noFill/>
          <a:ln/>
        </p:spPr>
        <p:txBody>
          <a:bodyPr wrap="square" lIns="0" tIns="0" rIns="0" bIns="0" rtlCol="0" anchor="ctr">
            <a:normAutofit/>
          </a:bodyPr>
          <a:lstStyle/>
          <a:p>
            <a:pPr indent="0" marL="0">
              <a:buNone/>
            </a:pPr>
            <a:r>
              <a:rPr lang="en-US" sz="1300" b="1" dirty="0">
                <a:solidFill>
                  <a:srgbClr val="D1DCE9"/>
                </a:solidFill>
                <a:latin typeface="Aptos" pitchFamily="34" charset="0"/>
                <a:ea typeface="Aptos" pitchFamily="34" charset="-122"/>
                <a:cs typeface="Aptos" pitchFamily="34" charset="-120"/>
              </a:rPr>
              <a:t>BIOINFORMATICS FOR BIOENGINEERING</a:t>
            </a:r>
            <a:endParaRPr lang="en-US" sz="1300" dirty="0"/>
          </a:p>
        </p:txBody>
      </p:sp>
      <p:sp>
        <p:nvSpPr>
          <p:cNvPr id="4" name="Text 2"/>
          <p:cNvSpPr/>
          <p:nvPr/>
        </p:nvSpPr>
        <p:spPr>
          <a:xfrm>
            <a:off x="685800" y="1380744"/>
            <a:ext cx="9144000" cy="548640"/>
          </a:xfrm>
          <a:prstGeom prst="rect">
            <a:avLst/>
          </a:prstGeom>
          <a:noFill/>
          <a:ln/>
        </p:spPr>
        <p:txBody>
          <a:bodyPr wrap="square" lIns="0" tIns="0" rIns="0" bIns="0" rtlCol="0" anchor="ctr">
            <a:normAutofit/>
          </a:bodyPr>
          <a:lstStyle/>
          <a:p>
            <a:pPr indent="0" marL="0">
              <a:buNone/>
            </a:pPr>
            <a:r>
              <a:rPr lang="en-US" sz="2000" b="1" dirty="0">
                <a:solidFill>
                  <a:srgbClr val="7EB5F1"/>
                </a:solidFill>
                <a:latin typeface="Aptos" pitchFamily="34" charset="0"/>
                <a:ea typeface="Aptos" pitchFamily="34" charset="-122"/>
                <a:cs typeface="Aptos" pitchFamily="34" charset="-120"/>
              </a:rPr>
              <a:t>FOUNDATION BRIDGE</a:t>
            </a:r>
            <a:endParaRPr lang="en-US" sz="2000" dirty="0"/>
          </a:p>
        </p:txBody>
      </p:sp>
      <p:sp>
        <p:nvSpPr>
          <p:cNvPr id="5" name="Text 3"/>
          <p:cNvSpPr/>
          <p:nvPr/>
        </p:nvSpPr>
        <p:spPr>
          <a:xfrm>
            <a:off x="685800" y="2157984"/>
            <a:ext cx="10744200" cy="1783080"/>
          </a:xfrm>
          <a:prstGeom prst="rect">
            <a:avLst/>
          </a:prstGeom>
          <a:noFill/>
          <a:ln/>
        </p:spPr>
        <p:txBody>
          <a:bodyPr wrap="square" lIns="0" tIns="0" rIns="0" bIns="0" rtlCol="0" anchor="ctr">
            <a:normAutofit/>
          </a:bodyPr>
          <a:lstStyle/>
          <a:p>
            <a:pPr indent="0" marL="0">
              <a:buNone/>
            </a:pPr>
            <a:r>
              <a:rPr lang="en-US" sz="3897" b="1" dirty="0">
                <a:solidFill>
                  <a:srgbClr val="FFFFFF"/>
                </a:solidFill>
                <a:latin typeface="Aptos" pitchFamily="34" charset="0"/>
                <a:ea typeface="Aptos" pitchFamily="34" charset="-122"/>
                <a:cs typeface="Aptos" pitchFamily="34" charset="-120"/>
              </a:rPr>
              <a:t>The biology and numbers bridge</a:t>
            </a:r>
            <a:endParaRPr lang="en-US" sz="3897" dirty="0"/>
          </a:p>
        </p:txBody>
      </p:sp>
      <p:sp>
        <p:nvSpPr>
          <p:cNvPr id="6" name="Text 4"/>
          <p:cNvSpPr/>
          <p:nvPr/>
        </p:nvSpPr>
        <p:spPr>
          <a:xfrm>
            <a:off x="731520" y="4599432"/>
            <a:ext cx="10561320" cy="923544"/>
          </a:xfrm>
          <a:prstGeom prst="rect">
            <a:avLst/>
          </a:prstGeom>
          <a:noFill/>
          <a:ln/>
        </p:spPr>
        <p:txBody>
          <a:bodyPr wrap="square" lIns="0" tIns="0" rIns="0" bIns="0" rtlCol="0" anchor="ctr">
            <a:normAutofit/>
          </a:bodyPr>
          <a:lstStyle/>
          <a:p>
            <a:pPr indent="0" marL="0">
              <a:buNone/>
            </a:pPr>
            <a:r>
              <a:rPr lang="en-US" sz="2497" dirty="0">
                <a:solidFill>
                  <a:srgbClr val="D1DCE9"/>
                </a:solidFill>
                <a:latin typeface="Aptos" pitchFamily="34" charset="0"/>
                <a:ea typeface="Aptos" pitchFamily="34" charset="-122"/>
                <a:cs typeface="Aptos" pitchFamily="34" charset="-120"/>
              </a:rPr>
              <a:t>What exactly does a biological measurement measure?</a:t>
            </a:r>
            <a:endParaRPr lang="en-US" sz="2497" dirty="0"/>
          </a:p>
        </p:txBody>
      </p:sp>
      <p:sp>
        <p:nvSpPr>
          <p:cNvPr id="7" name="Text 5"/>
          <p:cNvSpPr/>
          <p:nvPr/>
        </p:nvSpPr>
        <p:spPr>
          <a:xfrm>
            <a:off x="731520" y="6199632"/>
            <a:ext cx="10607040" cy="274320"/>
          </a:xfrm>
          <a:prstGeom prst="rect">
            <a:avLst/>
          </a:prstGeom>
          <a:noFill/>
          <a:ln/>
        </p:spPr>
        <p:txBody>
          <a:bodyPr wrap="square" lIns="0" tIns="0" rIns="0" bIns="0" rtlCol="0" anchor="ctr">
            <a:normAutofit/>
          </a:bodyPr>
          <a:lstStyle/>
          <a:p>
            <a:pPr indent="0" marL="0">
              <a:buNone/>
            </a:pPr>
            <a:r>
              <a:rPr lang="en-US" sz="1100" dirty="0">
                <a:solidFill>
                  <a:srgbClr val="D1DCE9"/>
                </a:solidFill>
                <a:latin typeface="Aptos" pitchFamily="34" charset="0"/>
                <a:ea typeface="Aptos" pitchFamily="34" charset="-122"/>
                <a:cs typeface="Aptos" pitchFamily="34" charset="-120"/>
              </a:rPr>
              <a:t>Yasin Kaymaz, PhD  |  Ege University  |  Teaching edition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LEARNING TARGETS</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By the end, you should be able to...</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2</a:t>
            </a:r>
            <a:endParaRPr lang="en-US" sz="800" dirty="0"/>
          </a:p>
        </p:txBody>
      </p:sp>
      <p:sp>
        <p:nvSpPr>
          <p:cNvPr id="9" name="Shape 7"/>
          <p:cNvSpPr/>
          <p:nvPr/>
        </p:nvSpPr>
        <p:spPr>
          <a:xfrm>
            <a:off x="594360" y="1920240"/>
            <a:ext cx="50292" cy="1207008"/>
          </a:xfrm>
          <a:prstGeom prst="rect">
            <a:avLst/>
          </a:prstGeom>
          <a:solidFill>
            <a:srgbClr val="2A78D6"/>
          </a:solidFill>
          <a:ln w="7620">
            <a:solidFill>
              <a:srgbClr val="2A78D6"/>
            </a:solidFill>
            <a:prstDash val="solid"/>
          </a:ln>
        </p:spPr>
      </p:sp>
      <p:sp>
        <p:nvSpPr>
          <p:cNvPr id="10" name="Text 8"/>
          <p:cNvSpPr/>
          <p:nvPr/>
        </p:nvSpPr>
        <p:spPr>
          <a:xfrm>
            <a:off x="795528" y="1920240"/>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Distinguish DNA, a gene, RNA and a protein.</a:t>
            </a:r>
            <a:endParaRPr lang="en-US" sz="2297" dirty="0"/>
          </a:p>
        </p:txBody>
      </p:sp>
      <p:sp>
        <p:nvSpPr>
          <p:cNvPr id="11" name="Shape 9"/>
          <p:cNvSpPr/>
          <p:nvPr/>
        </p:nvSpPr>
        <p:spPr>
          <a:xfrm>
            <a:off x="594360" y="3328416"/>
            <a:ext cx="50292" cy="1207008"/>
          </a:xfrm>
          <a:prstGeom prst="rect">
            <a:avLst/>
          </a:prstGeom>
          <a:solidFill>
            <a:srgbClr val="2A78D6"/>
          </a:solidFill>
          <a:ln w="7620">
            <a:solidFill>
              <a:srgbClr val="2A78D6"/>
            </a:solidFill>
            <a:prstDash val="solid"/>
          </a:ln>
        </p:spPr>
      </p:sp>
      <p:sp>
        <p:nvSpPr>
          <p:cNvPr id="12" name="Text 10"/>
          <p:cNvSpPr/>
          <p:nvPr/>
        </p:nvSpPr>
        <p:spPr>
          <a:xfrm>
            <a:off x="795528" y="3328416"/>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Read a small matrix and calculate a fraction.</a:t>
            </a:r>
            <a:endParaRPr lang="en-US" sz="2297" dirty="0"/>
          </a:p>
        </p:txBody>
      </p:sp>
      <p:sp>
        <p:nvSpPr>
          <p:cNvPr id="13" name="Shape 11"/>
          <p:cNvSpPr/>
          <p:nvPr/>
        </p:nvSpPr>
        <p:spPr>
          <a:xfrm>
            <a:off x="594360" y="4736592"/>
            <a:ext cx="50292" cy="1207008"/>
          </a:xfrm>
          <a:prstGeom prst="rect">
            <a:avLst/>
          </a:prstGeom>
          <a:solidFill>
            <a:srgbClr val="2A78D6"/>
          </a:solidFill>
          <a:ln w="7620">
            <a:solidFill>
              <a:srgbClr val="2A78D6"/>
            </a:solidFill>
            <a:prstDash val="solid"/>
          </a:ln>
        </p:spPr>
      </p:sp>
      <p:sp>
        <p:nvSpPr>
          <p:cNvPr id="14" name="Text 12"/>
          <p:cNvSpPr/>
          <p:nvPr/>
        </p:nvSpPr>
        <p:spPr>
          <a:xfrm>
            <a:off x="795528" y="4736592"/>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Separate a biological question from the available measurement.</a:t>
            </a:r>
            <a:endParaRPr lang="en-US" sz="2297"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RETRIEVAL</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Reconnect with the biology</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3</a:t>
            </a:r>
            <a:endParaRPr lang="en-US" sz="800" dirty="0"/>
          </a:p>
        </p:txBody>
      </p:sp>
      <p:sp>
        <p:nvSpPr>
          <p:cNvPr id="9" name="Shape 7"/>
          <p:cNvSpPr/>
          <p:nvPr/>
        </p:nvSpPr>
        <p:spPr>
          <a:xfrm>
            <a:off x="612648" y="1984248"/>
            <a:ext cx="10972800" cy="1828800"/>
          </a:xfrm>
          <a:prstGeom prst="rect">
            <a:avLst/>
          </a:prstGeom>
          <a:solidFill>
            <a:srgbClr val="EAF2FC"/>
          </a:solidFill>
          <a:ln w="7620">
            <a:solidFill>
              <a:srgbClr val="EAF2FC"/>
            </a:solidFill>
            <a:prstDash val="solid"/>
          </a:ln>
        </p:spPr>
      </p:sp>
      <p:sp>
        <p:nvSpPr>
          <p:cNvPr id="10" name="Text 8"/>
          <p:cNvSpPr/>
          <p:nvPr/>
        </p:nvSpPr>
        <p:spPr>
          <a:xfrm>
            <a:off x="850392" y="2258568"/>
            <a:ext cx="10497312" cy="1280160"/>
          </a:xfrm>
          <a:prstGeom prst="rect">
            <a:avLst/>
          </a:prstGeom>
          <a:noFill/>
          <a:ln/>
        </p:spPr>
        <p:txBody>
          <a:bodyPr wrap="square" lIns="0" tIns="0" rIns="0" bIns="0" rtlCol="0" anchor="ctr">
            <a:normAutofit/>
          </a:bodyPr>
          <a:lstStyle/>
          <a:p>
            <a:pPr indent="0" marL="0">
              <a:buNone/>
            </a:pPr>
            <a:r>
              <a:rPr lang="en-US" sz="2697" dirty="0">
                <a:solidFill>
                  <a:srgbClr val="232D3B"/>
                </a:solidFill>
                <a:latin typeface="Aptos" pitchFamily="34" charset="0"/>
                <a:ea typeface="Aptos" pitchFamily="34" charset="-122"/>
                <a:cs typeface="Aptos" pitchFamily="34" charset="-120"/>
              </a:rPr>
              <a:t>No previous genetics or programming is required. Start with one cell, one sequence and one table.</a:t>
            </a:r>
            <a:endParaRPr lang="en-US" sz="2697" dirty="0"/>
          </a:p>
        </p:txBody>
      </p:sp>
      <p:sp>
        <p:nvSpPr>
          <p:cNvPr id="11" name="Text 9"/>
          <p:cNvSpPr/>
          <p:nvPr/>
        </p:nvSpPr>
        <p:spPr>
          <a:xfrm>
            <a:off x="859536" y="4370832"/>
            <a:ext cx="10424160" cy="914400"/>
          </a:xfrm>
          <a:prstGeom prst="rect">
            <a:avLst/>
          </a:prstGeom>
          <a:noFill/>
          <a:ln/>
        </p:spPr>
        <p:txBody>
          <a:bodyPr wrap="square" lIns="0" tIns="0" rIns="0" bIns="0" rtlCol="0" anchor="ctr">
            <a:normAutofit/>
          </a:bodyPr>
          <a:lstStyle/>
          <a:p>
            <a:pPr indent="0" marL="0">
              <a:buNone/>
            </a:pPr>
            <a:r>
              <a:rPr lang="en-US" sz="2497" b="1" dirty="0">
                <a:solidFill>
                  <a:srgbClr val="2A78D6"/>
                </a:solidFill>
                <a:latin typeface="Aptos" pitchFamily="34" charset="0"/>
                <a:ea typeface="Aptos" pitchFamily="34" charset="-122"/>
                <a:cs typeface="Aptos" pitchFamily="34" charset="-120"/>
              </a:rPr>
              <a:t>Think silently -&gt; explain to a neighbour -&gt; check the measurement.</a:t>
            </a:r>
            <a:endParaRPr lang="en-US" sz="2497"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CORE</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From organism to sequence</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S01  |  4</a:t>
            </a:r>
            <a:endParaRPr lang="en-US" sz="800" dirty="0"/>
          </a:p>
        </p:txBody>
      </p:sp>
      <p:sp>
        <p:nvSpPr>
          <p:cNvPr id="9" name="Shape 7"/>
          <p:cNvSpPr/>
          <p:nvPr/>
        </p:nvSpPr>
        <p:spPr>
          <a:xfrm>
            <a:off x="594360" y="1828800"/>
            <a:ext cx="4965192" cy="4224528"/>
          </a:xfrm>
          <a:prstGeom prst="rect">
            <a:avLst/>
          </a:prstGeom>
          <a:solidFill>
            <a:srgbClr val="EAF2FC"/>
          </a:solidFill>
          <a:ln w="7620">
            <a:solidFill>
              <a:srgbClr val="EAF2FC"/>
            </a:solidFill>
            <a:prstDash val="solid"/>
          </a:ln>
        </p:spPr>
      </p:sp>
      <p:sp>
        <p:nvSpPr>
          <p:cNvPr id="10" name="Shape 8"/>
          <p:cNvSpPr/>
          <p:nvPr/>
        </p:nvSpPr>
        <p:spPr>
          <a:xfrm>
            <a:off x="5943600" y="1901952"/>
            <a:ext cx="50292" cy="1216152"/>
          </a:xfrm>
          <a:prstGeom prst="rect">
            <a:avLst/>
          </a:prstGeom>
          <a:solidFill>
            <a:srgbClr val="2A78D6"/>
          </a:solidFill>
          <a:ln w="7620">
            <a:solidFill>
              <a:srgbClr val="2A78D6"/>
            </a:solidFill>
            <a:prstDash val="solid"/>
          </a:ln>
        </p:spPr>
      </p:sp>
      <p:sp>
        <p:nvSpPr>
          <p:cNvPr id="11" name="Text 9"/>
          <p:cNvSpPr/>
          <p:nvPr/>
        </p:nvSpPr>
        <p:spPr>
          <a:xfrm>
            <a:off x="6144768" y="1901952"/>
            <a:ext cx="5367528" cy="1216152"/>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Organism: the whole biological system.</a:t>
            </a:r>
            <a:endParaRPr lang="en-US" sz="2297" dirty="0"/>
          </a:p>
        </p:txBody>
      </p:sp>
      <p:sp>
        <p:nvSpPr>
          <p:cNvPr id="12" name="Shape 10"/>
          <p:cNvSpPr/>
          <p:nvPr/>
        </p:nvSpPr>
        <p:spPr>
          <a:xfrm>
            <a:off x="5943600" y="3319272"/>
            <a:ext cx="50292" cy="1216152"/>
          </a:xfrm>
          <a:prstGeom prst="rect">
            <a:avLst/>
          </a:prstGeom>
          <a:solidFill>
            <a:srgbClr val="2A78D6"/>
          </a:solidFill>
          <a:ln w="7620">
            <a:solidFill>
              <a:srgbClr val="2A78D6"/>
            </a:solidFill>
            <a:prstDash val="solid"/>
          </a:ln>
        </p:spPr>
      </p:sp>
      <p:sp>
        <p:nvSpPr>
          <p:cNvPr id="13" name="Text 11"/>
          <p:cNvSpPr/>
          <p:nvPr/>
        </p:nvSpPr>
        <p:spPr>
          <a:xfrm>
            <a:off x="6144768" y="3319272"/>
            <a:ext cx="5367528" cy="1216152"/>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Cell: a compartment containing molecules and processes.</a:t>
            </a:r>
            <a:endParaRPr lang="en-US" sz="2297" dirty="0"/>
          </a:p>
        </p:txBody>
      </p:sp>
      <p:sp>
        <p:nvSpPr>
          <p:cNvPr id="14" name="Shape 12"/>
          <p:cNvSpPr/>
          <p:nvPr/>
        </p:nvSpPr>
        <p:spPr>
          <a:xfrm>
            <a:off x="5943600" y="4736592"/>
            <a:ext cx="50292" cy="1216152"/>
          </a:xfrm>
          <a:prstGeom prst="rect">
            <a:avLst/>
          </a:prstGeom>
          <a:solidFill>
            <a:srgbClr val="2A78D6"/>
          </a:solidFill>
          <a:ln w="7620">
            <a:solidFill>
              <a:srgbClr val="2A78D6"/>
            </a:solidFill>
            <a:prstDash val="solid"/>
          </a:ln>
        </p:spPr>
      </p:sp>
      <p:sp>
        <p:nvSpPr>
          <p:cNvPr id="15" name="Text 13"/>
          <p:cNvSpPr/>
          <p:nvPr/>
        </p:nvSpPr>
        <p:spPr>
          <a:xfrm>
            <a:off x="6144768" y="4736592"/>
            <a:ext cx="5367528" cy="1216152"/>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DNA: a sequence that stores heritable information.</a:t>
            </a:r>
            <a:endParaRPr lang="en-US" sz="2297" dirty="0"/>
          </a:p>
        </p:txBody>
      </p:sp>
      <p:sp>
        <p:nvSpPr>
          <p:cNvPr id="16" name="Shape 14"/>
          <p:cNvSpPr/>
          <p:nvPr/>
        </p:nvSpPr>
        <p:spPr>
          <a:xfrm>
            <a:off x="841248" y="2295144"/>
            <a:ext cx="4471416" cy="758952"/>
          </a:xfrm>
          <a:prstGeom prst="rect">
            <a:avLst/>
          </a:prstGeom>
          <a:solidFill>
            <a:srgbClr val="FFFFFF"/>
          </a:solidFill>
          <a:ln w="7620">
            <a:solidFill>
              <a:srgbClr val="FFFFFF"/>
            </a:solidFill>
            <a:prstDash val="solid"/>
          </a:ln>
        </p:spPr>
      </p:sp>
      <p:sp>
        <p:nvSpPr>
          <p:cNvPr id="17" name="Text 15"/>
          <p:cNvSpPr/>
          <p:nvPr/>
        </p:nvSpPr>
        <p:spPr>
          <a:xfrm>
            <a:off x="932688" y="2432304"/>
            <a:ext cx="4288536" cy="457200"/>
          </a:xfrm>
          <a:prstGeom prst="rect">
            <a:avLst/>
          </a:prstGeom>
          <a:noFill/>
          <a:ln/>
        </p:spPr>
        <p:txBody>
          <a:bodyPr wrap="square" lIns="0" tIns="0" rIns="0" bIns="0" rtlCol="0" anchor="ctr">
            <a:normAutofit/>
          </a:bodyPr>
          <a:lstStyle/>
          <a:p>
            <a:pPr algn="ctr" indent="0" marL="0">
              <a:buNone/>
            </a:pPr>
            <a:r>
              <a:rPr lang="en-US" sz="2200" b="1" dirty="0">
                <a:solidFill>
                  <a:srgbClr val="232D3B"/>
                </a:solidFill>
                <a:latin typeface="Aptos" pitchFamily="34" charset="0"/>
                <a:ea typeface="Aptos" pitchFamily="34" charset="-122"/>
                <a:cs typeface="Aptos" pitchFamily="34" charset="-120"/>
              </a:rPr>
              <a:t>Organism</a:t>
            </a:r>
            <a:endParaRPr lang="en-US" sz="2200" dirty="0"/>
          </a:p>
        </p:txBody>
      </p:sp>
      <p:sp>
        <p:nvSpPr>
          <p:cNvPr id="18" name="Shape 16"/>
          <p:cNvSpPr/>
          <p:nvPr/>
        </p:nvSpPr>
        <p:spPr>
          <a:xfrm>
            <a:off x="1243584" y="3355848"/>
            <a:ext cx="3666744" cy="758952"/>
          </a:xfrm>
          <a:prstGeom prst="rect">
            <a:avLst/>
          </a:prstGeom>
          <a:solidFill>
            <a:srgbClr val="FFFFFF"/>
          </a:solidFill>
          <a:ln w="7620">
            <a:solidFill>
              <a:srgbClr val="FFFFFF"/>
            </a:solidFill>
            <a:prstDash val="solid"/>
          </a:ln>
        </p:spPr>
      </p:sp>
      <p:sp>
        <p:nvSpPr>
          <p:cNvPr id="19" name="Text 17"/>
          <p:cNvSpPr/>
          <p:nvPr/>
        </p:nvSpPr>
        <p:spPr>
          <a:xfrm>
            <a:off x="1335024" y="3493008"/>
            <a:ext cx="3483864" cy="457200"/>
          </a:xfrm>
          <a:prstGeom prst="rect">
            <a:avLst/>
          </a:prstGeom>
          <a:noFill/>
          <a:ln/>
        </p:spPr>
        <p:txBody>
          <a:bodyPr wrap="square" lIns="0" tIns="0" rIns="0" bIns="0" rtlCol="0" anchor="ctr">
            <a:normAutofit/>
          </a:bodyPr>
          <a:lstStyle/>
          <a:p>
            <a:pPr algn="ctr" indent="0" marL="0">
              <a:buNone/>
            </a:pPr>
            <a:r>
              <a:rPr lang="en-US" sz="2200" b="1" dirty="0">
                <a:solidFill>
                  <a:srgbClr val="232D3B"/>
                </a:solidFill>
                <a:latin typeface="Aptos" pitchFamily="34" charset="0"/>
                <a:ea typeface="Aptos" pitchFamily="34" charset="-122"/>
                <a:cs typeface="Aptos" pitchFamily="34" charset="-120"/>
              </a:rPr>
              <a:t>Cell</a:t>
            </a:r>
            <a:endParaRPr lang="en-US" sz="2200" dirty="0"/>
          </a:p>
        </p:txBody>
      </p:sp>
      <p:sp>
        <p:nvSpPr>
          <p:cNvPr id="20" name="Shape 18"/>
          <p:cNvSpPr/>
          <p:nvPr/>
        </p:nvSpPr>
        <p:spPr>
          <a:xfrm>
            <a:off x="1645920" y="4416552"/>
            <a:ext cx="2862072" cy="758952"/>
          </a:xfrm>
          <a:prstGeom prst="rect">
            <a:avLst/>
          </a:prstGeom>
          <a:solidFill>
            <a:srgbClr val="2A78D6"/>
          </a:solidFill>
          <a:ln w="7620">
            <a:solidFill>
              <a:srgbClr val="2A78D6"/>
            </a:solidFill>
            <a:prstDash val="solid"/>
          </a:ln>
        </p:spPr>
      </p:sp>
      <p:sp>
        <p:nvSpPr>
          <p:cNvPr id="21" name="Text 19"/>
          <p:cNvSpPr/>
          <p:nvPr/>
        </p:nvSpPr>
        <p:spPr>
          <a:xfrm>
            <a:off x="1737360" y="4553712"/>
            <a:ext cx="2679192" cy="457200"/>
          </a:xfrm>
          <a:prstGeom prst="rect">
            <a:avLst/>
          </a:prstGeom>
          <a:noFill/>
          <a:ln/>
        </p:spPr>
        <p:txBody>
          <a:bodyPr wrap="square" lIns="0" tIns="0" rIns="0" bIns="0" rtlCol="0" anchor="ctr">
            <a:normAutofit/>
          </a:bodyPr>
          <a:lstStyle/>
          <a:p>
            <a:pPr algn="ctr" indent="0" marL="0">
              <a:buNone/>
            </a:pPr>
            <a:r>
              <a:rPr lang="en-US" sz="2200" b="1" dirty="0">
                <a:solidFill>
                  <a:srgbClr val="FFFFFF"/>
                </a:solidFill>
                <a:latin typeface="Aptos" pitchFamily="34" charset="0"/>
                <a:ea typeface="Aptos" pitchFamily="34" charset="-122"/>
                <a:cs typeface="Aptos" pitchFamily="34" charset="-120"/>
              </a:rPr>
              <a:t>DNA sequence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CORE</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A gene is not the same as a protein</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S01  |  5</a:t>
            </a:r>
            <a:endParaRPr lang="en-US" sz="800" dirty="0"/>
          </a:p>
        </p:txBody>
      </p:sp>
      <p:sp>
        <p:nvSpPr>
          <p:cNvPr id="9" name="Shape 7"/>
          <p:cNvSpPr/>
          <p:nvPr/>
        </p:nvSpPr>
        <p:spPr>
          <a:xfrm>
            <a:off x="594360" y="1920240"/>
            <a:ext cx="50292" cy="1207008"/>
          </a:xfrm>
          <a:prstGeom prst="rect">
            <a:avLst/>
          </a:prstGeom>
          <a:solidFill>
            <a:srgbClr val="2A78D6"/>
          </a:solidFill>
          <a:ln w="7620">
            <a:solidFill>
              <a:srgbClr val="2A78D6"/>
            </a:solidFill>
            <a:prstDash val="solid"/>
          </a:ln>
        </p:spPr>
      </p:sp>
      <p:sp>
        <p:nvSpPr>
          <p:cNvPr id="10" name="Text 8"/>
          <p:cNvSpPr/>
          <p:nvPr/>
        </p:nvSpPr>
        <p:spPr>
          <a:xfrm>
            <a:off x="795528" y="1920240"/>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A gene is a genomic region associated with a functional product.</a:t>
            </a:r>
            <a:endParaRPr lang="en-US" sz="2297" dirty="0"/>
          </a:p>
        </p:txBody>
      </p:sp>
      <p:sp>
        <p:nvSpPr>
          <p:cNvPr id="11" name="Shape 9"/>
          <p:cNvSpPr/>
          <p:nvPr/>
        </p:nvSpPr>
        <p:spPr>
          <a:xfrm>
            <a:off x="594360" y="3328416"/>
            <a:ext cx="50292" cy="1207008"/>
          </a:xfrm>
          <a:prstGeom prst="rect">
            <a:avLst/>
          </a:prstGeom>
          <a:solidFill>
            <a:srgbClr val="2A78D6"/>
          </a:solidFill>
          <a:ln w="7620">
            <a:solidFill>
              <a:srgbClr val="2A78D6"/>
            </a:solidFill>
            <a:prstDash val="solid"/>
          </a:ln>
        </p:spPr>
      </p:sp>
      <p:sp>
        <p:nvSpPr>
          <p:cNvPr id="12" name="Text 10"/>
          <p:cNvSpPr/>
          <p:nvPr/>
        </p:nvSpPr>
        <p:spPr>
          <a:xfrm>
            <a:off x="795528" y="3328416"/>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Some genes produce functional RNAs, not proteins.</a:t>
            </a:r>
            <a:endParaRPr lang="en-US" sz="2297" dirty="0"/>
          </a:p>
        </p:txBody>
      </p:sp>
      <p:sp>
        <p:nvSpPr>
          <p:cNvPr id="13" name="Shape 11"/>
          <p:cNvSpPr/>
          <p:nvPr/>
        </p:nvSpPr>
        <p:spPr>
          <a:xfrm>
            <a:off x="594360" y="4736592"/>
            <a:ext cx="50292" cy="1207008"/>
          </a:xfrm>
          <a:prstGeom prst="rect">
            <a:avLst/>
          </a:prstGeom>
          <a:solidFill>
            <a:srgbClr val="2A78D6"/>
          </a:solidFill>
          <a:ln w="7620">
            <a:solidFill>
              <a:srgbClr val="2A78D6"/>
            </a:solidFill>
            <a:prstDash val="solid"/>
          </a:ln>
        </p:spPr>
      </p:sp>
      <p:sp>
        <p:nvSpPr>
          <p:cNvPr id="14" name="Text 12"/>
          <p:cNvSpPr/>
          <p:nvPr/>
        </p:nvSpPr>
        <p:spPr>
          <a:xfrm>
            <a:off x="795528" y="4736592"/>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Protein-coding genes can give rise to different transcript isoforms.</a:t>
            </a:r>
            <a:endParaRPr lang="en-US" sz="2297"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CORE</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The measurement ladder</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S01  |  6</a:t>
            </a:r>
            <a:endParaRPr lang="en-US" sz="800" dirty="0"/>
          </a:p>
        </p:txBody>
      </p:sp>
      <p:sp>
        <p:nvSpPr>
          <p:cNvPr id="9" name="Shape 7"/>
          <p:cNvSpPr/>
          <p:nvPr/>
        </p:nvSpPr>
        <p:spPr>
          <a:xfrm>
            <a:off x="594360" y="2148840"/>
            <a:ext cx="3429000" cy="3136392"/>
          </a:xfrm>
          <a:prstGeom prst="rect">
            <a:avLst/>
          </a:prstGeom>
          <a:solidFill>
            <a:srgbClr val="EAF2FC"/>
          </a:solidFill>
          <a:ln w="7620">
            <a:solidFill>
              <a:srgbClr val="EAF2FC"/>
            </a:solidFill>
            <a:prstDash val="solid"/>
          </a:ln>
        </p:spPr>
      </p:sp>
      <p:sp>
        <p:nvSpPr>
          <p:cNvPr id="10" name="Text 8"/>
          <p:cNvSpPr/>
          <p:nvPr/>
        </p:nvSpPr>
        <p:spPr>
          <a:xfrm>
            <a:off x="795528" y="2404872"/>
            <a:ext cx="914400" cy="502920"/>
          </a:xfrm>
          <a:prstGeom prst="rect">
            <a:avLst/>
          </a:prstGeom>
          <a:noFill/>
          <a:ln/>
        </p:spPr>
        <p:txBody>
          <a:bodyPr wrap="square" lIns="0" tIns="0" rIns="0" bIns="0" rtlCol="0" anchor="ctr">
            <a:normAutofit/>
          </a:bodyPr>
          <a:lstStyle/>
          <a:p>
            <a:pPr indent="0" marL="0">
              <a:buNone/>
            </a:pPr>
            <a:r>
              <a:rPr lang="en-US" sz="2900" b="1" dirty="0">
                <a:solidFill>
                  <a:srgbClr val="2A78D6"/>
                </a:solidFill>
                <a:latin typeface="Aptos" pitchFamily="34" charset="0"/>
                <a:ea typeface="Aptos" pitchFamily="34" charset="-122"/>
                <a:cs typeface="Aptos" pitchFamily="34" charset="-120"/>
              </a:rPr>
              <a:t>01</a:t>
            </a:r>
            <a:endParaRPr lang="en-US" sz="2900" dirty="0"/>
          </a:p>
        </p:txBody>
      </p:sp>
      <p:sp>
        <p:nvSpPr>
          <p:cNvPr id="11" name="Text 9"/>
          <p:cNvSpPr/>
          <p:nvPr/>
        </p:nvSpPr>
        <p:spPr>
          <a:xfrm>
            <a:off x="804672" y="3127248"/>
            <a:ext cx="3008376" cy="180136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DNA sequence: which bases are present?</a:t>
            </a:r>
            <a:endParaRPr lang="en-US" sz="2297" dirty="0"/>
          </a:p>
        </p:txBody>
      </p:sp>
      <p:sp>
        <p:nvSpPr>
          <p:cNvPr id="12" name="Text 10"/>
          <p:cNvSpPr/>
          <p:nvPr/>
        </p:nvSpPr>
        <p:spPr>
          <a:xfrm>
            <a:off x="4087368" y="3355848"/>
            <a:ext cx="219456" cy="457200"/>
          </a:xfrm>
          <a:prstGeom prst="rect">
            <a:avLst/>
          </a:prstGeom>
          <a:noFill/>
          <a:ln/>
        </p:spPr>
        <p:txBody>
          <a:bodyPr wrap="square" lIns="0" tIns="0" rIns="0" bIns="0" rtlCol="0" anchor="ctr">
            <a:normAutofit/>
          </a:bodyPr>
          <a:lstStyle/>
          <a:p>
            <a:pPr indent="0" marL="0">
              <a:buNone/>
            </a:pPr>
            <a:r>
              <a:rPr lang="en-US" sz="2300" b="1" dirty="0">
                <a:solidFill>
                  <a:srgbClr val="EB6834"/>
                </a:solidFill>
                <a:latin typeface="Aptos" pitchFamily="34" charset="0"/>
                <a:ea typeface="Aptos" pitchFamily="34" charset="-122"/>
                <a:cs typeface="Aptos" pitchFamily="34" charset="-120"/>
              </a:rPr>
              <a:t>&gt;</a:t>
            </a:r>
            <a:endParaRPr lang="en-US" sz="2300" dirty="0"/>
          </a:p>
        </p:txBody>
      </p:sp>
      <p:sp>
        <p:nvSpPr>
          <p:cNvPr id="13" name="Shape 11"/>
          <p:cNvSpPr/>
          <p:nvPr/>
        </p:nvSpPr>
        <p:spPr>
          <a:xfrm>
            <a:off x="4389120" y="2148840"/>
            <a:ext cx="3429000" cy="3136392"/>
          </a:xfrm>
          <a:prstGeom prst="rect">
            <a:avLst/>
          </a:prstGeom>
          <a:solidFill>
            <a:srgbClr val="EAF2FC"/>
          </a:solidFill>
          <a:ln w="7620">
            <a:solidFill>
              <a:srgbClr val="EAF2FC"/>
            </a:solidFill>
            <a:prstDash val="solid"/>
          </a:ln>
        </p:spPr>
      </p:sp>
      <p:sp>
        <p:nvSpPr>
          <p:cNvPr id="14" name="Text 12"/>
          <p:cNvSpPr/>
          <p:nvPr/>
        </p:nvSpPr>
        <p:spPr>
          <a:xfrm>
            <a:off x="4590288" y="2404872"/>
            <a:ext cx="914400" cy="502920"/>
          </a:xfrm>
          <a:prstGeom prst="rect">
            <a:avLst/>
          </a:prstGeom>
          <a:noFill/>
          <a:ln/>
        </p:spPr>
        <p:txBody>
          <a:bodyPr wrap="square" lIns="0" tIns="0" rIns="0" bIns="0" rtlCol="0" anchor="ctr">
            <a:normAutofit/>
          </a:bodyPr>
          <a:lstStyle/>
          <a:p>
            <a:pPr indent="0" marL="0">
              <a:buNone/>
            </a:pPr>
            <a:r>
              <a:rPr lang="en-US" sz="2900" b="1" dirty="0">
                <a:solidFill>
                  <a:srgbClr val="2A78D6"/>
                </a:solidFill>
                <a:latin typeface="Aptos" pitchFamily="34" charset="0"/>
                <a:ea typeface="Aptos" pitchFamily="34" charset="-122"/>
                <a:cs typeface="Aptos" pitchFamily="34" charset="-120"/>
              </a:rPr>
              <a:t>02</a:t>
            </a:r>
            <a:endParaRPr lang="en-US" sz="2900" dirty="0"/>
          </a:p>
        </p:txBody>
      </p:sp>
      <p:sp>
        <p:nvSpPr>
          <p:cNvPr id="15" name="Text 13"/>
          <p:cNvSpPr/>
          <p:nvPr/>
        </p:nvSpPr>
        <p:spPr>
          <a:xfrm>
            <a:off x="4599432" y="3127248"/>
            <a:ext cx="3008376" cy="180136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RNA measurement: which transcripts were detected, and how much?</a:t>
            </a:r>
            <a:endParaRPr lang="en-US" sz="2297" dirty="0"/>
          </a:p>
        </p:txBody>
      </p:sp>
      <p:sp>
        <p:nvSpPr>
          <p:cNvPr id="16" name="Text 14"/>
          <p:cNvSpPr/>
          <p:nvPr/>
        </p:nvSpPr>
        <p:spPr>
          <a:xfrm>
            <a:off x="7882128" y="3355848"/>
            <a:ext cx="219456" cy="457200"/>
          </a:xfrm>
          <a:prstGeom prst="rect">
            <a:avLst/>
          </a:prstGeom>
          <a:noFill/>
          <a:ln/>
        </p:spPr>
        <p:txBody>
          <a:bodyPr wrap="square" lIns="0" tIns="0" rIns="0" bIns="0" rtlCol="0" anchor="ctr">
            <a:normAutofit/>
          </a:bodyPr>
          <a:lstStyle/>
          <a:p>
            <a:pPr indent="0" marL="0">
              <a:buNone/>
            </a:pPr>
            <a:r>
              <a:rPr lang="en-US" sz="2300" b="1" dirty="0">
                <a:solidFill>
                  <a:srgbClr val="EB6834"/>
                </a:solidFill>
                <a:latin typeface="Aptos" pitchFamily="34" charset="0"/>
                <a:ea typeface="Aptos" pitchFamily="34" charset="-122"/>
                <a:cs typeface="Aptos" pitchFamily="34" charset="-120"/>
              </a:rPr>
              <a:t>&gt;</a:t>
            </a:r>
            <a:endParaRPr lang="en-US" sz="2300" dirty="0"/>
          </a:p>
        </p:txBody>
      </p:sp>
      <p:sp>
        <p:nvSpPr>
          <p:cNvPr id="17" name="Shape 15"/>
          <p:cNvSpPr/>
          <p:nvPr/>
        </p:nvSpPr>
        <p:spPr>
          <a:xfrm>
            <a:off x="8183880" y="2148840"/>
            <a:ext cx="3429000" cy="3136392"/>
          </a:xfrm>
          <a:prstGeom prst="rect">
            <a:avLst/>
          </a:prstGeom>
          <a:solidFill>
            <a:srgbClr val="EAF2FC"/>
          </a:solidFill>
          <a:ln w="7620">
            <a:solidFill>
              <a:srgbClr val="EAF2FC"/>
            </a:solidFill>
            <a:prstDash val="solid"/>
          </a:ln>
        </p:spPr>
      </p:sp>
      <p:sp>
        <p:nvSpPr>
          <p:cNvPr id="18" name="Text 16"/>
          <p:cNvSpPr/>
          <p:nvPr/>
        </p:nvSpPr>
        <p:spPr>
          <a:xfrm>
            <a:off x="8385048" y="2404872"/>
            <a:ext cx="914400" cy="502920"/>
          </a:xfrm>
          <a:prstGeom prst="rect">
            <a:avLst/>
          </a:prstGeom>
          <a:noFill/>
          <a:ln/>
        </p:spPr>
        <p:txBody>
          <a:bodyPr wrap="square" lIns="0" tIns="0" rIns="0" bIns="0" rtlCol="0" anchor="ctr">
            <a:normAutofit/>
          </a:bodyPr>
          <a:lstStyle/>
          <a:p>
            <a:pPr indent="0" marL="0">
              <a:buNone/>
            </a:pPr>
            <a:r>
              <a:rPr lang="en-US" sz="2900" b="1" dirty="0">
                <a:solidFill>
                  <a:srgbClr val="2A78D6"/>
                </a:solidFill>
                <a:latin typeface="Aptos" pitchFamily="34" charset="0"/>
                <a:ea typeface="Aptos" pitchFamily="34" charset="-122"/>
                <a:cs typeface="Aptos" pitchFamily="34" charset="-120"/>
              </a:rPr>
              <a:t>03</a:t>
            </a:r>
            <a:endParaRPr lang="en-US" sz="2900" dirty="0"/>
          </a:p>
        </p:txBody>
      </p:sp>
      <p:sp>
        <p:nvSpPr>
          <p:cNvPr id="19" name="Text 17"/>
          <p:cNvSpPr/>
          <p:nvPr/>
        </p:nvSpPr>
        <p:spPr>
          <a:xfrm>
            <a:off x="8394192" y="3127248"/>
            <a:ext cx="3008376" cy="180136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Protein / function assay: which molecule or activity was measured?</a:t>
            </a:r>
            <a:endParaRPr lang="en-US" sz="2297"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CORE</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Reading a short DNA sequence</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S01  |  7</a:t>
            </a:r>
            <a:endParaRPr lang="en-US" sz="800" dirty="0"/>
          </a:p>
        </p:txBody>
      </p:sp>
      <p:sp>
        <p:nvSpPr>
          <p:cNvPr id="9" name="Shape 7"/>
          <p:cNvSpPr/>
          <p:nvPr/>
        </p:nvSpPr>
        <p:spPr>
          <a:xfrm>
            <a:off x="594360" y="1828800"/>
            <a:ext cx="4965192" cy="4224528"/>
          </a:xfrm>
          <a:prstGeom prst="rect">
            <a:avLst/>
          </a:prstGeom>
          <a:solidFill>
            <a:srgbClr val="EAF2FC"/>
          </a:solidFill>
          <a:ln w="7620">
            <a:solidFill>
              <a:srgbClr val="EAF2FC"/>
            </a:solidFill>
            <a:prstDash val="solid"/>
          </a:ln>
        </p:spPr>
      </p:sp>
      <p:sp>
        <p:nvSpPr>
          <p:cNvPr id="10" name="Shape 8"/>
          <p:cNvSpPr/>
          <p:nvPr/>
        </p:nvSpPr>
        <p:spPr>
          <a:xfrm>
            <a:off x="5943600" y="1901952"/>
            <a:ext cx="50292" cy="1216152"/>
          </a:xfrm>
          <a:prstGeom prst="rect">
            <a:avLst/>
          </a:prstGeom>
          <a:solidFill>
            <a:srgbClr val="2A78D6"/>
          </a:solidFill>
          <a:ln w="7620">
            <a:solidFill>
              <a:srgbClr val="2A78D6"/>
            </a:solidFill>
            <a:prstDash val="solid"/>
          </a:ln>
        </p:spPr>
      </p:sp>
      <p:sp>
        <p:nvSpPr>
          <p:cNvPr id="11" name="Text 9"/>
          <p:cNvSpPr/>
          <p:nvPr/>
        </p:nvSpPr>
        <p:spPr>
          <a:xfrm>
            <a:off x="6144768" y="1901952"/>
            <a:ext cx="5367528" cy="1216152"/>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DNA is written with A, C, G and T; RNA uses U instead of T.</a:t>
            </a:r>
            <a:endParaRPr lang="en-US" sz="2297" dirty="0"/>
          </a:p>
        </p:txBody>
      </p:sp>
      <p:sp>
        <p:nvSpPr>
          <p:cNvPr id="12" name="Shape 10"/>
          <p:cNvSpPr/>
          <p:nvPr/>
        </p:nvSpPr>
        <p:spPr>
          <a:xfrm>
            <a:off x="5943600" y="3319272"/>
            <a:ext cx="50292" cy="1216152"/>
          </a:xfrm>
          <a:prstGeom prst="rect">
            <a:avLst/>
          </a:prstGeom>
          <a:solidFill>
            <a:srgbClr val="2A78D6"/>
          </a:solidFill>
          <a:ln w="7620">
            <a:solidFill>
              <a:srgbClr val="2A78D6"/>
            </a:solidFill>
            <a:prstDash val="solid"/>
          </a:ln>
        </p:spPr>
      </p:sp>
      <p:sp>
        <p:nvSpPr>
          <p:cNvPr id="13" name="Text 11"/>
          <p:cNvSpPr/>
          <p:nvPr/>
        </p:nvSpPr>
        <p:spPr>
          <a:xfrm>
            <a:off x="6144768" y="3319272"/>
            <a:ext cx="5367528" cy="1216152"/>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Sequences have direction: label 5-prime and 3-prime ends.</a:t>
            </a:r>
            <a:endParaRPr lang="en-US" sz="2297" dirty="0"/>
          </a:p>
        </p:txBody>
      </p:sp>
      <p:sp>
        <p:nvSpPr>
          <p:cNvPr id="14" name="Shape 12"/>
          <p:cNvSpPr/>
          <p:nvPr/>
        </p:nvSpPr>
        <p:spPr>
          <a:xfrm>
            <a:off x="5943600" y="4736592"/>
            <a:ext cx="50292" cy="1216152"/>
          </a:xfrm>
          <a:prstGeom prst="rect">
            <a:avLst/>
          </a:prstGeom>
          <a:solidFill>
            <a:srgbClr val="2A78D6"/>
          </a:solidFill>
          <a:ln w="7620">
            <a:solidFill>
              <a:srgbClr val="2A78D6"/>
            </a:solidFill>
            <a:prstDash val="solid"/>
          </a:ln>
        </p:spPr>
      </p:sp>
      <p:sp>
        <p:nvSpPr>
          <p:cNvPr id="15" name="Text 13"/>
          <p:cNvSpPr/>
          <p:nvPr/>
        </p:nvSpPr>
        <p:spPr>
          <a:xfrm>
            <a:off x="6144768" y="4736592"/>
            <a:ext cx="5367528" cy="1216152"/>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An unknown base N is not a fifth ordinary DNA base.</a:t>
            </a:r>
            <a:endParaRPr lang="en-US" sz="2297" dirty="0"/>
          </a:p>
        </p:txBody>
      </p:sp>
      <p:sp>
        <p:nvSpPr>
          <p:cNvPr id="16" name="Text 14"/>
          <p:cNvSpPr/>
          <p:nvPr/>
        </p:nvSpPr>
        <p:spPr>
          <a:xfrm>
            <a:off x="841248" y="2368296"/>
            <a:ext cx="548640" cy="457200"/>
          </a:xfrm>
          <a:prstGeom prst="rect">
            <a:avLst/>
          </a:prstGeom>
          <a:noFill/>
          <a:ln/>
        </p:spPr>
        <p:txBody>
          <a:bodyPr wrap="square" lIns="0" tIns="0" rIns="0" bIns="0" rtlCol="0" anchor="ctr">
            <a:normAutofit/>
          </a:bodyPr>
          <a:lstStyle/>
          <a:p>
            <a:pPr indent="0" marL="0">
              <a:buNone/>
            </a:pPr>
            <a:r>
              <a:rPr lang="en-US" sz="1800" dirty="0">
                <a:solidFill>
                  <a:srgbClr val="526171"/>
                </a:solidFill>
                <a:latin typeface="Aptos" pitchFamily="34" charset="0"/>
                <a:ea typeface="Aptos" pitchFamily="34" charset="-122"/>
                <a:cs typeface="Aptos" pitchFamily="34" charset="-120"/>
              </a:rPr>
              <a:t>5'</a:t>
            </a:r>
            <a:endParaRPr lang="en-US" sz="1800" dirty="0"/>
          </a:p>
        </p:txBody>
      </p:sp>
      <p:sp>
        <p:nvSpPr>
          <p:cNvPr id="17" name="Text 15"/>
          <p:cNvSpPr/>
          <p:nvPr/>
        </p:nvSpPr>
        <p:spPr>
          <a:xfrm>
            <a:off x="4636008" y="2368296"/>
            <a:ext cx="548640" cy="457200"/>
          </a:xfrm>
          <a:prstGeom prst="rect">
            <a:avLst/>
          </a:prstGeom>
          <a:noFill/>
          <a:ln/>
        </p:spPr>
        <p:txBody>
          <a:bodyPr wrap="square" lIns="0" tIns="0" rIns="0" bIns="0" rtlCol="0" anchor="ctr">
            <a:normAutofit/>
          </a:bodyPr>
          <a:lstStyle/>
          <a:p>
            <a:pPr algn="r" indent="0" marL="0">
              <a:buNone/>
            </a:pPr>
            <a:r>
              <a:rPr lang="en-US" sz="1800" dirty="0">
                <a:solidFill>
                  <a:srgbClr val="526171"/>
                </a:solidFill>
                <a:latin typeface="Aptos" pitchFamily="34" charset="0"/>
                <a:ea typeface="Aptos" pitchFamily="34" charset="-122"/>
                <a:cs typeface="Aptos" pitchFamily="34" charset="-120"/>
              </a:rPr>
              <a:t>3'</a:t>
            </a:r>
            <a:endParaRPr lang="en-US" sz="1800" dirty="0"/>
          </a:p>
        </p:txBody>
      </p:sp>
      <p:sp>
        <p:nvSpPr>
          <p:cNvPr id="18" name="Text 16"/>
          <p:cNvSpPr/>
          <p:nvPr/>
        </p:nvSpPr>
        <p:spPr>
          <a:xfrm>
            <a:off x="841248" y="3182112"/>
            <a:ext cx="4471416" cy="1234440"/>
          </a:xfrm>
          <a:prstGeom prst="rect">
            <a:avLst/>
          </a:prstGeom>
          <a:noFill/>
          <a:ln/>
        </p:spPr>
        <p:txBody>
          <a:bodyPr wrap="square" lIns="0" tIns="0" rIns="0" bIns="0" rtlCol="0" anchor="ctr">
            <a:normAutofit/>
          </a:bodyPr>
          <a:lstStyle/>
          <a:p>
            <a:pPr algn="ctr" indent="0" marL="0">
              <a:buNone/>
            </a:pPr>
            <a:r>
              <a:rPr lang="en-US" sz="2997" b="1" dirty="0">
                <a:solidFill>
                  <a:srgbClr val="2A78D6"/>
                </a:solidFill>
                <a:latin typeface="Consolas" pitchFamily="34" charset="0"/>
                <a:ea typeface="Consolas" pitchFamily="34" charset="-122"/>
                <a:cs typeface="Consolas" pitchFamily="34" charset="-120"/>
              </a:rPr>
              <a:t>ATGCCATN</a:t>
            </a:r>
            <a:endParaRPr lang="en-US" sz="2997" dirty="0"/>
          </a:p>
        </p:txBody>
      </p:sp>
      <p:sp>
        <p:nvSpPr>
          <p:cNvPr id="19" name="Text 17"/>
          <p:cNvSpPr/>
          <p:nvPr/>
        </p:nvSpPr>
        <p:spPr>
          <a:xfrm>
            <a:off x="841248" y="4992624"/>
            <a:ext cx="4471416" cy="658368"/>
          </a:xfrm>
          <a:prstGeom prst="rect">
            <a:avLst/>
          </a:prstGeom>
          <a:noFill/>
          <a:ln/>
        </p:spPr>
        <p:txBody>
          <a:bodyPr wrap="square" lIns="0" tIns="0" rIns="0" bIns="0" rtlCol="0" anchor="ctr">
            <a:normAutofit/>
          </a:bodyPr>
          <a:lstStyle/>
          <a:p>
            <a:pPr algn="ctr" indent="0" marL="0">
              <a:buNone/>
            </a:pPr>
            <a:r>
              <a:rPr lang="en-US" sz="1800" dirty="0">
                <a:solidFill>
                  <a:srgbClr val="526171"/>
                </a:solidFill>
                <a:latin typeface="Aptos" pitchFamily="34" charset="0"/>
                <a:ea typeface="Aptos" pitchFamily="34" charset="-122"/>
                <a:cs typeface="Aptos" pitchFamily="34" charset="-120"/>
              </a:rPr>
              <a:t>Direction and alphabet are part of the data.</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CORE</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Exons, introns and transcripts</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S01  |  8</a:t>
            </a:r>
            <a:endParaRPr lang="en-US" sz="800" dirty="0"/>
          </a:p>
        </p:txBody>
      </p:sp>
      <p:sp>
        <p:nvSpPr>
          <p:cNvPr id="9" name="Shape 7"/>
          <p:cNvSpPr/>
          <p:nvPr/>
        </p:nvSpPr>
        <p:spPr>
          <a:xfrm>
            <a:off x="594360" y="1828800"/>
            <a:ext cx="4965192" cy="4224528"/>
          </a:xfrm>
          <a:prstGeom prst="rect">
            <a:avLst/>
          </a:prstGeom>
          <a:solidFill>
            <a:srgbClr val="EAF2FC"/>
          </a:solidFill>
          <a:ln w="7620">
            <a:solidFill>
              <a:srgbClr val="EAF2FC"/>
            </a:solidFill>
            <a:prstDash val="solid"/>
          </a:ln>
        </p:spPr>
      </p:sp>
      <p:sp>
        <p:nvSpPr>
          <p:cNvPr id="10" name="Shape 8"/>
          <p:cNvSpPr/>
          <p:nvPr/>
        </p:nvSpPr>
        <p:spPr>
          <a:xfrm>
            <a:off x="5943600" y="1901952"/>
            <a:ext cx="50292" cy="1216152"/>
          </a:xfrm>
          <a:prstGeom prst="rect">
            <a:avLst/>
          </a:prstGeom>
          <a:solidFill>
            <a:srgbClr val="2A78D6"/>
          </a:solidFill>
          <a:ln w="7620">
            <a:solidFill>
              <a:srgbClr val="2A78D6"/>
            </a:solidFill>
            <a:prstDash val="solid"/>
          </a:ln>
        </p:spPr>
      </p:sp>
      <p:sp>
        <p:nvSpPr>
          <p:cNvPr id="11" name="Text 9"/>
          <p:cNvSpPr/>
          <p:nvPr/>
        </p:nvSpPr>
        <p:spPr>
          <a:xfrm>
            <a:off x="6144768" y="1901952"/>
            <a:ext cx="5367528" cy="1216152"/>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An RNA precursor can include introns that are removed by splicing.</a:t>
            </a:r>
            <a:endParaRPr lang="en-US" sz="2297" dirty="0"/>
          </a:p>
        </p:txBody>
      </p:sp>
      <p:sp>
        <p:nvSpPr>
          <p:cNvPr id="12" name="Shape 10"/>
          <p:cNvSpPr/>
          <p:nvPr/>
        </p:nvSpPr>
        <p:spPr>
          <a:xfrm>
            <a:off x="5943600" y="3319272"/>
            <a:ext cx="50292" cy="1216152"/>
          </a:xfrm>
          <a:prstGeom prst="rect">
            <a:avLst/>
          </a:prstGeom>
          <a:solidFill>
            <a:srgbClr val="2A78D6"/>
          </a:solidFill>
          <a:ln w="7620">
            <a:solidFill>
              <a:srgbClr val="2A78D6"/>
            </a:solidFill>
            <a:prstDash val="solid"/>
          </a:ln>
        </p:spPr>
      </p:sp>
      <p:sp>
        <p:nvSpPr>
          <p:cNvPr id="13" name="Text 11"/>
          <p:cNvSpPr/>
          <p:nvPr/>
        </p:nvSpPr>
        <p:spPr>
          <a:xfrm>
            <a:off x="6144768" y="3319272"/>
            <a:ext cx="5367528" cy="1216152"/>
          </a:xfrm>
          <a:prstGeom prst="rect">
            <a:avLst/>
          </a:prstGeom>
          <a:noFill/>
          <a:ln/>
        </p:spPr>
        <p:txBody>
          <a:bodyPr wrap="square" lIns="0" tIns="0" rIns="0" bIns="0" rtlCol="0" anchor="ctr">
            <a:normAutofit/>
          </a:bodyPr>
          <a:lstStyle/>
          <a:p>
            <a:pPr indent="0" marL="0">
              <a:buNone/>
            </a:pPr>
            <a:r>
              <a:rPr lang="en-US" sz="2138" dirty="0">
                <a:solidFill>
                  <a:srgbClr val="232D3B"/>
                </a:solidFill>
                <a:latin typeface="Aptos" pitchFamily="34" charset="0"/>
                <a:ea typeface="Aptos" pitchFamily="34" charset="-122"/>
                <a:cs typeface="Aptos" pitchFamily="34" charset="-120"/>
              </a:rPr>
              <a:t>Exons are retained in a mature transcript; not every exon base is translated.</a:t>
            </a:r>
            <a:endParaRPr lang="en-US" sz="2138" dirty="0"/>
          </a:p>
        </p:txBody>
      </p:sp>
      <p:sp>
        <p:nvSpPr>
          <p:cNvPr id="14" name="Shape 12"/>
          <p:cNvSpPr/>
          <p:nvPr/>
        </p:nvSpPr>
        <p:spPr>
          <a:xfrm>
            <a:off x="5943600" y="4736592"/>
            <a:ext cx="50292" cy="1216152"/>
          </a:xfrm>
          <a:prstGeom prst="rect">
            <a:avLst/>
          </a:prstGeom>
          <a:solidFill>
            <a:srgbClr val="2A78D6"/>
          </a:solidFill>
          <a:ln w="7620">
            <a:solidFill>
              <a:srgbClr val="2A78D6"/>
            </a:solidFill>
            <a:prstDash val="solid"/>
          </a:ln>
        </p:spPr>
      </p:sp>
      <p:sp>
        <p:nvSpPr>
          <p:cNvPr id="15" name="Text 13"/>
          <p:cNvSpPr/>
          <p:nvPr/>
        </p:nvSpPr>
        <p:spPr>
          <a:xfrm>
            <a:off x="6144768" y="4736592"/>
            <a:ext cx="5367528" cy="1216152"/>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Alternative splicing can produce different transcripts from one gene.</a:t>
            </a:r>
            <a:endParaRPr lang="en-US" sz="2297" dirty="0"/>
          </a:p>
        </p:txBody>
      </p:sp>
      <p:sp>
        <p:nvSpPr>
          <p:cNvPr id="16" name="Text 14"/>
          <p:cNvSpPr/>
          <p:nvPr/>
        </p:nvSpPr>
        <p:spPr>
          <a:xfrm>
            <a:off x="841248" y="2157984"/>
            <a:ext cx="4471416" cy="384048"/>
          </a:xfrm>
          <a:prstGeom prst="rect">
            <a:avLst/>
          </a:prstGeom>
          <a:noFill/>
          <a:ln/>
        </p:spPr>
        <p:txBody>
          <a:bodyPr wrap="square" lIns="0" tIns="0" rIns="0" bIns="0" rtlCol="0" anchor="ctr">
            <a:normAutofit/>
          </a:bodyPr>
          <a:lstStyle/>
          <a:p>
            <a:pPr indent="0" marL="0">
              <a:buNone/>
            </a:pPr>
            <a:r>
              <a:rPr lang="en-US" sz="1900" b="1" dirty="0">
                <a:solidFill>
                  <a:srgbClr val="2A78D6"/>
                </a:solidFill>
                <a:latin typeface="Aptos" pitchFamily="34" charset="0"/>
                <a:ea typeface="Aptos" pitchFamily="34" charset="-122"/>
                <a:cs typeface="Aptos" pitchFamily="34" charset="-120"/>
              </a:rPr>
              <a:t>Precursor RNA</a:t>
            </a:r>
            <a:endParaRPr lang="en-US" sz="1900" dirty="0"/>
          </a:p>
        </p:txBody>
      </p:sp>
      <p:sp>
        <p:nvSpPr>
          <p:cNvPr id="17" name="Shape 15"/>
          <p:cNvSpPr/>
          <p:nvPr/>
        </p:nvSpPr>
        <p:spPr>
          <a:xfrm>
            <a:off x="978408" y="3072384"/>
            <a:ext cx="4160520" cy="0"/>
          </a:xfrm>
          <a:prstGeom prst="line">
            <a:avLst/>
          </a:prstGeom>
          <a:noFill/>
          <a:ln w="25400">
            <a:solidFill>
              <a:srgbClr val="526171"/>
            </a:solidFill>
            <a:prstDash val="solid"/>
          </a:ln>
        </p:spPr>
      </p:sp>
      <p:sp>
        <p:nvSpPr>
          <p:cNvPr id="18" name="Shape 16"/>
          <p:cNvSpPr/>
          <p:nvPr/>
        </p:nvSpPr>
        <p:spPr>
          <a:xfrm>
            <a:off x="841248" y="2816352"/>
            <a:ext cx="1051560" cy="548640"/>
          </a:xfrm>
          <a:prstGeom prst="rect">
            <a:avLst/>
          </a:prstGeom>
          <a:solidFill>
            <a:srgbClr val="2A78D6"/>
          </a:solidFill>
          <a:ln w="7620">
            <a:solidFill>
              <a:srgbClr val="2A78D6"/>
            </a:solidFill>
            <a:prstDash val="solid"/>
          </a:ln>
        </p:spPr>
      </p:sp>
      <p:sp>
        <p:nvSpPr>
          <p:cNvPr id="19" name="Text 17"/>
          <p:cNvSpPr/>
          <p:nvPr/>
        </p:nvSpPr>
        <p:spPr>
          <a:xfrm>
            <a:off x="896112" y="2880360"/>
            <a:ext cx="941832" cy="34747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Exon 1</a:t>
            </a:r>
            <a:endParaRPr lang="en-US" sz="1300" dirty="0"/>
          </a:p>
        </p:txBody>
      </p:sp>
      <p:sp>
        <p:nvSpPr>
          <p:cNvPr id="20" name="Shape 18"/>
          <p:cNvSpPr/>
          <p:nvPr/>
        </p:nvSpPr>
        <p:spPr>
          <a:xfrm>
            <a:off x="2414016" y="2816352"/>
            <a:ext cx="1051560" cy="548640"/>
          </a:xfrm>
          <a:prstGeom prst="rect">
            <a:avLst/>
          </a:prstGeom>
          <a:solidFill>
            <a:srgbClr val="2A78D6"/>
          </a:solidFill>
          <a:ln w="7620">
            <a:solidFill>
              <a:srgbClr val="2A78D6"/>
            </a:solidFill>
            <a:prstDash val="solid"/>
          </a:ln>
        </p:spPr>
      </p:sp>
      <p:sp>
        <p:nvSpPr>
          <p:cNvPr id="21" name="Text 19"/>
          <p:cNvSpPr/>
          <p:nvPr/>
        </p:nvSpPr>
        <p:spPr>
          <a:xfrm>
            <a:off x="2468880" y="2880360"/>
            <a:ext cx="941832" cy="34747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Exon 2</a:t>
            </a:r>
            <a:endParaRPr lang="en-US" sz="1300" dirty="0"/>
          </a:p>
        </p:txBody>
      </p:sp>
      <p:sp>
        <p:nvSpPr>
          <p:cNvPr id="22" name="Shape 20"/>
          <p:cNvSpPr/>
          <p:nvPr/>
        </p:nvSpPr>
        <p:spPr>
          <a:xfrm>
            <a:off x="3986784" y="2816352"/>
            <a:ext cx="1051560" cy="548640"/>
          </a:xfrm>
          <a:prstGeom prst="rect">
            <a:avLst/>
          </a:prstGeom>
          <a:solidFill>
            <a:srgbClr val="2A78D6"/>
          </a:solidFill>
          <a:ln w="7620">
            <a:solidFill>
              <a:srgbClr val="2A78D6"/>
            </a:solidFill>
            <a:prstDash val="solid"/>
          </a:ln>
        </p:spPr>
      </p:sp>
      <p:sp>
        <p:nvSpPr>
          <p:cNvPr id="23" name="Text 21"/>
          <p:cNvSpPr/>
          <p:nvPr/>
        </p:nvSpPr>
        <p:spPr>
          <a:xfrm>
            <a:off x="4041648" y="2880360"/>
            <a:ext cx="941832" cy="34747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Exon 3</a:t>
            </a:r>
            <a:endParaRPr lang="en-US" sz="1300" dirty="0"/>
          </a:p>
        </p:txBody>
      </p:sp>
      <p:sp>
        <p:nvSpPr>
          <p:cNvPr id="24" name="Text 22"/>
          <p:cNvSpPr/>
          <p:nvPr/>
        </p:nvSpPr>
        <p:spPr>
          <a:xfrm>
            <a:off x="841248" y="3849624"/>
            <a:ext cx="4471416" cy="457200"/>
          </a:xfrm>
          <a:prstGeom prst="rect">
            <a:avLst/>
          </a:prstGeom>
          <a:noFill/>
          <a:ln/>
        </p:spPr>
        <p:txBody>
          <a:bodyPr wrap="square" lIns="0" tIns="0" rIns="0" bIns="0" rtlCol="0" anchor="ctr">
            <a:normAutofit/>
          </a:bodyPr>
          <a:lstStyle/>
          <a:p>
            <a:pPr algn="ctr" indent="0" marL="0">
              <a:buNone/>
            </a:pPr>
            <a:r>
              <a:rPr lang="en-US" sz="1800" dirty="0">
                <a:solidFill>
                  <a:srgbClr val="526171"/>
                </a:solidFill>
                <a:latin typeface="Aptos" pitchFamily="34" charset="0"/>
                <a:ea typeface="Aptos" pitchFamily="34" charset="-122"/>
                <a:cs typeface="Aptos" pitchFamily="34" charset="-120"/>
              </a:rPr>
              <a:t>Splicing removes introns</a:t>
            </a:r>
            <a:endParaRPr lang="en-US" sz="1800" dirty="0"/>
          </a:p>
        </p:txBody>
      </p:sp>
      <p:sp>
        <p:nvSpPr>
          <p:cNvPr id="25" name="Shape 23"/>
          <p:cNvSpPr/>
          <p:nvPr/>
        </p:nvSpPr>
        <p:spPr>
          <a:xfrm>
            <a:off x="1234440" y="4764024"/>
            <a:ext cx="1152144" cy="594360"/>
          </a:xfrm>
          <a:prstGeom prst="rect">
            <a:avLst/>
          </a:prstGeom>
          <a:solidFill>
            <a:srgbClr val="2A78D6"/>
          </a:solidFill>
          <a:ln w="7620">
            <a:solidFill>
              <a:srgbClr val="2A78D6"/>
            </a:solidFill>
            <a:prstDash val="solid"/>
          </a:ln>
        </p:spPr>
      </p:sp>
      <p:sp>
        <p:nvSpPr>
          <p:cNvPr id="26" name="Text 24"/>
          <p:cNvSpPr/>
          <p:nvPr/>
        </p:nvSpPr>
        <p:spPr>
          <a:xfrm>
            <a:off x="1234440" y="4892040"/>
            <a:ext cx="1152144" cy="338328"/>
          </a:xfrm>
          <a:prstGeom prst="rect">
            <a:avLst/>
          </a:prstGeom>
          <a:noFill/>
          <a:ln/>
        </p:spPr>
        <p:txBody>
          <a:bodyPr wrap="square" lIns="0" tIns="0" rIns="0" bIns="0" rtlCol="0" anchor="ctr">
            <a:normAutofit/>
          </a:bodyPr>
          <a:lstStyle/>
          <a:p>
            <a:pPr algn="ctr" indent="0" marL="0">
              <a:buNone/>
            </a:pPr>
            <a:r>
              <a:rPr lang="en-US" sz="1900" b="1" dirty="0">
                <a:solidFill>
                  <a:srgbClr val="FFFFFF"/>
                </a:solidFill>
                <a:latin typeface="Aptos" pitchFamily="34" charset="0"/>
                <a:ea typeface="Aptos" pitchFamily="34" charset="-122"/>
                <a:cs typeface="Aptos" pitchFamily="34" charset="-120"/>
              </a:rPr>
              <a:t>E1</a:t>
            </a:r>
            <a:endParaRPr lang="en-US" sz="1900" dirty="0"/>
          </a:p>
        </p:txBody>
      </p:sp>
      <p:sp>
        <p:nvSpPr>
          <p:cNvPr id="27" name="Shape 25"/>
          <p:cNvSpPr/>
          <p:nvPr/>
        </p:nvSpPr>
        <p:spPr>
          <a:xfrm>
            <a:off x="2468880" y="4764024"/>
            <a:ext cx="1152144" cy="594360"/>
          </a:xfrm>
          <a:prstGeom prst="rect">
            <a:avLst/>
          </a:prstGeom>
          <a:solidFill>
            <a:srgbClr val="2A78D6"/>
          </a:solidFill>
          <a:ln w="7620">
            <a:solidFill>
              <a:srgbClr val="2A78D6"/>
            </a:solidFill>
            <a:prstDash val="solid"/>
          </a:ln>
        </p:spPr>
      </p:sp>
      <p:sp>
        <p:nvSpPr>
          <p:cNvPr id="28" name="Text 26"/>
          <p:cNvSpPr/>
          <p:nvPr/>
        </p:nvSpPr>
        <p:spPr>
          <a:xfrm>
            <a:off x="2468880" y="4892040"/>
            <a:ext cx="1152144" cy="338328"/>
          </a:xfrm>
          <a:prstGeom prst="rect">
            <a:avLst/>
          </a:prstGeom>
          <a:noFill/>
          <a:ln/>
        </p:spPr>
        <p:txBody>
          <a:bodyPr wrap="square" lIns="0" tIns="0" rIns="0" bIns="0" rtlCol="0" anchor="ctr">
            <a:normAutofit/>
          </a:bodyPr>
          <a:lstStyle/>
          <a:p>
            <a:pPr algn="ctr" indent="0" marL="0">
              <a:buNone/>
            </a:pPr>
            <a:r>
              <a:rPr lang="en-US" sz="1900" b="1" dirty="0">
                <a:solidFill>
                  <a:srgbClr val="FFFFFF"/>
                </a:solidFill>
                <a:latin typeface="Aptos" pitchFamily="34" charset="0"/>
                <a:ea typeface="Aptos" pitchFamily="34" charset="-122"/>
                <a:cs typeface="Aptos" pitchFamily="34" charset="-120"/>
              </a:rPr>
              <a:t>E2</a:t>
            </a:r>
            <a:endParaRPr lang="en-US" sz="1900" dirty="0"/>
          </a:p>
        </p:txBody>
      </p:sp>
      <p:sp>
        <p:nvSpPr>
          <p:cNvPr id="29" name="Shape 27"/>
          <p:cNvSpPr/>
          <p:nvPr/>
        </p:nvSpPr>
        <p:spPr>
          <a:xfrm>
            <a:off x="3703320" y="4764024"/>
            <a:ext cx="1152144" cy="594360"/>
          </a:xfrm>
          <a:prstGeom prst="rect">
            <a:avLst/>
          </a:prstGeom>
          <a:solidFill>
            <a:srgbClr val="2A78D6"/>
          </a:solidFill>
          <a:ln w="7620">
            <a:solidFill>
              <a:srgbClr val="2A78D6"/>
            </a:solidFill>
            <a:prstDash val="solid"/>
          </a:ln>
        </p:spPr>
      </p:sp>
      <p:sp>
        <p:nvSpPr>
          <p:cNvPr id="30" name="Text 28"/>
          <p:cNvSpPr/>
          <p:nvPr/>
        </p:nvSpPr>
        <p:spPr>
          <a:xfrm>
            <a:off x="3703320" y="4892040"/>
            <a:ext cx="1152144" cy="338328"/>
          </a:xfrm>
          <a:prstGeom prst="rect">
            <a:avLst/>
          </a:prstGeom>
          <a:noFill/>
          <a:ln/>
        </p:spPr>
        <p:txBody>
          <a:bodyPr wrap="square" lIns="0" tIns="0" rIns="0" bIns="0" rtlCol="0" anchor="ctr">
            <a:normAutofit/>
          </a:bodyPr>
          <a:lstStyle/>
          <a:p>
            <a:pPr algn="ctr" indent="0" marL="0">
              <a:buNone/>
            </a:pPr>
            <a:r>
              <a:rPr lang="en-US" sz="1900" b="1" dirty="0">
                <a:solidFill>
                  <a:srgbClr val="FFFFFF"/>
                </a:solidFill>
                <a:latin typeface="Aptos" pitchFamily="34" charset="0"/>
                <a:ea typeface="Aptos" pitchFamily="34" charset="-122"/>
                <a:cs typeface="Aptos" pitchFamily="34" charset="-120"/>
              </a:rPr>
              <a:t>E3</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CORE</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Translation is a reading-frame problem</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S01  |  9</a:t>
            </a:r>
            <a:endParaRPr lang="en-US" sz="800" dirty="0"/>
          </a:p>
        </p:txBody>
      </p:sp>
      <p:sp>
        <p:nvSpPr>
          <p:cNvPr id="9" name="Shape 7"/>
          <p:cNvSpPr/>
          <p:nvPr/>
        </p:nvSpPr>
        <p:spPr>
          <a:xfrm>
            <a:off x="594360" y="1828800"/>
            <a:ext cx="4965192" cy="4224528"/>
          </a:xfrm>
          <a:prstGeom prst="rect">
            <a:avLst/>
          </a:prstGeom>
          <a:solidFill>
            <a:srgbClr val="EAF2FC"/>
          </a:solidFill>
          <a:ln w="7620">
            <a:solidFill>
              <a:srgbClr val="EAF2FC"/>
            </a:solidFill>
            <a:prstDash val="solid"/>
          </a:ln>
        </p:spPr>
      </p:sp>
      <p:sp>
        <p:nvSpPr>
          <p:cNvPr id="10" name="Shape 8"/>
          <p:cNvSpPr/>
          <p:nvPr/>
        </p:nvSpPr>
        <p:spPr>
          <a:xfrm>
            <a:off x="5943600" y="1901952"/>
            <a:ext cx="50292" cy="1216152"/>
          </a:xfrm>
          <a:prstGeom prst="rect">
            <a:avLst/>
          </a:prstGeom>
          <a:solidFill>
            <a:srgbClr val="2A78D6"/>
          </a:solidFill>
          <a:ln w="7620">
            <a:solidFill>
              <a:srgbClr val="2A78D6"/>
            </a:solidFill>
            <a:prstDash val="solid"/>
          </a:ln>
        </p:spPr>
      </p:sp>
      <p:sp>
        <p:nvSpPr>
          <p:cNvPr id="11" name="Text 9"/>
          <p:cNvSpPr/>
          <p:nvPr/>
        </p:nvSpPr>
        <p:spPr>
          <a:xfrm>
            <a:off x="6144768" y="1901952"/>
            <a:ext cx="5367528" cy="1216152"/>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For an appropriate coding sequence, three RNA bases make a codon.</a:t>
            </a:r>
            <a:endParaRPr lang="en-US" sz="2297" dirty="0"/>
          </a:p>
        </p:txBody>
      </p:sp>
      <p:sp>
        <p:nvSpPr>
          <p:cNvPr id="12" name="Shape 10"/>
          <p:cNvSpPr/>
          <p:nvPr/>
        </p:nvSpPr>
        <p:spPr>
          <a:xfrm>
            <a:off x="5943600" y="3319272"/>
            <a:ext cx="50292" cy="1216152"/>
          </a:xfrm>
          <a:prstGeom prst="rect">
            <a:avLst/>
          </a:prstGeom>
          <a:solidFill>
            <a:srgbClr val="2A78D6"/>
          </a:solidFill>
          <a:ln w="7620">
            <a:solidFill>
              <a:srgbClr val="2A78D6"/>
            </a:solidFill>
            <a:prstDash val="solid"/>
          </a:ln>
        </p:spPr>
      </p:sp>
      <p:sp>
        <p:nvSpPr>
          <p:cNvPr id="13" name="Text 11"/>
          <p:cNvSpPr/>
          <p:nvPr/>
        </p:nvSpPr>
        <p:spPr>
          <a:xfrm>
            <a:off x="6144768" y="3319272"/>
            <a:ext cx="5367528" cy="1216152"/>
          </a:xfrm>
          <a:prstGeom prst="rect">
            <a:avLst/>
          </a:prstGeom>
          <a:noFill/>
          <a:ln/>
        </p:spPr>
        <p:txBody>
          <a:bodyPr wrap="square" lIns="0" tIns="0" rIns="0" bIns="0" rtlCol="0" anchor="ctr">
            <a:normAutofit/>
          </a:bodyPr>
          <a:lstStyle/>
          <a:p>
            <a:pPr indent="0" marL="0">
              <a:buNone/>
            </a:pPr>
            <a:r>
              <a:rPr lang="en-US" sz="2100" dirty="0">
                <a:solidFill>
                  <a:srgbClr val="232D3B"/>
                </a:solidFill>
                <a:latin typeface="Aptos" pitchFamily="34" charset="0"/>
                <a:ea typeface="Aptos" pitchFamily="34" charset="-122"/>
                <a:cs typeface="Aptos" pitchFamily="34" charset="-120"/>
              </a:rPr>
              <a:t>AUG encodes methionine; UAA, UAG and UGA are stop codons in the standard code.</a:t>
            </a:r>
            <a:endParaRPr lang="en-US" sz="2100" dirty="0"/>
          </a:p>
        </p:txBody>
      </p:sp>
      <p:sp>
        <p:nvSpPr>
          <p:cNvPr id="14" name="Shape 12"/>
          <p:cNvSpPr/>
          <p:nvPr/>
        </p:nvSpPr>
        <p:spPr>
          <a:xfrm>
            <a:off x="5943600" y="4736592"/>
            <a:ext cx="50292" cy="1216152"/>
          </a:xfrm>
          <a:prstGeom prst="rect">
            <a:avLst/>
          </a:prstGeom>
          <a:solidFill>
            <a:srgbClr val="2A78D6"/>
          </a:solidFill>
          <a:ln w="7620">
            <a:solidFill>
              <a:srgbClr val="2A78D6"/>
            </a:solidFill>
            <a:prstDash val="solid"/>
          </a:ln>
        </p:spPr>
      </p:sp>
      <p:sp>
        <p:nvSpPr>
          <p:cNvPr id="15" name="Text 13"/>
          <p:cNvSpPr/>
          <p:nvPr/>
        </p:nvSpPr>
        <p:spPr>
          <a:xfrm>
            <a:off x="6144768" y="4736592"/>
            <a:ext cx="5367528" cy="1216152"/>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Do not translate an arbitrary genomic interval and assume it is a protein.</a:t>
            </a:r>
            <a:endParaRPr lang="en-US" sz="2297" dirty="0"/>
          </a:p>
        </p:txBody>
      </p:sp>
      <p:sp>
        <p:nvSpPr>
          <p:cNvPr id="16" name="Text 14"/>
          <p:cNvSpPr/>
          <p:nvPr/>
        </p:nvSpPr>
        <p:spPr>
          <a:xfrm>
            <a:off x="841248" y="2368296"/>
            <a:ext cx="548640" cy="457200"/>
          </a:xfrm>
          <a:prstGeom prst="rect">
            <a:avLst/>
          </a:prstGeom>
          <a:noFill/>
          <a:ln/>
        </p:spPr>
        <p:txBody>
          <a:bodyPr wrap="square" lIns="0" tIns="0" rIns="0" bIns="0" rtlCol="0" anchor="ctr">
            <a:normAutofit/>
          </a:bodyPr>
          <a:lstStyle/>
          <a:p>
            <a:pPr indent="0" marL="0">
              <a:buNone/>
            </a:pPr>
            <a:r>
              <a:rPr lang="en-US" sz="1800" dirty="0">
                <a:solidFill>
                  <a:srgbClr val="526171"/>
                </a:solidFill>
                <a:latin typeface="Aptos" pitchFamily="34" charset="0"/>
                <a:ea typeface="Aptos" pitchFamily="34" charset="-122"/>
                <a:cs typeface="Aptos" pitchFamily="34" charset="-120"/>
              </a:rPr>
              <a:t>5'</a:t>
            </a:r>
            <a:endParaRPr lang="en-US" sz="1800" dirty="0"/>
          </a:p>
        </p:txBody>
      </p:sp>
      <p:sp>
        <p:nvSpPr>
          <p:cNvPr id="17" name="Text 15"/>
          <p:cNvSpPr/>
          <p:nvPr/>
        </p:nvSpPr>
        <p:spPr>
          <a:xfrm>
            <a:off x="4636008" y="2368296"/>
            <a:ext cx="548640" cy="457200"/>
          </a:xfrm>
          <a:prstGeom prst="rect">
            <a:avLst/>
          </a:prstGeom>
          <a:noFill/>
          <a:ln/>
        </p:spPr>
        <p:txBody>
          <a:bodyPr wrap="square" lIns="0" tIns="0" rIns="0" bIns="0" rtlCol="0" anchor="ctr">
            <a:normAutofit/>
          </a:bodyPr>
          <a:lstStyle/>
          <a:p>
            <a:pPr algn="r" indent="0" marL="0">
              <a:buNone/>
            </a:pPr>
            <a:r>
              <a:rPr lang="en-US" sz="1800" dirty="0">
                <a:solidFill>
                  <a:srgbClr val="526171"/>
                </a:solidFill>
                <a:latin typeface="Aptos" pitchFamily="34" charset="0"/>
                <a:ea typeface="Aptos" pitchFamily="34" charset="-122"/>
                <a:cs typeface="Aptos" pitchFamily="34" charset="-120"/>
              </a:rPr>
              <a:t>3'</a:t>
            </a:r>
            <a:endParaRPr lang="en-US" sz="1800" dirty="0"/>
          </a:p>
        </p:txBody>
      </p:sp>
      <p:sp>
        <p:nvSpPr>
          <p:cNvPr id="18" name="Text 16"/>
          <p:cNvSpPr/>
          <p:nvPr/>
        </p:nvSpPr>
        <p:spPr>
          <a:xfrm>
            <a:off x="841248" y="3182112"/>
            <a:ext cx="4471416" cy="1234440"/>
          </a:xfrm>
          <a:prstGeom prst="rect">
            <a:avLst/>
          </a:prstGeom>
          <a:noFill/>
          <a:ln/>
        </p:spPr>
        <p:txBody>
          <a:bodyPr wrap="square" lIns="0" tIns="0" rIns="0" bIns="0" rtlCol="0" anchor="ctr">
            <a:normAutofit/>
          </a:bodyPr>
          <a:lstStyle/>
          <a:p>
            <a:pPr algn="ctr" indent="0" marL="0">
              <a:buNone/>
            </a:pPr>
            <a:r>
              <a:rPr lang="en-US" sz="2997" b="1" dirty="0">
                <a:solidFill>
                  <a:srgbClr val="2A78D6"/>
                </a:solidFill>
                <a:latin typeface="Consolas" pitchFamily="34" charset="0"/>
                <a:ea typeface="Consolas" pitchFamily="34" charset="-122"/>
                <a:cs typeface="Consolas" pitchFamily="34" charset="-120"/>
              </a:rPr>
              <a:t>AUG | GCU | UAA</a:t>
            </a:r>
            <a:endParaRPr lang="en-US" sz="2997" dirty="0"/>
          </a:p>
        </p:txBody>
      </p:sp>
      <p:sp>
        <p:nvSpPr>
          <p:cNvPr id="19" name="Text 17"/>
          <p:cNvSpPr/>
          <p:nvPr/>
        </p:nvSpPr>
        <p:spPr>
          <a:xfrm>
            <a:off x="841248" y="4992624"/>
            <a:ext cx="4471416" cy="658368"/>
          </a:xfrm>
          <a:prstGeom prst="rect">
            <a:avLst/>
          </a:prstGeom>
          <a:noFill/>
          <a:ln/>
        </p:spPr>
        <p:txBody>
          <a:bodyPr wrap="square" lIns="0" tIns="0" rIns="0" bIns="0" rtlCol="0" anchor="ctr">
            <a:normAutofit/>
          </a:bodyPr>
          <a:lstStyle/>
          <a:p>
            <a:pPr algn="ctr" indent="0" marL="0">
              <a:buNone/>
            </a:pPr>
            <a:r>
              <a:rPr lang="en-US" sz="1997" dirty="0">
                <a:solidFill>
                  <a:srgbClr val="526171"/>
                </a:solidFill>
                <a:latin typeface="Aptos" pitchFamily="34" charset="0"/>
                <a:ea typeface="Aptos" pitchFamily="34" charset="-122"/>
                <a:cs typeface="Aptos" pitchFamily="34" charset="-120"/>
              </a:rPr>
              <a:t>Met  |  Ala  |  Stop</a:t>
            </a:r>
            <a:endParaRPr lang="en-US" sz="1997"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CORE</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Rows, columns and units</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S10  |  10</a:t>
            </a:r>
            <a:endParaRPr lang="en-US" sz="800" dirty="0"/>
          </a:p>
        </p:txBody>
      </p:sp>
      <p:sp>
        <p:nvSpPr>
          <p:cNvPr id="9" name="Shape 7"/>
          <p:cNvSpPr/>
          <p:nvPr/>
        </p:nvSpPr>
        <p:spPr>
          <a:xfrm>
            <a:off x="594360" y="1828800"/>
            <a:ext cx="3631692" cy="516636"/>
          </a:xfrm>
          <a:prstGeom prst="rect">
            <a:avLst/>
          </a:prstGeom>
          <a:solidFill>
            <a:srgbClr val="2A78D6"/>
          </a:solidFill>
          <a:ln w="7620">
            <a:solidFill>
              <a:srgbClr val="2A78D6"/>
            </a:solidFill>
            <a:prstDash val="solid"/>
          </a:ln>
        </p:spPr>
      </p:sp>
      <p:sp>
        <p:nvSpPr>
          <p:cNvPr id="10" name="Text 8"/>
          <p:cNvSpPr/>
          <p:nvPr/>
        </p:nvSpPr>
        <p:spPr>
          <a:xfrm>
            <a:off x="713232" y="1901952"/>
            <a:ext cx="3389376" cy="374904"/>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ptos" pitchFamily="34" charset="0"/>
                <a:ea typeface="Aptos" pitchFamily="34" charset="-122"/>
                <a:cs typeface="Aptos" pitchFamily="34" charset="-120"/>
              </a:rPr>
              <a:t>Gene</a:t>
            </a:r>
            <a:endParaRPr lang="en-US" sz="1600" dirty="0"/>
          </a:p>
        </p:txBody>
      </p:sp>
      <p:sp>
        <p:nvSpPr>
          <p:cNvPr id="11" name="Shape 9"/>
          <p:cNvSpPr/>
          <p:nvPr/>
        </p:nvSpPr>
        <p:spPr>
          <a:xfrm>
            <a:off x="4258056" y="1828800"/>
            <a:ext cx="3631692" cy="516636"/>
          </a:xfrm>
          <a:prstGeom prst="rect">
            <a:avLst/>
          </a:prstGeom>
          <a:solidFill>
            <a:srgbClr val="2A78D6"/>
          </a:solidFill>
          <a:ln w="7620">
            <a:solidFill>
              <a:srgbClr val="2A78D6"/>
            </a:solidFill>
            <a:prstDash val="solid"/>
          </a:ln>
        </p:spPr>
      </p:sp>
      <p:sp>
        <p:nvSpPr>
          <p:cNvPr id="12" name="Text 10"/>
          <p:cNvSpPr/>
          <p:nvPr/>
        </p:nvSpPr>
        <p:spPr>
          <a:xfrm>
            <a:off x="4376928" y="1901952"/>
            <a:ext cx="3389376" cy="374904"/>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ptos" pitchFamily="34" charset="0"/>
                <a:ea typeface="Aptos" pitchFamily="34" charset="-122"/>
                <a:cs typeface="Aptos" pitchFamily="34" charset="-120"/>
              </a:rPr>
              <a:t>Sample A</a:t>
            </a:r>
            <a:endParaRPr lang="en-US" sz="1600" dirty="0"/>
          </a:p>
        </p:txBody>
      </p:sp>
      <p:sp>
        <p:nvSpPr>
          <p:cNvPr id="13" name="Shape 11"/>
          <p:cNvSpPr/>
          <p:nvPr/>
        </p:nvSpPr>
        <p:spPr>
          <a:xfrm>
            <a:off x="7921752" y="1828800"/>
            <a:ext cx="3631692" cy="516636"/>
          </a:xfrm>
          <a:prstGeom prst="rect">
            <a:avLst/>
          </a:prstGeom>
          <a:solidFill>
            <a:srgbClr val="2A78D6"/>
          </a:solidFill>
          <a:ln w="7620">
            <a:solidFill>
              <a:srgbClr val="2A78D6"/>
            </a:solidFill>
            <a:prstDash val="solid"/>
          </a:ln>
        </p:spPr>
      </p:sp>
      <p:sp>
        <p:nvSpPr>
          <p:cNvPr id="14" name="Text 12"/>
          <p:cNvSpPr/>
          <p:nvPr/>
        </p:nvSpPr>
        <p:spPr>
          <a:xfrm>
            <a:off x="8040624" y="1901952"/>
            <a:ext cx="3389376" cy="374904"/>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ptos" pitchFamily="34" charset="0"/>
                <a:ea typeface="Aptos" pitchFamily="34" charset="-122"/>
                <a:cs typeface="Aptos" pitchFamily="34" charset="-120"/>
              </a:rPr>
              <a:t>Sample B</a:t>
            </a:r>
            <a:endParaRPr lang="en-US" sz="1600" dirty="0"/>
          </a:p>
        </p:txBody>
      </p:sp>
      <p:sp>
        <p:nvSpPr>
          <p:cNvPr id="15" name="Shape 13"/>
          <p:cNvSpPr/>
          <p:nvPr/>
        </p:nvSpPr>
        <p:spPr>
          <a:xfrm>
            <a:off x="594360" y="2377440"/>
            <a:ext cx="3631692" cy="516636"/>
          </a:xfrm>
          <a:prstGeom prst="rect">
            <a:avLst/>
          </a:prstGeom>
          <a:solidFill>
            <a:srgbClr val="EAF2FC"/>
          </a:solidFill>
          <a:ln w="7620">
            <a:solidFill>
              <a:srgbClr val="EAF2FC"/>
            </a:solidFill>
            <a:prstDash val="solid"/>
          </a:ln>
        </p:spPr>
      </p:sp>
      <p:sp>
        <p:nvSpPr>
          <p:cNvPr id="16" name="Text 14"/>
          <p:cNvSpPr/>
          <p:nvPr/>
        </p:nvSpPr>
        <p:spPr>
          <a:xfrm>
            <a:off x="713232" y="244144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G1</a:t>
            </a:r>
            <a:endParaRPr lang="en-US" sz="1600" dirty="0"/>
          </a:p>
        </p:txBody>
      </p:sp>
      <p:sp>
        <p:nvSpPr>
          <p:cNvPr id="17" name="Shape 15"/>
          <p:cNvSpPr/>
          <p:nvPr/>
        </p:nvSpPr>
        <p:spPr>
          <a:xfrm>
            <a:off x="4258056" y="2377440"/>
            <a:ext cx="3631692" cy="516636"/>
          </a:xfrm>
          <a:prstGeom prst="rect">
            <a:avLst/>
          </a:prstGeom>
          <a:solidFill>
            <a:srgbClr val="EAF2FC"/>
          </a:solidFill>
          <a:ln w="7620">
            <a:solidFill>
              <a:srgbClr val="EAF2FC"/>
            </a:solidFill>
            <a:prstDash val="solid"/>
          </a:ln>
        </p:spPr>
      </p:sp>
      <p:sp>
        <p:nvSpPr>
          <p:cNvPr id="18" name="Text 16"/>
          <p:cNvSpPr/>
          <p:nvPr/>
        </p:nvSpPr>
        <p:spPr>
          <a:xfrm>
            <a:off x="4376928" y="244144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10</a:t>
            </a:r>
            <a:endParaRPr lang="en-US" sz="1600" dirty="0"/>
          </a:p>
        </p:txBody>
      </p:sp>
      <p:sp>
        <p:nvSpPr>
          <p:cNvPr id="19" name="Shape 17"/>
          <p:cNvSpPr/>
          <p:nvPr/>
        </p:nvSpPr>
        <p:spPr>
          <a:xfrm>
            <a:off x="7921752" y="2377440"/>
            <a:ext cx="3631692" cy="516636"/>
          </a:xfrm>
          <a:prstGeom prst="rect">
            <a:avLst/>
          </a:prstGeom>
          <a:solidFill>
            <a:srgbClr val="EAF2FC"/>
          </a:solidFill>
          <a:ln w="7620">
            <a:solidFill>
              <a:srgbClr val="EAF2FC"/>
            </a:solidFill>
            <a:prstDash val="solid"/>
          </a:ln>
        </p:spPr>
      </p:sp>
      <p:sp>
        <p:nvSpPr>
          <p:cNvPr id="20" name="Text 18"/>
          <p:cNvSpPr/>
          <p:nvPr/>
        </p:nvSpPr>
        <p:spPr>
          <a:xfrm>
            <a:off x="8040624" y="244144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20</a:t>
            </a:r>
            <a:endParaRPr lang="en-US" sz="1600" dirty="0"/>
          </a:p>
        </p:txBody>
      </p:sp>
      <p:sp>
        <p:nvSpPr>
          <p:cNvPr id="21" name="Shape 19"/>
          <p:cNvSpPr/>
          <p:nvPr/>
        </p:nvSpPr>
        <p:spPr>
          <a:xfrm>
            <a:off x="594360" y="2926080"/>
            <a:ext cx="3631692" cy="516636"/>
          </a:xfrm>
          <a:prstGeom prst="rect">
            <a:avLst/>
          </a:prstGeom>
          <a:solidFill>
            <a:srgbClr val="FFFFFF"/>
          </a:solidFill>
          <a:ln w="7620">
            <a:solidFill>
              <a:srgbClr val="FFFFFF"/>
            </a:solidFill>
            <a:prstDash val="solid"/>
          </a:ln>
        </p:spPr>
      </p:sp>
      <p:sp>
        <p:nvSpPr>
          <p:cNvPr id="22" name="Text 20"/>
          <p:cNvSpPr/>
          <p:nvPr/>
        </p:nvSpPr>
        <p:spPr>
          <a:xfrm>
            <a:off x="713232" y="299008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G2</a:t>
            </a:r>
            <a:endParaRPr lang="en-US" sz="1600" dirty="0"/>
          </a:p>
        </p:txBody>
      </p:sp>
      <p:sp>
        <p:nvSpPr>
          <p:cNvPr id="23" name="Shape 21"/>
          <p:cNvSpPr/>
          <p:nvPr/>
        </p:nvSpPr>
        <p:spPr>
          <a:xfrm>
            <a:off x="4258056" y="2926080"/>
            <a:ext cx="3631692" cy="516636"/>
          </a:xfrm>
          <a:prstGeom prst="rect">
            <a:avLst/>
          </a:prstGeom>
          <a:solidFill>
            <a:srgbClr val="FFFFFF"/>
          </a:solidFill>
          <a:ln w="7620">
            <a:solidFill>
              <a:srgbClr val="FFFFFF"/>
            </a:solidFill>
            <a:prstDash val="solid"/>
          </a:ln>
        </p:spPr>
      </p:sp>
      <p:sp>
        <p:nvSpPr>
          <p:cNvPr id="24" name="Text 22"/>
          <p:cNvSpPr/>
          <p:nvPr/>
        </p:nvSpPr>
        <p:spPr>
          <a:xfrm>
            <a:off x="4376928" y="299008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30</a:t>
            </a:r>
            <a:endParaRPr lang="en-US" sz="1600" dirty="0"/>
          </a:p>
        </p:txBody>
      </p:sp>
      <p:sp>
        <p:nvSpPr>
          <p:cNvPr id="25" name="Shape 23"/>
          <p:cNvSpPr/>
          <p:nvPr/>
        </p:nvSpPr>
        <p:spPr>
          <a:xfrm>
            <a:off x="7921752" y="2926080"/>
            <a:ext cx="3631692" cy="516636"/>
          </a:xfrm>
          <a:prstGeom prst="rect">
            <a:avLst/>
          </a:prstGeom>
          <a:solidFill>
            <a:srgbClr val="FFFFFF"/>
          </a:solidFill>
          <a:ln w="7620">
            <a:solidFill>
              <a:srgbClr val="FFFFFF"/>
            </a:solidFill>
            <a:prstDash val="solid"/>
          </a:ln>
        </p:spPr>
      </p:sp>
      <p:sp>
        <p:nvSpPr>
          <p:cNvPr id="26" name="Text 24"/>
          <p:cNvSpPr/>
          <p:nvPr/>
        </p:nvSpPr>
        <p:spPr>
          <a:xfrm>
            <a:off x="8040624" y="299008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30</a:t>
            </a:r>
            <a:endParaRPr lang="en-US" sz="1600" dirty="0"/>
          </a:p>
        </p:txBody>
      </p:sp>
      <p:sp>
        <p:nvSpPr>
          <p:cNvPr id="27" name="Shape 25"/>
          <p:cNvSpPr/>
          <p:nvPr/>
        </p:nvSpPr>
        <p:spPr>
          <a:xfrm>
            <a:off x="594360" y="3474720"/>
            <a:ext cx="3631692" cy="516636"/>
          </a:xfrm>
          <a:prstGeom prst="rect">
            <a:avLst/>
          </a:prstGeom>
          <a:solidFill>
            <a:srgbClr val="EAF2FC"/>
          </a:solidFill>
          <a:ln w="7620">
            <a:solidFill>
              <a:srgbClr val="EAF2FC"/>
            </a:solidFill>
            <a:prstDash val="solid"/>
          </a:ln>
        </p:spPr>
      </p:sp>
      <p:sp>
        <p:nvSpPr>
          <p:cNvPr id="28" name="Text 26"/>
          <p:cNvSpPr/>
          <p:nvPr/>
        </p:nvSpPr>
        <p:spPr>
          <a:xfrm>
            <a:off x="713232" y="353872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G3</a:t>
            </a:r>
            <a:endParaRPr lang="en-US" sz="1600" dirty="0"/>
          </a:p>
        </p:txBody>
      </p:sp>
      <p:sp>
        <p:nvSpPr>
          <p:cNvPr id="29" name="Shape 27"/>
          <p:cNvSpPr/>
          <p:nvPr/>
        </p:nvSpPr>
        <p:spPr>
          <a:xfrm>
            <a:off x="4258056" y="3474720"/>
            <a:ext cx="3631692" cy="516636"/>
          </a:xfrm>
          <a:prstGeom prst="rect">
            <a:avLst/>
          </a:prstGeom>
          <a:solidFill>
            <a:srgbClr val="EAF2FC"/>
          </a:solidFill>
          <a:ln w="7620">
            <a:solidFill>
              <a:srgbClr val="EAF2FC"/>
            </a:solidFill>
            <a:prstDash val="solid"/>
          </a:ln>
        </p:spPr>
      </p:sp>
      <p:sp>
        <p:nvSpPr>
          <p:cNvPr id="30" name="Text 28"/>
          <p:cNvSpPr/>
          <p:nvPr/>
        </p:nvSpPr>
        <p:spPr>
          <a:xfrm>
            <a:off x="4376928" y="353872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0</a:t>
            </a:r>
            <a:endParaRPr lang="en-US" sz="1600" dirty="0"/>
          </a:p>
        </p:txBody>
      </p:sp>
      <p:sp>
        <p:nvSpPr>
          <p:cNvPr id="31" name="Shape 29"/>
          <p:cNvSpPr/>
          <p:nvPr/>
        </p:nvSpPr>
        <p:spPr>
          <a:xfrm>
            <a:off x="7921752" y="3474720"/>
            <a:ext cx="3631692" cy="516636"/>
          </a:xfrm>
          <a:prstGeom prst="rect">
            <a:avLst/>
          </a:prstGeom>
          <a:solidFill>
            <a:srgbClr val="EAF2FC"/>
          </a:solidFill>
          <a:ln w="7620">
            <a:solidFill>
              <a:srgbClr val="EAF2FC"/>
            </a:solidFill>
            <a:prstDash val="solid"/>
          </a:ln>
        </p:spPr>
      </p:sp>
      <p:sp>
        <p:nvSpPr>
          <p:cNvPr id="32" name="Text 30"/>
          <p:cNvSpPr/>
          <p:nvPr/>
        </p:nvSpPr>
        <p:spPr>
          <a:xfrm>
            <a:off x="8040624" y="353872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4</a:t>
            </a:r>
            <a:endParaRPr lang="en-US" sz="1600" dirty="0"/>
          </a:p>
        </p:txBody>
      </p:sp>
      <p:sp>
        <p:nvSpPr>
          <p:cNvPr id="33" name="Shape 31"/>
          <p:cNvSpPr/>
          <p:nvPr/>
        </p:nvSpPr>
        <p:spPr>
          <a:xfrm>
            <a:off x="612648" y="4279392"/>
            <a:ext cx="50292" cy="435864"/>
          </a:xfrm>
          <a:prstGeom prst="rect">
            <a:avLst/>
          </a:prstGeom>
          <a:solidFill>
            <a:srgbClr val="2A78D6"/>
          </a:solidFill>
          <a:ln w="7620">
            <a:solidFill>
              <a:srgbClr val="2A78D6"/>
            </a:solidFill>
            <a:prstDash val="solid"/>
          </a:ln>
        </p:spPr>
      </p:sp>
      <p:sp>
        <p:nvSpPr>
          <p:cNvPr id="34" name="Text 32"/>
          <p:cNvSpPr/>
          <p:nvPr/>
        </p:nvSpPr>
        <p:spPr>
          <a:xfrm>
            <a:off x="813816" y="4279392"/>
            <a:ext cx="10725912" cy="435864"/>
          </a:xfrm>
          <a:prstGeom prst="rect">
            <a:avLst/>
          </a:prstGeom>
          <a:noFill/>
          <a:ln/>
        </p:spPr>
        <p:txBody>
          <a:bodyPr wrap="square" lIns="0" tIns="0" rIns="0" bIns="0" rtlCol="0" anchor="ctr">
            <a:normAutofit/>
          </a:bodyPr>
          <a:lstStyle/>
          <a:p>
            <a:pPr indent="0" marL="0">
              <a:buNone/>
            </a:pPr>
            <a:r>
              <a:rPr lang="en-US" sz="2100" dirty="0">
                <a:solidFill>
                  <a:srgbClr val="232D3B"/>
                </a:solidFill>
                <a:latin typeface="Aptos" pitchFamily="34" charset="0"/>
                <a:ea typeface="Aptos" pitchFamily="34" charset="-122"/>
                <a:cs typeface="Aptos" pitchFamily="34" charset="-120"/>
              </a:rPr>
              <a:t>In this table: rows are genes; columns are samples.</a:t>
            </a:r>
            <a:endParaRPr lang="en-US" sz="2100" dirty="0"/>
          </a:p>
        </p:txBody>
      </p:sp>
      <p:sp>
        <p:nvSpPr>
          <p:cNvPr id="35" name="Shape 33"/>
          <p:cNvSpPr/>
          <p:nvPr/>
        </p:nvSpPr>
        <p:spPr>
          <a:xfrm>
            <a:off x="612648" y="4916424"/>
            <a:ext cx="50292" cy="435864"/>
          </a:xfrm>
          <a:prstGeom prst="rect">
            <a:avLst/>
          </a:prstGeom>
          <a:solidFill>
            <a:srgbClr val="2A78D6"/>
          </a:solidFill>
          <a:ln w="7620">
            <a:solidFill>
              <a:srgbClr val="2A78D6"/>
            </a:solidFill>
            <a:prstDash val="solid"/>
          </a:ln>
        </p:spPr>
      </p:sp>
      <p:sp>
        <p:nvSpPr>
          <p:cNvPr id="36" name="Text 34"/>
          <p:cNvSpPr/>
          <p:nvPr/>
        </p:nvSpPr>
        <p:spPr>
          <a:xfrm>
            <a:off x="813816" y="4916424"/>
            <a:ext cx="10725912" cy="435864"/>
          </a:xfrm>
          <a:prstGeom prst="rect">
            <a:avLst/>
          </a:prstGeom>
          <a:noFill/>
          <a:ln/>
        </p:spPr>
        <p:txBody>
          <a:bodyPr wrap="square" lIns="0" tIns="0" rIns="0" bIns="0" rtlCol="0" anchor="ctr">
            <a:normAutofit/>
          </a:bodyPr>
          <a:lstStyle/>
          <a:p>
            <a:pPr indent="0" marL="0">
              <a:buNone/>
            </a:pPr>
            <a:r>
              <a:rPr lang="en-US" sz="2100" dirty="0">
                <a:solidFill>
                  <a:srgbClr val="232D3B"/>
                </a:solidFill>
                <a:latin typeface="Aptos" pitchFamily="34" charset="0"/>
                <a:ea typeface="Aptos" pitchFamily="34" charset="-122"/>
                <a:cs typeface="Aptos" pitchFamily="34" charset="-120"/>
              </a:rPr>
              <a:t>An entry is an observed count, not a number of patients.</a:t>
            </a:r>
            <a:endParaRPr lang="en-US" sz="2100" dirty="0"/>
          </a:p>
        </p:txBody>
      </p:sp>
      <p:sp>
        <p:nvSpPr>
          <p:cNvPr id="37" name="Shape 35"/>
          <p:cNvSpPr/>
          <p:nvPr/>
        </p:nvSpPr>
        <p:spPr>
          <a:xfrm>
            <a:off x="612648" y="5553456"/>
            <a:ext cx="50292" cy="435864"/>
          </a:xfrm>
          <a:prstGeom prst="rect">
            <a:avLst/>
          </a:prstGeom>
          <a:solidFill>
            <a:srgbClr val="2A78D6"/>
          </a:solidFill>
          <a:ln w="7620">
            <a:solidFill>
              <a:srgbClr val="2A78D6"/>
            </a:solidFill>
            <a:prstDash val="solid"/>
          </a:ln>
        </p:spPr>
      </p:sp>
      <p:sp>
        <p:nvSpPr>
          <p:cNvPr id="38" name="Text 36"/>
          <p:cNvSpPr/>
          <p:nvPr/>
        </p:nvSpPr>
        <p:spPr>
          <a:xfrm>
            <a:off x="813816" y="5553456"/>
            <a:ext cx="10725912" cy="435864"/>
          </a:xfrm>
          <a:prstGeom prst="rect">
            <a:avLst/>
          </a:prstGeom>
          <a:noFill/>
          <a:ln/>
        </p:spPr>
        <p:txBody>
          <a:bodyPr wrap="square" lIns="0" tIns="0" rIns="0" bIns="0" rtlCol="0" anchor="ctr">
            <a:normAutofit/>
          </a:bodyPr>
          <a:lstStyle/>
          <a:p>
            <a:pPr indent="0" marL="0">
              <a:buNone/>
            </a:pPr>
            <a:r>
              <a:rPr lang="en-US" sz="2100" dirty="0">
                <a:solidFill>
                  <a:srgbClr val="232D3B"/>
                </a:solidFill>
                <a:latin typeface="Aptos" pitchFamily="34" charset="0"/>
                <a:ea typeface="Aptos" pitchFamily="34" charset="-122"/>
                <a:cs typeface="Aptos" pitchFamily="34" charset="-120"/>
              </a:rPr>
              <a:t>Always read the labels before doing arithmetic.</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CORE</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Ratios and logarithms without fear</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11</a:t>
            </a:r>
            <a:endParaRPr lang="en-US" sz="800" dirty="0"/>
          </a:p>
        </p:txBody>
      </p:sp>
      <p:sp>
        <p:nvSpPr>
          <p:cNvPr id="9" name="Shape 7"/>
          <p:cNvSpPr/>
          <p:nvPr/>
        </p:nvSpPr>
        <p:spPr>
          <a:xfrm>
            <a:off x="594360" y="1828800"/>
            <a:ext cx="3631692" cy="516636"/>
          </a:xfrm>
          <a:prstGeom prst="rect">
            <a:avLst/>
          </a:prstGeom>
          <a:solidFill>
            <a:srgbClr val="2A78D6"/>
          </a:solidFill>
          <a:ln w="7620">
            <a:solidFill>
              <a:srgbClr val="2A78D6"/>
            </a:solidFill>
            <a:prstDash val="solid"/>
          </a:ln>
        </p:spPr>
      </p:sp>
      <p:sp>
        <p:nvSpPr>
          <p:cNvPr id="10" name="Text 8"/>
          <p:cNvSpPr/>
          <p:nvPr/>
        </p:nvSpPr>
        <p:spPr>
          <a:xfrm>
            <a:off x="713232" y="1901952"/>
            <a:ext cx="3389376" cy="374904"/>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ptos" pitchFamily="34" charset="0"/>
                <a:ea typeface="Aptos" pitchFamily="34" charset="-122"/>
                <a:cs typeface="Aptos" pitchFamily="34" charset="-120"/>
              </a:rPr>
              <a:t>B / A</a:t>
            </a:r>
            <a:endParaRPr lang="en-US" sz="1600" dirty="0"/>
          </a:p>
        </p:txBody>
      </p:sp>
      <p:sp>
        <p:nvSpPr>
          <p:cNvPr id="11" name="Shape 9"/>
          <p:cNvSpPr/>
          <p:nvPr/>
        </p:nvSpPr>
        <p:spPr>
          <a:xfrm>
            <a:off x="4258056" y="1828800"/>
            <a:ext cx="3631692" cy="516636"/>
          </a:xfrm>
          <a:prstGeom prst="rect">
            <a:avLst/>
          </a:prstGeom>
          <a:solidFill>
            <a:srgbClr val="2A78D6"/>
          </a:solidFill>
          <a:ln w="7620">
            <a:solidFill>
              <a:srgbClr val="2A78D6"/>
            </a:solidFill>
            <a:prstDash val="solid"/>
          </a:ln>
        </p:spPr>
      </p:sp>
      <p:sp>
        <p:nvSpPr>
          <p:cNvPr id="12" name="Text 10"/>
          <p:cNvSpPr/>
          <p:nvPr/>
        </p:nvSpPr>
        <p:spPr>
          <a:xfrm>
            <a:off x="4376928" y="1901952"/>
            <a:ext cx="3389376" cy="374904"/>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ptos" pitchFamily="34" charset="0"/>
                <a:ea typeface="Aptos" pitchFamily="34" charset="-122"/>
                <a:cs typeface="Aptos" pitchFamily="34" charset="-120"/>
              </a:rPr>
              <a:t>Meaning</a:t>
            </a:r>
            <a:endParaRPr lang="en-US" sz="1600" dirty="0"/>
          </a:p>
        </p:txBody>
      </p:sp>
      <p:sp>
        <p:nvSpPr>
          <p:cNvPr id="13" name="Shape 11"/>
          <p:cNvSpPr/>
          <p:nvPr/>
        </p:nvSpPr>
        <p:spPr>
          <a:xfrm>
            <a:off x="7921752" y="1828800"/>
            <a:ext cx="3631692" cy="516636"/>
          </a:xfrm>
          <a:prstGeom prst="rect">
            <a:avLst/>
          </a:prstGeom>
          <a:solidFill>
            <a:srgbClr val="2A78D6"/>
          </a:solidFill>
          <a:ln w="7620">
            <a:solidFill>
              <a:srgbClr val="2A78D6"/>
            </a:solidFill>
            <a:prstDash val="solid"/>
          </a:ln>
        </p:spPr>
      </p:sp>
      <p:sp>
        <p:nvSpPr>
          <p:cNvPr id="14" name="Text 12"/>
          <p:cNvSpPr/>
          <p:nvPr/>
        </p:nvSpPr>
        <p:spPr>
          <a:xfrm>
            <a:off x="8040624" y="1901952"/>
            <a:ext cx="3389376" cy="374904"/>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ptos" pitchFamily="34" charset="0"/>
                <a:ea typeface="Aptos" pitchFamily="34" charset="-122"/>
                <a:cs typeface="Aptos" pitchFamily="34" charset="-120"/>
              </a:rPr>
              <a:t>log2 ratio</a:t>
            </a:r>
            <a:endParaRPr lang="en-US" sz="1600" dirty="0"/>
          </a:p>
        </p:txBody>
      </p:sp>
      <p:sp>
        <p:nvSpPr>
          <p:cNvPr id="15" name="Shape 13"/>
          <p:cNvSpPr/>
          <p:nvPr/>
        </p:nvSpPr>
        <p:spPr>
          <a:xfrm>
            <a:off x="594360" y="2377440"/>
            <a:ext cx="3631692" cy="516636"/>
          </a:xfrm>
          <a:prstGeom prst="rect">
            <a:avLst/>
          </a:prstGeom>
          <a:solidFill>
            <a:srgbClr val="EAF2FC"/>
          </a:solidFill>
          <a:ln w="7620">
            <a:solidFill>
              <a:srgbClr val="EAF2FC"/>
            </a:solidFill>
            <a:prstDash val="solid"/>
          </a:ln>
        </p:spPr>
      </p:sp>
      <p:sp>
        <p:nvSpPr>
          <p:cNvPr id="16" name="Text 14"/>
          <p:cNvSpPr/>
          <p:nvPr/>
        </p:nvSpPr>
        <p:spPr>
          <a:xfrm>
            <a:off x="713232" y="244144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2</a:t>
            </a:r>
            <a:endParaRPr lang="en-US" sz="1600" dirty="0"/>
          </a:p>
        </p:txBody>
      </p:sp>
      <p:sp>
        <p:nvSpPr>
          <p:cNvPr id="17" name="Shape 15"/>
          <p:cNvSpPr/>
          <p:nvPr/>
        </p:nvSpPr>
        <p:spPr>
          <a:xfrm>
            <a:off x="4258056" y="2377440"/>
            <a:ext cx="3631692" cy="516636"/>
          </a:xfrm>
          <a:prstGeom prst="rect">
            <a:avLst/>
          </a:prstGeom>
          <a:solidFill>
            <a:srgbClr val="EAF2FC"/>
          </a:solidFill>
          <a:ln w="7620">
            <a:solidFill>
              <a:srgbClr val="EAF2FC"/>
            </a:solidFill>
            <a:prstDash val="solid"/>
          </a:ln>
        </p:spPr>
      </p:sp>
      <p:sp>
        <p:nvSpPr>
          <p:cNvPr id="18" name="Text 16"/>
          <p:cNvSpPr/>
          <p:nvPr/>
        </p:nvSpPr>
        <p:spPr>
          <a:xfrm>
            <a:off x="4376928" y="244144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twice as large</a:t>
            </a:r>
            <a:endParaRPr lang="en-US" sz="1600" dirty="0"/>
          </a:p>
        </p:txBody>
      </p:sp>
      <p:sp>
        <p:nvSpPr>
          <p:cNvPr id="19" name="Shape 17"/>
          <p:cNvSpPr/>
          <p:nvPr/>
        </p:nvSpPr>
        <p:spPr>
          <a:xfrm>
            <a:off x="7921752" y="2377440"/>
            <a:ext cx="3631692" cy="516636"/>
          </a:xfrm>
          <a:prstGeom prst="rect">
            <a:avLst/>
          </a:prstGeom>
          <a:solidFill>
            <a:srgbClr val="EAF2FC"/>
          </a:solidFill>
          <a:ln w="7620">
            <a:solidFill>
              <a:srgbClr val="EAF2FC"/>
            </a:solidFill>
            <a:prstDash val="solid"/>
          </a:ln>
        </p:spPr>
      </p:sp>
      <p:sp>
        <p:nvSpPr>
          <p:cNvPr id="20" name="Text 18"/>
          <p:cNvSpPr/>
          <p:nvPr/>
        </p:nvSpPr>
        <p:spPr>
          <a:xfrm>
            <a:off x="8040624" y="244144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+1</a:t>
            </a:r>
            <a:endParaRPr lang="en-US" sz="1600" dirty="0"/>
          </a:p>
        </p:txBody>
      </p:sp>
      <p:sp>
        <p:nvSpPr>
          <p:cNvPr id="21" name="Shape 19"/>
          <p:cNvSpPr/>
          <p:nvPr/>
        </p:nvSpPr>
        <p:spPr>
          <a:xfrm>
            <a:off x="594360" y="2926080"/>
            <a:ext cx="3631692" cy="516636"/>
          </a:xfrm>
          <a:prstGeom prst="rect">
            <a:avLst/>
          </a:prstGeom>
          <a:solidFill>
            <a:srgbClr val="FFFFFF"/>
          </a:solidFill>
          <a:ln w="7620">
            <a:solidFill>
              <a:srgbClr val="FFFFFF"/>
            </a:solidFill>
            <a:prstDash val="solid"/>
          </a:ln>
        </p:spPr>
      </p:sp>
      <p:sp>
        <p:nvSpPr>
          <p:cNvPr id="22" name="Text 20"/>
          <p:cNvSpPr/>
          <p:nvPr/>
        </p:nvSpPr>
        <p:spPr>
          <a:xfrm>
            <a:off x="713232" y="299008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1</a:t>
            </a:r>
            <a:endParaRPr lang="en-US" sz="1600" dirty="0"/>
          </a:p>
        </p:txBody>
      </p:sp>
      <p:sp>
        <p:nvSpPr>
          <p:cNvPr id="23" name="Shape 21"/>
          <p:cNvSpPr/>
          <p:nvPr/>
        </p:nvSpPr>
        <p:spPr>
          <a:xfrm>
            <a:off x="4258056" y="2926080"/>
            <a:ext cx="3631692" cy="516636"/>
          </a:xfrm>
          <a:prstGeom prst="rect">
            <a:avLst/>
          </a:prstGeom>
          <a:solidFill>
            <a:srgbClr val="FFFFFF"/>
          </a:solidFill>
          <a:ln w="7620">
            <a:solidFill>
              <a:srgbClr val="FFFFFF"/>
            </a:solidFill>
            <a:prstDash val="solid"/>
          </a:ln>
        </p:spPr>
      </p:sp>
      <p:sp>
        <p:nvSpPr>
          <p:cNvPr id="24" name="Text 22"/>
          <p:cNvSpPr/>
          <p:nvPr/>
        </p:nvSpPr>
        <p:spPr>
          <a:xfrm>
            <a:off x="4376928" y="299008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unchanged</a:t>
            </a:r>
            <a:endParaRPr lang="en-US" sz="1600" dirty="0"/>
          </a:p>
        </p:txBody>
      </p:sp>
      <p:sp>
        <p:nvSpPr>
          <p:cNvPr id="25" name="Shape 23"/>
          <p:cNvSpPr/>
          <p:nvPr/>
        </p:nvSpPr>
        <p:spPr>
          <a:xfrm>
            <a:off x="7921752" y="2926080"/>
            <a:ext cx="3631692" cy="516636"/>
          </a:xfrm>
          <a:prstGeom prst="rect">
            <a:avLst/>
          </a:prstGeom>
          <a:solidFill>
            <a:srgbClr val="FFFFFF"/>
          </a:solidFill>
          <a:ln w="7620">
            <a:solidFill>
              <a:srgbClr val="FFFFFF"/>
            </a:solidFill>
            <a:prstDash val="solid"/>
          </a:ln>
        </p:spPr>
      </p:sp>
      <p:sp>
        <p:nvSpPr>
          <p:cNvPr id="26" name="Text 24"/>
          <p:cNvSpPr/>
          <p:nvPr/>
        </p:nvSpPr>
        <p:spPr>
          <a:xfrm>
            <a:off x="8040624" y="299008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0</a:t>
            </a:r>
            <a:endParaRPr lang="en-US" sz="1600" dirty="0"/>
          </a:p>
        </p:txBody>
      </p:sp>
      <p:sp>
        <p:nvSpPr>
          <p:cNvPr id="27" name="Shape 25"/>
          <p:cNvSpPr/>
          <p:nvPr/>
        </p:nvSpPr>
        <p:spPr>
          <a:xfrm>
            <a:off x="594360" y="3474720"/>
            <a:ext cx="3631692" cy="516636"/>
          </a:xfrm>
          <a:prstGeom prst="rect">
            <a:avLst/>
          </a:prstGeom>
          <a:solidFill>
            <a:srgbClr val="EAF2FC"/>
          </a:solidFill>
          <a:ln w="7620">
            <a:solidFill>
              <a:srgbClr val="EAF2FC"/>
            </a:solidFill>
            <a:prstDash val="solid"/>
          </a:ln>
        </p:spPr>
      </p:sp>
      <p:sp>
        <p:nvSpPr>
          <p:cNvPr id="28" name="Text 26"/>
          <p:cNvSpPr/>
          <p:nvPr/>
        </p:nvSpPr>
        <p:spPr>
          <a:xfrm>
            <a:off x="713232" y="353872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0.5</a:t>
            </a:r>
            <a:endParaRPr lang="en-US" sz="1600" dirty="0"/>
          </a:p>
        </p:txBody>
      </p:sp>
      <p:sp>
        <p:nvSpPr>
          <p:cNvPr id="29" name="Shape 27"/>
          <p:cNvSpPr/>
          <p:nvPr/>
        </p:nvSpPr>
        <p:spPr>
          <a:xfrm>
            <a:off x="4258056" y="3474720"/>
            <a:ext cx="3631692" cy="516636"/>
          </a:xfrm>
          <a:prstGeom prst="rect">
            <a:avLst/>
          </a:prstGeom>
          <a:solidFill>
            <a:srgbClr val="EAF2FC"/>
          </a:solidFill>
          <a:ln w="7620">
            <a:solidFill>
              <a:srgbClr val="EAF2FC"/>
            </a:solidFill>
            <a:prstDash val="solid"/>
          </a:ln>
        </p:spPr>
      </p:sp>
      <p:sp>
        <p:nvSpPr>
          <p:cNvPr id="30" name="Text 28"/>
          <p:cNvSpPr/>
          <p:nvPr/>
        </p:nvSpPr>
        <p:spPr>
          <a:xfrm>
            <a:off x="4376928" y="353872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half as large</a:t>
            </a:r>
            <a:endParaRPr lang="en-US" sz="1600" dirty="0"/>
          </a:p>
        </p:txBody>
      </p:sp>
      <p:sp>
        <p:nvSpPr>
          <p:cNvPr id="31" name="Shape 29"/>
          <p:cNvSpPr/>
          <p:nvPr/>
        </p:nvSpPr>
        <p:spPr>
          <a:xfrm>
            <a:off x="7921752" y="3474720"/>
            <a:ext cx="3631692" cy="516636"/>
          </a:xfrm>
          <a:prstGeom prst="rect">
            <a:avLst/>
          </a:prstGeom>
          <a:solidFill>
            <a:srgbClr val="EAF2FC"/>
          </a:solidFill>
          <a:ln w="7620">
            <a:solidFill>
              <a:srgbClr val="EAF2FC"/>
            </a:solidFill>
            <a:prstDash val="solid"/>
          </a:ln>
        </p:spPr>
      </p:sp>
      <p:sp>
        <p:nvSpPr>
          <p:cNvPr id="32" name="Text 30"/>
          <p:cNvSpPr/>
          <p:nvPr/>
        </p:nvSpPr>
        <p:spPr>
          <a:xfrm>
            <a:off x="8040624" y="3538728"/>
            <a:ext cx="3389376" cy="393192"/>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-1</a:t>
            </a:r>
            <a:endParaRPr lang="en-US" sz="1600" dirty="0"/>
          </a:p>
        </p:txBody>
      </p:sp>
      <p:sp>
        <p:nvSpPr>
          <p:cNvPr id="33" name="Shape 31"/>
          <p:cNvSpPr/>
          <p:nvPr/>
        </p:nvSpPr>
        <p:spPr>
          <a:xfrm>
            <a:off x="612648" y="4279392"/>
            <a:ext cx="50292" cy="435864"/>
          </a:xfrm>
          <a:prstGeom prst="rect">
            <a:avLst/>
          </a:prstGeom>
          <a:solidFill>
            <a:srgbClr val="2A78D6"/>
          </a:solidFill>
          <a:ln w="7620">
            <a:solidFill>
              <a:srgbClr val="2A78D6"/>
            </a:solidFill>
            <a:prstDash val="solid"/>
          </a:ln>
        </p:spPr>
      </p:sp>
      <p:sp>
        <p:nvSpPr>
          <p:cNvPr id="34" name="Text 32"/>
          <p:cNvSpPr/>
          <p:nvPr/>
        </p:nvSpPr>
        <p:spPr>
          <a:xfrm>
            <a:off x="813816" y="4279392"/>
            <a:ext cx="10725912" cy="435864"/>
          </a:xfrm>
          <a:prstGeom prst="rect">
            <a:avLst/>
          </a:prstGeom>
          <a:noFill/>
          <a:ln/>
        </p:spPr>
        <p:txBody>
          <a:bodyPr wrap="square" lIns="0" tIns="0" rIns="0" bIns="0" rtlCol="0" anchor="ctr">
            <a:normAutofit/>
          </a:bodyPr>
          <a:lstStyle/>
          <a:p>
            <a:pPr indent="0" marL="0">
              <a:buNone/>
            </a:pPr>
            <a:r>
              <a:rPr lang="en-US" sz="2100" dirty="0">
                <a:solidFill>
                  <a:srgbClr val="232D3B"/>
                </a:solidFill>
                <a:latin typeface="Aptos" pitchFamily="34" charset="0"/>
                <a:ea typeface="Aptos" pitchFamily="34" charset="-122"/>
                <a:cs typeface="Aptos" pitchFamily="34" charset="-120"/>
              </a:rPr>
              <a:t>A change from 10 to 20 is a two-fold increase.</a:t>
            </a:r>
            <a:endParaRPr lang="en-US" sz="2100" dirty="0"/>
          </a:p>
        </p:txBody>
      </p:sp>
      <p:sp>
        <p:nvSpPr>
          <p:cNvPr id="35" name="Shape 33"/>
          <p:cNvSpPr/>
          <p:nvPr/>
        </p:nvSpPr>
        <p:spPr>
          <a:xfrm>
            <a:off x="612648" y="4916424"/>
            <a:ext cx="50292" cy="435864"/>
          </a:xfrm>
          <a:prstGeom prst="rect">
            <a:avLst/>
          </a:prstGeom>
          <a:solidFill>
            <a:srgbClr val="2A78D6"/>
          </a:solidFill>
          <a:ln w="7620">
            <a:solidFill>
              <a:srgbClr val="2A78D6"/>
            </a:solidFill>
            <a:prstDash val="solid"/>
          </a:ln>
        </p:spPr>
      </p:sp>
      <p:sp>
        <p:nvSpPr>
          <p:cNvPr id="36" name="Text 34"/>
          <p:cNvSpPr/>
          <p:nvPr/>
        </p:nvSpPr>
        <p:spPr>
          <a:xfrm>
            <a:off x="813816" y="4916424"/>
            <a:ext cx="10725912" cy="435864"/>
          </a:xfrm>
          <a:prstGeom prst="rect">
            <a:avLst/>
          </a:prstGeom>
          <a:noFill/>
          <a:ln/>
        </p:spPr>
        <p:txBody>
          <a:bodyPr wrap="square" lIns="0" tIns="0" rIns="0" bIns="0" rtlCol="0" anchor="ctr">
            <a:normAutofit/>
          </a:bodyPr>
          <a:lstStyle/>
          <a:p>
            <a:pPr indent="0" marL="0">
              <a:buNone/>
            </a:pPr>
            <a:r>
              <a:rPr lang="en-US" sz="2100" dirty="0">
                <a:solidFill>
                  <a:srgbClr val="232D3B"/>
                </a:solidFill>
                <a:latin typeface="Aptos" pitchFamily="34" charset="0"/>
                <a:ea typeface="Aptos" pitchFamily="34" charset="-122"/>
                <a:cs typeface="Aptos" pitchFamily="34" charset="-120"/>
              </a:rPr>
              <a:t>log2(2) = 1; log2(1) = 0; log2(0.5) = -1.</a:t>
            </a:r>
            <a:endParaRPr lang="en-US" sz="2100" dirty="0"/>
          </a:p>
        </p:txBody>
      </p:sp>
      <p:sp>
        <p:nvSpPr>
          <p:cNvPr id="37" name="Shape 35"/>
          <p:cNvSpPr/>
          <p:nvPr/>
        </p:nvSpPr>
        <p:spPr>
          <a:xfrm>
            <a:off x="612648" y="5553456"/>
            <a:ext cx="50292" cy="435864"/>
          </a:xfrm>
          <a:prstGeom prst="rect">
            <a:avLst/>
          </a:prstGeom>
          <a:solidFill>
            <a:srgbClr val="2A78D6"/>
          </a:solidFill>
          <a:ln w="7620">
            <a:solidFill>
              <a:srgbClr val="2A78D6"/>
            </a:solidFill>
            <a:prstDash val="solid"/>
          </a:ln>
        </p:spPr>
      </p:sp>
      <p:sp>
        <p:nvSpPr>
          <p:cNvPr id="38" name="Text 36"/>
          <p:cNvSpPr/>
          <p:nvPr/>
        </p:nvSpPr>
        <p:spPr>
          <a:xfrm>
            <a:off x="813816" y="5553456"/>
            <a:ext cx="10725912" cy="435864"/>
          </a:xfrm>
          <a:prstGeom prst="rect">
            <a:avLst/>
          </a:prstGeom>
          <a:noFill/>
          <a:ln/>
        </p:spPr>
        <p:txBody>
          <a:bodyPr wrap="square" lIns="0" tIns="0" rIns="0" bIns="0" rtlCol="0" anchor="ctr">
            <a:normAutofit/>
          </a:bodyPr>
          <a:lstStyle/>
          <a:p>
            <a:pPr indent="0" marL="0">
              <a:buNone/>
            </a:pPr>
            <a:r>
              <a:rPr lang="en-US" sz="2100" dirty="0">
                <a:solidFill>
                  <a:srgbClr val="232D3B"/>
                </a:solidFill>
                <a:latin typeface="Aptos" pitchFamily="34" charset="0"/>
                <a:ea typeface="Aptos" pitchFamily="34" charset="-122"/>
                <a:cs typeface="Aptos" pitchFamily="34" charset="-120"/>
              </a:rPr>
              <a:t>A denominator of zero needs an explicit rule, not a hidden fix.</a:t>
            </a:r>
            <a:endParaRPr lang="en-US" sz="2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WORKED EXAMPLE</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Worked example: what can we conclude?</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12</a:t>
            </a:r>
            <a:endParaRPr lang="en-US" sz="800" dirty="0"/>
          </a:p>
        </p:txBody>
      </p:sp>
      <p:sp>
        <p:nvSpPr>
          <p:cNvPr id="9" name="Text 7"/>
          <p:cNvSpPr/>
          <p:nvPr/>
        </p:nvSpPr>
        <p:spPr>
          <a:xfrm>
            <a:off x="685800" y="2148840"/>
            <a:ext cx="10881360" cy="1783080"/>
          </a:xfrm>
          <a:prstGeom prst="rect">
            <a:avLst/>
          </a:prstGeom>
          <a:noFill/>
          <a:ln/>
        </p:spPr>
        <p:txBody>
          <a:bodyPr wrap="square" lIns="0" tIns="0" rIns="0" bIns="0" rtlCol="0" anchor="ctr">
            <a:normAutofit/>
          </a:bodyPr>
          <a:lstStyle/>
          <a:p>
            <a:pPr indent="0" marL="0">
              <a:buNone/>
            </a:pPr>
            <a:r>
              <a:rPr lang="en-US" sz="2997" dirty="0">
                <a:solidFill>
                  <a:srgbClr val="232D3B"/>
                </a:solidFill>
                <a:latin typeface="Aptos" pitchFamily="34" charset="0"/>
                <a:ea typeface="Aptos" pitchFamily="34" charset="-122"/>
                <a:cs typeface="Aptos" pitchFamily="34" charset="-120"/>
              </a:rPr>
              <a:t>Gene G1 has RNA counts 10 and 20 in two samples.</a:t>
            </a:r>
            <a:endParaRPr lang="en-US" sz="2997" dirty="0"/>
          </a:p>
        </p:txBody>
      </p:sp>
      <p:sp>
        <p:nvSpPr>
          <p:cNvPr id="10" name="Shape 8"/>
          <p:cNvSpPr/>
          <p:nvPr/>
        </p:nvSpPr>
        <p:spPr>
          <a:xfrm>
            <a:off x="685800" y="4572000"/>
            <a:ext cx="10817352" cy="1024128"/>
          </a:xfrm>
          <a:prstGeom prst="rect">
            <a:avLst/>
          </a:prstGeom>
          <a:solidFill>
            <a:srgbClr val="EAF2FC"/>
          </a:solidFill>
          <a:ln w="7620">
            <a:solidFill>
              <a:srgbClr val="EAF2FC"/>
            </a:solidFill>
            <a:prstDash val="solid"/>
          </a:ln>
        </p:spPr>
      </p:sp>
      <p:sp>
        <p:nvSpPr>
          <p:cNvPr id="11" name="Text 9"/>
          <p:cNvSpPr/>
          <p:nvPr/>
        </p:nvSpPr>
        <p:spPr>
          <a:xfrm>
            <a:off x="932688" y="4791456"/>
            <a:ext cx="10287000" cy="576072"/>
          </a:xfrm>
          <a:prstGeom prst="rect">
            <a:avLst/>
          </a:prstGeom>
          <a:noFill/>
          <a:ln/>
        </p:spPr>
        <p:txBody>
          <a:bodyPr wrap="square" lIns="0" tIns="0" rIns="0" bIns="0" rtlCol="0" anchor="ctr">
            <a:normAutofit/>
          </a:bodyPr>
          <a:lstStyle/>
          <a:p>
            <a:pPr indent="0" marL="0">
              <a:buNone/>
            </a:pPr>
            <a:r>
              <a:rPr lang="en-US" sz="2100" b="1" dirty="0">
                <a:solidFill>
                  <a:srgbClr val="2A78D6"/>
                </a:solidFill>
                <a:latin typeface="Aptos" pitchFamily="34" charset="0"/>
                <a:ea typeface="Aptos" pitchFamily="34" charset="-122"/>
                <a:cs typeface="Aptos" pitchFamily="34" charset="-120"/>
              </a:rPr>
              <a:t>Predict the result and one limitation before calculating.</a:t>
            </a:r>
            <a:endParaRPr lang="en-US" sz="2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WORKED EXAMPLE</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Work through the reasoning</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13</a:t>
            </a:r>
            <a:endParaRPr lang="en-US" sz="800" dirty="0"/>
          </a:p>
        </p:txBody>
      </p:sp>
      <p:sp>
        <p:nvSpPr>
          <p:cNvPr id="9" name="Shape 7"/>
          <p:cNvSpPr/>
          <p:nvPr/>
        </p:nvSpPr>
        <p:spPr>
          <a:xfrm>
            <a:off x="594360" y="1920240"/>
            <a:ext cx="50292" cy="1207008"/>
          </a:xfrm>
          <a:prstGeom prst="rect">
            <a:avLst/>
          </a:prstGeom>
          <a:solidFill>
            <a:srgbClr val="2A78D6"/>
          </a:solidFill>
          <a:ln w="7620">
            <a:solidFill>
              <a:srgbClr val="2A78D6"/>
            </a:solidFill>
            <a:prstDash val="solid"/>
          </a:ln>
        </p:spPr>
      </p:sp>
      <p:sp>
        <p:nvSpPr>
          <p:cNvPr id="10" name="Text 8"/>
          <p:cNvSpPr/>
          <p:nvPr/>
        </p:nvSpPr>
        <p:spPr>
          <a:xfrm>
            <a:off x="795528" y="1920240"/>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The raw count ratio is 20 / 10 = 2.</a:t>
            </a:r>
            <a:endParaRPr lang="en-US" sz="2297" dirty="0"/>
          </a:p>
        </p:txBody>
      </p:sp>
      <p:sp>
        <p:nvSpPr>
          <p:cNvPr id="11" name="Shape 9"/>
          <p:cNvSpPr/>
          <p:nvPr/>
        </p:nvSpPr>
        <p:spPr>
          <a:xfrm>
            <a:off x="594360" y="3328416"/>
            <a:ext cx="50292" cy="1207008"/>
          </a:xfrm>
          <a:prstGeom prst="rect">
            <a:avLst/>
          </a:prstGeom>
          <a:solidFill>
            <a:srgbClr val="2A78D6"/>
          </a:solidFill>
          <a:ln w="7620">
            <a:solidFill>
              <a:srgbClr val="2A78D6"/>
            </a:solidFill>
            <a:prstDash val="solid"/>
          </a:ln>
        </p:spPr>
      </p:sp>
      <p:sp>
        <p:nvSpPr>
          <p:cNvPr id="12" name="Text 10"/>
          <p:cNvSpPr/>
          <p:nvPr/>
        </p:nvSpPr>
        <p:spPr>
          <a:xfrm>
            <a:off x="795528" y="3328416"/>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We have not checked sequencing depth or biological replication.</a:t>
            </a:r>
            <a:endParaRPr lang="en-US" sz="2297" dirty="0"/>
          </a:p>
        </p:txBody>
      </p:sp>
      <p:sp>
        <p:nvSpPr>
          <p:cNvPr id="13" name="Shape 11"/>
          <p:cNvSpPr/>
          <p:nvPr/>
        </p:nvSpPr>
        <p:spPr>
          <a:xfrm>
            <a:off x="594360" y="4736592"/>
            <a:ext cx="50292" cy="1207008"/>
          </a:xfrm>
          <a:prstGeom prst="rect">
            <a:avLst/>
          </a:prstGeom>
          <a:solidFill>
            <a:srgbClr val="2A78D6"/>
          </a:solidFill>
          <a:ln w="7620">
            <a:solidFill>
              <a:srgbClr val="2A78D6"/>
            </a:solidFill>
            <a:prstDash val="solid"/>
          </a:ln>
        </p:spPr>
      </p:sp>
      <p:sp>
        <p:nvSpPr>
          <p:cNvPr id="14" name="Text 12"/>
          <p:cNvSpPr/>
          <p:nvPr/>
        </p:nvSpPr>
        <p:spPr>
          <a:xfrm>
            <a:off x="795528" y="4736592"/>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The data do not yet establish increased protein abundance or a treatment effect.</a:t>
            </a:r>
            <a:endParaRPr lang="en-US" sz="2297"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PAIR CHECK</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Pause: make a defensible claim</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14</a:t>
            </a:r>
            <a:endParaRPr lang="en-US" sz="800" dirty="0"/>
          </a:p>
        </p:txBody>
      </p:sp>
      <p:sp>
        <p:nvSpPr>
          <p:cNvPr id="9" name="Text 7"/>
          <p:cNvSpPr/>
          <p:nvPr/>
        </p:nvSpPr>
        <p:spPr>
          <a:xfrm>
            <a:off x="713232" y="2130552"/>
            <a:ext cx="10762488" cy="2496312"/>
          </a:xfrm>
          <a:prstGeom prst="rect">
            <a:avLst/>
          </a:prstGeom>
          <a:noFill/>
          <a:ln/>
        </p:spPr>
        <p:txBody>
          <a:bodyPr wrap="square" lIns="0" tIns="0" rIns="0" bIns="0" rtlCol="0" anchor="ctr">
            <a:normAutofit/>
          </a:bodyPr>
          <a:lstStyle/>
          <a:p>
            <a:pPr indent="0" marL="0">
              <a:buNone/>
            </a:pPr>
            <a:r>
              <a:rPr lang="en-US" sz="2897" dirty="0">
                <a:solidFill>
                  <a:srgbClr val="232D3B"/>
                </a:solidFill>
                <a:latin typeface="Aptos" pitchFamily="34" charset="0"/>
                <a:ea typeface="Aptos" pitchFamily="34" charset="-122"/>
                <a:cs typeface="Aptos" pitchFamily="34" charset="-120"/>
              </a:rPr>
              <a:t>A drug-treated sample has more RNA reads for an enzyme. Name one measurement that would test whether enzyme activity also increased.</a:t>
            </a:r>
            <a:endParaRPr lang="en-US" sz="2897" dirty="0"/>
          </a:p>
        </p:txBody>
      </p:sp>
      <p:sp>
        <p:nvSpPr>
          <p:cNvPr id="10" name="Text 8"/>
          <p:cNvSpPr/>
          <p:nvPr/>
        </p:nvSpPr>
        <p:spPr>
          <a:xfrm>
            <a:off x="731520" y="5074920"/>
            <a:ext cx="10698480" cy="640080"/>
          </a:xfrm>
          <a:prstGeom prst="rect">
            <a:avLst/>
          </a:prstGeom>
          <a:noFill/>
          <a:ln/>
        </p:spPr>
        <p:txBody>
          <a:bodyPr wrap="square" lIns="0" tIns="0" rIns="0" bIns="0" rtlCol="0" anchor="ctr">
            <a:normAutofit/>
          </a:bodyPr>
          <a:lstStyle/>
          <a:p>
            <a:pPr indent="0" marL="0">
              <a:buNone/>
            </a:pPr>
            <a:r>
              <a:rPr lang="en-US" sz="2197" b="1" dirty="0">
                <a:solidFill>
                  <a:srgbClr val="2A78D6"/>
                </a:solidFill>
                <a:latin typeface="Aptos" pitchFamily="34" charset="0"/>
                <a:ea typeface="Aptos" pitchFamily="34" charset="-122"/>
                <a:cs typeface="Aptos" pitchFamily="34" charset="-120"/>
              </a:rPr>
              <a:t>First answer alone. Then compare the evidence, not just the conclusion.</a:t>
            </a:r>
            <a:endParaRPr lang="en-US" sz="2197"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DEBRIEF</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A defensible response</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15</a:t>
            </a:r>
            <a:endParaRPr lang="en-US" sz="800" dirty="0"/>
          </a:p>
        </p:txBody>
      </p:sp>
      <p:sp>
        <p:nvSpPr>
          <p:cNvPr id="9" name="Shape 7"/>
          <p:cNvSpPr/>
          <p:nvPr/>
        </p:nvSpPr>
        <p:spPr>
          <a:xfrm>
            <a:off x="685800" y="2075688"/>
            <a:ext cx="10826496" cy="2816352"/>
          </a:xfrm>
          <a:prstGeom prst="rect">
            <a:avLst/>
          </a:prstGeom>
          <a:solidFill>
            <a:srgbClr val="EAF2FC"/>
          </a:solidFill>
          <a:ln w="7620">
            <a:solidFill>
              <a:srgbClr val="EAF2FC"/>
            </a:solidFill>
            <a:prstDash val="solid"/>
          </a:ln>
        </p:spPr>
      </p:sp>
      <p:sp>
        <p:nvSpPr>
          <p:cNvPr id="10" name="Text 8"/>
          <p:cNvSpPr/>
          <p:nvPr/>
        </p:nvSpPr>
        <p:spPr>
          <a:xfrm>
            <a:off x="941832" y="2331720"/>
            <a:ext cx="10305288" cy="2276856"/>
          </a:xfrm>
          <a:prstGeom prst="rect">
            <a:avLst/>
          </a:prstGeom>
          <a:noFill/>
          <a:ln/>
        </p:spPr>
        <p:txBody>
          <a:bodyPr wrap="square" lIns="0" tIns="0" rIns="0" bIns="0" rtlCol="0" anchor="ctr">
            <a:normAutofit/>
          </a:bodyPr>
          <a:lstStyle/>
          <a:p>
            <a:pPr indent="0" marL="0">
              <a:buNone/>
            </a:pPr>
            <a:r>
              <a:rPr lang="en-US" sz="2597" dirty="0">
                <a:solidFill>
                  <a:srgbClr val="232D3B"/>
                </a:solidFill>
                <a:latin typeface="Aptos" pitchFamily="34" charset="0"/>
                <a:ea typeface="Aptos" pitchFamily="34" charset="-122"/>
                <a:cs typeface="Aptos" pitchFamily="34" charset="-120"/>
              </a:rPr>
              <a:t>An activity assay with matched controls and biological replicates would address activity. RNA alone is not that assay.</a:t>
            </a:r>
            <a:endParaRPr lang="en-US" sz="2597"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45-MINUTE STUDIO</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Your preparation route</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16</a:t>
            </a:r>
            <a:endParaRPr lang="en-US" sz="800" dirty="0"/>
          </a:p>
        </p:txBody>
      </p:sp>
      <p:sp>
        <p:nvSpPr>
          <p:cNvPr id="9" name="Text 7"/>
          <p:cNvSpPr/>
          <p:nvPr/>
        </p:nvSpPr>
        <p:spPr>
          <a:xfrm>
            <a:off x="731520" y="1929384"/>
            <a:ext cx="10698480" cy="1508760"/>
          </a:xfrm>
          <a:prstGeom prst="rect">
            <a:avLst/>
          </a:prstGeom>
          <a:noFill/>
          <a:ln/>
        </p:spPr>
        <p:txBody>
          <a:bodyPr wrap="square" lIns="0" tIns="0" rIns="0" bIns="0" rtlCol="0" anchor="ctr">
            <a:normAutofit/>
          </a:bodyPr>
          <a:lstStyle/>
          <a:p>
            <a:pPr indent="0" marL="0">
              <a:buNone/>
            </a:pPr>
            <a:r>
              <a:rPr lang="en-US" sz="2497" dirty="0">
                <a:solidFill>
                  <a:srgbClr val="232D3B"/>
                </a:solidFill>
                <a:latin typeface="Aptos" pitchFamily="34" charset="0"/>
                <a:ea typeface="Aptos" pitchFamily="34" charset="-122"/>
                <a:cs typeface="Aptos" pitchFamily="34" charset="-120"/>
              </a:rPr>
              <a:t>Use the diagnostic sheet before Week 1. Any missed question directs you to a short bridge section; it does not reduce your grade.</a:t>
            </a:r>
            <a:endParaRPr lang="en-US" sz="2497" dirty="0"/>
          </a:p>
        </p:txBody>
      </p:sp>
      <p:sp>
        <p:nvSpPr>
          <p:cNvPr id="10" name="Shape 8"/>
          <p:cNvSpPr/>
          <p:nvPr/>
        </p:nvSpPr>
        <p:spPr>
          <a:xfrm>
            <a:off x="731520" y="3721608"/>
            <a:ext cx="5317236" cy="395935"/>
          </a:xfrm>
          <a:prstGeom prst="rect">
            <a:avLst/>
          </a:prstGeom>
          <a:solidFill>
            <a:srgbClr val="2A78D6"/>
          </a:solidFill>
          <a:ln w="7620">
            <a:solidFill>
              <a:srgbClr val="2A78D6"/>
            </a:solidFill>
            <a:prstDash val="solid"/>
          </a:ln>
        </p:spPr>
      </p:sp>
      <p:sp>
        <p:nvSpPr>
          <p:cNvPr id="11" name="Text 9"/>
          <p:cNvSpPr/>
          <p:nvPr/>
        </p:nvSpPr>
        <p:spPr>
          <a:xfrm>
            <a:off x="850392" y="3794760"/>
            <a:ext cx="5074920" cy="254203"/>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ptos" pitchFamily="34" charset="0"/>
                <a:ea typeface="Aptos" pitchFamily="34" charset="-122"/>
                <a:cs typeface="Aptos" pitchFamily="34" charset="-120"/>
              </a:rPr>
              <a:t>Minutes</a:t>
            </a:r>
            <a:endParaRPr lang="en-US" sz="1600" dirty="0"/>
          </a:p>
        </p:txBody>
      </p:sp>
      <p:sp>
        <p:nvSpPr>
          <p:cNvPr id="12" name="Shape 10"/>
          <p:cNvSpPr/>
          <p:nvPr/>
        </p:nvSpPr>
        <p:spPr>
          <a:xfrm>
            <a:off x="6080760" y="3721608"/>
            <a:ext cx="5317236" cy="395935"/>
          </a:xfrm>
          <a:prstGeom prst="rect">
            <a:avLst/>
          </a:prstGeom>
          <a:solidFill>
            <a:srgbClr val="2A78D6"/>
          </a:solidFill>
          <a:ln w="7620">
            <a:solidFill>
              <a:srgbClr val="2A78D6"/>
            </a:solidFill>
            <a:prstDash val="solid"/>
          </a:ln>
        </p:spPr>
      </p:sp>
      <p:sp>
        <p:nvSpPr>
          <p:cNvPr id="13" name="Text 11"/>
          <p:cNvSpPr/>
          <p:nvPr/>
        </p:nvSpPr>
        <p:spPr>
          <a:xfrm>
            <a:off x="6199632" y="3794760"/>
            <a:ext cx="5074920" cy="254203"/>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ptos" pitchFamily="34" charset="0"/>
                <a:ea typeface="Aptos" pitchFamily="34" charset="-122"/>
                <a:cs typeface="Aptos" pitchFamily="34" charset="-120"/>
              </a:rPr>
              <a:t>Action</a:t>
            </a:r>
            <a:endParaRPr lang="en-US" sz="1600" dirty="0"/>
          </a:p>
        </p:txBody>
      </p:sp>
      <p:sp>
        <p:nvSpPr>
          <p:cNvPr id="14" name="Shape 12"/>
          <p:cNvSpPr/>
          <p:nvPr/>
        </p:nvSpPr>
        <p:spPr>
          <a:xfrm>
            <a:off x="731520" y="4149547"/>
            <a:ext cx="5317236" cy="395935"/>
          </a:xfrm>
          <a:prstGeom prst="rect">
            <a:avLst/>
          </a:prstGeom>
          <a:solidFill>
            <a:srgbClr val="EAF2FC"/>
          </a:solidFill>
          <a:ln w="7620">
            <a:solidFill>
              <a:srgbClr val="EAF2FC"/>
            </a:solidFill>
            <a:prstDash val="solid"/>
          </a:ln>
        </p:spPr>
      </p:sp>
      <p:sp>
        <p:nvSpPr>
          <p:cNvPr id="15" name="Text 13"/>
          <p:cNvSpPr/>
          <p:nvPr/>
        </p:nvSpPr>
        <p:spPr>
          <a:xfrm>
            <a:off x="850392" y="4213555"/>
            <a:ext cx="5074920" cy="272491"/>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0-10</a:t>
            </a:r>
            <a:endParaRPr lang="en-US" sz="1600" dirty="0"/>
          </a:p>
        </p:txBody>
      </p:sp>
      <p:sp>
        <p:nvSpPr>
          <p:cNvPr id="16" name="Shape 14"/>
          <p:cNvSpPr/>
          <p:nvPr/>
        </p:nvSpPr>
        <p:spPr>
          <a:xfrm>
            <a:off x="6080760" y="4149547"/>
            <a:ext cx="5317236" cy="395935"/>
          </a:xfrm>
          <a:prstGeom prst="rect">
            <a:avLst/>
          </a:prstGeom>
          <a:solidFill>
            <a:srgbClr val="EAF2FC"/>
          </a:solidFill>
          <a:ln w="7620">
            <a:solidFill>
              <a:srgbClr val="EAF2FC"/>
            </a:solidFill>
            <a:prstDash val="solid"/>
          </a:ln>
        </p:spPr>
      </p:sp>
      <p:sp>
        <p:nvSpPr>
          <p:cNvPr id="17" name="Text 15"/>
          <p:cNvSpPr/>
          <p:nvPr/>
        </p:nvSpPr>
        <p:spPr>
          <a:xfrm>
            <a:off x="6199632" y="4213555"/>
            <a:ext cx="5074920" cy="272491"/>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Predict + set up</a:t>
            </a:r>
            <a:endParaRPr lang="en-US" sz="1600" dirty="0"/>
          </a:p>
        </p:txBody>
      </p:sp>
      <p:sp>
        <p:nvSpPr>
          <p:cNvPr id="18" name="Shape 16"/>
          <p:cNvSpPr/>
          <p:nvPr/>
        </p:nvSpPr>
        <p:spPr>
          <a:xfrm>
            <a:off x="731520" y="4577486"/>
            <a:ext cx="5317236" cy="395935"/>
          </a:xfrm>
          <a:prstGeom prst="rect">
            <a:avLst/>
          </a:prstGeom>
          <a:solidFill>
            <a:srgbClr val="FFFFFF"/>
          </a:solidFill>
          <a:ln w="7620">
            <a:solidFill>
              <a:srgbClr val="FFFFFF"/>
            </a:solidFill>
            <a:prstDash val="solid"/>
          </a:ln>
        </p:spPr>
      </p:sp>
      <p:sp>
        <p:nvSpPr>
          <p:cNvPr id="19" name="Text 17"/>
          <p:cNvSpPr/>
          <p:nvPr/>
        </p:nvSpPr>
        <p:spPr>
          <a:xfrm>
            <a:off x="850392" y="4641494"/>
            <a:ext cx="5074920" cy="272491"/>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10-30</a:t>
            </a:r>
            <a:endParaRPr lang="en-US" sz="1600" dirty="0"/>
          </a:p>
        </p:txBody>
      </p:sp>
      <p:sp>
        <p:nvSpPr>
          <p:cNvPr id="20" name="Shape 18"/>
          <p:cNvSpPr/>
          <p:nvPr/>
        </p:nvSpPr>
        <p:spPr>
          <a:xfrm>
            <a:off x="6080760" y="4577486"/>
            <a:ext cx="5317236" cy="395935"/>
          </a:xfrm>
          <a:prstGeom prst="rect">
            <a:avLst/>
          </a:prstGeom>
          <a:solidFill>
            <a:srgbClr val="FFFFFF"/>
          </a:solidFill>
          <a:ln w="7620">
            <a:solidFill>
              <a:srgbClr val="FFFFFF"/>
            </a:solidFill>
            <a:prstDash val="solid"/>
          </a:ln>
        </p:spPr>
      </p:sp>
      <p:sp>
        <p:nvSpPr>
          <p:cNvPr id="21" name="Text 19"/>
          <p:cNvSpPr/>
          <p:nvPr/>
        </p:nvSpPr>
        <p:spPr>
          <a:xfrm>
            <a:off x="6199632" y="4641494"/>
            <a:ext cx="5074920" cy="272491"/>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Run + inspect + check</a:t>
            </a:r>
            <a:endParaRPr lang="en-US" sz="1600" dirty="0"/>
          </a:p>
        </p:txBody>
      </p:sp>
      <p:sp>
        <p:nvSpPr>
          <p:cNvPr id="22" name="Shape 20"/>
          <p:cNvSpPr/>
          <p:nvPr/>
        </p:nvSpPr>
        <p:spPr>
          <a:xfrm>
            <a:off x="731520" y="5005426"/>
            <a:ext cx="5317236" cy="395935"/>
          </a:xfrm>
          <a:prstGeom prst="rect">
            <a:avLst/>
          </a:prstGeom>
          <a:solidFill>
            <a:srgbClr val="EAF2FC"/>
          </a:solidFill>
          <a:ln w="7620">
            <a:solidFill>
              <a:srgbClr val="EAF2FC"/>
            </a:solidFill>
            <a:prstDash val="solid"/>
          </a:ln>
        </p:spPr>
      </p:sp>
      <p:sp>
        <p:nvSpPr>
          <p:cNvPr id="23" name="Text 21"/>
          <p:cNvSpPr/>
          <p:nvPr/>
        </p:nvSpPr>
        <p:spPr>
          <a:xfrm>
            <a:off x="850392" y="5069434"/>
            <a:ext cx="5074920" cy="272491"/>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30-40</a:t>
            </a:r>
            <a:endParaRPr lang="en-US" sz="1600" dirty="0"/>
          </a:p>
        </p:txBody>
      </p:sp>
      <p:sp>
        <p:nvSpPr>
          <p:cNvPr id="24" name="Shape 22"/>
          <p:cNvSpPr/>
          <p:nvPr/>
        </p:nvSpPr>
        <p:spPr>
          <a:xfrm>
            <a:off x="6080760" y="5005426"/>
            <a:ext cx="5317236" cy="395935"/>
          </a:xfrm>
          <a:prstGeom prst="rect">
            <a:avLst/>
          </a:prstGeom>
          <a:solidFill>
            <a:srgbClr val="EAF2FC"/>
          </a:solidFill>
          <a:ln w="7620">
            <a:solidFill>
              <a:srgbClr val="EAF2FC"/>
            </a:solidFill>
            <a:prstDash val="solid"/>
          </a:ln>
        </p:spPr>
      </p:sp>
      <p:sp>
        <p:nvSpPr>
          <p:cNvPr id="25" name="Text 23"/>
          <p:cNvSpPr/>
          <p:nvPr/>
        </p:nvSpPr>
        <p:spPr>
          <a:xfrm>
            <a:off x="6199632" y="5069434"/>
            <a:ext cx="5074920" cy="272491"/>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Explain + compare</a:t>
            </a:r>
            <a:endParaRPr lang="en-US" sz="1600" dirty="0"/>
          </a:p>
        </p:txBody>
      </p:sp>
      <p:sp>
        <p:nvSpPr>
          <p:cNvPr id="26" name="Shape 24"/>
          <p:cNvSpPr/>
          <p:nvPr/>
        </p:nvSpPr>
        <p:spPr>
          <a:xfrm>
            <a:off x="731520" y="5433365"/>
            <a:ext cx="5317236" cy="395935"/>
          </a:xfrm>
          <a:prstGeom prst="rect">
            <a:avLst/>
          </a:prstGeom>
          <a:solidFill>
            <a:srgbClr val="FFFFFF"/>
          </a:solidFill>
          <a:ln w="7620">
            <a:solidFill>
              <a:srgbClr val="FFFFFF"/>
            </a:solidFill>
            <a:prstDash val="solid"/>
          </a:ln>
        </p:spPr>
      </p:sp>
      <p:sp>
        <p:nvSpPr>
          <p:cNvPr id="27" name="Text 25"/>
          <p:cNvSpPr/>
          <p:nvPr/>
        </p:nvSpPr>
        <p:spPr>
          <a:xfrm>
            <a:off x="850392" y="5497373"/>
            <a:ext cx="5074920" cy="272491"/>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40-45</a:t>
            </a:r>
            <a:endParaRPr lang="en-US" sz="1600" dirty="0"/>
          </a:p>
        </p:txBody>
      </p:sp>
      <p:sp>
        <p:nvSpPr>
          <p:cNvPr id="28" name="Shape 26"/>
          <p:cNvSpPr/>
          <p:nvPr/>
        </p:nvSpPr>
        <p:spPr>
          <a:xfrm>
            <a:off x="6080760" y="5433365"/>
            <a:ext cx="5317236" cy="395935"/>
          </a:xfrm>
          <a:prstGeom prst="rect">
            <a:avLst/>
          </a:prstGeom>
          <a:solidFill>
            <a:srgbClr val="FFFFFF"/>
          </a:solidFill>
          <a:ln w="7620">
            <a:solidFill>
              <a:srgbClr val="FFFFFF"/>
            </a:solidFill>
            <a:prstDash val="solid"/>
          </a:ln>
        </p:spPr>
      </p:sp>
      <p:sp>
        <p:nvSpPr>
          <p:cNvPr id="29" name="Text 27"/>
          <p:cNvSpPr/>
          <p:nvPr/>
        </p:nvSpPr>
        <p:spPr>
          <a:xfrm>
            <a:off x="6199632" y="5497373"/>
            <a:ext cx="5074920" cy="272491"/>
          </a:xfrm>
          <a:prstGeom prst="rect">
            <a:avLst/>
          </a:prstGeom>
          <a:noFill/>
          <a:ln/>
        </p:spPr>
        <p:txBody>
          <a:bodyPr wrap="square" lIns="0" tIns="0" rIns="0" bIns="0" rtlCol="0" anchor="ctr">
            <a:normAutofit/>
          </a:bodyPr>
          <a:lstStyle/>
          <a:p>
            <a:pPr indent="0" marL="0">
              <a:buNone/>
            </a:pPr>
            <a:r>
              <a:rPr lang="en-US" sz="1600" dirty="0">
                <a:solidFill>
                  <a:srgbClr val="232D3B"/>
                </a:solidFill>
                <a:latin typeface="Aptos" pitchFamily="34" charset="0"/>
                <a:ea typeface="Aptos" pitchFamily="34" charset="-122"/>
                <a:cs typeface="Aptos" pitchFamily="34" charset="-120"/>
              </a:rPr>
              <a:t>Save + submit / exit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CONSOLIDATE</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Five terms to use precisely</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17</a:t>
            </a:r>
            <a:endParaRPr lang="en-US" sz="800" dirty="0"/>
          </a:p>
        </p:txBody>
      </p:sp>
      <p:sp>
        <p:nvSpPr>
          <p:cNvPr id="9" name="Shape 7"/>
          <p:cNvSpPr/>
          <p:nvPr/>
        </p:nvSpPr>
        <p:spPr>
          <a:xfrm>
            <a:off x="713232" y="1984248"/>
            <a:ext cx="475488" cy="457200"/>
          </a:xfrm>
          <a:prstGeom prst="rect">
            <a:avLst/>
          </a:prstGeom>
          <a:solidFill>
            <a:srgbClr val="2A78D6"/>
          </a:solidFill>
          <a:ln w="7620">
            <a:solidFill>
              <a:srgbClr val="2A78D6"/>
            </a:solidFill>
            <a:prstDash val="solid"/>
          </a:ln>
        </p:spPr>
      </p:sp>
      <p:sp>
        <p:nvSpPr>
          <p:cNvPr id="10" name="Text 8"/>
          <p:cNvSpPr/>
          <p:nvPr/>
        </p:nvSpPr>
        <p:spPr>
          <a:xfrm>
            <a:off x="850392" y="2057400"/>
            <a:ext cx="201168" cy="301752"/>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1" name="Text 9"/>
          <p:cNvSpPr/>
          <p:nvPr/>
        </p:nvSpPr>
        <p:spPr>
          <a:xfrm>
            <a:off x="1426464" y="2011680"/>
            <a:ext cx="9756648" cy="448056"/>
          </a:xfrm>
          <a:prstGeom prst="rect">
            <a:avLst/>
          </a:prstGeom>
          <a:noFill/>
          <a:ln/>
        </p:spPr>
        <p:txBody>
          <a:bodyPr wrap="square" lIns="0" tIns="0" rIns="0" bIns="0" rtlCol="0" anchor="ctr">
            <a:normAutofit/>
          </a:bodyPr>
          <a:lstStyle/>
          <a:p>
            <a:pPr indent="0" marL="0">
              <a:buNone/>
            </a:pPr>
            <a:r>
              <a:rPr lang="en-US" sz="2500" dirty="0">
                <a:solidFill>
                  <a:srgbClr val="232D3B"/>
                </a:solidFill>
                <a:latin typeface="Aptos" pitchFamily="34" charset="0"/>
                <a:ea typeface="Aptos" pitchFamily="34" charset="-122"/>
                <a:cs typeface="Aptos" pitchFamily="34" charset="-120"/>
              </a:rPr>
              <a:t>gene</a:t>
            </a:r>
            <a:endParaRPr lang="en-US" sz="2500" dirty="0"/>
          </a:p>
        </p:txBody>
      </p:sp>
      <p:sp>
        <p:nvSpPr>
          <p:cNvPr id="12" name="Shape 10"/>
          <p:cNvSpPr/>
          <p:nvPr/>
        </p:nvSpPr>
        <p:spPr>
          <a:xfrm>
            <a:off x="713232" y="2752344"/>
            <a:ext cx="475488" cy="457200"/>
          </a:xfrm>
          <a:prstGeom prst="rect">
            <a:avLst/>
          </a:prstGeom>
          <a:solidFill>
            <a:srgbClr val="2A78D6"/>
          </a:solidFill>
          <a:ln w="7620">
            <a:solidFill>
              <a:srgbClr val="2A78D6"/>
            </a:solidFill>
            <a:prstDash val="solid"/>
          </a:ln>
        </p:spPr>
      </p:sp>
      <p:sp>
        <p:nvSpPr>
          <p:cNvPr id="13" name="Text 11"/>
          <p:cNvSpPr/>
          <p:nvPr/>
        </p:nvSpPr>
        <p:spPr>
          <a:xfrm>
            <a:off x="850392" y="2825496"/>
            <a:ext cx="201168" cy="301752"/>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4" name="Text 12"/>
          <p:cNvSpPr/>
          <p:nvPr/>
        </p:nvSpPr>
        <p:spPr>
          <a:xfrm>
            <a:off x="1426464" y="2779776"/>
            <a:ext cx="9756648" cy="448056"/>
          </a:xfrm>
          <a:prstGeom prst="rect">
            <a:avLst/>
          </a:prstGeom>
          <a:noFill/>
          <a:ln/>
        </p:spPr>
        <p:txBody>
          <a:bodyPr wrap="square" lIns="0" tIns="0" rIns="0" bIns="0" rtlCol="0" anchor="ctr">
            <a:normAutofit/>
          </a:bodyPr>
          <a:lstStyle/>
          <a:p>
            <a:pPr indent="0" marL="0">
              <a:buNone/>
            </a:pPr>
            <a:r>
              <a:rPr lang="en-US" sz="2500" dirty="0">
                <a:solidFill>
                  <a:srgbClr val="232D3B"/>
                </a:solidFill>
                <a:latin typeface="Aptos" pitchFamily="34" charset="0"/>
                <a:ea typeface="Aptos" pitchFamily="34" charset="-122"/>
                <a:cs typeface="Aptos" pitchFamily="34" charset="-120"/>
              </a:rPr>
              <a:t>transcript</a:t>
            </a:r>
            <a:endParaRPr lang="en-US" sz="2500" dirty="0"/>
          </a:p>
        </p:txBody>
      </p:sp>
      <p:sp>
        <p:nvSpPr>
          <p:cNvPr id="15" name="Shape 13"/>
          <p:cNvSpPr/>
          <p:nvPr/>
        </p:nvSpPr>
        <p:spPr>
          <a:xfrm>
            <a:off x="713232" y="3520440"/>
            <a:ext cx="475488" cy="457200"/>
          </a:xfrm>
          <a:prstGeom prst="rect">
            <a:avLst/>
          </a:prstGeom>
          <a:solidFill>
            <a:srgbClr val="2A78D6"/>
          </a:solidFill>
          <a:ln w="7620">
            <a:solidFill>
              <a:srgbClr val="2A78D6"/>
            </a:solidFill>
            <a:prstDash val="solid"/>
          </a:ln>
        </p:spPr>
      </p:sp>
      <p:sp>
        <p:nvSpPr>
          <p:cNvPr id="16" name="Text 14"/>
          <p:cNvSpPr/>
          <p:nvPr/>
        </p:nvSpPr>
        <p:spPr>
          <a:xfrm>
            <a:off x="850392" y="3593592"/>
            <a:ext cx="201168" cy="301752"/>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17" name="Text 15"/>
          <p:cNvSpPr/>
          <p:nvPr/>
        </p:nvSpPr>
        <p:spPr>
          <a:xfrm>
            <a:off x="1426464" y="3547872"/>
            <a:ext cx="9756648" cy="448056"/>
          </a:xfrm>
          <a:prstGeom prst="rect">
            <a:avLst/>
          </a:prstGeom>
          <a:noFill/>
          <a:ln/>
        </p:spPr>
        <p:txBody>
          <a:bodyPr wrap="square" lIns="0" tIns="0" rIns="0" bIns="0" rtlCol="0" anchor="ctr">
            <a:normAutofit/>
          </a:bodyPr>
          <a:lstStyle/>
          <a:p>
            <a:pPr indent="0" marL="0">
              <a:buNone/>
            </a:pPr>
            <a:r>
              <a:rPr lang="en-US" sz="2500" dirty="0">
                <a:solidFill>
                  <a:srgbClr val="232D3B"/>
                </a:solidFill>
                <a:latin typeface="Aptos" pitchFamily="34" charset="0"/>
                <a:ea typeface="Aptos" pitchFamily="34" charset="-122"/>
                <a:cs typeface="Aptos" pitchFamily="34" charset="-120"/>
              </a:rPr>
              <a:t>protein</a:t>
            </a:r>
            <a:endParaRPr lang="en-US" sz="2500" dirty="0"/>
          </a:p>
        </p:txBody>
      </p:sp>
      <p:sp>
        <p:nvSpPr>
          <p:cNvPr id="18" name="Shape 16"/>
          <p:cNvSpPr/>
          <p:nvPr/>
        </p:nvSpPr>
        <p:spPr>
          <a:xfrm>
            <a:off x="713232" y="4288536"/>
            <a:ext cx="475488" cy="457200"/>
          </a:xfrm>
          <a:prstGeom prst="rect">
            <a:avLst/>
          </a:prstGeom>
          <a:solidFill>
            <a:srgbClr val="2A78D6"/>
          </a:solidFill>
          <a:ln w="7620">
            <a:solidFill>
              <a:srgbClr val="2A78D6"/>
            </a:solidFill>
            <a:prstDash val="solid"/>
          </a:ln>
        </p:spPr>
      </p:sp>
      <p:sp>
        <p:nvSpPr>
          <p:cNvPr id="19" name="Text 17"/>
          <p:cNvSpPr/>
          <p:nvPr/>
        </p:nvSpPr>
        <p:spPr>
          <a:xfrm>
            <a:off x="850392" y="4361688"/>
            <a:ext cx="201168" cy="301752"/>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0" name="Text 18"/>
          <p:cNvSpPr/>
          <p:nvPr/>
        </p:nvSpPr>
        <p:spPr>
          <a:xfrm>
            <a:off x="1426464" y="4315968"/>
            <a:ext cx="9756648" cy="448056"/>
          </a:xfrm>
          <a:prstGeom prst="rect">
            <a:avLst/>
          </a:prstGeom>
          <a:noFill/>
          <a:ln/>
        </p:spPr>
        <p:txBody>
          <a:bodyPr wrap="square" lIns="0" tIns="0" rIns="0" bIns="0" rtlCol="0" anchor="ctr">
            <a:normAutofit/>
          </a:bodyPr>
          <a:lstStyle/>
          <a:p>
            <a:pPr indent="0" marL="0">
              <a:buNone/>
            </a:pPr>
            <a:r>
              <a:rPr lang="en-US" sz="2500" dirty="0">
                <a:solidFill>
                  <a:srgbClr val="232D3B"/>
                </a:solidFill>
                <a:latin typeface="Aptos" pitchFamily="34" charset="0"/>
                <a:ea typeface="Aptos" pitchFamily="34" charset="-122"/>
                <a:cs typeface="Aptos" pitchFamily="34" charset="-120"/>
              </a:rPr>
              <a:t>replicate</a:t>
            </a:r>
            <a:endParaRPr lang="en-US" sz="2500" dirty="0"/>
          </a:p>
        </p:txBody>
      </p:sp>
      <p:sp>
        <p:nvSpPr>
          <p:cNvPr id="21" name="Shape 19"/>
          <p:cNvSpPr/>
          <p:nvPr/>
        </p:nvSpPr>
        <p:spPr>
          <a:xfrm>
            <a:off x="713232" y="5056632"/>
            <a:ext cx="475488" cy="457200"/>
          </a:xfrm>
          <a:prstGeom prst="rect">
            <a:avLst/>
          </a:prstGeom>
          <a:solidFill>
            <a:srgbClr val="2A78D6"/>
          </a:solidFill>
          <a:ln w="7620">
            <a:solidFill>
              <a:srgbClr val="2A78D6"/>
            </a:solidFill>
            <a:prstDash val="solid"/>
          </a:ln>
        </p:spPr>
      </p:sp>
      <p:sp>
        <p:nvSpPr>
          <p:cNvPr id="22" name="Text 20"/>
          <p:cNvSpPr/>
          <p:nvPr/>
        </p:nvSpPr>
        <p:spPr>
          <a:xfrm>
            <a:off x="850392" y="5129784"/>
            <a:ext cx="201168" cy="301752"/>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23" name="Text 21"/>
          <p:cNvSpPr/>
          <p:nvPr/>
        </p:nvSpPr>
        <p:spPr>
          <a:xfrm>
            <a:off x="1426464" y="5084064"/>
            <a:ext cx="9756648" cy="448056"/>
          </a:xfrm>
          <a:prstGeom prst="rect">
            <a:avLst/>
          </a:prstGeom>
          <a:noFill/>
          <a:ln/>
        </p:spPr>
        <p:txBody>
          <a:bodyPr wrap="square" lIns="0" tIns="0" rIns="0" bIns="0" rtlCol="0" anchor="ctr">
            <a:normAutofit/>
          </a:bodyPr>
          <a:lstStyle/>
          <a:p>
            <a:pPr indent="0" marL="0">
              <a:buNone/>
            </a:pPr>
            <a:r>
              <a:rPr lang="en-US" sz="2500" dirty="0">
                <a:solidFill>
                  <a:srgbClr val="232D3B"/>
                </a:solidFill>
                <a:latin typeface="Aptos" pitchFamily="34" charset="0"/>
                <a:ea typeface="Aptos" pitchFamily="34" charset="-122"/>
                <a:cs typeface="Aptos" pitchFamily="34" charset="-120"/>
              </a:rPr>
              <a:t>ratio</a:t>
            </a:r>
            <a:endParaRPr lang="en-US" sz="2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2 MINUTES</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Exit ticket</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18</a:t>
            </a:r>
            <a:endParaRPr lang="en-US" sz="800" dirty="0"/>
          </a:p>
        </p:txBody>
      </p:sp>
      <p:sp>
        <p:nvSpPr>
          <p:cNvPr id="9" name="Shape 7"/>
          <p:cNvSpPr/>
          <p:nvPr/>
        </p:nvSpPr>
        <p:spPr>
          <a:xfrm>
            <a:off x="594360" y="1920240"/>
            <a:ext cx="50292" cy="1207008"/>
          </a:xfrm>
          <a:prstGeom prst="rect">
            <a:avLst/>
          </a:prstGeom>
          <a:solidFill>
            <a:srgbClr val="2A78D6"/>
          </a:solidFill>
          <a:ln w="7620">
            <a:solidFill>
              <a:srgbClr val="2A78D6"/>
            </a:solidFill>
            <a:prstDash val="solid"/>
          </a:ln>
        </p:spPr>
      </p:sp>
      <p:sp>
        <p:nvSpPr>
          <p:cNvPr id="10" name="Text 8"/>
          <p:cNvSpPr/>
          <p:nvPr/>
        </p:nvSpPr>
        <p:spPr>
          <a:xfrm>
            <a:off x="795528" y="1920240"/>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What did we actually measure or calculate?</a:t>
            </a:r>
            <a:endParaRPr lang="en-US" sz="2297" dirty="0"/>
          </a:p>
        </p:txBody>
      </p:sp>
      <p:sp>
        <p:nvSpPr>
          <p:cNvPr id="11" name="Shape 9"/>
          <p:cNvSpPr/>
          <p:nvPr/>
        </p:nvSpPr>
        <p:spPr>
          <a:xfrm>
            <a:off x="594360" y="3328416"/>
            <a:ext cx="50292" cy="1207008"/>
          </a:xfrm>
          <a:prstGeom prst="rect">
            <a:avLst/>
          </a:prstGeom>
          <a:solidFill>
            <a:srgbClr val="2A78D6"/>
          </a:solidFill>
          <a:ln w="7620">
            <a:solidFill>
              <a:srgbClr val="2A78D6"/>
            </a:solidFill>
            <a:prstDash val="solid"/>
          </a:ln>
        </p:spPr>
      </p:sp>
      <p:sp>
        <p:nvSpPr>
          <p:cNvPr id="12" name="Text 10"/>
          <p:cNvSpPr/>
          <p:nvPr/>
        </p:nvSpPr>
        <p:spPr>
          <a:xfrm>
            <a:off x="795528" y="3328416"/>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What is one assumption or limitation of that result?</a:t>
            </a:r>
            <a:endParaRPr lang="en-US" sz="2297" dirty="0"/>
          </a:p>
        </p:txBody>
      </p:sp>
      <p:sp>
        <p:nvSpPr>
          <p:cNvPr id="13" name="Shape 11"/>
          <p:cNvSpPr/>
          <p:nvPr/>
        </p:nvSpPr>
        <p:spPr>
          <a:xfrm>
            <a:off x="594360" y="4736592"/>
            <a:ext cx="50292" cy="1207008"/>
          </a:xfrm>
          <a:prstGeom prst="rect">
            <a:avLst/>
          </a:prstGeom>
          <a:solidFill>
            <a:srgbClr val="2A78D6"/>
          </a:solidFill>
          <a:ln w="7620">
            <a:solidFill>
              <a:srgbClr val="2A78D6"/>
            </a:solidFill>
            <a:prstDash val="solid"/>
          </a:ln>
        </p:spPr>
      </p:sp>
      <p:sp>
        <p:nvSpPr>
          <p:cNvPr id="14" name="Text 12"/>
          <p:cNvSpPr/>
          <p:nvPr/>
        </p:nvSpPr>
        <p:spPr>
          <a:xfrm>
            <a:off x="795528" y="4736592"/>
            <a:ext cx="10771632" cy="1207008"/>
          </a:xfrm>
          <a:prstGeom prst="rect">
            <a:avLst/>
          </a:prstGeom>
          <a:noFill/>
          <a:ln/>
        </p:spPr>
        <p:txBody>
          <a:bodyPr wrap="square" lIns="0" tIns="0" rIns="0" bIns="0" rtlCol="0" anchor="ctr">
            <a:normAutofit/>
          </a:bodyPr>
          <a:lstStyle/>
          <a:p>
            <a:pPr indent="0" marL="0">
              <a:buNone/>
            </a:pPr>
            <a:r>
              <a:rPr lang="en-US" sz="2297" dirty="0">
                <a:solidFill>
                  <a:srgbClr val="232D3B"/>
                </a:solidFill>
                <a:latin typeface="Aptos" pitchFamily="34" charset="0"/>
                <a:ea typeface="Aptos" pitchFamily="34" charset="-122"/>
                <a:cs typeface="Aptos" pitchFamily="34" charset="-120"/>
              </a:rPr>
              <a:t>What check would you perform before sharing it?</a:t>
            </a:r>
            <a:endParaRPr lang="en-US" sz="2297"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OPTIONAL EXTENSION</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Go further only after the core is clear</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19</a:t>
            </a:r>
            <a:endParaRPr lang="en-US" sz="800" dirty="0"/>
          </a:p>
        </p:txBody>
      </p:sp>
      <p:sp>
        <p:nvSpPr>
          <p:cNvPr id="9" name="Text 7"/>
          <p:cNvSpPr/>
          <p:nvPr/>
        </p:nvSpPr>
        <p:spPr>
          <a:xfrm>
            <a:off x="768096" y="2212848"/>
            <a:ext cx="10698480" cy="2057400"/>
          </a:xfrm>
          <a:prstGeom prst="rect">
            <a:avLst/>
          </a:prstGeom>
          <a:noFill/>
          <a:ln/>
        </p:spPr>
        <p:txBody>
          <a:bodyPr wrap="square" lIns="0" tIns="0" rIns="0" bIns="0" rtlCol="0" anchor="ctr">
            <a:normAutofit/>
          </a:bodyPr>
          <a:lstStyle/>
          <a:p>
            <a:pPr indent="0" marL="0">
              <a:buNone/>
            </a:pPr>
            <a:r>
              <a:rPr lang="en-US" sz="2797" dirty="0">
                <a:solidFill>
                  <a:srgbClr val="232D3B"/>
                </a:solidFill>
                <a:latin typeface="Aptos" pitchFamily="34" charset="0"/>
                <a:ea typeface="Aptos" pitchFamily="34" charset="-122"/>
                <a:cs typeface="Aptos" pitchFamily="34" charset="-120"/>
              </a:rPr>
              <a:t>Optional: draw two different transcripts from the same three-exon gene.</a:t>
            </a:r>
            <a:endParaRPr lang="en-US" sz="2797" dirty="0"/>
          </a:p>
        </p:txBody>
      </p:sp>
      <p:sp>
        <p:nvSpPr>
          <p:cNvPr id="10" name="Text 8"/>
          <p:cNvSpPr/>
          <p:nvPr/>
        </p:nvSpPr>
        <p:spPr>
          <a:xfrm>
            <a:off x="786384" y="4828032"/>
            <a:ext cx="10561320" cy="804672"/>
          </a:xfrm>
          <a:prstGeom prst="rect">
            <a:avLst/>
          </a:prstGeom>
          <a:noFill/>
          <a:ln/>
        </p:spPr>
        <p:txBody>
          <a:bodyPr wrap="square" lIns="0" tIns="0" rIns="0" bIns="0" rtlCol="0" anchor="ctr">
            <a:normAutofit/>
          </a:bodyPr>
          <a:lstStyle/>
          <a:p>
            <a:pPr indent="0" marL="0">
              <a:buNone/>
            </a:pPr>
            <a:r>
              <a:rPr lang="en-US" sz="2197" b="1" dirty="0">
                <a:solidFill>
                  <a:srgbClr val="EB6834"/>
                </a:solidFill>
                <a:latin typeface="Aptos" pitchFamily="34" charset="0"/>
                <a:ea typeface="Aptos" pitchFamily="34" charset="-122"/>
                <a:cs typeface="Aptos" pitchFamily="34" charset="-120"/>
              </a:rPr>
              <a:t>Not required for the core grade. No advanced model training is expected.</a:t>
            </a:r>
            <a:endParaRPr lang="en-US" sz="2197"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2A78D6"/>
          </a:solidFill>
          <a:ln w="7620">
            <a:solidFill>
              <a:srgbClr val="2A78D6"/>
            </a:solidFill>
            <a:prstDash val="solid"/>
          </a:ln>
        </p:spPr>
        <p:txBody>
          <a:bodyPr/>
          <a:p/>
        </p:txBody>
      </p:sp>
      <p:sp>
        <p:nvSpPr>
          <p:cNvPr id="3" name="Text 1"/>
          <p:cNvSpPr/>
          <p:nvPr/>
        </p:nvSpPr>
        <p:spPr>
          <a:xfrm>
            <a:off x="502920" y="246888"/>
            <a:ext cx="3657600" cy="292608"/>
          </a:xfrm>
          <a:prstGeom prst="rect">
            <a:avLst/>
          </a:prstGeom>
          <a:noFill/>
          <a:ln/>
        </p:spPr>
        <p:txBody>
          <a:bodyPr wrap="square" lIns="0" tIns="0" rIns="0" bIns="0" rtlCol="0" anchor="ctr">
            <a:normAutofit/>
          </a:bodyPr>
          <a:lstStyle/>
          <a:p>
            <a:pPr indent="0" marL="0">
              <a:buNone/>
            </a:pPr>
            <a:r>
              <a:rPr lang="en-US" sz="1000" b="1" dirty="0">
                <a:solidFill>
                  <a:srgbClr val="526171"/>
                </a:solidFill>
                <a:latin typeface="Aptos" pitchFamily="34" charset="0"/>
                <a:ea typeface="Aptos" pitchFamily="34" charset="-122"/>
                <a:cs typeface="Aptos" pitchFamily="34" charset="-120"/>
              </a:rPr>
              <a:t>BIB / BRIDGE</a:t>
            </a:r>
            <a:endParaRPr lang="en-US" sz="1000" dirty="0"/>
          </a:p>
        </p:txBody>
      </p:sp>
      <p:sp>
        <p:nvSpPr>
          <p:cNvPr id="4" name="Text 2"/>
          <p:cNvSpPr/>
          <p:nvPr/>
        </p:nvSpPr>
        <p:spPr>
          <a:xfrm>
            <a:off x="9281160" y="246888"/>
            <a:ext cx="2377440" cy="292608"/>
          </a:xfrm>
          <a:prstGeom prst="rect">
            <a:avLst/>
          </a:prstGeom>
          <a:noFill/>
          <a:ln/>
        </p:spPr>
        <p:txBody>
          <a:bodyPr wrap="square" lIns="0" tIns="0" rIns="0" bIns="0" rtlCol="0" anchor="ctr">
            <a:normAutofit/>
          </a:bodyPr>
          <a:lstStyle/>
          <a:p>
            <a:pPr algn="r" indent="0" marL="0">
              <a:buNone/>
            </a:pPr>
            <a:r>
              <a:rPr lang="en-US" sz="1000" b="1" dirty="0">
                <a:solidFill>
                  <a:srgbClr val="2A78D6"/>
                </a:solidFill>
                <a:latin typeface="Aptos" pitchFamily="34" charset="0"/>
                <a:ea typeface="Aptos" pitchFamily="34" charset="-122"/>
                <a:cs typeface="Aptos" pitchFamily="34" charset="-120"/>
              </a:rPr>
              <a:t>SOURCE MAP</a:t>
            </a:r>
            <a:endParaRPr lang="en-US" sz="1000" dirty="0"/>
          </a:p>
        </p:txBody>
      </p:sp>
      <p:sp>
        <p:nvSpPr>
          <p:cNvPr id="5" name="Text 3"/>
          <p:cNvSpPr/>
          <p:nvPr/>
        </p:nvSpPr>
        <p:spPr>
          <a:xfrm>
            <a:off x="502920" y="786384"/>
            <a:ext cx="11137392" cy="914400"/>
          </a:xfrm>
          <a:prstGeom prst="rect">
            <a:avLst/>
          </a:prstGeom>
          <a:noFill/>
          <a:ln/>
        </p:spPr>
        <p:txBody>
          <a:bodyPr wrap="square" lIns="0" tIns="0" rIns="0" bIns="0" rtlCol="0" anchor="ctr">
            <a:normAutofit/>
          </a:bodyPr>
          <a:lstStyle/>
          <a:p>
            <a:pPr indent="0" marL="0">
              <a:buNone/>
            </a:pPr>
            <a:r>
              <a:rPr lang="en-US" sz="3197" b="1" dirty="0">
                <a:solidFill>
                  <a:srgbClr val="232D3B"/>
                </a:solidFill>
                <a:latin typeface="Aptos" pitchFamily="34" charset="0"/>
                <a:ea typeface="Aptos" pitchFamily="34" charset="-122"/>
                <a:cs typeface="Aptos" pitchFamily="34" charset="-120"/>
              </a:rPr>
              <a:t>Read the evidence, not only the slide</a:t>
            </a:r>
            <a:endParaRPr lang="en-US" sz="3197" dirty="0"/>
          </a:p>
        </p:txBody>
      </p:sp>
      <p:sp>
        <p:nvSpPr>
          <p:cNvPr id="6" name="Shape 4"/>
          <p:cNvSpPr/>
          <p:nvPr/>
        </p:nvSpPr>
        <p:spPr>
          <a:xfrm>
            <a:off x="502920" y="6355080"/>
            <a:ext cx="11183112" cy="0"/>
          </a:xfrm>
          <a:prstGeom prst="line">
            <a:avLst/>
          </a:prstGeom>
          <a:noFill/>
          <a:ln w="7620">
            <a:solidFill>
              <a:srgbClr val="D8E0E8"/>
            </a:solidFill>
            <a:prstDash val="solid"/>
          </a:ln>
        </p:spPr>
        <p:txBody>
          <a:bodyPr/>
          <a:p/>
        </p:txBody>
      </p:sp>
      <p:sp>
        <p:nvSpPr>
          <p:cNvPr id="7" name="Text 5"/>
          <p:cNvSpPr/>
          <p:nvPr/>
        </p:nvSpPr>
        <p:spPr>
          <a:xfrm>
            <a:off x="502920" y="6473952"/>
            <a:ext cx="5486400" cy="182880"/>
          </a:xfrm>
          <a:prstGeom prst="rect">
            <a:avLst/>
          </a:prstGeom>
          <a:noFill/>
          <a:ln/>
        </p:spPr>
        <p:txBody>
          <a:bodyPr wrap="square" lIns="0" tIns="0" rIns="0" bIns="0" rtlCol="0" anchor="ctr">
            <a:normAutofit/>
          </a:bodyPr>
          <a:lstStyle/>
          <a:p>
            <a:pPr indent="0" marL="0">
              <a:buNone/>
            </a:pPr>
            <a:r>
              <a:rPr lang="en-US" sz="800" dirty="0">
                <a:solidFill>
                  <a:srgbClr val="526171"/>
                </a:solidFill>
                <a:latin typeface="Aptos" pitchFamily="34" charset="0"/>
                <a:ea typeface="Aptos" pitchFamily="34" charset="-122"/>
                <a:cs typeface="Aptos" pitchFamily="34" charset="-120"/>
              </a:rPr>
              <a:t>BIOINFORMATICS FOR BIOENGINEERING</a:t>
            </a:r>
            <a:endParaRPr lang="en-US" sz="800" dirty="0"/>
          </a:p>
        </p:txBody>
      </p:sp>
      <p:sp>
        <p:nvSpPr>
          <p:cNvPr id="8" name="Text 6"/>
          <p:cNvSpPr/>
          <p:nvPr/>
        </p:nvSpPr>
        <p:spPr>
          <a:xfrm>
            <a:off x="7406640" y="6464808"/>
            <a:ext cx="4251960" cy="210312"/>
          </a:xfrm>
          <a:prstGeom prst="rect">
            <a:avLst/>
          </a:prstGeom>
          <a:noFill/>
          <a:ln/>
        </p:spPr>
        <p:txBody>
          <a:bodyPr wrap="square" lIns="0" tIns="0" rIns="0" bIns="0" rtlCol="0" anchor="ctr">
            <a:normAutofit/>
          </a:bodyPr>
          <a:lstStyle/>
          <a:p>
            <a:pPr algn="r" indent="0" marL="0">
              <a:buNone/>
            </a:pPr>
            <a:r>
              <a:rPr lang="en-US" sz="800" dirty="0">
                <a:solidFill>
                  <a:srgbClr val="526171"/>
                </a:solidFill>
                <a:latin typeface="Aptos" pitchFamily="34" charset="0"/>
                <a:ea typeface="Aptos" pitchFamily="34" charset="-122"/>
                <a:cs typeface="Aptos" pitchFamily="34" charset="-120"/>
              </a:rPr>
              <a:t>S01 / S10  |  20</a:t>
            </a:r>
            <a:endParaRPr lang="en-US" sz="800" dirty="0"/>
          </a:p>
        </p:txBody>
      </p:sp>
      <p:sp>
        <p:nvSpPr>
          <p:cNvPr id="9" name="Text 7"/>
          <p:cNvSpPr/>
          <p:nvPr/>
        </p:nvSpPr>
        <p:spPr>
          <a:xfrm>
            <a:off x="694944" y="1856232"/>
            <a:ext cx="10881360" cy="4160520"/>
          </a:xfrm>
          <a:prstGeom prst="rect">
            <a:avLst/>
          </a:prstGeom>
          <a:noFill/>
          <a:ln/>
        </p:spPr>
        <p:txBody>
          <a:bodyPr wrap="square" lIns="0" tIns="0" rIns="0" bIns="0" rtlCol="0" anchor="t">
            <a:normAutofit/>
          </a:bodyPr>
          <a:lstStyle/>
          <a:p>
            <a:pPr indent="0" marL="0">
              <a:buNone/>
            </a:pPr>
            <a:r>
              <a:rPr lang="en-US" sz="1997" dirty="0">
                <a:solidFill>
                  <a:srgbClr val="232D3B"/>
                </a:solidFill>
                <a:latin typeface="Aptos" pitchFamily="34" charset="0"/>
                <a:ea typeface="Aptos" pitchFamily="34" charset="-122"/>
                <a:cs typeface="Aptos" pitchFamily="34" charset="-120"/>
              </a:rPr>
              <a:t>S01  Alberts et al. Molecular Biology of the Cell, 4th ed. Foundational cell biology chapters.</a:t>
            </a:r>
            <a:endParaRPr lang="en-US" sz="1997" dirty="0"/>
          </a:p>
          <a:p>
            <a:pPr indent="0" marL="0">
              <a:buNone/>
            </a:pPr>
            <a:endParaRPr lang="en-US" sz="1997" dirty="0"/>
          </a:p>
          <a:p>
            <a:pPr indent="0" marL="0">
              <a:buNone/>
            </a:pPr>
            <a:r>
              <a:rPr lang="en-US" sz="1997" dirty="0">
                <a:solidFill>
                  <a:srgbClr val="232D3B"/>
                </a:solidFill>
                <a:latin typeface="Aptos" pitchFamily="34" charset="0"/>
                <a:ea typeface="Aptos" pitchFamily="34" charset="-122"/>
                <a:cs typeface="Aptos" pitchFamily="34" charset="-120"/>
              </a:rPr>
              <a:t>S10  DESeq2: Analyzing RNA-seq data with DESeq2, release vignette.</a:t>
            </a:r>
            <a:endParaRPr lang="en-US" sz="1997"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46888"/>
            <a:ext cx="3657600" cy="292608"/>
          </a:xfrm>
          <a:prstGeom prst="rect">
            <a:avLst/>
          </a:prstGeom>
          <a:noFill/>
        </p:spPr>
        <p:txBody>
          <a:bodyPr wrap="square" lIns="0" rIns="0" tIns="0" bIns="0">
            <a:spAutoFit/>
          </a:bodyPr>
          <a:lstStyle/>
          <a:p>
            <a:r>
              <a:rPr sz="1000" b="1">
                <a:solidFill>
                  <a:srgbClr val="526171"/>
                </a:solidFill>
                <a:latin typeface="Aptos"/>
              </a:rPr>
              <a:t>BIB / BRIDGE</a:t>
            </a:r>
          </a:p>
        </p:txBody>
      </p:sp>
      <p:sp>
        <p:nvSpPr>
          <p:cNvPr id="4" name="TextBox 3"/>
          <p:cNvSpPr txBox="1"/>
          <p:nvPr/>
        </p:nvSpPr>
        <p:spPr>
          <a:xfrm>
            <a:off x="9281160" y="246888"/>
            <a:ext cx="2377440" cy="292608"/>
          </a:xfrm>
          <a:prstGeom prst="rect">
            <a:avLst/>
          </a:prstGeom>
          <a:noFill/>
        </p:spPr>
        <p:txBody>
          <a:bodyPr wrap="square" lIns="0" rIns="0" tIns="0" bIns="0">
            <a:spAutoFit/>
          </a:bodyPr>
          <a:lstStyle/>
          <a:p>
            <a:pPr algn="r"/>
            <a:r>
              <a:rPr sz="1000" b="1">
                <a:solidFill>
                  <a:srgbClr val="2A78D6"/>
                </a:solidFill>
                <a:latin typeface="Aptos"/>
              </a:rPr>
              <a:t>ENTRY DIAGNOSTIC</a:t>
            </a:r>
          </a:p>
        </p:txBody>
      </p:sp>
      <p:sp>
        <p:nvSpPr>
          <p:cNvPr id="5" name="TextBox 4"/>
          <p:cNvSpPr txBox="1"/>
          <p:nvPr/>
        </p:nvSpPr>
        <p:spPr>
          <a:xfrm>
            <a:off x="502920" y="786384"/>
            <a:ext cx="11137392" cy="914400"/>
          </a:xfrm>
          <a:prstGeom prst="rect">
            <a:avLst/>
          </a:prstGeom>
          <a:noFill/>
        </p:spPr>
        <p:txBody>
          <a:bodyPr wrap="square" lIns="0" rIns="0" tIns="0" bIns="0" anchor="ctr">
            <a:spAutoFit/>
          </a:bodyPr>
          <a:lstStyle/>
          <a:p>
            <a:r>
              <a:rPr sz="3200" b="1">
                <a:solidFill>
                  <a:srgbClr val="232D3B"/>
                </a:solidFill>
                <a:latin typeface="Aptos"/>
              </a:rPr>
              <a:t>Before you leave: the Entry Diagnostic</a:t>
            </a:r>
          </a:p>
        </p:txBody>
      </p:sp>
      <p:sp>
        <p:nvSpPr>
          <p:cNvPr id="6" name="Rectangle 5"/>
          <p:cNvSpPr/>
          <p:nvPr/>
        </p:nvSpPr>
        <p:spPr>
          <a:xfrm>
            <a:off x="502920" y="6355080"/>
            <a:ext cx="11183112" cy="9144"/>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5486400" cy="182880"/>
          </a:xfrm>
          <a:prstGeom prst="rect">
            <a:avLst/>
          </a:prstGeom>
          <a:noFill/>
        </p:spPr>
        <p:txBody>
          <a:bodyPr wrap="square" lIns="0" rIns="0" tIns="0" bIns="0">
            <a:spAutoFit/>
          </a:bodyPr>
          <a:lstStyle/>
          <a:p>
            <a:r>
              <a:rPr sz="800" b="0">
                <a:solidFill>
                  <a:srgbClr val="526171"/>
                </a:solidFill>
                <a:latin typeface="Aptos"/>
              </a:rPr>
              <a:t>BIOINFORMATICS FOR BIOENGINEERING</a:t>
            </a:r>
          </a:p>
        </p:txBody>
      </p:sp>
      <p:sp>
        <p:nvSpPr>
          <p:cNvPr id="8" name="TextBox 7"/>
          <p:cNvSpPr txBox="1"/>
          <p:nvPr/>
        </p:nvSpPr>
        <p:spPr>
          <a:xfrm>
            <a:off x="7406640" y="6464808"/>
            <a:ext cx="4251960" cy="210312"/>
          </a:xfrm>
          <a:prstGeom prst="rect">
            <a:avLst/>
          </a:prstGeom>
          <a:noFill/>
        </p:spPr>
        <p:txBody>
          <a:bodyPr wrap="square" lIns="0" rIns="0" tIns="0" bIns="0">
            <a:spAutoFit/>
          </a:bodyPr>
          <a:lstStyle/>
          <a:p>
            <a:pPr algn="r"/>
            <a:r>
              <a:rPr sz="800" b="0">
                <a:solidFill>
                  <a:srgbClr val="526171"/>
                </a:solidFill>
                <a:latin typeface="Aptos"/>
              </a:rPr>
              <a:t>21</a:t>
            </a:r>
          </a:p>
        </p:txBody>
      </p:sp>
      <p:pic>
        <p:nvPicPr>
          <p:cNvPr id="9" name="Picture 8" descr="qr_bare.png"/>
          <p:cNvPicPr>
            <a:picLocks noChangeAspect="1"/>
          </p:cNvPicPr>
          <p:nvPr/>
        </p:nvPicPr>
        <p:blipFill>
          <a:blip r:embed="rId2"/>
          <a:stretch>
            <a:fillRect/>
          </a:stretch>
        </p:blipFill>
        <p:spPr>
          <a:xfrm>
            <a:off x="960120" y="1965960"/>
            <a:ext cx="3246120" cy="3246120"/>
          </a:xfrm>
          <a:prstGeom prst="rect">
            <a:avLst/>
          </a:prstGeom>
        </p:spPr>
      </p:pic>
      <p:sp>
        <p:nvSpPr>
          <p:cNvPr id="10" name="TextBox 9"/>
          <p:cNvSpPr txBox="1"/>
          <p:nvPr/>
        </p:nvSpPr>
        <p:spPr>
          <a:xfrm>
            <a:off x="502920" y="5321808"/>
            <a:ext cx="4160520" cy="292608"/>
          </a:xfrm>
          <a:prstGeom prst="rect">
            <a:avLst/>
          </a:prstGeom>
          <a:noFill/>
        </p:spPr>
        <p:txBody>
          <a:bodyPr wrap="square" lIns="0" rIns="0" tIns="0" bIns="0">
            <a:spAutoFit/>
          </a:bodyPr>
          <a:lstStyle/>
          <a:p>
            <a:pPr algn="ctr"/>
            <a:r>
              <a:rPr sz="1400" b="1">
                <a:solidFill>
                  <a:srgbClr val="232D3B"/>
                </a:solidFill>
                <a:latin typeface="Aptos"/>
              </a:rPr>
              <a:t>https://forms.gle/8d7q8LGjdiRKuv3j8</a:t>
            </a:r>
          </a:p>
        </p:txBody>
      </p:sp>
      <p:sp>
        <p:nvSpPr>
          <p:cNvPr id="11" name="TextBox 10"/>
          <p:cNvSpPr txBox="1"/>
          <p:nvPr/>
        </p:nvSpPr>
        <p:spPr>
          <a:xfrm>
            <a:off x="4846320" y="1965960"/>
            <a:ext cx="6812280" cy="3566160"/>
          </a:xfrm>
          <a:prstGeom prst="rect">
            <a:avLst/>
          </a:prstGeom>
          <a:noFill/>
        </p:spPr>
        <p:txBody>
          <a:bodyPr wrap="square" lIns="0" rIns="0" tIns="0" bIns="0">
            <a:spAutoFit/>
          </a:bodyPr>
          <a:lstStyle/>
          <a:p>
            <a:r>
              <a:rPr sz="1600" b="0">
                <a:solidFill>
                  <a:srgbClr val="232D3B"/>
                </a:solidFill>
                <a:latin typeface="Aptos"/>
              </a:rPr>
              <a:t>Ungraded. It cannot affect your grade.</a:t>
            </a:r>
          </a:p>
          <a:p>
            <a:r>
              <a:rPr sz="1600" b="0">
                <a:solidFill>
                  <a:srgbClr val="232D3B"/>
                </a:solidFill>
                <a:latin typeface="Aptos"/>
              </a:rPr>
              <a:t>About 15 minutes. No AI, no search, no notes.</a:t>
            </a:r>
          </a:p>
          <a:p/>
          <a:p>
            <a:r>
              <a:rPr sz="1600" b="0">
                <a:solidFill>
                  <a:srgbClr val="232D3B"/>
                </a:solidFill>
                <a:latin typeface="Aptos"/>
              </a:rPr>
              <a:t>Twelve questions, so I know which parts of this bridge to spend time on.</a:t>
            </a:r>
          </a:p>
          <a:p/>
          <a:p>
            <a:r>
              <a:rPr sz="1600" b="0">
                <a:solidFill>
                  <a:srgbClr val="232D3B"/>
                </a:solidFill>
                <a:latin typeface="Aptos"/>
              </a:rPr>
              <a:t>Choose “Not sure” rather than guessing. A confident wrong answer and an honest “not sure” need different help from me.</a:t>
            </a:r>
          </a:p>
          <a:p/>
          <a:p>
            <a:r>
              <a:rPr sz="1600" b="0">
                <a:solidFill>
                  <a:srgbClr val="232D3B"/>
                </a:solidFill>
                <a:latin typeface="Aptos"/>
              </a:rPr>
              <a:t>You get the answers and an explanation the moment you submit.</a:t>
            </a:r>
          </a:p>
        </p:txBody>
      </p:sp>
      <p:sp>
        <p:nvSpPr>
          <p:cNvPr id="12" name="TextBox 11"/>
          <p:cNvSpPr txBox="1"/>
          <p:nvPr/>
        </p:nvSpPr>
        <p:spPr>
          <a:xfrm>
            <a:off x="4846320" y="5687568"/>
            <a:ext cx="6812280" cy="502920"/>
          </a:xfrm>
          <a:prstGeom prst="rect">
            <a:avLst/>
          </a:prstGeom>
          <a:noFill/>
        </p:spPr>
        <p:txBody>
          <a:bodyPr wrap="square" lIns="0" rIns="0" tIns="0" bIns="0">
            <a:spAutoFit/>
          </a:bodyPr>
          <a:lstStyle/>
          <a:p>
            <a:r>
              <a:rPr sz="1300" b="0">
                <a:solidFill>
                  <a:srgbClr val="526171"/>
                </a:solidFill>
                <a:latin typeface="Aptos"/>
              </a:rPr>
              <a:t>Notlandırılmaz · Yaklaşık 15 dakika · Emin değilseniz tahmin etmek yerine “Emin değilim” seçin.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Ege University | Bioengineering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biology and numbers bridge</dc:title>
  <dc:subject>Scaffolded fourth-year bioengineering</dc:subject>
  <dc:creator>BIB course teaching materials</dc:creator>
  <cp:lastModifiedBy>BIB course teaching materials</cp:lastModifiedBy>
  <cp:revision>1</cp:revision>
  <dcterms:created xsi:type="dcterms:W3CDTF">2026-09-14T18:26:53Z</dcterms:created>
  <dcterms:modified xsi:type="dcterms:W3CDTF">2026-09-14T18:26:53Z</dcterms:modified>
</cp:coreProperties>
</file>