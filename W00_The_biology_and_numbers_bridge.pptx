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What exactly does a biological measurement measure?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S01: Alberts et al. Molecular Biology of the Cell, 4th ed. Foundational cell biology chapters.
https://www.ncbi.nlm.nih.gov/books/NBK21054/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Organism: the whole biological system.
Cell: a compartment containing molecules and processes.
DNA: a sequence that stores heritable information.
Checkpoint: ask a student to state one conclusion the data do NOT support.
Read technical terms aloud; ask students to explain the measurement before interpreting the model. Accept justified uncertainty.
[Sources]
S01: Alberts et al. Molecular Biology of the Cell, 4th ed. Foundational cell biology chapters.
https://www.ncbi.nlm.nih.gov/books/NBK21054/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gene is a genomic region associated with a functional product.
Some genes produce functional RNAs, not proteins.
Protein-coding genes can give rise to different transcript isoforms.
Checkpoint: ask a student to state one conclusion the data do NOT support.
Read technical terms aloud; ask students to explain the measurement before interpreting the model. Accept justified uncertainty.
[Sources]
S01: Alberts et al. Molecular Biology of the Cell, 4th ed. Foundational cell biology chapters.
https://www.ncbi.nlm.nih.gov/books/NBK21054/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DNA sequence: which bases are present?
RNA measurement: which transcripts were detected, and how much?
Protein / function assay: which molecule or activity was measured?
Checkpoint: ask a student to state one conclusion the data do NOT support.
Read technical terms aloud; ask students to explain the measurement before interpreting the model. Accept justified uncertainty.
[Sources]
S01: Alberts et al. Molecular Biology of the Cell, 4th ed. Foundational cell biology chapters.
https://www.ncbi.nlm.nih.gov/books/NBK21054/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DNA is written with A, C, G and T; RNA uses U instead of T.
Sequences have direction: label 5-prime and 3-prime ends.
An unknown base N is not a fifth ordinary DNA base.
Checkpoint: ask a student to state one conclusion the data do NOT support.
Read technical terms aloud; ask students to explain the measurement before interpreting the model. Accept justified uncertainty.
[Sources]
S01: Alberts et al. Molecular Biology of the Cell, 4th ed. Foundational cell biology chapters.
https://www.ncbi.nlm.nih.gov/books/NBK21054/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An RNA precursor can include introns that are removed by splicing.
Exons are retained in a mature transcript; not every exon base is translated.
Alternative splicing can produce different transcripts from one gene.
Checkpoint: ask a student to state one conclusion the data do NOT support.
Read technical terms aloud; ask students to explain the measurement before interpreting the model. Accept justified uncertainty.
[Sources]
S01: Alberts et al. Molecular Biology of the Cell, 4th ed. Foundational cell biology chapters.
https://www.ncbi.nlm.nih.gov/books/NBK21054/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For an appropriate coding sequence, three RNA bases make a codon.
AUG encodes methionine; UAA, UAG and UGA are stop codons in the standard code.
Do not translate an arbitrary genomic interval and assume it is a protein.
Checkpoint: ask a student to state one conclusion the data do NOT support.
Read technical terms aloud; ask students to explain the measurement before interpreting the model. Accept justified uncertainty.
[Sources]
S01: Alberts et al. Molecular Biology of the Cell, 4th ed. Foundational cell biology chapters.
https://www.ncbi.nlm.nih.gov/books/NBK21054/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In this table: rows are genes; columns are samples.
An entry is an observed count, not a number of patients.
Always read the labels before doing arithmetic.
Checkpoint: ask a student to state one conclusion the data do NOT support.
Read technical terms aloud; ask students to explain the measurement before interpreting the model. Accept justified uncertainty.
[Sources]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change from 10 to 20 is a two-fold increase.
log2(2) = 1; log2(1) = 0; log2(0.5) = -1.
A denominator of zero needs an explicit rule, not a hidden fix.
Checkpoint: ask a student to state one conclusion the data do NOT support.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S01: Alberts et al. Molecular Biology of the Cell, 4th ed. Foundational cell biology chapters.
https://www.ncbi.nlm.nih.gov/books/NBK21054/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S01: Alberts et al. Molecular Biology of the Cell, 4th ed. Foundational cell biology chapters.
https://www.ncbi.nlm.nih.gov/books/NBK21054/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S01: Alberts et al. Molecular Biology of the Cell, 4th ed. Foundational cell biology chapters.
https://www.ncbi.nlm.nih.gov/books/NBK21054/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S01: Alberts et al. Molecular Biology of the Cell, 4th ed. Foundational cell biology chapters.
https://www.ncbi.nlm.nih.gov/books/NBK21054/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FOUNDATION BRIDGE</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The biology and numbers bridge</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What exactly does a biological measurement measure?</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Distinguish DNA, a gene, RNA and a protein.</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Read a small matrix and calculate a fraction.</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Separate a biological question from the available measurement.</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No previous genetics or programming is required. Start with one cell, one sequence and one table.</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From organism to sequence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4</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Organism: the whole biological system.</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Cell: a compartment containing molecules and processes.</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DNA: a sequence that stores heritable information.</a:t>
            </a:r>
            <a:endParaRPr lang="en-US" sz="2297" dirty="0"/>
          </a:p>
        </p:txBody>
      </p:sp>
      <p:sp>
        <p:nvSpPr>
          <p:cNvPr id="16" name="Shape 14"/>
          <p:cNvSpPr/>
          <p:nvPr/>
        </p:nvSpPr>
        <p:spPr>
          <a:xfrm>
            <a:off x="841248" y="2295144"/>
            <a:ext cx="4471416" cy="758952"/>
          </a:xfrm>
          <a:prstGeom prst="rect">
            <a:avLst/>
          </a:prstGeom>
          <a:solidFill>
            <a:srgbClr val="FFFFFF"/>
          </a:solidFill>
          <a:ln w="7620">
            <a:solidFill>
              <a:srgbClr val="FFFFFF"/>
            </a:solidFill>
            <a:prstDash val="solid"/>
          </a:ln>
        </p:spPr>
      </p:sp>
      <p:sp>
        <p:nvSpPr>
          <p:cNvPr id="17" name="Text 15"/>
          <p:cNvSpPr/>
          <p:nvPr/>
        </p:nvSpPr>
        <p:spPr>
          <a:xfrm>
            <a:off x="932688" y="2432304"/>
            <a:ext cx="4288536" cy="457200"/>
          </a:xfrm>
          <a:prstGeom prst="rect">
            <a:avLst/>
          </a:prstGeom>
          <a:noFill/>
          <a:ln/>
        </p:spPr>
        <p:txBody>
          <a:bodyPr wrap="square" lIns="0" tIns="0" rIns="0" bIns="0" rtlCol="0" anchor="ctr">
            <a:normAutofit/>
          </a:bodyPr>
          <a:lstStyle/>
          <a:p>
            <a:pPr algn="ctr" indent="0" marL="0">
              <a:buNone/>
            </a:pPr>
            <a:r>
              <a:rPr lang="en-US" sz="2200" b="1" dirty="0">
                <a:solidFill>
                  <a:srgbClr val="232D3B"/>
                </a:solidFill>
                <a:latin typeface="Aptos" pitchFamily="34" charset="0"/>
                <a:ea typeface="Aptos" pitchFamily="34" charset="-122"/>
                <a:cs typeface="Aptos" pitchFamily="34" charset="-120"/>
              </a:rPr>
              <a:t>Organism</a:t>
            </a:r>
            <a:endParaRPr lang="en-US" sz="2200" dirty="0"/>
          </a:p>
        </p:txBody>
      </p:sp>
      <p:sp>
        <p:nvSpPr>
          <p:cNvPr id="18" name="Shape 16"/>
          <p:cNvSpPr/>
          <p:nvPr/>
        </p:nvSpPr>
        <p:spPr>
          <a:xfrm>
            <a:off x="1243584" y="3355848"/>
            <a:ext cx="3666744" cy="758952"/>
          </a:xfrm>
          <a:prstGeom prst="rect">
            <a:avLst/>
          </a:prstGeom>
          <a:solidFill>
            <a:srgbClr val="FFFFFF"/>
          </a:solidFill>
          <a:ln w="7620">
            <a:solidFill>
              <a:srgbClr val="FFFFFF"/>
            </a:solidFill>
            <a:prstDash val="solid"/>
          </a:ln>
        </p:spPr>
      </p:sp>
      <p:sp>
        <p:nvSpPr>
          <p:cNvPr id="19" name="Text 17"/>
          <p:cNvSpPr/>
          <p:nvPr/>
        </p:nvSpPr>
        <p:spPr>
          <a:xfrm>
            <a:off x="1335024" y="3493008"/>
            <a:ext cx="3483864" cy="457200"/>
          </a:xfrm>
          <a:prstGeom prst="rect">
            <a:avLst/>
          </a:prstGeom>
          <a:noFill/>
          <a:ln/>
        </p:spPr>
        <p:txBody>
          <a:bodyPr wrap="square" lIns="0" tIns="0" rIns="0" bIns="0" rtlCol="0" anchor="ctr">
            <a:normAutofit/>
          </a:bodyPr>
          <a:lstStyle/>
          <a:p>
            <a:pPr algn="ctr" indent="0" marL="0">
              <a:buNone/>
            </a:pPr>
            <a:r>
              <a:rPr lang="en-US" sz="2200" b="1" dirty="0">
                <a:solidFill>
                  <a:srgbClr val="232D3B"/>
                </a:solidFill>
                <a:latin typeface="Aptos" pitchFamily="34" charset="0"/>
                <a:ea typeface="Aptos" pitchFamily="34" charset="-122"/>
                <a:cs typeface="Aptos" pitchFamily="34" charset="-120"/>
              </a:rPr>
              <a:t>Cell</a:t>
            </a:r>
            <a:endParaRPr lang="en-US" sz="2200" dirty="0"/>
          </a:p>
        </p:txBody>
      </p:sp>
      <p:sp>
        <p:nvSpPr>
          <p:cNvPr id="20" name="Shape 18"/>
          <p:cNvSpPr/>
          <p:nvPr/>
        </p:nvSpPr>
        <p:spPr>
          <a:xfrm>
            <a:off x="1645920" y="4416552"/>
            <a:ext cx="2862072" cy="758952"/>
          </a:xfrm>
          <a:prstGeom prst="rect">
            <a:avLst/>
          </a:prstGeom>
          <a:solidFill>
            <a:srgbClr val="2A78D6"/>
          </a:solidFill>
          <a:ln w="7620">
            <a:solidFill>
              <a:srgbClr val="2A78D6"/>
            </a:solidFill>
            <a:prstDash val="solid"/>
          </a:ln>
        </p:spPr>
      </p:sp>
      <p:sp>
        <p:nvSpPr>
          <p:cNvPr id="21" name="Text 19"/>
          <p:cNvSpPr/>
          <p:nvPr/>
        </p:nvSpPr>
        <p:spPr>
          <a:xfrm>
            <a:off x="1737360" y="4553712"/>
            <a:ext cx="2679192" cy="457200"/>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ptos" pitchFamily="34" charset="0"/>
                <a:ea typeface="Aptos" pitchFamily="34" charset="-122"/>
                <a:cs typeface="Aptos" pitchFamily="34" charset="-120"/>
              </a:rPr>
              <a:t>DNA sequence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gene is not the same as a protein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5</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gene is a genomic region associated with a functional product.</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Some genes produce functional RNAs, not proteins.</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Protein-coding genes can give rise to different transcript isoforms.</a:t>
            </a:r>
            <a:endParaRPr lang="en-US" sz="229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The measurement ladder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6</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DNA sequence: which bases are present?</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RNA measurement: which transcripts were detected, and how much?</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Protein / function assay: which molecule or activity was measured?</a:t>
            </a:r>
            <a:endParaRPr lang="en-US" sz="229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Reading a short DNA sequence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7</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DNA is written with A, C, G and T; RNA uses U instead of T.</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Sequences have direction: label 5-prime and 3-prime ends.</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An unknown base N is not a fifth ordinary DNA base.</a:t>
            </a:r>
            <a:endParaRPr lang="en-US" sz="2297" dirty="0"/>
          </a:p>
        </p:txBody>
      </p:sp>
      <p:sp>
        <p:nvSpPr>
          <p:cNvPr id="16" name="Text 14"/>
          <p:cNvSpPr/>
          <p:nvPr/>
        </p:nvSpPr>
        <p:spPr>
          <a:xfrm>
            <a:off x="841248" y="2368296"/>
            <a:ext cx="548640" cy="457200"/>
          </a:xfrm>
          <a:prstGeom prst="rect">
            <a:avLst/>
          </a:prstGeom>
          <a:noFill/>
          <a:ln/>
        </p:spPr>
        <p:txBody>
          <a:bodyPr wrap="square" lIns="0" tIns="0" rIns="0" bIns="0" rtlCol="0" anchor="ctr">
            <a:normAutofit/>
          </a:bodyPr>
          <a:lstStyle/>
          <a:p>
            <a:pPr indent="0" marL="0">
              <a:buNone/>
            </a:pPr>
            <a:r>
              <a:rPr lang="en-US" sz="1800" dirty="0">
                <a:solidFill>
                  <a:srgbClr val="526171"/>
                </a:solidFill>
                <a:latin typeface="Aptos" pitchFamily="34" charset="0"/>
                <a:ea typeface="Aptos" pitchFamily="34" charset="-122"/>
                <a:cs typeface="Aptos" pitchFamily="34" charset="-120"/>
              </a:rPr>
              <a:t>5'</a:t>
            </a:r>
            <a:endParaRPr lang="en-US" sz="1800" dirty="0"/>
          </a:p>
        </p:txBody>
      </p:sp>
      <p:sp>
        <p:nvSpPr>
          <p:cNvPr id="17" name="Text 15"/>
          <p:cNvSpPr/>
          <p:nvPr/>
        </p:nvSpPr>
        <p:spPr>
          <a:xfrm>
            <a:off x="4636008" y="2368296"/>
            <a:ext cx="548640" cy="457200"/>
          </a:xfrm>
          <a:prstGeom prst="rect">
            <a:avLst/>
          </a:prstGeom>
          <a:noFill/>
          <a:ln/>
        </p:spPr>
        <p:txBody>
          <a:bodyPr wrap="square" lIns="0" tIns="0" rIns="0" bIns="0" rtlCol="0" anchor="ctr">
            <a:normAutofit/>
          </a:bodyPr>
          <a:lstStyle/>
          <a:p>
            <a:pPr algn="r" indent="0" marL="0">
              <a:buNone/>
            </a:pPr>
            <a:r>
              <a:rPr lang="en-US" sz="1800" dirty="0">
                <a:solidFill>
                  <a:srgbClr val="526171"/>
                </a:solidFill>
                <a:latin typeface="Aptos" pitchFamily="34" charset="0"/>
                <a:ea typeface="Aptos" pitchFamily="34" charset="-122"/>
                <a:cs typeface="Aptos" pitchFamily="34" charset="-120"/>
              </a:rPr>
              <a:t>3'</a:t>
            </a:r>
            <a:endParaRPr lang="en-US" sz="1800" dirty="0"/>
          </a:p>
        </p:txBody>
      </p:sp>
      <p:sp>
        <p:nvSpPr>
          <p:cNvPr id="18" name="Text 16"/>
          <p:cNvSpPr/>
          <p:nvPr/>
        </p:nvSpPr>
        <p:spPr>
          <a:xfrm>
            <a:off x="841248" y="3182112"/>
            <a:ext cx="4471416" cy="1234440"/>
          </a:xfrm>
          <a:prstGeom prst="rect">
            <a:avLst/>
          </a:prstGeom>
          <a:noFill/>
          <a:ln/>
        </p:spPr>
        <p:txBody>
          <a:bodyPr wrap="square" lIns="0" tIns="0" rIns="0" bIns="0" rtlCol="0" anchor="ctr">
            <a:normAutofit/>
          </a:bodyPr>
          <a:lstStyle/>
          <a:p>
            <a:pPr algn="ctr" indent="0" marL="0">
              <a:buNone/>
            </a:pPr>
            <a:r>
              <a:rPr lang="en-US" sz="2997" b="1" dirty="0">
                <a:solidFill>
                  <a:srgbClr val="2A78D6"/>
                </a:solidFill>
                <a:latin typeface="Consolas" pitchFamily="34" charset="0"/>
                <a:ea typeface="Consolas" pitchFamily="34" charset="-122"/>
                <a:cs typeface="Consolas" pitchFamily="34" charset="-120"/>
              </a:rPr>
              <a:t>ATGCCATN</a:t>
            </a:r>
            <a:endParaRPr lang="en-US" sz="2997" dirty="0"/>
          </a:p>
        </p:txBody>
      </p:sp>
      <p:sp>
        <p:nvSpPr>
          <p:cNvPr id="19" name="Text 17"/>
          <p:cNvSpPr/>
          <p:nvPr/>
        </p:nvSpPr>
        <p:spPr>
          <a:xfrm>
            <a:off x="841248" y="4992624"/>
            <a:ext cx="4471416" cy="658368"/>
          </a:xfrm>
          <a:prstGeom prst="rect">
            <a:avLst/>
          </a:prstGeom>
          <a:noFill/>
          <a:ln/>
        </p:spPr>
        <p:txBody>
          <a:bodyPr wrap="square" lIns="0" tIns="0" rIns="0" bIns="0" rtlCol="0" anchor="ctr">
            <a:normAutofit/>
          </a:bodyPr>
          <a:lstStyle/>
          <a:p>
            <a:pPr algn="ctr" indent="0" marL="0">
              <a:buNone/>
            </a:pPr>
            <a:r>
              <a:rPr lang="en-US" sz="1800" dirty="0">
                <a:solidFill>
                  <a:srgbClr val="526171"/>
                </a:solidFill>
                <a:latin typeface="Aptos" pitchFamily="34" charset="0"/>
                <a:ea typeface="Aptos" pitchFamily="34" charset="-122"/>
                <a:cs typeface="Aptos" pitchFamily="34" charset="-120"/>
              </a:rPr>
              <a:t>Direction and alphabet are part of the data.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Exons, introns and transcripts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8</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An RNA precursor can include introns that are removed by splicing.</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138" dirty="0">
                <a:solidFill>
                  <a:srgbClr val="232D3B"/>
                </a:solidFill>
                <a:latin typeface="Aptos" pitchFamily="34" charset="0"/>
                <a:ea typeface="Aptos" pitchFamily="34" charset="-122"/>
                <a:cs typeface="Aptos" pitchFamily="34" charset="-120"/>
              </a:rPr>
              <a:t>Exons are retained in a mature transcript; not every exon base is translated.</a:t>
            </a:r>
            <a:endParaRPr lang="en-US" sz="2138"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Alternative splicing can produce different transcripts from one gene.</a:t>
            </a:r>
            <a:endParaRPr lang="en-US" sz="2297" dirty="0"/>
          </a:p>
        </p:txBody>
      </p:sp>
      <p:sp>
        <p:nvSpPr>
          <p:cNvPr id="16" name="Text 14"/>
          <p:cNvSpPr/>
          <p:nvPr/>
        </p:nvSpPr>
        <p:spPr>
          <a:xfrm>
            <a:off x="841248" y="2157984"/>
            <a:ext cx="4471416" cy="384048"/>
          </a:xfrm>
          <a:prstGeom prst="rect">
            <a:avLst/>
          </a:prstGeom>
          <a:noFill/>
          <a:ln/>
        </p:spPr>
        <p:txBody>
          <a:bodyPr wrap="square" lIns="0" tIns="0" rIns="0" bIns="0" rtlCol="0" anchor="ctr">
            <a:normAutofit/>
          </a:bodyPr>
          <a:lstStyle/>
          <a:p>
            <a:pPr indent="0" marL="0">
              <a:buNone/>
            </a:pPr>
            <a:r>
              <a:rPr lang="en-US" sz="1900" b="1" dirty="0">
                <a:solidFill>
                  <a:srgbClr val="2A78D6"/>
                </a:solidFill>
                <a:latin typeface="Aptos" pitchFamily="34" charset="0"/>
                <a:ea typeface="Aptos" pitchFamily="34" charset="-122"/>
                <a:cs typeface="Aptos" pitchFamily="34" charset="-120"/>
              </a:rPr>
              <a:t>Precursor RNA</a:t>
            </a:r>
            <a:endParaRPr lang="en-US" sz="1900" dirty="0"/>
          </a:p>
        </p:txBody>
      </p:sp>
      <p:sp>
        <p:nvSpPr>
          <p:cNvPr id="17" name="Shape 15"/>
          <p:cNvSpPr/>
          <p:nvPr/>
        </p:nvSpPr>
        <p:spPr>
          <a:xfrm>
            <a:off x="978408" y="3072384"/>
            <a:ext cx="4160520" cy="0"/>
          </a:xfrm>
          <a:prstGeom prst="line">
            <a:avLst/>
          </a:prstGeom>
          <a:noFill/>
          <a:ln w="25400">
            <a:solidFill>
              <a:srgbClr val="526171"/>
            </a:solidFill>
            <a:prstDash val="solid"/>
          </a:ln>
        </p:spPr>
      </p:sp>
      <p:sp>
        <p:nvSpPr>
          <p:cNvPr id="18" name="Shape 16"/>
          <p:cNvSpPr/>
          <p:nvPr/>
        </p:nvSpPr>
        <p:spPr>
          <a:xfrm>
            <a:off x="841248" y="2816352"/>
            <a:ext cx="1051560" cy="548640"/>
          </a:xfrm>
          <a:prstGeom prst="rect">
            <a:avLst/>
          </a:prstGeom>
          <a:solidFill>
            <a:srgbClr val="2A78D6"/>
          </a:solidFill>
          <a:ln w="7620">
            <a:solidFill>
              <a:srgbClr val="2A78D6"/>
            </a:solidFill>
            <a:prstDash val="solid"/>
          </a:ln>
        </p:spPr>
      </p:sp>
      <p:sp>
        <p:nvSpPr>
          <p:cNvPr id="19" name="Text 17"/>
          <p:cNvSpPr/>
          <p:nvPr/>
        </p:nvSpPr>
        <p:spPr>
          <a:xfrm>
            <a:off x="896112" y="2880360"/>
            <a:ext cx="941832" cy="34747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Exon 1</a:t>
            </a:r>
            <a:endParaRPr lang="en-US" sz="1300" dirty="0"/>
          </a:p>
        </p:txBody>
      </p:sp>
      <p:sp>
        <p:nvSpPr>
          <p:cNvPr id="20" name="Shape 18"/>
          <p:cNvSpPr/>
          <p:nvPr/>
        </p:nvSpPr>
        <p:spPr>
          <a:xfrm>
            <a:off x="2414016" y="2816352"/>
            <a:ext cx="1051560" cy="548640"/>
          </a:xfrm>
          <a:prstGeom prst="rect">
            <a:avLst/>
          </a:prstGeom>
          <a:solidFill>
            <a:srgbClr val="2A78D6"/>
          </a:solidFill>
          <a:ln w="7620">
            <a:solidFill>
              <a:srgbClr val="2A78D6"/>
            </a:solidFill>
            <a:prstDash val="solid"/>
          </a:ln>
        </p:spPr>
      </p:sp>
      <p:sp>
        <p:nvSpPr>
          <p:cNvPr id="21" name="Text 19"/>
          <p:cNvSpPr/>
          <p:nvPr/>
        </p:nvSpPr>
        <p:spPr>
          <a:xfrm>
            <a:off x="2468880" y="2880360"/>
            <a:ext cx="941832" cy="34747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Exon 2</a:t>
            </a:r>
            <a:endParaRPr lang="en-US" sz="1300" dirty="0"/>
          </a:p>
        </p:txBody>
      </p:sp>
      <p:sp>
        <p:nvSpPr>
          <p:cNvPr id="22" name="Shape 20"/>
          <p:cNvSpPr/>
          <p:nvPr/>
        </p:nvSpPr>
        <p:spPr>
          <a:xfrm>
            <a:off x="3986784" y="2816352"/>
            <a:ext cx="1051560" cy="548640"/>
          </a:xfrm>
          <a:prstGeom prst="rect">
            <a:avLst/>
          </a:prstGeom>
          <a:solidFill>
            <a:srgbClr val="2A78D6"/>
          </a:solidFill>
          <a:ln w="7620">
            <a:solidFill>
              <a:srgbClr val="2A78D6"/>
            </a:solidFill>
            <a:prstDash val="solid"/>
          </a:ln>
        </p:spPr>
      </p:sp>
      <p:sp>
        <p:nvSpPr>
          <p:cNvPr id="23" name="Text 21"/>
          <p:cNvSpPr/>
          <p:nvPr/>
        </p:nvSpPr>
        <p:spPr>
          <a:xfrm>
            <a:off x="4041648" y="2880360"/>
            <a:ext cx="941832" cy="347472"/>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Exon 3</a:t>
            </a:r>
            <a:endParaRPr lang="en-US" sz="1300" dirty="0"/>
          </a:p>
        </p:txBody>
      </p:sp>
      <p:sp>
        <p:nvSpPr>
          <p:cNvPr id="24" name="Text 22"/>
          <p:cNvSpPr/>
          <p:nvPr/>
        </p:nvSpPr>
        <p:spPr>
          <a:xfrm>
            <a:off x="841248" y="3849624"/>
            <a:ext cx="4471416" cy="457200"/>
          </a:xfrm>
          <a:prstGeom prst="rect">
            <a:avLst/>
          </a:prstGeom>
          <a:noFill/>
          <a:ln/>
        </p:spPr>
        <p:txBody>
          <a:bodyPr wrap="square" lIns="0" tIns="0" rIns="0" bIns="0" rtlCol="0" anchor="ctr">
            <a:normAutofit/>
          </a:bodyPr>
          <a:lstStyle/>
          <a:p>
            <a:pPr algn="ctr" indent="0" marL="0">
              <a:buNone/>
            </a:pPr>
            <a:r>
              <a:rPr lang="en-US" sz="1800" dirty="0">
                <a:solidFill>
                  <a:srgbClr val="526171"/>
                </a:solidFill>
                <a:latin typeface="Aptos" pitchFamily="34" charset="0"/>
                <a:ea typeface="Aptos" pitchFamily="34" charset="-122"/>
                <a:cs typeface="Aptos" pitchFamily="34" charset="-120"/>
              </a:rPr>
              <a:t>Splicing removes introns</a:t>
            </a:r>
            <a:endParaRPr lang="en-US" sz="1800" dirty="0"/>
          </a:p>
        </p:txBody>
      </p:sp>
      <p:sp>
        <p:nvSpPr>
          <p:cNvPr id="25" name="Shape 23"/>
          <p:cNvSpPr/>
          <p:nvPr/>
        </p:nvSpPr>
        <p:spPr>
          <a:xfrm>
            <a:off x="1234440" y="4764024"/>
            <a:ext cx="1152144" cy="594360"/>
          </a:xfrm>
          <a:prstGeom prst="rect">
            <a:avLst/>
          </a:prstGeom>
          <a:solidFill>
            <a:srgbClr val="2A78D6"/>
          </a:solidFill>
          <a:ln w="7620">
            <a:solidFill>
              <a:srgbClr val="2A78D6"/>
            </a:solidFill>
            <a:prstDash val="solid"/>
          </a:ln>
        </p:spPr>
      </p:sp>
      <p:sp>
        <p:nvSpPr>
          <p:cNvPr id="26" name="Text 24"/>
          <p:cNvSpPr/>
          <p:nvPr/>
        </p:nvSpPr>
        <p:spPr>
          <a:xfrm>
            <a:off x="1234440" y="4892040"/>
            <a:ext cx="1152144" cy="338328"/>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ptos" pitchFamily="34" charset="0"/>
                <a:ea typeface="Aptos" pitchFamily="34" charset="-122"/>
                <a:cs typeface="Aptos" pitchFamily="34" charset="-120"/>
              </a:rPr>
              <a:t>E1</a:t>
            </a:r>
            <a:endParaRPr lang="en-US" sz="1900" dirty="0"/>
          </a:p>
        </p:txBody>
      </p:sp>
      <p:sp>
        <p:nvSpPr>
          <p:cNvPr id="27" name="Shape 25"/>
          <p:cNvSpPr/>
          <p:nvPr/>
        </p:nvSpPr>
        <p:spPr>
          <a:xfrm>
            <a:off x="2468880" y="4764024"/>
            <a:ext cx="1152144" cy="594360"/>
          </a:xfrm>
          <a:prstGeom prst="rect">
            <a:avLst/>
          </a:prstGeom>
          <a:solidFill>
            <a:srgbClr val="2A78D6"/>
          </a:solidFill>
          <a:ln w="7620">
            <a:solidFill>
              <a:srgbClr val="2A78D6"/>
            </a:solidFill>
            <a:prstDash val="solid"/>
          </a:ln>
        </p:spPr>
      </p:sp>
      <p:sp>
        <p:nvSpPr>
          <p:cNvPr id="28" name="Text 26"/>
          <p:cNvSpPr/>
          <p:nvPr/>
        </p:nvSpPr>
        <p:spPr>
          <a:xfrm>
            <a:off x="2468880" y="4892040"/>
            <a:ext cx="1152144" cy="338328"/>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ptos" pitchFamily="34" charset="0"/>
                <a:ea typeface="Aptos" pitchFamily="34" charset="-122"/>
                <a:cs typeface="Aptos" pitchFamily="34" charset="-120"/>
              </a:rPr>
              <a:t>E2</a:t>
            </a:r>
            <a:endParaRPr lang="en-US" sz="1900" dirty="0"/>
          </a:p>
        </p:txBody>
      </p:sp>
      <p:sp>
        <p:nvSpPr>
          <p:cNvPr id="29" name="Shape 27"/>
          <p:cNvSpPr/>
          <p:nvPr/>
        </p:nvSpPr>
        <p:spPr>
          <a:xfrm>
            <a:off x="3703320" y="4764024"/>
            <a:ext cx="1152144" cy="594360"/>
          </a:xfrm>
          <a:prstGeom prst="rect">
            <a:avLst/>
          </a:prstGeom>
          <a:solidFill>
            <a:srgbClr val="2A78D6"/>
          </a:solidFill>
          <a:ln w="7620">
            <a:solidFill>
              <a:srgbClr val="2A78D6"/>
            </a:solidFill>
            <a:prstDash val="solid"/>
          </a:ln>
        </p:spPr>
      </p:sp>
      <p:sp>
        <p:nvSpPr>
          <p:cNvPr id="30" name="Text 28"/>
          <p:cNvSpPr/>
          <p:nvPr/>
        </p:nvSpPr>
        <p:spPr>
          <a:xfrm>
            <a:off x="3703320" y="4892040"/>
            <a:ext cx="1152144" cy="338328"/>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ptos" pitchFamily="34" charset="0"/>
                <a:ea typeface="Aptos" pitchFamily="34" charset="-122"/>
                <a:cs typeface="Aptos" pitchFamily="34" charset="-120"/>
              </a:rPr>
              <a:t>E3</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Translation is a reading-frame problem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9</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For an appropriate coding sequence, three RNA bases make a codon.</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AUG encodes methionine; UAA, UAG and UGA are stop codons in the standard code.</a:t>
            </a:r>
            <a:endParaRPr lang="en-US" sz="2100"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Do not translate an arbitrary genomic interval and assume it is a protein.</a:t>
            </a:r>
            <a:endParaRPr lang="en-US" sz="2297" dirty="0"/>
          </a:p>
        </p:txBody>
      </p:sp>
      <p:sp>
        <p:nvSpPr>
          <p:cNvPr id="16" name="Text 14"/>
          <p:cNvSpPr/>
          <p:nvPr/>
        </p:nvSpPr>
        <p:spPr>
          <a:xfrm>
            <a:off x="841248" y="2368296"/>
            <a:ext cx="548640" cy="457200"/>
          </a:xfrm>
          <a:prstGeom prst="rect">
            <a:avLst/>
          </a:prstGeom>
          <a:noFill/>
          <a:ln/>
        </p:spPr>
        <p:txBody>
          <a:bodyPr wrap="square" lIns="0" tIns="0" rIns="0" bIns="0" rtlCol="0" anchor="ctr">
            <a:normAutofit/>
          </a:bodyPr>
          <a:lstStyle/>
          <a:p>
            <a:pPr indent="0" marL="0">
              <a:buNone/>
            </a:pPr>
            <a:r>
              <a:rPr lang="en-US" sz="1800" dirty="0">
                <a:solidFill>
                  <a:srgbClr val="526171"/>
                </a:solidFill>
                <a:latin typeface="Aptos" pitchFamily="34" charset="0"/>
                <a:ea typeface="Aptos" pitchFamily="34" charset="-122"/>
                <a:cs typeface="Aptos" pitchFamily="34" charset="-120"/>
              </a:rPr>
              <a:t>5'</a:t>
            </a:r>
            <a:endParaRPr lang="en-US" sz="1800" dirty="0"/>
          </a:p>
        </p:txBody>
      </p:sp>
      <p:sp>
        <p:nvSpPr>
          <p:cNvPr id="17" name="Text 15"/>
          <p:cNvSpPr/>
          <p:nvPr/>
        </p:nvSpPr>
        <p:spPr>
          <a:xfrm>
            <a:off x="4636008" y="2368296"/>
            <a:ext cx="548640" cy="457200"/>
          </a:xfrm>
          <a:prstGeom prst="rect">
            <a:avLst/>
          </a:prstGeom>
          <a:noFill/>
          <a:ln/>
        </p:spPr>
        <p:txBody>
          <a:bodyPr wrap="square" lIns="0" tIns="0" rIns="0" bIns="0" rtlCol="0" anchor="ctr">
            <a:normAutofit/>
          </a:bodyPr>
          <a:lstStyle/>
          <a:p>
            <a:pPr algn="r" indent="0" marL="0">
              <a:buNone/>
            </a:pPr>
            <a:r>
              <a:rPr lang="en-US" sz="1800" dirty="0">
                <a:solidFill>
                  <a:srgbClr val="526171"/>
                </a:solidFill>
                <a:latin typeface="Aptos" pitchFamily="34" charset="0"/>
                <a:ea typeface="Aptos" pitchFamily="34" charset="-122"/>
                <a:cs typeface="Aptos" pitchFamily="34" charset="-120"/>
              </a:rPr>
              <a:t>3'</a:t>
            </a:r>
            <a:endParaRPr lang="en-US" sz="1800" dirty="0"/>
          </a:p>
        </p:txBody>
      </p:sp>
      <p:sp>
        <p:nvSpPr>
          <p:cNvPr id="18" name="Text 16"/>
          <p:cNvSpPr/>
          <p:nvPr/>
        </p:nvSpPr>
        <p:spPr>
          <a:xfrm>
            <a:off x="841248" y="3182112"/>
            <a:ext cx="4471416" cy="1234440"/>
          </a:xfrm>
          <a:prstGeom prst="rect">
            <a:avLst/>
          </a:prstGeom>
          <a:noFill/>
          <a:ln/>
        </p:spPr>
        <p:txBody>
          <a:bodyPr wrap="square" lIns="0" tIns="0" rIns="0" bIns="0" rtlCol="0" anchor="ctr">
            <a:normAutofit/>
          </a:bodyPr>
          <a:lstStyle/>
          <a:p>
            <a:pPr algn="ctr" indent="0" marL="0">
              <a:buNone/>
            </a:pPr>
            <a:r>
              <a:rPr lang="en-US" sz="2997" b="1" dirty="0">
                <a:solidFill>
                  <a:srgbClr val="2A78D6"/>
                </a:solidFill>
                <a:latin typeface="Consolas" pitchFamily="34" charset="0"/>
                <a:ea typeface="Consolas" pitchFamily="34" charset="-122"/>
                <a:cs typeface="Consolas" pitchFamily="34" charset="-120"/>
              </a:rPr>
              <a:t>AUG | GCU | UAA</a:t>
            </a:r>
            <a:endParaRPr lang="en-US" sz="2997" dirty="0"/>
          </a:p>
        </p:txBody>
      </p:sp>
      <p:sp>
        <p:nvSpPr>
          <p:cNvPr id="19" name="Text 17"/>
          <p:cNvSpPr/>
          <p:nvPr/>
        </p:nvSpPr>
        <p:spPr>
          <a:xfrm>
            <a:off x="841248" y="4992624"/>
            <a:ext cx="4471416" cy="658368"/>
          </a:xfrm>
          <a:prstGeom prst="rect">
            <a:avLst/>
          </a:prstGeom>
          <a:noFill/>
          <a:ln/>
        </p:spPr>
        <p:txBody>
          <a:bodyPr wrap="square" lIns="0" tIns="0" rIns="0" bIns="0" rtlCol="0" anchor="ctr">
            <a:normAutofit/>
          </a:bodyPr>
          <a:lstStyle/>
          <a:p>
            <a:pPr algn="ctr" indent="0" marL="0">
              <a:buNone/>
            </a:pPr>
            <a:r>
              <a:rPr lang="en-US" sz="1997" dirty="0">
                <a:solidFill>
                  <a:srgbClr val="526171"/>
                </a:solidFill>
                <a:latin typeface="Aptos" pitchFamily="34" charset="0"/>
                <a:ea typeface="Aptos" pitchFamily="34" charset="-122"/>
                <a:cs typeface="Aptos" pitchFamily="34" charset="-120"/>
              </a:rPr>
              <a:t>Met  |  Ala  |  Stop</a:t>
            </a:r>
            <a:endParaRPr lang="en-US" sz="199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Rows, columns and units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S10  |  10</a:t>
            </a:r>
            <a:endParaRPr lang="en-US" sz="800" dirty="0"/>
          </a:p>
        </p:txBody>
      </p:sp>
      <p:sp>
        <p:nvSpPr>
          <p:cNvPr id="9" name="Shape 7"/>
          <p:cNvSpPr/>
          <p:nvPr/>
        </p:nvSpPr>
        <p:spPr>
          <a:xfrm>
            <a:off x="594360" y="1828800"/>
            <a:ext cx="3631692" cy="516636"/>
          </a:xfrm>
          <a:prstGeom prst="rect">
            <a:avLst/>
          </a:prstGeom>
          <a:solidFill>
            <a:srgbClr val="2A78D6"/>
          </a:solidFill>
          <a:ln w="7620">
            <a:solidFill>
              <a:srgbClr val="2A78D6"/>
            </a:solidFill>
            <a:prstDash val="solid"/>
          </a:ln>
        </p:spPr>
      </p:sp>
      <p:sp>
        <p:nvSpPr>
          <p:cNvPr id="10" name="Text 8"/>
          <p:cNvSpPr/>
          <p:nvPr/>
        </p:nvSpPr>
        <p:spPr>
          <a:xfrm>
            <a:off x="713232" y="1901952"/>
            <a:ext cx="3389376"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Gene</a:t>
            </a:r>
            <a:endParaRPr lang="en-US" sz="1600" dirty="0"/>
          </a:p>
        </p:txBody>
      </p:sp>
      <p:sp>
        <p:nvSpPr>
          <p:cNvPr id="11" name="Shape 9"/>
          <p:cNvSpPr/>
          <p:nvPr/>
        </p:nvSpPr>
        <p:spPr>
          <a:xfrm>
            <a:off x="4258056" y="1828800"/>
            <a:ext cx="3631692" cy="516636"/>
          </a:xfrm>
          <a:prstGeom prst="rect">
            <a:avLst/>
          </a:prstGeom>
          <a:solidFill>
            <a:srgbClr val="2A78D6"/>
          </a:solidFill>
          <a:ln w="7620">
            <a:solidFill>
              <a:srgbClr val="2A78D6"/>
            </a:solidFill>
            <a:prstDash val="solid"/>
          </a:ln>
        </p:spPr>
      </p:sp>
      <p:sp>
        <p:nvSpPr>
          <p:cNvPr id="12" name="Text 10"/>
          <p:cNvSpPr/>
          <p:nvPr/>
        </p:nvSpPr>
        <p:spPr>
          <a:xfrm>
            <a:off x="4376928" y="1901952"/>
            <a:ext cx="3389376"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Sample A</a:t>
            </a:r>
            <a:endParaRPr lang="en-US" sz="1600" dirty="0"/>
          </a:p>
        </p:txBody>
      </p:sp>
      <p:sp>
        <p:nvSpPr>
          <p:cNvPr id="13" name="Shape 11"/>
          <p:cNvSpPr/>
          <p:nvPr/>
        </p:nvSpPr>
        <p:spPr>
          <a:xfrm>
            <a:off x="7921752" y="1828800"/>
            <a:ext cx="3631692" cy="516636"/>
          </a:xfrm>
          <a:prstGeom prst="rect">
            <a:avLst/>
          </a:prstGeom>
          <a:solidFill>
            <a:srgbClr val="2A78D6"/>
          </a:solidFill>
          <a:ln w="7620">
            <a:solidFill>
              <a:srgbClr val="2A78D6"/>
            </a:solidFill>
            <a:prstDash val="solid"/>
          </a:ln>
        </p:spPr>
      </p:sp>
      <p:sp>
        <p:nvSpPr>
          <p:cNvPr id="14" name="Text 12"/>
          <p:cNvSpPr/>
          <p:nvPr/>
        </p:nvSpPr>
        <p:spPr>
          <a:xfrm>
            <a:off x="8040624" y="1901952"/>
            <a:ext cx="3389376"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Sample B</a:t>
            </a:r>
            <a:endParaRPr lang="en-US" sz="1600" dirty="0"/>
          </a:p>
        </p:txBody>
      </p:sp>
      <p:sp>
        <p:nvSpPr>
          <p:cNvPr id="15" name="Shape 13"/>
          <p:cNvSpPr/>
          <p:nvPr/>
        </p:nvSpPr>
        <p:spPr>
          <a:xfrm>
            <a:off x="594360" y="2377440"/>
            <a:ext cx="3631692" cy="516636"/>
          </a:xfrm>
          <a:prstGeom prst="rect">
            <a:avLst/>
          </a:prstGeom>
          <a:solidFill>
            <a:srgbClr val="EAF2FC"/>
          </a:solidFill>
          <a:ln w="7620">
            <a:solidFill>
              <a:srgbClr val="EAF2FC"/>
            </a:solidFill>
            <a:prstDash val="solid"/>
          </a:ln>
        </p:spPr>
      </p:sp>
      <p:sp>
        <p:nvSpPr>
          <p:cNvPr id="16" name="Text 14"/>
          <p:cNvSpPr/>
          <p:nvPr/>
        </p:nvSpPr>
        <p:spPr>
          <a:xfrm>
            <a:off x="713232" y="244144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G1</a:t>
            </a:r>
            <a:endParaRPr lang="en-US" sz="1600" dirty="0"/>
          </a:p>
        </p:txBody>
      </p:sp>
      <p:sp>
        <p:nvSpPr>
          <p:cNvPr id="17" name="Shape 15"/>
          <p:cNvSpPr/>
          <p:nvPr/>
        </p:nvSpPr>
        <p:spPr>
          <a:xfrm>
            <a:off x="4258056" y="2377440"/>
            <a:ext cx="3631692" cy="516636"/>
          </a:xfrm>
          <a:prstGeom prst="rect">
            <a:avLst/>
          </a:prstGeom>
          <a:solidFill>
            <a:srgbClr val="EAF2FC"/>
          </a:solidFill>
          <a:ln w="7620">
            <a:solidFill>
              <a:srgbClr val="EAF2FC"/>
            </a:solidFill>
            <a:prstDash val="solid"/>
          </a:ln>
        </p:spPr>
      </p:sp>
      <p:sp>
        <p:nvSpPr>
          <p:cNvPr id="18" name="Text 16"/>
          <p:cNvSpPr/>
          <p:nvPr/>
        </p:nvSpPr>
        <p:spPr>
          <a:xfrm>
            <a:off x="4376928" y="244144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a:t>
            </a:r>
            <a:endParaRPr lang="en-US" sz="1600" dirty="0"/>
          </a:p>
        </p:txBody>
      </p:sp>
      <p:sp>
        <p:nvSpPr>
          <p:cNvPr id="19" name="Shape 17"/>
          <p:cNvSpPr/>
          <p:nvPr/>
        </p:nvSpPr>
        <p:spPr>
          <a:xfrm>
            <a:off x="7921752" y="2377440"/>
            <a:ext cx="3631692" cy="516636"/>
          </a:xfrm>
          <a:prstGeom prst="rect">
            <a:avLst/>
          </a:prstGeom>
          <a:solidFill>
            <a:srgbClr val="EAF2FC"/>
          </a:solidFill>
          <a:ln w="7620">
            <a:solidFill>
              <a:srgbClr val="EAF2FC"/>
            </a:solidFill>
            <a:prstDash val="solid"/>
          </a:ln>
        </p:spPr>
      </p:sp>
      <p:sp>
        <p:nvSpPr>
          <p:cNvPr id="20" name="Text 18"/>
          <p:cNvSpPr/>
          <p:nvPr/>
        </p:nvSpPr>
        <p:spPr>
          <a:xfrm>
            <a:off x="8040624" y="244144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20</a:t>
            </a:r>
            <a:endParaRPr lang="en-US" sz="1600" dirty="0"/>
          </a:p>
        </p:txBody>
      </p:sp>
      <p:sp>
        <p:nvSpPr>
          <p:cNvPr id="21" name="Shape 19"/>
          <p:cNvSpPr/>
          <p:nvPr/>
        </p:nvSpPr>
        <p:spPr>
          <a:xfrm>
            <a:off x="594360" y="2926080"/>
            <a:ext cx="3631692" cy="516636"/>
          </a:xfrm>
          <a:prstGeom prst="rect">
            <a:avLst/>
          </a:prstGeom>
          <a:solidFill>
            <a:srgbClr val="FFFFFF"/>
          </a:solidFill>
          <a:ln w="7620">
            <a:solidFill>
              <a:srgbClr val="FFFFFF"/>
            </a:solidFill>
            <a:prstDash val="solid"/>
          </a:ln>
        </p:spPr>
      </p:sp>
      <p:sp>
        <p:nvSpPr>
          <p:cNvPr id="22" name="Text 20"/>
          <p:cNvSpPr/>
          <p:nvPr/>
        </p:nvSpPr>
        <p:spPr>
          <a:xfrm>
            <a:off x="713232" y="299008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G2</a:t>
            </a:r>
            <a:endParaRPr lang="en-US" sz="1600" dirty="0"/>
          </a:p>
        </p:txBody>
      </p:sp>
      <p:sp>
        <p:nvSpPr>
          <p:cNvPr id="23" name="Shape 21"/>
          <p:cNvSpPr/>
          <p:nvPr/>
        </p:nvSpPr>
        <p:spPr>
          <a:xfrm>
            <a:off x="4258056" y="2926080"/>
            <a:ext cx="3631692" cy="516636"/>
          </a:xfrm>
          <a:prstGeom prst="rect">
            <a:avLst/>
          </a:prstGeom>
          <a:solidFill>
            <a:srgbClr val="FFFFFF"/>
          </a:solidFill>
          <a:ln w="7620">
            <a:solidFill>
              <a:srgbClr val="FFFFFF"/>
            </a:solidFill>
            <a:prstDash val="solid"/>
          </a:ln>
        </p:spPr>
      </p:sp>
      <p:sp>
        <p:nvSpPr>
          <p:cNvPr id="24" name="Text 22"/>
          <p:cNvSpPr/>
          <p:nvPr/>
        </p:nvSpPr>
        <p:spPr>
          <a:xfrm>
            <a:off x="4376928" y="299008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a:t>
            </a:r>
            <a:endParaRPr lang="en-US" sz="1600" dirty="0"/>
          </a:p>
        </p:txBody>
      </p:sp>
      <p:sp>
        <p:nvSpPr>
          <p:cNvPr id="25" name="Shape 23"/>
          <p:cNvSpPr/>
          <p:nvPr/>
        </p:nvSpPr>
        <p:spPr>
          <a:xfrm>
            <a:off x="7921752" y="2926080"/>
            <a:ext cx="3631692" cy="516636"/>
          </a:xfrm>
          <a:prstGeom prst="rect">
            <a:avLst/>
          </a:prstGeom>
          <a:solidFill>
            <a:srgbClr val="FFFFFF"/>
          </a:solidFill>
          <a:ln w="7620">
            <a:solidFill>
              <a:srgbClr val="FFFFFF"/>
            </a:solidFill>
            <a:prstDash val="solid"/>
          </a:ln>
        </p:spPr>
      </p:sp>
      <p:sp>
        <p:nvSpPr>
          <p:cNvPr id="26" name="Text 24"/>
          <p:cNvSpPr/>
          <p:nvPr/>
        </p:nvSpPr>
        <p:spPr>
          <a:xfrm>
            <a:off x="8040624" y="299008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a:t>
            </a:r>
            <a:endParaRPr lang="en-US" sz="1600" dirty="0"/>
          </a:p>
        </p:txBody>
      </p:sp>
      <p:sp>
        <p:nvSpPr>
          <p:cNvPr id="27" name="Shape 25"/>
          <p:cNvSpPr/>
          <p:nvPr/>
        </p:nvSpPr>
        <p:spPr>
          <a:xfrm>
            <a:off x="594360" y="3474720"/>
            <a:ext cx="3631692" cy="516636"/>
          </a:xfrm>
          <a:prstGeom prst="rect">
            <a:avLst/>
          </a:prstGeom>
          <a:solidFill>
            <a:srgbClr val="EAF2FC"/>
          </a:solidFill>
          <a:ln w="7620">
            <a:solidFill>
              <a:srgbClr val="EAF2FC"/>
            </a:solidFill>
            <a:prstDash val="solid"/>
          </a:ln>
        </p:spPr>
      </p:sp>
      <p:sp>
        <p:nvSpPr>
          <p:cNvPr id="28" name="Text 26"/>
          <p:cNvSpPr/>
          <p:nvPr/>
        </p:nvSpPr>
        <p:spPr>
          <a:xfrm>
            <a:off x="713232" y="353872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G3</a:t>
            </a:r>
            <a:endParaRPr lang="en-US" sz="1600" dirty="0"/>
          </a:p>
        </p:txBody>
      </p:sp>
      <p:sp>
        <p:nvSpPr>
          <p:cNvPr id="29" name="Shape 27"/>
          <p:cNvSpPr/>
          <p:nvPr/>
        </p:nvSpPr>
        <p:spPr>
          <a:xfrm>
            <a:off x="4258056" y="3474720"/>
            <a:ext cx="3631692" cy="516636"/>
          </a:xfrm>
          <a:prstGeom prst="rect">
            <a:avLst/>
          </a:prstGeom>
          <a:solidFill>
            <a:srgbClr val="EAF2FC"/>
          </a:solidFill>
          <a:ln w="7620">
            <a:solidFill>
              <a:srgbClr val="EAF2FC"/>
            </a:solidFill>
            <a:prstDash val="solid"/>
          </a:ln>
        </p:spPr>
      </p:sp>
      <p:sp>
        <p:nvSpPr>
          <p:cNvPr id="30" name="Text 28"/>
          <p:cNvSpPr/>
          <p:nvPr/>
        </p:nvSpPr>
        <p:spPr>
          <a:xfrm>
            <a:off x="4376928" y="353872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a:t>
            </a:r>
            <a:endParaRPr lang="en-US" sz="1600" dirty="0"/>
          </a:p>
        </p:txBody>
      </p:sp>
      <p:sp>
        <p:nvSpPr>
          <p:cNvPr id="31" name="Shape 29"/>
          <p:cNvSpPr/>
          <p:nvPr/>
        </p:nvSpPr>
        <p:spPr>
          <a:xfrm>
            <a:off x="7921752" y="3474720"/>
            <a:ext cx="3631692" cy="516636"/>
          </a:xfrm>
          <a:prstGeom prst="rect">
            <a:avLst/>
          </a:prstGeom>
          <a:solidFill>
            <a:srgbClr val="EAF2FC"/>
          </a:solidFill>
          <a:ln w="7620">
            <a:solidFill>
              <a:srgbClr val="EAF2FC"/>
            </a:solidFill>
            <a:prstDash val="solid"/>
          </a:ln>
        </p:spPr>
      </p:sp>
      <p:sp>
        <p:nvSpPr>
          <p:cNvPr id="32" name="Text 30"/>
          <p:cNvSpPr/>
          <p:nvPr/>
        </p:nvSpPr>
        <p:spPr>
          <a:xfrm>
            <a:off x="8040624" y="353872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a:t>
            </a:r>
            <a:endParaRPr lang="en-US" sz="1600" dirty="0"/>
          </a:p>
        </p:txBody>
      </p:sp>
      <p:sp>
        <p:nvSpPr>
          <p:cNvPr id="33" name="Shape 31"/>
          <p:cNvSpPr/>
          <p:nvPr/>
        </p:nvSpPr>
        <p:spPr>
          <a:xfrm>
            <a:off x="612648" y="4279392"/>
            <a:ext cx="50292" cy="435864"/>
          </a:xfrm>
          <a:prstGeom prst="rect">
            <a:avLst/>
          </a:prstGeom>
          <a:solidFill>
            <a:srgbClr val="2A78D6"/>
          </a:solidFill>
          <a:ln w="7620">
            <a:solidFill>
              <a:srgbClr val="2A78D6"/>
            </a:solidFill>
            <a:prstDash val="solid"/>
          </a:ln>
        </p:spPr>
      </p:sp>
      <p:sp>
        <p:nvSpPr>
          <p:cNvPr id="34" name="Text 32"/>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In this table: rows are genes; columns are samples.</a:t>
            </a:r>
            <a:endParaRPr lang="en-US" sz="2100" dirty="0"/>
          </a:p>
        </p:txBody>
      </p:sp>
      <p:sp>
        <p:nvSpPr>
          <p:cNvPr id="35" name="Shape 33"/>
          <p:cNvSpPr/>
          <p:nvPr/>
        </p:nvSpPr>
        <p:spPr>
          <a:xfrm>
            <a:off x="612648" y="4916424"/>
            <a:ext cx="50292" cy="435864"/>
          </a:xfrm>
          <a:prstGeom prst="rect">
            <a:avLst/>
          </a:prstGeom>
          <a:solidFill>
            <a:srgbClr val="2A78D6"/>
          </a:solidFill>
          <a:ln w="7620">
            <a:solidFill>
              <a:srgbClr val="2A78D6"/>
            </a:solidFill>
            <a:prstDash val="solid"/>
          </a:ln>
        </p:spPr>
      </p:sp>
      <p:sp>
        <p:nvSpPr>
          <p:cNvPr id="36" name="Text 34"/>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An entry is an observed count, not a number of patients.</a:t>
            </a:r>
            <a:endParaRPr lang="en-US" sz="2100" dirty="0"/>
          </a:p>
        </p:txBody>
      </p:sp>
      <p:sp>
        <p:nvSpPr>
          <p:cNvPr id="37" name="Shape 35"/>
          <p:cNvSpPr/>
          <p:nvPr/>
        </p:nvSpPr>
        <p:spPr>
          <a:xfrm>
            <a:off x="612648" y="5553456"/>
            <a:ext cx="50292" cy="435864"/>
          </a:xfrm>
          <a:prstGeom prst="rect">
            <a:avLst/>
          </a:prstGeom>
          <a:solidFill>
            <a:srgbClr val="2A78D6"/>
          </a:solidFill>
          <a:ln w="7620">
            <a:solidFill>
              <a:srgbClr val="2A78D6"/>
            </a:solidFill>
            <a:prstDash val="solid"/>
          </a:ln>
        </p:spPr>
      </p:sp>
      <p:sp>
        <p:nvSpPr>
          <p:cNvPr id="38" name="Text 36"/>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Always read the labels before doing arithmetic.</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Ratios and logarithms without fear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11</a:t>
            </a:r>
            <a:endParaRPr lang="en-US" sz="800" dirty="0"/>
          </a:p>
        </p:txBody>
      </p:sp>
      <p:sp>
        <p:nvSpPr>
          <p:cNvPr id="9" name="Shape 7"/>
          <p:cNvSpPr/>
          <p:nvPr/>
        </p:nvSpPr>
        <p:spPr>
          <a:xfrm>
            <a:off x="594360" y="1828800"/>
            <a:ext cx="3631692" cy="516636"/>
          </a:xfrm>
          <a:prstGeom prst="rect">
            <a:avLst/>
          </a:prstGeom>
          <a:solidFill>
            <a:srgbClr val="2A78D6"/>
          </a:solidFill>
          <a:ln w="7620">
            <a:solidFill>
              <a:srgbClr val="2A78D6"/>
            </a:solidFill>
            <a:prstDash val="solid"/>
          </a:ln>
        </p:spPr>
      </p:sp>
      <p:sp>
        <p:nvSpPr>
          <p:cNvPr id="10" name="Text 8"/>
          <p:cNvSpPr/>
          <p:nvPr/>
        </p:nvSpPr>
        <p:spPr>
          <a:xfrm>
            <a:off x="713232" y="1901952"/>
            <a:ext cx="3389376"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B / A</a:t>
            </a:r>
            <a:endParaRPr lang="en-US" sz="1600" dirty="0"/>
          </a:p>
        </p:txBody>
      </p:sp>
      <p:sp>
        <p:nvSpPr>
          <p:cNvPr id="11" name="Shape 9"/>
          <p:cNvSpPr/>
          <p:nvPr/>
        </p:nvSpPr>
        <p:spPr>
          <a:xfrm>
            <a:off x="4258056" y="1828800"/>
            <a:ext cx="3631692" cy="516636"/>
          </a:xfrm>
          <a:prstGeom prst="rect">
            <a:avLst/>
          </a:prstGeom>
          <a:solidFill>
            <a:srgbClr val="2A78D6"/>
          </a:solidFill>
          <a:ln w="7620">
            <a:solidFill>
              <a:srgbClr val="2A78D6"/>
            </a:solidFill>
            <a:prstDash val="solid"/>
          </a:ln>
        </p:spPr>
      </p:sp>
      <p:sp>
        <p:nvSpPr>
          <p:cNvPr id="12" name="Text 10"/>
          <p:cNvSpPr/>
          <p:nvPr/>
        </p:nvSpPr>
        <p:spPr>
          <a:xfrm>
            <a:off x="4376928" y="1901952"/>
            <a:ext cx="3389376"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Meaning</a:t>
            </a:r>
            <a:endParaRPr lang="en-US" sz="1600" dirty="0"/>
          </a:p>
        </p:txBody>
      </p:sp>
      <p:sp>
        <p:nvSpPr>
          <p:cNvPr id="13" name="Shape 11"/>
          <p:cNvSpPr/>
          <p:nvPr/>
        </p:nvSpPr>
        <p:spPr>
          <a:xfrm>
            <a:off x="7921752" y="1828800"/>
            <a:ext cx="3631692" cy="516636"/>
          </a:xfrm>
          <a:prstGeom prst="rect">
            <a:avLst/>
          </a:prstGeom>
          <a:solidFill>
            <a:srgbClr val="2A78D6"/>
          </a:solidFill>
          <a:ln w="7620">
            <a:solidFill>
              <a:srgbClr val="2A78D6"/>
            </a:solidFill>
            <a:prstDash val="solid"/>
          </a:ln>
        </p:spPr>
      </p:sp>
      <p:sp>
        <p:nvSpPr>
          <p:cNvPr id="14" name="Text 12"/>
          <p:cNvSpPr/>
          <p:nvPr/>
        </p:nvSpPr>
        <p:spPr>
          <a:xfrm>
            <a:off x="8040624" y="1901952"/>
            <a:ext cx="3389376" cy="37490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log2 ratio</a:t>
            </a:r>
            <a:endParaRPr lang="en-US" sz="1600" dirty="0"/>
          </a:p>
        </p:txBody>
      </p:sp>
      <p:sp>
        <p:nvSpPr>
          <p:cNvPr id="15" name="Shape 13"/>
          <p:cNvSpPr/>
          <p:nvPr/>
        </p:nvSpPr>
        <p:spPr>
          <a:xfrm>
            <a:off x="594360" y="2377440"/>
            <a:ext cx="3631692" cy="516636"/>
          </a:xfrm>
          <a:prstGeom prst="rect">
            <a:avLst/>
          </a:prstGeom>
          <a:solidFill>
            <a:srgbClr val="EAF2FC"/>
          </a:solidFill>
          <a:ln w="7620">
            <a:solidFill>
              <a:srgbClr val="EAF2FC"/>
            </a:solidFill>
            <a:prstDash val="solid"/>
          </a:ln>
        </p:spPr>
      </p:sp>
      <p:sp>
        <p:nvSpPr>
          <p:cNvPr id="16" name="Text 14"/>
          <p:cNvSpPr/>
          <p:nvPr/>
        </p:nvSpPr>
        <p:spPr>
          <a:xfrm>
            <a:off x="713232" y="244144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2</a:t>
            </a:r>
            <a:endParaRPr lang="en-US" sz="1600" dirty="0"/>
          </a:p>
        </p:txBody>
      </p:sp>
      <p:sp>
        <p:nvSpPr>
          <p:cNvPr id="17" name="Shape 15"/>
          <p:cNvSpPr/>
          <p:nvPr/>
        </p:nvSpPr>
        <p:spPr>
          <a:xfrm>
            <a:off x="4258056" y="2377440"/>
            <a:ext cx="3631692" cy="516636"/>
          </a:xfrm>
          <a:prstGeom prst="rect">
            <a:avLst/>
          </a:prstGeom>
          <a:solidFill>
            <a:srgbClr val="EAF2FC"/>
          </a:solidFill>
          <a:ln w="7620">
            <a:solidFill>
              <a:srgbClr val="EAF2FC"/>
            </a:solidFill>
            <a:prstDash val="solid"/>
          </a:ln>
        </p:spPr>
      </p:sp>
      <p:sp>
        <p:nvSpPr>
          <p:cNvPr id="18" name="Text 16"/>
          <p:cNvSpPr/>
          <p:nvPr/>
        </p:nvSpPr>
        <p:spPr>
          <a:xfrm>
            <a:off x="4376928" y="244144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twice as large</a:t>
            </a:r>
            <a:endParaRPr lang="en-US" sz="1600" dirty="0"/>
          </a:p>
        </p:txBody>
      </p:sp>
      <p:sp>
        <p:nvSpPr>
          <p:cNvPr id="19" name="Shape 17"/>
          <p:cNvSpPr/>
          <p:nvPr/>
        </p:nvSpPr>
        <p:spPr>
          <a:xfrm>
            <a:off x="7921752" y="2377440"/>
            <a:ext cx="3631692" cy="516636"/>
          </a:xfrm>
          <a:prstGeom prst="rect">
            <a:avLst/>
          </a:prstGeom>
          <a:solidFill>
            <a:srgbClr val="EAF2FC"/>
          </a:solidFill>
          <a:ln w="7620">
            <a:solidFill>
              <a:srgbClr val="EAF2FC"/>
            </a:solidFill>
            <a:prstDash val="solid"/>
          </a:ln>
        </p:spPr>
      </p:sp>
      <p:sp>
        <p:nvSpPr>
          <p:cNvPr id="20" name="Text 18"/>
          <p:cNvSpPr/>
          <p:nvPr/>
        </p:nvSpPr>
        <p:spPr>
          <a:xfrm>
            <a:off x="8040624" y="244144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a:t>
            </a:r>
            <a:endParaRPr lang="en-US" sz="1600" dirty="0"/>
          </a:p>
        </p:txBody>
      </p:sp>
      <p:sp>
        <p:nvSpPr>
          <p:cNvPr id="21" name="Shape 19"/>
          <p:cNvSpPr/>
          <p:nvPr/>
        </p:nvSpPr>
        <p:spPr>
          <a:xfrm>
            <a:off x="594360" y="2926080"/>
            <a:ext cx="3631692" cy="516636"/>
          </a:xfrm>
          <a:prstGeom prst="rect">
            <a:avLst/>
          </a:prstGeom>
          <a:solidFill>
            <a:srgbClr val="FFFFFF"/>
          </a:solidFill>
          <a:ln w="7620">
            <a:solidFill>
              <a:srgbClr val="FFFFFF"/>
            </a:solidFill>
            <a:prstDash val="solid"/>
          </a:ln>
        </p:spPr>
      </p:sp>
      <p:sp>
        <p:nvSpPr>
          <p:cNvPr id="22" name="Text 20"/>
          <p:cNvSpPr/>
          <p:nvPr/>
        </p:nvSpPr>
        <p:spPr>
          <a:xfrm>
            <a:off x="713232" y="299008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a:t>
            </a:r>
            <a:endParaRPr lang="en-US" sz="1600" dirty="0"/>
          </a:p>
        </p:txBody>
      </p:sp>
      <p:sp>
        <p:nvSpPr>
          <p:cNvPr id="23" name="Shape 21"/>
          <p:cNvSpPr/>
          <p:nvPr/>
        </p:nvSpPr>
        <p:spPr>
          <a:xfrm>
            <a:off x="4258056" y="2926080"/>
            <a:ext cx="3631692" cy="516636"/>
          </a:xfrm>
          <a:prstGeom prst="rect">
            <a:avLst/>
          </a:prstGeom>
          <a:solidFill>
            <a:srgbClr val="FFFFFF"/>
          </a:solidFill>
          <a:ln w="7620">
            <a:solidFill>
              <a:srgbClr val="FFFFFF"/>
            </a:solidFill>
            <a:prstDash val="solid"/>
          </a:ln>
        </p:spPr>
      </p:sp>
      <p:sp>
        <p:nvSpPr>
          <p:cNvPr id="24" name="Text 22"/>
          <p:cNvSpPr/>
          <p:nvPr/>
        </p:nvSpPr>
        <p:spPr>
          <a:xfrm>
            <a:off x="4376928" y="299008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unchanged</a:t>
            </a:r>
            <a:endParaRPr lang="en-US" sz="1600" dirty="0"/>
          </a:p>
        </p:txBody>
      </p:sp>
      <p:sp>
        <p:nvSpPr>
          <p:cNvPr id="25" name="Shape 23"/>
          <p:cNvSpPr/>
          <p:nvPr/>
        </p:nvSpPr>
        <p:spPr>
          <a:xfrm>
            <a:off x="7921752" y="2926080"/>
            <a:ext cx="3631692" cy="516636"/>
          </a:xfrm>
          <a:prstGeom prst="rect">
            <a:avLst/>
          </a:prstGeom>
          <a:solidFill>
            <a:srgbClr val="FFFFFF"/>
          </a:solidFill>
          <a:ln w="7620">
            <a:solidFill>
              <a:srgbClr val="FFFFFF"/>
            </a:solidFill>
            <a:prstDash val="solid"/>
          </a:ln>
        </p:spPr>
      </p:sp>
      <p:sp>
        <p:nvSpPr>
          <p:cNvPr id="26" name="Text 24"/>
          <p:cNvSpPr/>
          <p:nvPr/>
        </p:nvSpPr>
        <p:spPr>
          <a:xfrm>
            <a:off x="8040624" y="299008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a:t>
            </a:r>
            <a:endParaRPr lang="en-US" sz="1600" dirty="0"/>
          </a:p>
        </p:txBody>
      </p:sp>
      <p:sp>
        <p:nvSpPr>
          <p:cNvPr id="27" name="Shape 25"/>
          <p:cNvSpPr/>
          <p:nvPr/>
        </p:nvSpPr>
        <p:spPr>
          <a:xfrm>
            <a:off x="594360" y="3474720"/>
            <a:ext cx="3631692" cy="516636"/>
          </a:xfrm>
          <a:prstGeom prst="rect">
            <a:avLst/>
          </a:prstGeom>
          <a:solidFill>
            <a:srgbClr val="EAF2FC"/>
          </a:solidFill>
          <a:ln w="7620">
            <a:solidFill>
              <a:srgbClr val="EAF2FC"/>
            </a:solidFill>
            <a:prstDash val="solid"/>
          </a:ln>
        </p:spPr>
      </p:sp>
      <p:sp>
        <p:nvSpPr>
          <p:cNvPr id="28" name="Text 26"/>
          <p:cNvSpPr/>
          <p:nvPr/>
        </p:nvSpPr>
        <p:spPr>
          <a:xfrm>
            <a:off x="713232" y="353872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0.5</a:t>
            </a:r>
            <a:endParaRPr lang="en-US" sz="1600" dirty="0"/>
          </a:p>
        </p:txBody>
      </p:sp>
      <p:sp>
        <p:nvSpPr>
          <p:cNvPr id="29" name="Shape 27"/>
          <p:cNvSpPr/>
          <p:nvPr/>
        </p:nvSpPr>
        <p:spPr>
          <a:xfrm>
            <a:off x="4258056" y="3474720"/>
            <a:ext cx="3631692" cy="516636"/>
          </a:xfrm>
          <a:prstGeom prst="rect">
            <a:avLst/>
          </a:prstGeom>
          <a:solidFill>
            <a:srgbClr val="EAF2FC"/>
          </a:solidFill>
          <a:ln w="7620">
            <a:solidFill>
              <a:srgbClr val="EAF2FC"/>
            </a:solidFill>
            <a:prstDash val="solid"/>
          </a:ln>
        </p:spPr>
      </p:sp>
      <p:sp>
        <p:nvSpPr>
          <p:cNvPr id="30" name="Text 28"/>
          <p:cNvSpPr/>
          <p:nvPr/>
        </p:nvSpPr>
        <p:spPr>
          <a:xfrm>
            <a:off x="4376928" y="353872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half as large</a:t>
            </a:r>
            <a:endParaRPr lang="en-US" sz="1600" dirty="0"/>
          </a:p>
        </p:txBody>
      </p:sp>
      <p:sp>
        <p:nvSpPr>
          <p:cNvPr id="31" name="Shape 29"/>
          <p:cNvSpPr/>
          <p:nvPr/>
        </p:nvSpPr>
        <p:spPr>
          <a:xfrm>
            <a:off x="7921752" y="3474720"/>
            <a:ext cx="3631692" cy="516636"/>
          </a:xfrm>
          <a:prstGeom prst="rect">
            <a:avLst/>
          </a:prstGeom>
          <a:solidFill>
            <a:srgbClr val="EAF2FC"/>
          </a:solidFill>
          <a:ln w="7620">
            <a:solidFill>
              <a:srgbClr val="EAF2FC"/>
            </a:solidFill>
            <a:prstDash val="solid"/>
          </a:ln>
        </p:spPr>
      </p:sp>
      <p:sp>
        <p:nvSpPr>
          <p:cNvPr id="32" name="Text 30"/>
          <p:cNvSpPr/>
          <p:nvPr/>
        </p:nvSpPr>
        <p:spPr>
          <a:xfrm>
            <a:off x="8040624" y="3538728"/>
            <a:ext cx="3389376" cy="39319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a:t>
            </a:r>
            <a:endParaRPr lang="en-US" sz="1600" dirty="0"/>
          </a:p>
        </p:txBody>
      </p:sp>
      <p:sp>
        <p:nvSpPr>
          <p:cNvPr id="33" name="Shape 31"/>
          <p:cNvSpPr/>
          <p:nvPr/>
        </p:nvSpPr>
        <p:spPr>
          <a:xfrm>
            <a:off x="612648" y="4279392"/>
            <a:ext cx="50292" cy="435864"/>
          </a:xfrm>
          <a:prstGeom prst="rect">
            <a:avLst/>
          </a:prstGeom>
          <a:solidFill>
            <a:srgbClr val="2A78D6"/>
          </a:solidFill>
          <a:ln w="7620">
            <a:solidFill>
              <a:srgbClr val="2A78D6"/>
            </a:solidFill>
            <a:prstDash val="solid"/>
          </a:ln>
        </p:spPr>
      </p:sp>
      <p:sp>
        <p:nvSpPr>
          <p:cNvPr id="34" name="Text 32"/>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 change from 10 to 20 is a two-fold increase.</a:t>
            </a:r>
            <a:endParaRPr lang="en-US" sz="2100" dirty="0"/>
          </a:p>
        </p:txBody>
      </p:sp>
      <p:sp>
        <p:nvSpPr>
          <p:cNvPr id="35" name="Shape 33"/>
          <p:cNvSpPr/>
          <p:nvPr/>
        </p:nvSpPr>
        <p:spPr>
          <a:xfrm>
            <a:off x="612648" y="4916424"/>
            <a:ext cx="50292" cy="435864"/>
          </a:xfrm>
          <a:prstGeom prst="rect">
            <a:avLst/>
          </a:prstGeom>
          <a:solidFill>
            <a:srgbClr val="2A78D6"/>
          </a:solidFill>
          <a:ln w="7620">
            <a:solidFill>
              <a:srgbClr val="2A78D6"/>
            </a:solidFill>
            <a:prstDash val="solid"/>
          </a:ln>
        </p:spPr>
      </p:sp>
      <p:sp>
        <p:nvSpPr>
          <p:cNvPr id="36" name="Text 34"/>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log2(2) = 1; log2(1) = 0; log2(0.5) = -1.</a:t>
            </a:r>
            <a:endParaRPr lang="en-US" sz="2100" dirty="0"/>
          </a:p>
        </p:txBody>
      </p:sp>
      <p:sp>
        <p:nvSpPr>
          <p:cNvPr id="37" name="Shape 35"/>
          <p:cNvSpPr/>
          <p:nvPr/>
        </p:nvSpPr>
        <p:spPr>
          <a:xfrm>
            <a:off x="612648" y="5553456"/>
            <a:ext cx="50292" cy="435864"/>
          </a:xfrm>
          <a:prstGeom prst="rect">
            <a:avLst/>
          </a:prstGeom>
          <a:solidFill>
            <a:srgbClr val="2A78D6"/>
          </a:solidFill>
          <a:ln w="7620">
            <a:solidFill>
              <a:srgbClr val="2A78D6"/>
            </a:solidFill>
            <a:prstDash val="solid"/>
          </a:ln>
        </p:spPr>
      </p:sp>
      <p:sp>
        <p:nvSpPr>
          <p:cNvPr id="38" name="Text 36"/>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 denominator of zero needs an explicit rule, not a hidden fix.</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what can we conclude?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Gene G1 has RNA counts 10 and 20 in two samples.</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raw count ratio is 20 / 10 = 2.</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We have not checked sequencing depth or biological replication.</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data do not yet establish increased protein abundance or a treatment effect.</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A drug-treated sample has more RNA reads for an enzyme. Name one measurement that would test whether enzyme activity also increased.</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An activity assay with matched controls and biological replicates would address activity. RNA alone is not that assay.</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Your preparation route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Use the diagnostic sheet before Week 1. Any missed question directs you to a short bridge section; it does not reduce your grade.</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gene</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transcript</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protein</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replicate</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ratio</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draw two different transcripts from the same three-exon gene.</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BRIDGE</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S01 / S10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S01  Alberts et al. Molecular Biology of the Cell, 4th ed. Foundational cell biology chapters.</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S10  DESeq2: Analyzing RNA-seq data with DESeq2, release vignette.</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biology and numbers bridge</dc:title>
  <dc:subject>Scaffolded fourth-year bioengineering</dc:subject>
  <dc:creator>BIB course teaching materials</dc:creator>
  <cp:lastModifiedBy>BIB course teaching materials</cp:lastModifiedBy>
  <cp:revision>1</cp:revision>
  <dcterms:created xsi:type="dcterms:W3CDTF">2026-09-14T18:26:53Z</dcterms:created>
  <dcterms:modified xsi:type="dcterms:W3CDTF">2026-09-14T18:26:53Z</dcterms:modified>
</cp:coreProperties>
</file>