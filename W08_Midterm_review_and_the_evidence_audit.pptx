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2 minutes
Audience: fourth-year bioengineering with limited prior genetics and coding.
Opening question: Can we find a claim that outruns the data?
Do not require students to know all terms yet. Elicit a prediction.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these observable outcomes for feedback. Core assessment requires interpretation and short arithmetic, not reproducing a full specialist pipeline.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students to draw or name the biological experimental unit. Revisit the Week 00 bridge if terminology is unclear.
Read technical terms aloud; ask students to explain the measurement before interpreting the model. Accept justified uncertainty.
[Sources]
S03: SAM/BAM, VCF and BED specifications, maintained by the HTS community.
https://samtools.github.io/hts-specs/
S04: UCSC Genome Browser: data format FAQ.
https://genome.ucsc.edu/FAQ/FAQformat.html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60 minutes; structured questions; a supplied formula sheet.
Show units, steps and a limited interpretation.
No internet or AI during the paper; approved accommodations still apply.
Checkpoint: ask a student to state one conclusion the data do NOT support.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BED [2, 7) has length 5.
One-based inclusive [3, 7] describes the same bases.
A missing assembly must be reported as unknown.
Checkpoint: ask a student to state one conclusion the data do NOT support.
Read technical terms aloud; ask students to explain the measurement before interpreting the model. Accept justified uncertainty.
[Sources]
S03: SAM/BAM, VCF and BED specifications, maintained by the HTS community.
https://samtools.github.io/hts-specs/
S04: UCSC Genome Browser: data format FAQ.
https://genome.ucsc.edu/FAQ/FAQformat.html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Two donors with 200 cells each are two donors.
A replicate label must name the biological unit.
More sequencing cannot create a missing biological replicate.
Checkpoint: ask a student to state one conclusion the data do NOT support.
Read technical terms aloud; ask students to explain the measurement before interpreting the model. Accept justified uncertainty.
[Sources]
S12: Squair et al. (2021). Confronting false discoveries in single-cell differential expression.
https://doi.org/10.1038/s41467-021-25960-2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Do not confuse observed counts with relative abundance.
The denominator must match the calculation's definition.
A successful run is not proof of an appropriate analysis.
Checkpoint: ask a student to state one conclusion the data do NOT support.
Read technical terms aloud; ask students to explain the measurement before interpreting the model. Accept justified uncertainty.
[Sources]
S10: DESeq2: Analyzing RNA-seq data with DESeq2, release vignette.
https://bioconductor.org/packages/release/bioc/vignettes/DESeq2/inst/doc/DESeq2.html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SUPPORTED: the supplied evidence supports this exact scope.
CONTRADICTED: the evidence or definition conflicts with the claim.
NOT ESTABLISHED: additional evidence is required.
Checkpoint: ask a student to state one conclusion the data do NOT support.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fluent paragraph may mix correct facts with an invalid inference.
Underline each factual claim and identify its evidence.
Use tests and sources; do not use an AI-text detector as proof.
Checkpoint: ask a student to state one conclusion the data do NOT support.
Read technical terms aloud; ask students to explain the measurement before interpreting the model. Accept justified uncertainty.
[Sources]
S23: ICMJE recommendations: use of AI by authors.
https://www.icmje.org/recommendations/browse/artificial-intelligence/ai-use-by-authors.html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Allow 60-90 seconds for a prediction. Do not rush to the numerical answer. The following slide shows the reasoning.
Read technical terms aloud; ask students to explain the measurement before interpreting the model. Accept justified uncertainty.
[Sources]
S03: SAM/BAM, VCF and BED specifications, maintained by the HTS community.
https://samtools.github.io/hts-specs/
S04: UCSC Genome Browser: data format FAQ.
https://genome.ucsc.edu/FAQ/FAQformat.html
S07: American Statistical Association. Statement on statistical significance and p-values (2016).
https://www.amstat.org/asa/files/pdfs/P-ValueStatement.pdf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Show the arithmetic or logical steps one at a time orally. Ask which assumption is necessary at each step.
Read technical terms aloud; ask students to explain the measurement before interpreting the model. Accept justified uncertainty.
[Sources]
S03: SAM/BAM, VCF and BED specifications, maintained by the HTS community.
https://samtools.github.io/hts-specs/
S04: UCSC Genome Browser: data format FAQ.
https://genome.ucsc.edu/FAQ/FAQformat.html
S07: American Statistical Association. Statement on statistical significance and p-values (2016).
https://www.amstat.org/asa/files/pdfs/P-ValueStatement.pdf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Collect two contrasting answers before advancing. Give one minute solo and two minutes in pairs. This is formative, not an exam item.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Accept other scientifically justified responses. Probe the boundary between measured result, model assumption and biological conclusion.
Read technical terms aloud; ask students to explain the measurement before interpreting the model. Accept justified uncertainty.
[Sources]
S03: SAM/BAM, VCF and BED specifications, maintained by the HTS community.
https://samtools.github.io/hts-specs/
S04: UCSC Genome Browser: data format FAQ.
https://genome.ucsc.edu/FAQ/FAQformat.html
S07: American Statistical Association. Statement on statistical significance and p-values (2016).
https://www.amstat.org/asa/files/pdfs/P-ValueStatement.pdf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45-minute studio; not part of 90-minute lecture
Audience: fourth-year bioengineering with limited prior genetics and coding.
Use the matching standalone notebook and Lab Workbook. Students may work in pairs while discussing, but submit their own reasoning. Paper fallback carries no penalty. Plotting and extensions are optional.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for a plain-language definition and one example per term. Students may use the glossary. Definitions are not a substitute for interpreting an example.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a quick handwritten or LMS response. Do not add new weighted grading; this is formative feedback. Use common mistakes to plan a short retrieval exercise next week.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Do not use optional extension achievement to disadvantage students with limited computing access. Direct interested students to the primary sources.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Reference slide; do not lecture through every citation
Audience: fourth-year bioengineering with limited prior genetics and coding.
Full links are in the Course Source Register and these speaker notes. Source selection checked September 14, 2026. Older sources support stable foundational ideas, not unverified current clinical policy.
Read technical terms aloud; ask students to explain the measurement before interpreting the model. Accept justified uncertainty.
[Sources]
S03: SAM/BAM, VCF and BED specifications, maintained by the HTS community.
https://samtools.github.io/hts-specs/
S04: UCSC Genome Browser: data format FAQ.
https://genome.ucsc.edu/FAQ/FAQformat.html
S07: American Statistical Association. Statement on statistical significance and p-values (2016).
https://www.amstat.org/asa/files/pdfs/P-ValueStatement.pdf
S10: DESeq2: Analyzing RNA-seq data with DESeq2, release vignette.
https://bioconductor.org/packages/release/bioc/vignettes/DESeq2/inst/doc/DESeq2.html
S12: Squair et al. (2021). Confronting false discoveries in single-cell differential expression.
https://doi.org/10.1038/s41467-021-25960-2
S23: ICMJE recommendations: use of AI by authors.
https://www.icmje.org/recommendations/browse/artificial-intelligence/ai-use-by-authors.html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D3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B6834"/>
          </a:solidFill>
          <a:ln w="7620">
            <a:solidFill>
              <a:srgbClr val="EB6834"/>
            </a:solidFill>
            <a:prstDash val="solid"/>
          </a:ln>
        </p:spPr>
      </p:sp>
      <p:sp>
        <p:nvSpPr>
          <p:cNvPr id="3" name="Text 1"/>
          <p:cNvSpPr/>
          <p:nvPr/>
        </p:nvSpPr>
        <p:spPr>
          <a:xfrm>
            <a:off x="640080" y="530352"/>
            <a:ext cx="10789920" cy="438912"/>
          </a:xfrm>
          <a:prstGeom prst="rect">
            <a:avLst/>
          </a:prstGeom>
          <a:noFill/>
          <a:ln/>
        </p:spPr>
        <p:txBody>
          <a:bodyPr wrap="square" lIns="0" tIns="0" rIns="0" bIns="0" rtlCol="0" anchor="ctr">
            <a:normAutofit/>
          </a:bodyPr>
          <a:lstStyle/>
          <a:p>
            <a:pPr indent="0" marL="0">
              <a:buNone/>
            </a:pPr>
            <a:r>
              <a:rPr lang="en-US" sz="1300" b="1" dirty="0">
                <a:solidFill>
                  <a:srgbClr val="D1DCE9"/>
                </a:solidFill>
                <a:latin typeface="Aptos" pitchFamily="34" charset="0"/>
                <a:ea typeface="Aptos" pitchFamily="34" charset="-122"/>
                <a:cs typeface="Aptos" pitchFamily="34" charset="-120"/>
              </a:rPr>
              <a:t>BIOINFORMATICS FOR BIOENGINEERING</a:t>
            </a:r>
            <a:endParaRPr lang="en-US" sz="1300" dirty="0"/>
          </a:p>
        </p:txBody>
      </p:sp>
      <p:sp>
        <p:nvSpPr>
          <p:cNvPr id="4" name="Text 2"/>
          <p:cNvSpPr/>
          <p:nvPr/>
        </p:nvSpPr>
        <p:spPr>
          <a:xfrm>
            <a:off x="685800" y="1380744"/>
            <a:ext cx="9144000" cy="548640"/>
          </a:xfrm>
          <a:prstGeom prst="rect">
            <a:avLst/>
          </a:prstGeom>
          <a:noFill/>
          <a:ln/>
        </p:spPr>
        <p:txBody>
          <a:bodyPr wrap="square" lIns="0" tIns="0" rIns="0" bIns="0" rtlCol="0" anchor="ctr">
            <a:normAutofit/>
          </a:bodyPr>
          <a:lstStyle/>
          <a:p>
            <a:pPr indent="0" marL="0">
              <a:buNone/>
            </a:pPr>
            <a:r>
              <a:rPr lang="en-US" sz="2000" b="1" dirty="0">
                <a:solidFill>
                  <a:srgbClr val="7EB5F1"/>
                </a:solidFill>
                <a:latin typeface="Aptos" pitchFamily="34" charset="0"/>
                <a:ea typeface="Aptos" pitchFamily="34" charset="-122"/>
                <a:cs typeface="Aptos" pitchFamily="34" charset="-120"/>
              </a:rPr>
              <a:t>WEEK 08</a:t>
            </a:r>
            <a:endParaRPr lang="en-US" sz="2000" dirty="0"/>
          </a:p>
        </p:txBody>
      </p:sp>
      <p:sp>
        <p:nvSpPr>
          <p:cNvPr id="5" name="Text 3"/>
          <p:cNvSpPr/>
          <p:nvPr/>
        </p:nvSpPr>
        <p:spPr>
          <a:xfrm>
            <a:off x="685800" y="2157984"/>
            <a:ext cx="10744200" cy="1783080"/>
          </a:xfrm>
          <a:prstGeom prst="rect">
            <a:avLst/>
          </a:prstGeom>
          <a:noFill/>
          <a:ln/>
        </p:spPr>
        <p:txBody>
          <a:bodyPr wrap="square" lIns="0" tIns="0" rIns="0" bIns="0" rtlCol="0" anchor="ctr">
            <a:normAutofit/>
          </a:bodyPr>
          <a:lstStyle/>
          <a:p>
            <a:pPr indent="0" marL="0">
              <a:buNone/>
            </a:pPr>
            <a:r>
              <a:rPr lang="en-US" sz="3897" b="1" dirty="0">
                <a:solidFill>
                  <a:srgbClr val="FFFFFF"/>
                </a:solidFill>
                <a:latin typeface="Aptos" pitchFamily="34" charset="0"/>
                <a:ea typeface="Aptos" pitchFamily="34" charset="-122"/>
                <a:cs typeface="Aptos" pitchFamily="34" charset="-120"/>
              </a:rPr>
              <a:t>Midterm review and the evidence audit</a:t>
            </a:r>
            <a:endParaRPr lang="en-US" sz="3897" dirty="0"/>
          </a:p>
        </p:txBody>
      </p:sp>
      <p:sp>
        <p:nvSpPr>
          <p:cNvPr id="6" name="Text 4"/>
          <p:cNvSpPr/>
          <p:nvPr/>
        </p:nvSpPr>
        <p:spPr>
          <a:xfrm>
            <a:off x="731520" y="4599432"/>
            <a:ext cx="10561320" cy="923544"/>
          </a:xfrm>
          <a:prstGeom prst="rect">
            <a:avLst/>
          </a:prstGeom>
          <a:noFill/>
          <a:ln/>
        </p:spPr>
        <p:txBody>
          <a:bodyPr wrap="square" lIns="0" tIns="0" rIns="0" bIns="0" rtlCol="0" anchor="ctr">
            <a:normAutofit/>
          </a:bodyPr>
          <a:lstStyle/>
          <a:p>
            <a:pPr indent="0" marL="0">
              <a:buNone/>
            </a:pPr>
            <a:r>
              <a:rPr lang="en-US" sz="2497" dirty="0">
                <a:solidFill>
                  <a:srgbClr val="D1DCE9"/>
                </a:solidFill>
                <a:latin typeface="Aptos" pitchFamily="34" charset="0"/>
                <a:ea typeface="Aptos" pitchFamily="34" charset="-122"/>
                <a:cs typeface="Aptos" pitchFamily="34" charset="-120"/>
              </a:rPr>
              <a:t>Can we find a claim that outruns the data?</a:t>
            </a:r>
            <a:endParaRPr lang="en-US" sz="2497" dirty="0"/>
          </a:p>
        </p:txBody>
      </p:sp>
      <p:sp>
        <p:nvSpPr>
          <p:cNvPr id="7" name="Text 5"/>
          <p:cNvSpPr/>
          <p:nvPr/>
        </p:nvSpPr>
        <p:spPr>
          <a:xfrm>
            <a:off x="731520" y="6199632"/>
            <a:ext cx="10607040" cy="274320"/>
          </a:xfrm>
          <a:prstGeom prst="rect">
            <a:avLst/>
          </a:prstGeom>
          <a:noFill/>
          <a:ln/>
        </p:spPr>
        <p:txBody>
          <a:bodyPr wrap="square" lIns="0" tIns="0" rIns="0" bIns="0" rtlCol="0" anchor="ctr">
            <a:normAutofit/>
          </a:bodyPr>
          <a:lstStyle/>
          <a:p>
            <a:pPr indent="0" marL="0">
              <a:buNone/>
            </a:pPr>
            <a:r>
              <a:rPr lang="en-US" sz="1100" dirty="0">
                <a:solidFill>
                  <a:srgbClr val="D1DCE9"/>
                </a:solidFill>
                <a:latin typeface="Aptos" pitchFamily="34" charset="0"/>
                <a:ea typeface="Aptos" pitchFamily="34" charset="-122"/>
                <a:cs typeface="Aptos" pitchFamily="34" charset="-120"/>
              </a:rPr>
              <a:t>Yasin Kaymaz, PhD  |  Ege University  |  Teaching edition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LEARNING TARGETS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By the end, you should be able to...</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2</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Retrieve the foundational skills from Weeks 1-7.</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Classify a statement as supported, contradicted or not established.</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Replace an overclaim with a bounded scientific conclusion.</a:t>
            </a:r>
            <a:endParaRPr lang="en-US" sz="22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RETRIEVAL</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Reconnect with the biology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3</a:t>
            </a:r>
            <a:endParaRPr lang="en-US" sz="800" dirty="0"/>
          </a:p>
        </p:txBody>
      </p:sp>
      <p:sp>
        <p:nvSpPr>
          <p:cNvPr id="9" name="Shape 7"/>
          <p:cNvSpPr/>
          <p:nvPr/>
        </p:nvSpPr>
        <p:spPr>
          <a:xfrm>
            <a:off x="612648" y="1984248"/>
            <a:ext cx="10972800" cy="1828800"/>
          </a:xfrm>
          <a:prstGeom prst="rect">
            <a:avLst/>
          </a:prstGeom>
          <a:solidFill>
            <a:srgbClr val="EAF2FC"/>
          </a:solidFill>
          <a:ln w="7620">
            <a:solidFill>
              <a:srgbClr val="EAF2FC"/>
            </a:solidFill>
            <a:prstDash val="solid"/>
          </a:ln>
        </p:spPr>
      </p:sp>
      <p:sp>
        <p:nvSpPr>
          <p:cNvPr id="10" name="Text 8"/>
          <p:cNvSpPr/>
          <p:nvPr/>
        </p:nvSpPr>
        <p:spPr>
          <a:xfrm>
            <a:off x="850392" y="2258568"/>
            <a:ext cx="10497312" cy="1280160"/>
          </a:xfrm>
          <a:prstGeom prst="rect">
            <a:avLst/>
          </a:prstGeom>
          <a:noFill/>
          <a:ln/>
        </p:spPr>
        <p:txBody>
          <a:bodyPr wrap="square" lIns="0" tIns="0" rIns="0" bIns="0" rtlCol="0" anchor="ctr">
            <a:normAutofit/>
          </a:bodyPr>
          <a:lstStyle/>
          <a:p>
            <a:pPr indent="0" marL="0">
              <a:buNone/>
            </a:pPr>
            <a:r>
              <a:rPr lang="en-US" sz="2697" dirty="0">
                <a:solidFill>
                  <a:srgbClr val="232D3B"/>
                </a:solidFill>
                <a:latin typeface="Aptos" pitchFamily="34" charset="0"/>
                <a:ea typeface="Aptos" pitchFamily="34" charset="-122"/>
                <a:cs typeface="Aptos" pitchFamily="34" charset="-120"/>
              </a:rPr>
              <a:t>The midterm tests the floor: biology-to-data reasoning, coordinates, short code, depth and statistical interpretation.</a:t>
            </a:r>
            <a:endParaRPr lang="en-US" sz="2697" dirty="0"/>
          </a:p>
        </p:txBody>
      </p:sp>
      <p:sp>
        <p:nvSpPr>
          <p:cNvPr id="11" name="Text 9"/>
          <p:cNvSpPr/>
          <p:nvPr/>
        </p:nvSpPr>
        <p:spPr>
          <a:xfrm>
            <a:off x="859536" y="4370832"/>
            <a:ext cx="10424160" cy="914400"/>
          </a:xfrm>
          <a:prstGeom prst="rect">
            <a:avLst/>
          </a:prstGeom>
          <a:noFill/>
          <a:ln/>
        </p:spPr>
        <p:txBody>
          <a:bodyPr wrap="square" lIns="0" tIns="0" rIns="0" bIns="0" rtlCol="0" anchor="ctr">
            <a:normAutofit/>
          </a:bodyPr>
          <a:lstStyle/>
          <a:p>
            <a:pPr indent="0" marL="0">
              <a:buNone/>
            </a:pPr>
            <a:r>
              <a:rPr lang="en-US" sz="2497" b="1" dirty="0">
                <a:solidFill>
                  <a:srgbClr val="2A78D6"/>
                </a:solidFill>
                <a:latin typeface="Aptos" pitchFamily="34" charset="0"/>
                <a:ea typeface="Aptos" pitchFamily="34" charset="-122"/>
                <a:cs typeface="Aptos" pitchFamily="34" charset="-120"/>
              </a:rPr>
              <a:t>Think silently -&gt; explain to a neighbour -&gt; check the measurement.</a:t>
            </a:r>
            <a:endParaRPr lang="en-US" sz="24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The midterm is about reasoning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4</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60 minutes; structured questions; a supplied formula sheet.</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Show units, steps and a limited interpretation.</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No internet or AI during the paper; approved accommodations still apply.</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Retrieve: same interval, different notation</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S04  |  5</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BED [2, 7) has length 5.</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One-based inclusive [3, 7] describes the same bases.</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missing assembly must be reported as unknown.</a:t>
            </a:r>
            <a:endParaRPr lang="en-US" sz="2297" dirty="0"/>
          </a:p>
        </p:txBody>
      </p:sp>
      <p:sp>
        <p:nvSpPr>
          <p:cNvPr id="16" name="Text 14"/>
          <p:cNvSpPr/>
          <p:nvPr/>
        </p:nvSpPr>
        <p:spPr>
          <a:xfrm>
            <a:off x="841248" y="2157984"/>
            <a:ext cx="4471416" cy="502920"/>
          </a:xfrm>
          <a:prstGeom prst="rect">
            <a:avLst/>
          </a:prstGeom>
          <a:noFill/>
          <a:ln/>
        </p:spPr>
        <p:txBody>
          <a:bodyPr wrap="square" lIns="0" tIns="0" rIns="0" bIns="0" rtlCol="0" anchor="ctr">
            <a:normAutofit/>
          </a:bodyPr>
          <a:lstStyle/>
          <a:p>
            <a:pPr indent="0" marL="0">
              <a:buNone/>
            </a:pPr>
            <a:r>
              <a:rPr lang="en-US" sz="2000" b="1" dirty="0">
                <a:solidFill>
                  <a:srgbClr val="2A78D6"/>
                </a:solidFill>
                <a:latin typeface="Aptos" pitchFamily="34" charset="0"/>
                <a:ea typeface="Aptos" pitchFamily="34" charset="-122"/>
                <a:cs typeface="Aptos" pitchFamily="34" charset="-120"/>
              </a:rPr>
              <a:t>Same bases. Different ruler.</a:t>
            </a:r>
            <a:endParaRPr lang="en-US" sz="2000" dirty="0"/>
          </a:p>
        </p:txBody>
      </p:sp>
      <p:sp>
        <p:nvSpPr>
          <p:cNvPr id="17" name="Text 15"/>
          <p:cNvSpPr/>
          <p:nvPr/>
        </p:nvSpPr>
        <p:spPr>
          <a:xfrm>
            <a:off x="841248"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1</a:t>
            </a:r>
            <a:endParaRPr lang="en-US" sz="1400" dirty="0"/>
          </a:p>
        </p:txBody>
      </p:sp>
      <p:sp>
        <p:nvSpPr>
          <p:cNvPr id="18" name="Shape 16"/>
          <p:cNvSpPr/>
          <p:nvPr/>
        </p:nvSpPr>
        <p:spPr>
          <a:xfrm>
            <a:off x="841248" y="3712464"/>
            <a:ext cx="384048" cy="484632"/>
          </a:xfrm>
          <a:prstGeom prst="rect">
            <a:avLst/>
          </a:prstGeom>
          <a:solidFill>
            <a:srgbClr val="FFFFFF"/>
          </a:solidFill>
          <a:ln w="7620">
            <a:solidFill>
              <a:srgbClr val="FFFFFF"/>
            </a:solidFill>
            <a:prstDash val="solid"/>
          </a:ln>
        </p:spPr>
      </p:sp>
      <p:sp>
        <p:nvSpPr>
          <p:cNvPr id="19" name="Text 17"/>
          <p:cNvSpPr/>
          <p:nvPr/>
        </p:nvSpPr>
        <p:spPr>
          <a:xfrm>
            <a:off x="841248"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232D3B"/>
                </a:solidFill>
                <a:latin typeface="Aptos" pitchFamily="34" charset="0"/>
                <a:ea typeface="Aptos" pitchFamily="34" charset="-122"/>
                <a:cs typeface="Aptos" pitchFamily="34" charset="-120"/>
              </a:rPr>
              <a:t>A</a:t>
            </a:r>
            <a:endParaRPr lang="en-US" sz="1500" dirty="0"/>
          </a:p>
        </p:txBody>
      </p:sp>
      <p:sp>
        <p:nvSpPr>
          <p:cNvPr id="20" name="Text 18"/>
          <p:cNvSpPr/>
          <p:nvPr/>
        </p:nvSpPr>
        <p:spPr>
          <a:xfrm>
            <a:off x="841248"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0</a:t>
            </a:r>
            <a:endParaRPr lang="en-US" sz="1400" dirty="0"/>
          </a:p>
        </p:txBody>
      </p:sp>
      <p:sp>
        <p:nvSpPr>
          <p:cNvPr id="21" name="Text 19"/>
          <p:cNvSpPr/>
          <p:nvPr/>
        </p:nvSpPr>
        <p:spPr>
          <a:xfrm>
            <a:off x="1278331"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2</a:t>
            </a:r>
            <a:endParaRPr lang="en-US" sz="1400" dirty="0"/>
          </a:p>
        </p:txBody>
      </p:sp>
      <p:sp>
        <p:nvSpPr>
          <p:cNvPr id="22" name="Shape 20"/>
          <p:cNvSpPr/>
          <p:nvPr/>
        </p:nvSpPr>
        <p:spPr>
          <a:xfrm>
            <a:off x="1278331" y="3712464"/>
            <a:ext cx="384048" cy="484632"/>
          </a:xfrm>
          <a:prstGeom prst="rect">
            <a:avLst/>
          </a:prstGeom>
          <a:solidFill>
            <a:srgbClr val="FFFFFF"/>
          </a:solidFill>
          <a:ln w="7620">
            <a:solidFill>
              <a:srgbClr val="FFFFFF"/>
            </a:solidFill>
            <a:prstDash val="solid"/>
          </a:ln>
        </p:spPr>
      </p:sp>
      <p:sp>
        <p:nvSpPr>
          <p:cNvPr id="23" name="Text 21"/>
          <p:cNvSpPr/>
          <p:nvPr/>
        </p:nvSpPr>
        <p:spPr>
          <a:xfrm>
            <a:off x="1278331"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232D3B"/>
                </a:solidFill>
                <a:latin typeface="Aptos" pitchFamily="34" charset="0"/>
                <a:ea typeface="Aptos" pitchFamily="34" charset="-122"/>
                <a:cs typeface="Aptos" pitchFamily="34" charset="-120"/>
              </a:rPr>
              <a:t>C</a:t>
            </a:r>
            <a:endParaRPr lang="en-US" sz="1500" dirty="0"/>
          </a:p>
        </p:txBody>
      </p:sp>
      <p:sp>
        <p:nvSpPr>
          <p:cNvPr id="24" name="Text 22"/>
          <p:cNvSpPr/>
          <p:nvPr/>
        </p:nvSpPr>
        <p:spPr>
          <a:xfrm>
            <a:off x="1278331"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1</a:t>
            </a:r>
            <a:endParaRPr lang="en-US" sz="1400" dirty="0"/>
          </a:p>
        </p:txBody>
      </p:sp>
      <p:sp>
        <p:nvSpPr>
          <p:cNvPr id="25" name="Text 23"/>
          <p:cNvSpPr/>
          <p:nvPr/>
        </p:nvSpPr>
        <p:spPr>
          <a:xfrm>
            <a:off x="1715414"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3</a:t>
            </a:r>
            <a:endParaRPr lang="en-US" sz="1400" dirty="0"/>
          </a:p>
        </p:txBody>
      </p:sp>
      <p:sp>
        <p:nvSpPr>
          <p:cNvPr id="26" name="Shape 24"/>
          <p:cNvSpPr/>
          <p:nvPr/>
        </p:nvSpPr>
        <p:spPr>
          <a:xfrm>
            <a:off x="1715414" y="3712464"/>
            <a:ext cx="384048" cy="484632"/>
          </a:xfrm>
          <a:prstGeom prst="rect">
            <a:avLst/>
          </a:prstGeom>
          <a:solidFill>
            <a:srgbClr val="2A78D6"/>
          </a:solidFill>
          <a:ln w="7620">
            <a:solidFill>
              <a:srgbClr val="2A78D6"/>
            </a:solidFill>
            <a:prstDash val="solid"/>
          </a:ln>
        </p:spPr>
      </p:sp>
      <p:sp>
        <p:nvSpPr>
          <p:cNvPr id="27" name="Text 25"/>
          <p:cNvSpPr/>
          <p:nvPr/>
        </p:nvSpPr>
        <p:spPr>
          <a:xfrm>
            <a:off x="1715414"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G</a:t>
            </a:r>
            <a:endParaRPr lang="en-US" sz="1500" dirty="0"/>
          </a:p>
        </p:txBody>
      </p:sp>
      <p:sp>
        <p:nvSpPr>
          <p:cNvPr id="28" name="Text 26"/>
          <p:cNvSpPr/>
          <p:nvPr/>
        </p:nvSpPr>
        <p:spPr>
          <a:xfrm>
            <a:off x="1715414"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2</a:t>
            </a:r>
            <a:endParaRPr lang="en-US" sz="1400" dirty="0"/>
          </a:p>
        </p:txBody>
      </p:sp>
      <p:sp>
        <p:nvSpPr>
          <p:cNvPr id="29" name="Text 27"/>
          <p:cNvSpPr/>
          <p:nvPr/>
        </p:nvSpPr>
        <p:spPr>
          <a:xfrm>
            <a:off x="2152498"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4</a:t>
            </a:r>
            <a:endParaRPr lang="en-US" sz="1400" dirty="0"/>
          </a:p>
        </p:txBody>
      </p:sp>
      <p:sp>
        <p:nvSpPr>
          <p:cNvPr id="30" name="Shape 28"/>
          <p:cNvSpPr/>
          <p:nvPr/>
        </p:nvSpPr>
        <p:spPr>
          <a:xfrm>
            <a:off x="2152498" y="3712464"/>
            <a:ext cx="384048" cy="484632"/>
          </a:xfrm>
          <a:prstGeom prst="rect">
            <a:avLst/>
          </a:prstGeom>
          <a:solidFill>
            <a:srgbClr val="2A78D6"/>
          </a:solidFill>
          <a:ln w="7620">
            <a:solidFill>
              <a:srgbClr val="2A78D6"/>
            </a:solidFill>
            <a:prstDash val="solid"/>
          </a:ln>
        </p:spPr>
      </p:sp>
      <p:sp>
        <p:nvSpPr>
          <p:cNvPr id="31" name="Text 29"/>
          <p:cNvSpPr/>
          <p:nvPr/>
        </p:nvSpPr>
        <p:spPr>
          <a:xfrm>
            <a:off x="2152498"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T</a:t>
            </a:r>
            <a:endParaRPr lang="en-US" sz="1500" dirty="0"/>
          </a:p>
        </p:txBody>
      </p:sp>
      <p:sp>
        <p:nvSpPr>
          <p:cNvPr id="32" name="Text 30"/>
          <p:cNvSpPr/>
          <p:nvPr/>
        </p:nvSpPr>
        <p:spPr>
          <a:xfrm>
            <a:off x="2152498"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3</a:t>
            </a:r>
            <a:endParaRPr lang="en-US" sz="1400" dirty="0"/>
          </a:p>
        </p:txBody>
      </p:sp>
      <p:sp>
        <p:nvSpPr>
          <p:cNvPr id="33" name="Text 31"/>
          <p:cNvSpPr/>
          <p:nvPr/>
        </p:nvSpPr>
        <p:spPr>
          <a:xfrm>
            <a:off x="2589581"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5</a:t>
            </a:r>
            <a:endParaRPr lang="en-US" sz="1400" dirty="0"/>
          </a:p>
        </p:txBody>
      </p:sp>
      <p:sp>
        <p:nvSpPr>
          <p:cNvPr id="34" name="Shape 32"/>
          <p:cNvSpPr/>
          <p:nvPr/>
        </p:nvSpPr>
        <p:spPr>
          <a:xfrm>
            <a:off x="2589581" y="3712464"/>
            <a:ext cx="384048" cy="484632"/>
          </a:xfrm>
          <a:prstGeom prst="rect">
            <a:avLst/>
          </a:prstGeom>
          <a:solidFill>
            <a:srgbClr val="2A78D6"/>
          </a:solidFill>
          <a:ln w="7620">
            <a:solidFill>
              <a:srgbClr val="2A78D6"/>
            </a:solidFill>
            <a:prstDash val="solid"/>
          </a:ln>
        </p:spPr>
      </p:sp>
      <p:sp>
        <p:nvSpPr>
          <p:cNvPr id="35" name="Text 33"/>
          <p:cNvSpPr/>
          <p:nvPr/>
        </p:nvSpPr>
        <p:spPr>
          <a:xfrm>
            <a:off x="2589581"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A</a:t>
            </a:r>
            <a:endParaRPr lang="en-US" sz="1500" dirty="0"/>
          </a:p>
        </p:txBody>
      </p:sp>
      <p:sp>
        <p:nvSpPr>
          <p:cNvPr id="36" name="Text 34"/>
          <p:cNvSpPr/>
          <p:nvPr/>
        </p:nvSpPr>
        <p:spPr>
          <a:xfrm>
            <a:off x="2589581"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4</a:t>
            </a:r>
            <a:endParaRPr lang="en-US" sz="1400" dirty="0"/>
          </a:p>
        </p:txBody>
      </p:sp>
      <p:sp>
        <p:nvSpPr>
          <p:cNvPr id="37" name="Text 35"/>
          <p:cNvSpPr/>
          <p:nvPr/>
        </p:nvSpPr>
        <p:spPr>
          <a:xfrm>
            <a:off x="3026664"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6</a:t>
            </a:r>
            <a:endParaRPr lang="en-US" sz="1400" dirty="0"/>
          </a:p>
        </p:txBody>
      </p:sp>
      <p:sp>
        <p:nvSpPr>
          <p:cNvPr id="38" name="Shape 36"/>
          <p:cNvSpPr/>
          <p:nvPr/>
        </p:nvSpPr>
        <p:spPr>
          <a:xfrm>
            <a:off x="3026664" y="3712464"/>
            <a:ext cx="384048" cy="484632"/>
          </a:xfrm>
          <a:prstGeom prst="rect">
            <a:avLst/>
          </a:prstGeom>
          <a:solidFill>
            <a:srgbClr val="2A78D6"/>
          </a:solidFill>
          <a:ln w="7620">
            <a:solidFill>
              <a:srgbClr val="2A78D6"/>
            </a:solidFill>
            <a:prstDash val="solid"/>
          </a:ln>
        </p:spPr>
      </p:sp>
      <p:sp>
        <p:nvSpPr>
          <p:cNvPr id="39" name="Text 37"/>
          <p:cNvSpPr/>
          <p:nvPr/>
        </p:nvSpPr>
        <p:spPr>
          <a:xfrm>
            <a:off x="3026664"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C</a:t>
            </a:r>
            <a:endParaRPr lang="en-US" sz="1500" dirty="0"/>
          </a:p>
        </p:txBody>
      </p:sp>
      <p:sp>
        <p:nvSpPr>
          <p:cNvPr id="40" name="Text 38"/>
          <p:cNvSpPr/>
          <p:nvPr/>
        </p:nvSpPr>
        <p:spPr>
          <a:xfrm>
            <a:off x="3026664"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5</a:t>
            </a:r>
            <a:endParaRPr lang="en-US" sz="1400" dirty="0"/>
          </a:p>
        </p:txBody>
      </p:sp>
      <p:sp>
        <p:nvSpPr>
          <p:cNvPr id="41" name="Text 39"/>
          <p:cNvSpPr/>
          <p:nvPr/>
        </p:nvSpPr>
        <p:spPr>
          <a:xfrm>
            <a:off x="3463747"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7</a:t>
            </a:r>
            <a:endParaRPr lang="en-US" sz="1400" dirty="0"/>
          </a:p>
        </p:txBody>
      </p:sp>
      <p:sp>
        <p:nvSpPr>
          <p:cNvPr id="42" name="Shape 40"/>
          <p:cNvSpPr/>
          <p:nvPr/>
        </p:nvSpPr>
        <p:spPr>
          <a:xfrm>
            <a:off x="3463747" y="3712464"/>
            <a:ext cx="384048" cy="484632"/>
          </a:xfrm>
          <a:prstGeom prst="rect">
            <a:avLst/>
          </a:prstGeom>
          <a:solidFill>
            <a:srgbClr val="2A78D6"/>
          </a:solidFill>
          <a:ln w="7620">
            <a:solidFill>
              <a:srgbClr val="2A78D6"/>
            </a:solidFill>
            <a:prstDash val="solid"/>
          </a:ln>
        </p:spPr>
      </p:sp>
      <p:sp>
        <p:nvSpPr>
          <p:cNvPr id="43" name="Text 41"/>
          <p:cNvSpPr/>
          <p:nvPr/>
        </p:nvSpPr>
        <p:spPr>
          <a:xfrm>
            <a:off x="3463747"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G</a:t>
            </a:r>
            <a:endParaRPr lang="en-US" sz="1500" dirty="0"/>
          </a:p>
        </p:txBody>
      </p:sp>
      <p:sp>
        <p:nvSpPr>
          <p:cNvPr id="44" name="Text 42"/>
          <p:cNvSpPr/>
          <p:nvPr/>
        </p:nvSpPr>
        <p:spPr>
          <a:xfrm>
            <a:off x="3463747"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6</a:t>
            </a:r>
            <a:endParaRPr lang="en-US" sz="1400" dirty="0"/>
          </a:p>
        </p:txBody>
      </p:sp>
      <p:sp>
        <p:nvSpPr>
          <p:cNvPr id="45" name="Text 43"/>
          <p:cNvSpPr/>
          <p:nvPr/>
        </p:nvSpPr>
        <p:spPr>
          <a:xfrm>
            <a:off x="3900830"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8</a:t>
            </a:r>
            <a:endParaRPr lang="en-US" sz="1400" dirty="0"/>
          </a:p>
        </p:txBody>
      </p:sp>
      <p:sp>
        <p:nvSpPr>
          <p:cNvPr id="46" name="Shape 44"/>
          <p:cNvSpPr/>
          <p:nvPr/>
        </p:nvSpPr>
        <p:spPr>
          <a:xfrm>
            <a:off x="3900830" y="3712464"/>
            <a:ext cx="384048" cy="484632"/>
          </a:xfrm>
          <a:prstGeom prst="rect">
            <a:avLst/>
          </a:prstGeom>
          <a:solidFill>
            <a:srgbClr val="FFFFFF"/>
          </a:solidFill>
          <a:ln w="7620">
            <a:solidFill>
              <a:srgbClr val="FFFFFF"/>
            </a:solidFill>
            <a:prstDash val="solid"/>
          </a:ln>
        </p:spPr>
      </p:sp>
      <p:sp>
        <p:nvSpPr>
          <p:cNvPr id="47" name="Text 45"/>
          <p:cNvSpPr/>
          <p:nvPr/>
        </p:nvSpPr>
        <p:spPr>
          <a:xfrm>
            <a:off x="3900830"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232D3B"/>
                </a:solidFill>
                <a:latin typeface="Aptos" pitchFamily="34" charset="0"/>
                <a:ea typeface="Aptos" pitchFamily="34" charset="-122"/>
                <a:cs typeface="Aptos" pitchFamily="34" charset="-120"/>
              </a:rPr>
              <a:t>T</a:t>
            </a:r>
            <a:endParaRPr lang="en-US" sz="1500" dirty="0"/>
          </a:p>
        </p:txBody>
      </p:sp>
      <p:sp>
        <p:nvSpPr>
          <p:cNvPr id="48" name="Text 46"/>
          <p:cNvSpPr/>
          <p:nvPr/>
        </p:nvSpPr>
        <p:spPr>
          <a:xfrm>
            <a:off x="3900830"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7</a:t>
            </a:r>
            <a:endParaRPr lang="en-US" sz="1400" dirty="0"/>
          </a:p>
        </p:txBody>
      </p:sp>
      <p:sp>
        <p:nvSpPr>
          <p:cNvPr id="49" name="Text 47"/>
          <p:cNvSpPr/>
          <p:nvPr/>
        </p:nvSpPr>
        <p:spPr>
          <a:xfrm>
            <a:off x="4337914"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9</a:t>
            </a:r>
            <a:endParaRPr lang="en-US" sz="1400" dirty="0"/>
          </a:p>
        </p:txBody>
      </p:sp>
      <p:sp>
        <p:nvSpPr>
          <p:cNvPr id="50" name="Shape 48"/>
          <p:cNvSpPr/>
          <p:nvPr/>
        </p:nvSpPr>
        <p:spPr>
          <a:xfrm>
            <a:off x="4337914" y="3712464"/>
            <a:ext cx="384048" cy="484632"/>
          </a:xfrm>
          <a:prstGeom prst="rect">
            <a:avLst/>
          </a:prstGeom>
          <a:solidFill>
            <a:srgbClr val="FFFFFF"/>
          </a:solidFill>
          <a:ln w="7620">
            <a:solidFill>
              <a:srgbClr val="FFFFFF"/>
            </a:solidFill>
            <a:prstDash val="solid"/>
          </a:ln>
        </p:spPr>
      </p:sp>
      <p:sp>
        <p:nvSpPr>
          <p:cNvPr id="51" name="Text 49"/>
          <p:cNvSpPr/>
          <p:nvPr/>
        </p:nvSpPr>
        <p:spPr>
          <a:xfrm>
            <a:off x="4337914"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232D3B"/>
                </a:solidFill>
                <a:latin typeface="Aptos" pitchFamily="34" charset="0"/>
                <a:ea typeface="Aptos" pitchFamily="34" charset="-122"/>
                <a:cs typeface="Aptos" pitchFamily="34" charset="-120"/>
              </a:rPr>
              <a:t>A</a:t>
            </a:r>
            <a:endParaRPr lang="en-US" sz="1500" dirty="0"/>
          </a:p>
        </p:txBody>
      </p:sp>
      <p:sp>
        <p:nvSpPr>
          <p:cNvPr id="52" name="Text 50"/>
          <p:cNvSpPr/>
          <p:nvPr/>
        </p:nvSpPr>
        <p:spPr>
          <a:xfrm>
            <a:off x="4337914"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8</a:t>
            </a:r>
            <a:endParaRPr lang="en-US" sz="1400" dirty="0"/>
          </a:p>
        </p:txBody>
      </p:sp>
      <p:sp>
        <p:nvSpPr>
          <p:cNvPr id="53" name="Text 51"/>
          <p:cNvSpPr/>
          <p:nvPr/>
        </p:nvSpPr>
        <p:spPr>
          <a:xfrm>
            <a:off x="4774997" y="3118104"/>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232D3B"/>
                </a:solidFill>
                <a:latin typeface="Aptos" pitchFamily="34" charset="0"/>
                <a:ea typeface="Aptos" pitchFamily="34" charset="-122"/>
                <a:cs typeface="Aptos" pitchFamily="34" charset="-120"/>
              </a:rPr>
              <a:t>10</a:t>
            </a:r>
            <a:endParaRPr lang="en-US" sz="1400" dirty="0"/>
          </a:p>
        </p:txBody>
      </p:sp>
      <p:sp>
        <p:nvSpPr>
          <p:cNvPr id="54" name="Shape 52"/>
          <p:cNvSpPr/>
          <p:nvPr/>
        </p:nvSpPr>
        <p:spPr>
          <a:xfrm>
            <a:off x="4774997" y="3712464"/>
            <a:ext cx="384048" cy="484632"/>
          </a:xfrm>
          <a:prstGeom prst="rect">
            <a:avLst/>
          </a:prstGeom>
          <a:solidFill>
            <a:srgbClr val="FFFFFF"/>
          </a:solidFill>
          <a:ln w="7620">
            <a:solidFill>
              <a:srgbClr val="FFFFFF"/>
            </a:solidFill>
            <a:prstDash val="solid"/>
          </a:ln>
        </p:spPr>
      </p:sp>
      <p:sp>
        <p:nvSpPr>
          <p:cNvPr id="55" name="Text 53"/>
          <p:cNvSpPr/>
          <p:nvPr/>
        </p:nvSpPr>
        <p:spPr>
          <a:xfrm>
            <a:off x="4774997" y="3776472"/>
            <a:ext cx="384048" cy="320040"/>
          </a:xfrm>
          <a:prstGeom prst="rect">
            <a:avLst/>
          </a:prstGeom>
          <a:noFill/>
          <a:ln/>
        </p:spPr>
        <p:txBody>
          <a:bodyPr wrap="square" lIns="0" tIns="0" rIns="0" bIns="0" rtlCol="0" anchor="ctr">
            <a:normAutofit/>
          </a:bodyPr>
          <a:lstStyle/>
          <a:p>
            <a:pPr algn="ctr" indent="0" marL="0">
              <a:buNone/>
            </a:pPr>
            <a:r>
              <a:rPr lang="en-US" sz="1500" b="1" dirty="0">
                <a:solidFill>
                  <a:srgbClr val="232D3B"/>
                </a:solidFill>
                <a:latin typeface="Aptos" pitchFamily="34" charset="0"/>
                <a:ea typeface="Aptos" pitchFamily="34" charset="-122"/>
                <a:cs typeface="Aptos" pitchFamily="34" charset="-120"/>
              </a:rPr>
              <a:t>A</a:t>
            </a:r>
            <a:endParaRPr lang="en-US" sz="1500" dirty="0"/>
          </a:p>
        </p:txBody>
      </p:sp>
      <p:sp>
        <p:nvSpPr>
          <p:cNvPr id="56" name="Text 54"/>
          <p:cNvSpPr/>
          <p:nvPr/>
        </p:nvSpPr>
        <p:spPr>
          <a:xfrm>
            <a:off x="4774997" y="4425696"/>
            <a:ext cx="384048" cy="365760"/>
          </a:xfrm>
          <a:prstGeom prst="rect">
            <a:avLst/>
          </a:prstGeom>
          <a:noFill/>
          <a:ln/>
        </p:spPr>
        <p:txBody>
          <a:bodyPr wrap="square" lIns="0" tIns="0" rIns="0" bIns="0" rtlCol="0" anchor="ctr">
            <a:normAutofit/>
          </a:bodyPr>
          <a:lstStyle/>
          <a:p>
            <a:pPr algn="ctr" indent="0" marL="0">
              <a:buNone/>
            </a:pPr>
            <a:r>
              <a:rPr lang="en-US" sz="1400" dirty="0">
                <a:solidFill>
                  <a:srgbClr val="526171"/>
                </a:solidFill>
                <a:latin typeface="Aptos" pitchFamily="34" charset="0"/>
                <a:ea typeface="Aptos" pitchFamily="34" charset="-122"/>
                <a:cs typeface="Aptos" pitchFamily="34" charset="-120"/>
              </a:rPr>
              <a:t>9</a:t>
            </a:r>
            <a:endParaRPr lang="en-US" sz="1400" dirty="0"/>
          </a:p>
        </p:txBody>
      </p:sp>
      <p:sp>
        <p:nvSpPr>
          <p:cNvPr id="57" name="Text 55"/>
          <p:cNvSpPr/>
          <p:nvPr/>
        </p:nvSpPr>
        <p:spPr>
          <a:xfrm>
            <a:off x="841248" y="5157216"/>
            <a:ext cx="4471416" cy="612648"/>
          </a:xfrm>
          <a:prstGeom prst="rect">
            <a:avLst/>
          </a:prstGeom>
          <a:noFill/>
          <a:ln/>
        </p:spPr>
        <p:txBody>
          <a:bodyPr wrap="square" lIns="0" tIns="0" rIns="0" bIns="0" rtlCol="0" anchor="ctr">
            <a:normAutofit/>
          </a:bodyPr>
          <a:lstStyle/>
          <a:p>
            <a:pPr algn="ctr" indent="0" marL="0">
              <a:buNone/>
            </a:pPr>
            <a:r>
              <a:rPr lang="en-US" sz="1534" dirty="0">
                <a:solidFill>
                  <a:srgbClr val="526171"/>
                </a:solidFill>
                <a:latin typeface="Aptos" pitchFamily="34" charset="0"/>
                <a:ea typeface="Aptos" pitchFamily="34" charset="-122"/>
                <a:cs typeface="Aptos" pitchFamily="34" charset="-120"/>
              </a:rPr>
              <a:t>1-based positions above / 0-based indices below</a:t>
            </a:r>
            <a:endParaRPr lang="en-US" sz="1534"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Retrieve: count the independent origin</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S12  |  6</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Two donors with 200 cells each are two donors.</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replicate label must name the biological unit.</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More sequencing cannot create a missing biological replicate.</a:t>
            </a:r>
            <a:endParaRPr lang="en-US" sz="2297" dirty="0"/>
          </a:p>
        </p:txBody>
      </p:sp>
      <p:sp>
        <p:nvSpPr>
          <p:cNvPr id="16" name="Text 14"/>
          <p:cNvSpPr/>
          <p:nvPr/>
        </p:nvSpPr>
        <p:spPr>
          <a:xfrm>
            <a:off x="841248" y="2386584"/>
            <a:ext cx="1371600" cy="594360"/>
          </a:xfrm>
          <a:prstGeom prst="rect">
            <a:avLst/>
          </a:prstGeom>
          <a:noFill/>
          <a:ln/>
        </p:spPr>
        <p:txBody>
          <a:bodyPr wrap="square" lIns="0" tIns="0" rIns="0" bIns="0" rtlCol="0" anchor="ctr">
            <a:normAutofit/>
          </a:bodyPr>
          <a:lstStyle/>
          <a:p>
            <a:pPr algn="ctr" indent="0" marL="0">
              <a:buNone/>
            </a:pPr>
            <a:r>
              <a:rPr lang="en-US" sz="1797" b="1" dirty="0">
                <a:solidFill>
                  <a:srgbClr val="2A78D6"/>
                </a:solidFill>
                <a:latin typeface="Aptos" pitchFamily="34" charset="0"/>
                <a:ea typeface="Aptos" pitchFamily="34" charset="-122"/>
                <a:cs typeface="Aptos" pitchFamily="34" charset="-120"/>
              </a:rPr>
              <a:t>Donor 1</a:t>
            </a:r>
            <a:endParaRPr lang="en-US" sz="1797" dirty="0"/>
          </a:p>
        </p:txBody>
      </p:sp>
      <p:sp>
        <p:nvSpPr>
          <p:cNvPr id="17" name="Shape 15"/>
          <p:cNvSpPr/>
          <p:nvPr/>
        </p:nvSpPr>
        <p:spPr>
          <a:xfrm>
            <a:off x="841248" y="3209544"/>
            <a:ext cx="1325880" cy="1554480"/>
          </a:xfrm>
          <a:prstGeom prst="rect">
            <a:avLst/>
          </a:prstGeom>
          <a:solidFill>
            <a:srgbClr val="FFFFFF"/>
          </a:solidFill>
          <a:ln w="7620">
            <a:solidFill>
              <a:srgbClr val="FFFFFF"/>
            </a:solidFill>
            <a:prstDash val="solid"/>
          </a:ln>
        </p:spPr>
      </p:sp>
      <p:sp>
        <p:nvSpPr>
          <p:cNvPr id="18" name="Shape 16"/>
          <p:cNvSpPr/>
          <p:nvPr/>
        </p:nvSpPr>
        <p:spPr>
          <a:xfrm>
            <a:off x="1024128" y="3438144"/>
            <a:ext cx="201168" cy="201168"/>
          </a:xfrm>
          <a:prstGeom prst="ellipse">
            <a:avLst/>
          </a:prstGeom>
          <a:solidFill>
            <a:srgbClr val="2A78D6"/>
          </a:solidFill>
          <a:ln w="12700">
            <a:solidFill>
              <a:srgbClr val="2A78D6"/>
            </a:solidFill>
            <a:prstDash val="solid"/>
          </a:ln>
        </p:spPr>
      </p:sp>
      <p:sp>
        <p:nvSpPr>
          <p:cNvPr id="19" name="Shape 17"/>
          <p:cNvSpPr/>
          <p:nvPr/>
        </p:nvSpPr>
        <p:spPr>
          <a:xfrm>
            <a:off x="1554480" y="3438144"/>
            <a:ext cx="201168" cy="201168"/>
          </a:xfrm>
          <a:prstGeom prst="ellipse">
            <a:avLst/>
          </a:prstGeom>
          <a:solidFill>
            <a:srgbClr val="2A78D6"/>
          </a:solidFill>
          <a:ln w="12700">
            <a:solidFill>
              <a:srgbClr val="2A78D6"/>
            </a:solidFill>
            <a:prstDash val="solid"/>
          </a:ln>
        </p:spPr>
      </p:sp>
      <p:sp>
        <p:nvSpPr>
          <p:cNvPr id="20" name="Shape 18"/>
          <p:cNvSpPr/>
          <p:nvPr/>
        </p:nvSpPr>
        <p:spPr>
          <a:xfrm>
            <a:off x="1024128" y="3822192"/>
            <a:ext cx="201168" cy="201168"/>
          </a:xfrm>
          <a:prstGeom prst="ellipse">
            <a:avLst/>
          </a:prstGeom>
          <a:solidFill>
            <a:srgbClr val="2A78D6"/>
          </a:solidFill>
          <a:ln w="12700">
            <a:solidFill>
              <a:srgbClr val="2A78D6"/>
            </a:solidFill>
            <a:prstDash val="solid"/>
          </a:ln>
        </p:spPr>
      </p:sp>
      <p:sp>
        <p:nvSpPr>
          <p:cNvPr id="21" name="Shape 19"/>
          <p:cNvSpPr/>
          <p:nvPr/>
        </p:nvSpPr>
        <p:spPr>
          <a:xfrm>
            <a:off x="1554480" y="3822192"/>
            <a:ext cx="201168" cy="201168"/>
          </a:xfrm>
          <a:prstGeom prst="ellipse">
            <a:avLst/>
          </a:prstGeom>
          <a:solidFill>
            <a:srgbClr val="2A78D6"/>
          </a:solidFill>
          <a:ln w="12700">
            <a:solidFill>
              <a:srgbClr val="2A78D6"/>
            </a:solidFill>
            <a:prstDash val="solid"/>
          </a:ln>
        </p:spPr>
      </p:sp>
      <p:sp>
        <p:nvSpPr>
          <p:cNvPr id="22" name="Shape 20"/>
          <p:cNvSpPr/>
          <p:nvPr/>
        </p:nvSpPr>
        <p:spPr>
          <a:xfrm>
            <a:off x="1024128" y="4206240"/>
            <a:ext cx="201168" cy="201168"/>
          </a:xfrm>
          <a:prstGeom prst="ellipse">
            <a:avLst/>
          </a:prstGeom>
          <a:solidFill>
            <a:srgbClr val="2A78D6"/>
          </a:solidFill>
          <a:ln w="12700">
            <a:solidFill>
              <a:srgbClr val="2A78D6"/>
            </a:solidFill>
            <a:prstDash val="solid"/>
          </a:ln>
        </p:spPr>
      </p:sp>
      <p:sp>
        <p:nvSpPr>
          <p:cNvPr id="23" name="Shape 21"/>
          <p:cNvSpPr/>
          <p:nvPr/>
        </p:nvSpPr>
        <p:spPr>
          <a:xfrm>
            <a:off x="1554480" y="4206240"/>
            <a:ext cx="201168" cy="201168"/>
          </a:xfrm>
          <a:prstGeom prst="ellipse">
            <a:avLst/>
          </a:prstGeom>
          <a:solidFill>
            <a:srgbClr val="2A78D6"/>
          </a:solidFill>
          <a:ln w="12700">
            <a:solidFill>
              <a:srgbClr val="2A78D6"/>
            </a:solidFill>
            <a:prstDash val="solid"/>
          </a:ln>
        </p:spPr>
      </p:sp>
      <p:sp>
        <p:nvSpPr>
          <p:cNvPr id="24" name="Text 22"/>
          <p:cNvSpPr/>
          <p:nvPr/>
        </p:nvSpPr>
        <p:spPr>
          <a:xfrm>
            <a:off x="2331720" y="2386584"/>
            <a:ext cx="1371600" cy="594360"/>
          </a:xfrm>
          <a:prstGeom prst="rect">
            <a:avLst/>
          </a:prstGeom>
          <a:noFill/>
          <a:ln/>
        </p:spPr>
        <p:txBody>
          <a:bodyPr wrap="square" lIns="0" tIns="0" rIns="0" bIns="0" rtlCol="0" anchor="ctr">
            <a:normAutofit/>
          </a:bodyPr>
          <a:lstStyle/>
          <a:p>
            <a:pPr algn="ctr" indent="0" marL="0">
              <a:buNone/>
            </a:pPr>
            <a:r>
              <a:rPr lang="en-US" sz="1797" b="1" dirty="0">
                <a:solidFill>
                  <a:srgbClr val="2A78D6"/>
                </a:solidFill>
                <a:latin typeface="Aptos" pitchFamily="34" charset="0"/>
                <a:ea typeface="Aptos" pitchFamily="34" charset="-122"/>
                <a:cs typeface="Aptos" pitchFamily="34" charset="-120"/>
              </a:rPr>
              <a:t>Donor 2</a:t>
            </a:r>
            <a:endParaRPr lang="en-US" sz="1797" dirty="0"/>
          </a:p>
        </p:txBody>
      </p:sp>
      <p:sp>
        <p:nvSpPr>
          <p:cNvPr id="25" name="Shape 23"/>
          <p:cNvSpPr/>
          <p:nvPr/>
        </p:nvSpPr>
        <p:spPr>
          <a:xfrm>
            <a:off x="2331720" y="3209544"/>
            <a:ext cx="1325880" cy="1554480"/>
          </a:xfrm>
          <a:prstGeom prst="rect">
            <a:avLst/>
          </a:prstGeom>
          <a:solidFill>
            <a:srgbClr val="FFFFFF"/>
          </a:solidFill>
          <a:ln w="7620">
            <a:solidFill>
              <a:srgbClr val="FFFFFF"/>
            </a:solidFill>
            <a:prstDash val="solid"/>
          </a:ln>
        </p:spPr>
      </p:sp>
      <p:sp>
        <p:nvSpPr>
          <p:cNvPr id="26" name="Shape 24"/>
          <p:cNvSpPr/>
          <p:nvPr/>
        </p:nvSpPr>
        <p:spPr>
          <a:xfrm>
            <a:off x="2514600" y="3438144"/>
            <a:ext cx="201168" cy="201168"/>
          </a:xfrm>
          <a:prstGeom prst="ellipse">
            <a:avLst/>
          </a:prstGeom>
          <a:solidFill>
            <a:srgbClr val="2A78D6"/>
          </a:solidFill>
          <a:ln w="12700">
            <a:solidFill>
              <a:srgbClr val="2A78D6"/>
            </a:solidFill>
            <a:prstDash val="solid"/>
          </a:ln>
        </p:spPr>
      </p:sp>
      <p:sp>
        <p:nvSpPr>
          <p:cNvPr id="27" name="Shape 25"/>
          <p:cNvSpPr/>
          <p:nvPr/>
        </p:nvSpPr>
        <p:spPr>
          <a:xfrm>
            <a:off x="3044952" y="3438144"/>
            <a:ext cx="201168" cy="201168"/>
          </a:xfrm>
          <a:prstGeom prst="ellipse">
            <a:avLst/>
          </a:prstGeom>
          <a:solidFill>
            <a:srgbClr val="2A78D6"/>
          </a:solidFill>
          <a:ln w="12700">
            <a:solidFill>
              <a:srgbClr val="2A78D6"/>
            </a:solidFill>
            <a:prstDash val="solid"/>
          </a:ln>
        </p:spPr>
      </p:sp>
      <p:sp>
        <p:nvSpPr>
          <p:cNvPr id="28" name="Shape 26"/>
          <p:cNvSpPr/>
          <p:nvPr/>
        </p:nvSpPr>
        <p:spPr>
          <a:xfrm>
            <a:off x="2514600" y="3822192"/>
            <a:ext cx="201168" cy="201168"/>
          </a:xfrm>
          <a:prstGeom prst="ellipse">
            <a:avLst/>
          </a:prstGeom>
          <a:solidFill>
            <a:srgbClr val="2A78D6"/>
          </a:solidFill>
          <a:ln w="12700">
            <a:solidFill>
              <a:srgbClr val="2A78D6"/>
            </a:solidFill>
            <a:prstDash val="solid"/>
          </a:ln>
        </p:spPr>
      </p:sp>
      <p:sp>
        <p:nvSpPr>
          <p:cNvPr id="29" name="Shape 27"/>
          <p:cNvSpPr/>
          <p:nvPr/>
        </p:nvSpPr>
        <p:spPr>
          <a:xfrm>
            <a:off x="3044952" y="3822192"/>
            <a:ext cx="201168" cy="201168"/>
          </a:xfrm>
          <a:prstGeom prst="ellipse">
            <a:avLst/>
          </a:prstGeom>
          <a:solidFill>
            <a:srgbClr val="2A78D6"/>
          </a:solidFill>
          <a:ln w="12700">
            <a:solidFill>
              <a:srgbClr val="2A78D6"/>
            </a:solidFill>
            <a:prstDash val="solid"/>
          </a:ln>
        </p:spPr>
      </p:sp>
      <p:sp>
        <p:nvSpPr>
          <p:cNvPr id="30" name="Shape 28"/>
          <p:cNvSpPr/>
          <p:nvPr/>
        </p:nvSpPr>
        <p:spPr>
          <a:xfrm>
            <a:off x="2514600" y="4206240"/>
            <a:ext cx="201168" cy="201168"/>
          </a:xfrm>
          <a:prstGeom prst="ellipse">
            <a:avLst/>
          </a:prstGeom>
          <a:solidFill>
            <a:srgbClr val="2A78D6"/>
          </a:solidFill>
          <a:ln w="12700">
            <a:solidFill>
              <a:srgbClr val="2A78D6"/>
            </a:solidFill>
            <a:prstDash val="solid"/>
          </a:ln>
        </p:spPr>
      </p:sp>
      <p:sp>
        <p:nvSpPr>
          <p:cNvPr id="31" name="Shape 29"/>
          <p:cNvSpPr/>
          <p:nvPr/>
        </p:nvSpPr>
        <p:spPr>
          <a:xfrm>
            <a:off x="3044952" y="4206240"/>
            <a:ext cx="201168" cy="201168"/>
          </a:xfrm>
          <a:prstGeom prst="ellipse">
            <a:avLst/>
          </a:prstGeom>
          <a:solidFill>
            <a:srgbClr val="2A78D6"/>
          </a:solidFill>
          <a:ln w="12700">
            <a:solidFill>
              <a:srgbClr val="2A78D6"/>
            </a:solidFill>
            <a:prstDash val="solid"/>
          </a:ln>
        </p:spPr>
      </p:sp>
      <p:sp>
        <p:nvSpPr>
          <p:cNvPr id="32" name="Text 30"/>
          <p:cNvSpPr/>
          <p:nvPr/>
        </p:nvSpPr>
        <p:spPr>
          <a:xfrm>
            <a:off x="3822192" y="2386584"/>
            <a:ext cx="1371600" cy="594360"/>
          </a:xfrm>
          <a:prstGeom prst="rect">
            <a:avLst/>
          </a:prstGeom>
          <a:noFill/>
          <a:ln/>
        </p:spPr>
        <p:txBody>
          <a:bodyPr wrap="square" lIns="0" tIns="0" rIns="0" bIns="0" rtlCol="0" anchor="ctr">
            <a:normAutofit/>
          </a:bodyPr>
          <a:lstStyle/>
          <a:p>
            <a:pPr algn="ctr" indent="0" marL="0">
              <a:buNone/>
            </a:pPr>
            <a:r>
              <a:rPr lang="en-US" sz="1797" b="1" dirty="0">
                <a:solidFill>
                  <a:srgbClr val="2A78D6"/>
                </a:solidFill>
                <a:latin typeface="Aptos" pitchFamily="34" charset="0"/>
                <a:ea typeface="Aptos" pitchFamily="34" charset="-122"/>
                <a:cs typeface="Aptos" pitchFamily="34" charset="-120"/>
              </a:rPr>
              <a:t>Donor 3</a:t>
            </a:r>
            <a:endParaRPr lang="en-US" sz="1797" dirty="0"/>
          </a:p>
        </p:txBody>
      </p:sp>
      <p:sp>
        <p:nvSpPr>
          <p:cNvPr id="33" name="Shape 31"/>
          <p:cNvSpPr/>
          <p:nvPr/>
        </p:nvSpPr>
        <p:spPr>
          <a:xfrm>
            <a:off x="3822192" y="3209544"/>
            <a:ext cx="1325880" cy="1554480"/>
          </a:xfrm>
          <a:prstGeom prst="rect">
            <a:avLst/>
          </a:prstGeom>
          <a:solidFill>
            <a:srgbClr val="FFFFFF"/>
          </a:solidFill>
          <a:ln w="7620">
            <a:solidFill>
              <a:srgbClr val="FFFFFF"/>
            </a:solidFill>
            <a:prstDash val="solid"/>
          </a:ln>
        </p:spPr>
      </p:sp>
      <p:sp>
        <p:nvSpPr>
          <p:cNvPr id="34" name="Shape 32"/>
          <p:cNvSpPr/>
          <p:nvPr/>
        </p:nvSpPr>
        <p:spPr>
          <a:xfrm>
            <a:off x="4005072" y="3438144"/>
            <a:ext cx="201168" cy="201168"/>
          </a:xfrm>
          <a:prstGeom prst="ellipse">
            <a:avLst/>
          </a:prstGeom>
          <a:solidFill>
            <a:srgbClr val="2A78D6"/>
          </a:solidFill>
          <a:ln w="12700">
            <a:solidFill>
              <a:srgbClr val="2A78D6"/>
            </a:solidFill>
            <a:prstDash val="solid"/>
          </a:ln>
        </p:spPr>
      </p:sp>
      <p:sp>
        <p:nvSpPr>
          <p:cNvPr id="35" name="Shape 33"/>
          <p:cNvSpPr/>
          <p:nvPr/>
        </p:nvSpPr>
        <p:spPr>
          <a:xfrm>
            <a:off x="4535424" y="3438144"/>
            <a:ext cx="201168" cy="201168"/>
          </a:xfrm>
          <a:prstGeom prst="ellipse">
            <a:avLst/>
          </a:prstGeom>
          <a:solidFill>
            <a:srgbClr val="2A78D6"/>
          </a:solidFill>
          <a:ln w="12700">
            <a:solidFill>
              <a:srgbClr val="2A78D6"/>
            </a:solidFill>
            <a:prstDash val="solid"/>
          </a:ln>
        </p:spPr>
      </p:sp>
      <p:sp>
        <p:nvSpPr>
          <p:cNvPr id="36" name="Shape 34"/>
          <p:cNvSpPr/>
          <p:nvPr/>
        </p:nvSpPr>
        <p:spPr>
          <a:xfrm>
            <a:off x="4005072" y="3822192"/>
            <a:ext cx="201168" cy="201168"/>
          </a:xfrm>
          <a:prstGeom prst="ellipse">
            <a:avLst/>
          </a:prstGeom>
          <a:solidFill>
            <a:srgbClr val="2A78D6"/>
          </a:solidFill>
          <a:ln w="12700">
            <a:solidFill>
              <a:srgbClr val="2A78D6"/>
            </a:solidFill>
            <a:prstDash val="solid"/>
          </a:ln>
        </p:spPr>
      </p:sp>
      <p:sp>
        <p:nvSpPr>
          <p:cNvPr id="37" name="Shape 35"/>
          <p:cNvSpPr/>
          <p:nvPr/>
        </p:nvSpPr>
        <p:spPr>
          <a:xfrm>
            <a:off x="4535424" y="3822192"/>
            <a:ext cx="201168" cy="201168"/>
          </a:xfrm>
          <a:prstGeom prst="ellipse">
            <a:avLst/>
          </a:prstGeom>
          <a:solidFill>
            <a:srgbClr val="2A78D6"/>
          </a:solidFill>
          <a:ln w="12700">
            <a:solidFill>
              <a:srgbClr val="2A78D6"/>
            </a:solidFill>
            <a:prstDash val="solid"/>
          </a:ln>
        </p:spPr>
      </p:sp>
      <p:sp>
        <p:nvSpPr>
          <p:cNvPr id="38" name="Shape 36"/>
          <p:cNvSpPr/>
          <p:nvPr/>
        </p:nvSpPr>
        <p:spPr>
          <a:xfrm>
            <a:off x="4005072" y="4206240"/>
            <a:ext cx="201168" cy="201168"/>
          </a:xfrm>
          <a:prstGeom prst="ellipse">
            <a:avLst/>
          </a:prstGeom>
          <a:solidFill>
            <a:srgbClr val="2A78D6"/>
          </a:solidFill>
          <a:ln w="12700">
            <a:solidFill>
              <a:srgbClr val="2A78D6"/>
            </a:solidFill>
            <a:prstDash val="solid"/>
          </a:ln>
        </p:spPr>
      </p:sp>
      <p:sp>
        <p:nvSpPr>
          <p:cNvPr id="39" name="Shape 37"/>
          <p:cNvSpPr/>
          <p:nvPr/>
        </p:nvSpPr>
        <p:spPr>
          <a:xfrm>
            <a:off x="4535424" y="4206240"/>
            <a:ext cx="201168" cy="201168"/>
          </a:xfrm>
          <a:prstGeom prst="ellipse">
            <a:avLst/>
          </a:prstGeom>
          <a:solidFill>
            <a:srgbClr val="2A78D6"/>
          </a:solidFill>
          <a:ln w="12700">
            <a:solidFill>
              <a:srgbClr val="2A78D6"/>
            </a:solidFill>
            <a:prstDash val="solid"/>
          </a:ln>
        </p:spPr>
      </p:sp>
      <p:sp>
        <p:nvSpPr>
          <p:cNvPr id="40" name="Text 38"/>
          <p:cNvSpPr/>
          <p:nvPr/>
        </p:nvSpPr>
        <p:spPr>
          <a:xfrm>
            <a:off x="841248" y="5175504"/>
            <a:ext cx="4471416" cy="621792"/>
          </a:xfrm>
          <a:prstGeom prst="rect">
            <a:avLst/>
          </a:prstGeom>
          <a:noFill/>
          <a:ln/>
        </p:spPr>
        <p:txBody>
          <a:bodyPr wrap="square" lIns="0" tIns="0" rIns="0" bIns="0" rtlCol="0" anchor="ctr">
            <a:normAutofit/>
          </a:bodyPr>
          <a:lstStyle/>
          <a:p>
            <a:pPr algn="ctr" indent="0" marL="0">
              <a:buNone/>
            </a:pPr>
            <a:r>
              <a:rPr lang="en-US" sz="1903" dirty="0">
                <a:solidFill>
                  <a:srgbClr val="526171"/>
                </a:solidFill>
                <a:latin typeface="Aptos" pitchFamily="34" charset="0"/>
                <a:ea typeface="Aptos" pitchFamily="34" charset="-122"/>
                <a:cs typeface="Aptos" pitchFamily="34" charset="-120"/>
              </a:rPr>
              <a:t>Nested cells do not create new donors.</a:t>
            </a:r>
            <a:endParaRPr lang="en-US" sz="190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Retrieve: normalize for the intended task</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S10  |  7</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Do not confuse observed counts with relative abundance.</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denominator must match the calculation's definition.</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successful run is not proof of an appropriate analysis.</a:t>
            </a:r>
            <a:endParaRPr lang="en-US" sz="229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Three evidence labels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SUPPORTED: the supplied evidence supports this exact scope.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CONTRADICTED: the evidence or definition conflicts with the claim.</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NOT ESTABLISHED: additional evidence is required.</a:t>
            </a:r>
            <a:endParaRPr lang="en-US" sz="229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Audit the statement, not the writing style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S23  |  9</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fluent paragraph may mix correct facts with an invalid inference.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Underline each factual claim and identify its evidence.</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Use tests and sources; do not use an AI-text detector as proof.</a:t>
            </a:r>
            <a:endParaRPr lang="en-US" sz="2297"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Worked audit: high counts, strong claim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10</a:t>
            </a:r>
            <a:endParaRPr lang="en-US" sz="800" dirty="0"/>
          </a:p>
        </p:txBody>
      </p:sp>
      <p:sp>
        <p:nvSpPr>
          <p:cNvPr id="9" name="Text 7"/>
          <p:cNvSpPr/>
          <p:nvPr/>
        </p:nvSpPr>
        <p:spPr>
          <a:xfrm>
            <a:off x="685800" y="2148840"/>
            <a:ext cx="10881360" cy="1783080"/>
          </a:xfrm>
          <a:prstGeom prst="rect">
            <a:avLst/>
          </a:prstGeom>
          <a:noFill/>
          <a:ln/>
        </p:spPr>
        <p:txBody>
          <a:bodyPr wrap="square" lIns="0" tIns="0" rIns="0" bIns="0" rtlCol="0" anchor="ctr">
            <a:normAutofit/>
          </a:bodyPr>
          <a:lstStyle/>
          <a:p>
            <a:pPr indent="0" marL="0">
              <a:buNone/>
            </a:pPr>
            <a:r>
              <a:rPr lang="en-US" sz="2997" dirty="0">
                <a:solidFill>
                  <a:srgbClr val="232D3B"/>
                </a:solidFill>
                <a:latin typeface="Aptos" pitchFamily="34" charset="0"/>
                <a:ea typeface="Aptos" pitchFamily="34" charset="-122"/>
                <a:cs typeface="Aptos" pitchFamily="34" charset="-120"/>
              </a:rPr>
              <a:t>Claim: Gene X has twice as many RNA reads in one treated sample, so the treatment doubles protein activity.</a:t>
            </a:r>
            <a:endParaRPr lang="en-US" sz="2997" dirty="0"/>
          </a:p>
        </p:txBody>
      </p:sp>
      <p:sp>
        <p:nvSpPr>
          <p:cNvPr id="10" name="Shape 8"/>
          <p:cNvSpPr/>
          <p:nvPr/>
        </p:nvSpPr>
        <p:spPr>
          <a:xfrm>
            <a:off x="685800" y="4572000"/>
            <a:ext cx="10817352" cy="1024128"/>
          </a:xfrm>
          <a:prstGeom prst="rect">
            <a:avLst/>
          </a:prstGeom>
          <a:solidFill>
            <a:srgbClr val="EAF2FC"/>
          </a:solidFill>
          <a:ln w="7620">
            <a:solidFill>
              <a:srgbClr val="EAF2FC"/>
            </a:solidFill>
            <a:prstDash val="solid"/>
          </a:ln>
        </p:spPr>
      </p:sp>
      <p:sp>
        <p:nvSpPr>
          <p:cNvPr id="11" name="Text 9"/>
          <p:cNvSpPr/>
          <p:nvPr/>
        </p:nvSpPr>
        <p:spPr>
          <a:xfrm>
            <a:off x="932688" y="4791456"/>
            <a:ext cx="10287000" cy="576072"/>
          </a:xfrm>
          <a:prstGeom prst="rect">
            <a:avLst/>
          </a:prstGeom>
          <a:noFill/>
          <a:ln/>
        </p:spPr>
        <p:txBody>
          <a:bodyPr wrap="square" lIns="0" tIns="0" rIns="0" bIns="0" rtlCol="0" anchor="ctr">
            <a:normAutofit/>
          </a:bodyPr>
          <a:lstStyle/>
          <a:p>
            <a:pPr indent="0" marL="0">
              <a:buNone/>
            </a:pPr>
            <a:r>
              <a:rPr lang="en-US" sz="2100" b="1" dirty="0">
                <a:solidFill>
                  <a:srgbClr val="2A78D6"/>
                </a:solidFill>
                <a:latin typeface="Aptos" pitchFamily="34" charset="0"/>
                <a:ea typeface="Aptos" pitchFamily="34" charset="-122"/>
                <a:cs typeface="Aptos" pitchFamily="34" charset="-120"/>
              </a:rPr>
              <a:t>Predict the result and one limitation before calculating.</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 through the reasoning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11</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raw-count comparison is supplied evidence.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The treatment effect lacks independent replication and normalization context.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Protein activity was not measured; that conclusion is not established.</a:t>
            </a:r>
            <a:endParaRPr lang="en-US" sz="229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PAIR CHECK</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Pause: make a defensible claim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12</a:t>
            </a:r>
            <a:endParaRPr lang="en-US" sz="800" dirty="0"/>
          </a:p>
        </p:txBody>
      </p:sp>
      <p:sp>
        <p:nvSpPr>
          <p:cNvPr id="9" name="Text 7"/>
          <p:cNvSpPr/>
          <p:nvPr/>
        </p:nvSpPr>
        <p:spPr>
          <a:xfrm>
            <a:off x="713232" y="2130552"/>
            <a:ext cx="10762488" cy="2496312"/>
          </a:xfrm>
          <a:prstGeom prst="rect">
            <a:avLst/>
          </a:prstGeom>
          <a:noFill/>
          <a:ln/>
        </p:spPr>
        <p:txBody>
          <a:bodyPr wrap="square" lIns="0" tIns="0" rIns="0" bIns="0" rtlCol="0" anchor="ctr">
            <a:normAutofit/>
          </a:bodyPr>
          <a:lstStyle/>
          <a:p>
            <a:pPr indent="0" marL="0">
              <a:buNone/>
            </a:pPr>
            <a:r>
              <a:rPr lang="en-US" sz="2897" dirty="0">
                <a:solidFill>
                  <a:srgbClr val="232D3B"/>
                </a:solidFill>
                <a:latin typeface="Aptos" pitchFamily="34" charset="0"/>
                <a:ea typeface="Aptos" pitchFamily="34" charset="-122"/>
                <a:cs typeface="Aptos" pitchFamily="34" charset="-120"/>
              </a:rPr>
              <a:t>A report says: 1,000 cells from one donor prove the result generalizes to all adults. Assign an evidence label and propose a better sentence.</a:t>
            </a:r>
            <a:endParaRPr lang="en-US" sz="2897" dirty="0"/>
          </a:p>
        </p:txBody>
      </p:sp>
      <p:sp>
        <p:nvSpPr>
          <p:cNvPr id="10" name="Text 8"/>
          <p:cNvSpPr/>
          <p:nvPr/>
        </p:nvSpPr>
        <p:spPr>
          <a:xfrm>
            <a:off x="731520" y="5074920"/>
            <a:ext cx="10698480" cy="640080"/>
          </a:xfrm>
          <a:prstGeom prst="rect">
            <a:avLst/>
          </a:prstGeom>
          <a:noFill/>
          <a:ln/>
        </p:spPr>
        <p:txBody>
          <a:bodyPr wrap="square" lIns="0" tIns="0" rIns="0" bIns="0" rtlCol="0" anchor="ctr">
            <a:normAutofit/>
          </a:bodyPr>
          <a:lstStyle/>
          <a:p>
            <a:pPr indent="0" marL="0">
              <a:buNone/>
            </a:pPr>
            <a:r>
              <a:rPr lang="en-US" sz="2197" b="1" dirty="0">
                <a:solidFill>
                  <a:srgbClr val="2A78D6"/>
                </a:solidFill>
                <a:latin typeface="Aptos" pitchFamily="34" charset="0"/>
                <a:ea typeface="Aptos" pitchFamily="34" charset="-122"/>
                <a:cs typeface="Aptos" pitchFamily="34" charset="-120"/>
              </a:rPr>
              <a:t>First answer alone. Then compare the evidence, not just the conclusion.</a:t>
            </a:r>
            <a:endParaRPr lang="en-US" sz="2197"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DEBRIEF</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defensible response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13</a:t>
            </a:r>
            <a:endParaRPr lang="en-US" sz="800" dirty="0"/>
          </a:p>
        </p:txBody>
      </p:sp>
      <p:sp>
        <p:nvSpPr>
          <p:cNvPr id="9" name="Shape 7"/>
          <p:cNvSpPr/>
          <p:nvPr/>
        </p:nvSpPr>
        <p:spPr>
          <a:xfrm>
            <a:off x="685800" y="2075688"/>
            <a:ext cx="10826496" cy="2816352"/>
          </a:xfrm>
          <a:prstGeom prst="rect">
            <a:avLst/>
          </a:prstGeom>
          <a:solidFill>
            <a:srgbClr val="EAF2FC"/>
          </a:solidFill>
          <a:ln w="7620">
            <a:solidFill>
              <a:srgbClr val="EAF2FC"/>
            </a:solidFill>
            <a:prstDash val="solid"/>
          </a:ln>
        </p:spPr>
      </p:sp>
      <p:sp>
        <p:nvSpPr>
          <p:cNvPr id="10" name="Text 8"/>
          <p:cNvSpPr/>
          <p:nvPr/>
        </p:nvSpPr>
        <p:spPr>
          <a:xfrm>
            <a:off x="941832" y="2331720"/>
            <a:ext cx="10305288" cy="2276856"/>
          </a:xfrm>
          <a:prstGeom prst="rect">
            <a:avLst/>
          </a:prstGeom>
          <a:noFill/>
          <a:ln/>
        </p:spPr>
        <p:txBody>
          <a:bodyPr wrap="square" lIns="0" tIns="0" rIns="0" bIns="0" rtlCol="0" anchor="ctr">
            <a:normAutofit/>
          </a:bodyPr>
          <a:lstStyle/>
          <a:p>
            <a:pPr indent="0" marL="0">
              <a:buNone/>
            </a:pPr>
            <a:r>
              <a:rPr lang="en-US" sz="2597" dirty="0">
                <a:solidFill>
                  <a:srgbClr val="232D3B"/>
                </a:solidFill>
                <a:latin typeface="Aptos" pitchFamily="34" charset="0"/>
                <a:ea typeface="Aptos" pitchFamily="34" charset="-122"/>
                <a:cs typeface="Aptos" pitchFamily="34" charset="-120"/>
              </a:rPr>
              <a:t>NOT ESTABLISHED. A better sentence is: this donor's measured cells show the reported pattern; generalization requires independent donors and an appropriate design.</a:t>
            </a:r>
            <a:endParaRPr lang="en-US" sz="259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45-MINUTE STUDIO</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Today's practical</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14</a:t>
            </a:r>
            <a:endParaRPr lang="en-US" sz="800" dirty="0"/>
          </a:p>
        </p:txBody>
      </p:sp>
      <p:sp>
        <p:nvSpPr>
          <p:cNvPr id="9" name="Text 7"/>
          <p:cNvSpPr/>
          <p:nvPr/>
        </p:nvSpPr>
        <p:spPr>
          <a:xfrm>
            <a:off x="731520" y="1929384"/>
            <a:ext cx="10698480" cy="1508760"/>
          </a:xfrm>
          <a:prstGeom prst="rect">
            <a:avLst/>
          </a:prstGeom>
          <a:noFill/>
          <a:ln/>
        </p:spPr>
        <p:txBody>
          <a:bodyPr wrap="square" lIns="0" tIns="0" rIns="0" bIns="0" rtlCol="0" anchor="ctr">
            <a:normAutofit/>
          </a:bodyPr>
          <a:lstStyle/>
          <a:p>
            <a:pPr indent="0" marL="0">
              <a:buNone/>
            </a:pPr>
            <a:r>
              <a:rPr lang="en-US" sz="2497" dirty="0">
                <a:solidFill>
                  <a:srgbClr val="232D3B"/>
                </a:solidFill>
                <a:latin typeface="Aptos" pitchFamily="34" charset="0"/>
                <a:ea typeface="Aptos" pitchFamily="34" charset="-122"/>
                <a:cs typeface="Aptos" pitchFamily="34" charset="-120"/>
              </a:rPr>
              <a:t>W08: audit six supplied statements after the midterm, attach evidence and correct two overclaims. The audit is a completion lab, not an extra exam.</a:t>
            </a:r>
            <a:endParaRPr lang="en-US" sz="2497" dirty="0"/>
          </a:p>
        </p:txBody>
      </p:sp>
      <p:sp>
        <p:nvSpPr>
          <p:cNvPr id="10" name="Shape 8"/>
          <p:cNvSpPr/>
          <p:nvPr/>
        </p:nvSpPr>
        <p:spPr>
          <a:xfrm>
            <a:off x="731520" y="3721608"/>
            <a:ext cx="5317236" cy="395935"/>
          </a:xfrm>
          <a:prstGeom prst="rect">
            <a:avLst/>
          </a:prstGeom>
          <a:solidFill>
            <a:srgbClr val="2A78D6"/>
          </a:solidFill>
          <a:ln w="7620">
            <a:solidFill>
              <a:srgbClr val="2A78D6"/>
            </a:solidFill>
            <a:prstDash val="solid"/>
          </a:ln>
        </p:spPr>
      </p:sp>
      <p:sp>
        <p:nvSpPr>
          <p:cNvPr id="11" name="Text 9"/>
          <p:cNvSpPr/>
          <p:nvPr/>
        </p:nvSpPr>
        <p:spPr>
          <a:xfrm>
            <a:off x="85039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Minutes</a:t>
            </a:r>
            <a:endParaRPr lang="en-US" sz="1600" dirty="0"/>
          </a:p>
        </p:txBody>
      </p:sp>
      <p:sp>
        <p:nvSpPr>
          <p:cNvPr id="12" name="Shape 10"/>
          <p:cNvSpPr/>
          <p:nvPr/>
        </p:nvSpPr>
        <p:spPr>
          <a:xfrm>
            <a:off x="6080760" y="3721608"/>
            <a:ext cx="5317236" cy="395935"/>
          </a:xfrm>
          <a:prstGeom prst="rect">
            <a:avLst/>
          </a:prstGeom>
          <a:solidFill>
            <a:srgbClr val="2A78D6"/>
          </a:solidFill>
          <a:ln w="7620">
            <a:solidFill>
              <a:srgbClr val="2A78D6"/>
            </a:solidFill>
            <a:prstDash val="solid"/>
          </a:ln>
        </p:spPr>
      </p:sp>
      <p:sp>
        <p:nvSpPr>
          <p:cNvPr id="13" name="Text 11"/>
          <p:cNvSpPr/>
          <p:nvPr/>
        </p:nvSpPr>
        <p:spPr>
          <a:xfrm>
            <a:off x="619963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Action</a:t>
            </a:r>
            <a:endParaRPr lang="en-US" sz="1600" dirty="0"/>
          </a:p>
        </p:txBody>
      </p:sp>
      <p:sp>
        <p:nvSpPr>
          <p:cNvPr id="14" name="Shape 12"/>
          <p:cNvSpPr/>
          <p:nvPr/>
        </p:nvSpPr>
        <p:spPr>
          <a:xfrm>
            <a:off x="731520" y="4149547"/>
            <a:ext cx="5317236" cy="395935"/>
          </a:xfrm>
          <a:prstGeom prst="rect">
            <a:avLst/>
          </a:prstGeom>
          <a:solidFill>
            <a:srgbClr val="EAF2FC"/>
          </a:solidFill>
          <a:ln w="7620">
            <a:solidFill>
              <a:srgbClr val="EAF2FC"/>
            </a:solidFill>
            <a:prstDash val="solid"/>
          </a:ln>
        </p:spPr>
      </p:sp>
      <p:sp>
        <p:nvSpPr>
          <p:cNvPr id="15" name="Text 13"/>
          <p:cNvSpPr/>
          <p:nvPr/>
        </p:nvSpPr>
        <p:spPr>
          <a:xfrm>
            <a:off x="85039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0-10</a:t>
            </a:r>
            <a:endParaRPr lang="en-US" sz="1600" dirty="0"/>
          </a:p>
        </p:txBody>
      </p:sp>
      <p:sp>
        <p:nvSpPr>
          <p:cNvPr id="16" name="Shape 14"/>
          <p:cNvSpPr/>
          <p:nvPr/>
        </p:nvSpPr>
        <p:spPr>
          <a:xfrm>
            <a:off x="6080760" y="4149547"/>
            <a:ext cx="5317236" cy="395935"/>
          </a:xfrm>
          <a:prstGeom prst="rect">
            <a:avLst/>
          </a:prstGeom>
          <a:solidFill>
            <a:srgbClr val="EAF2FC"/>
          </a:solidFill>
          <a:ln w="7620">
            <a:solidFill>
              <a:srgbClr val="EAF2FC"/>
            </a:solidFill>
            <a:prstDash val="solid"/>
          </a:ln>
        </p:spPr>
      </p:sp>
      <p:sp>
        <p:nvSpPr>
          <p:cNvPr id="17" name="Text 15"/>
          <p:cNvSpPr/>
          <p:nvPr/>
        </p:nvSpPr>
        <p:spPr>
          <a:xfrm>
            <a:off x="619963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Predict + set up</a:t>
            </a:r>
            <a:endParaRPr lang="en-US" sz="1600" dirty="0"/>
          </a:p>
        </p:txBody>
      </p:sp>
      <p:sp>
        <p:nvSpPr>
          <p:cNvPr id="18" name="Shape 16"/>
          <p:cNvSpPr/>
          <p:nvPr/>
        </p:nvSpPr>
        <p:spPr>
          <a:xfrm>
            <a:off x="731520" y="4577486"/>
            <a:ext cx="5317236" cy="395935"/>
          </a:xfrm>
          <a:prstGeom prst="rect">
            <a:avLst/>
          </a:prstGeom>
          <a:solidFill>
            <a:srgbClr val="FFFFFF"/>
          </a:solidFill>
          <a:ln w="7620">
            <a:solidFill>
              <a:srgbClr val="FFFFFF"/>
            </a:solidFill>
            <a:prstDash val="solid"/>
          </a:ln>
        </p:spPr>
      </p:sp>
      <p:sp>
        <p:nvSpPr>
          <p:cNvPr id="19" name="Text 17"/>
          <p:cNvSpPr/>
          <p:nvPr/>
        </p:nvSpPr>
        <p:spPr>
          <a:xfrm>
            <a:off x="85039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10-30</a:t>
            </a:r>
            <a:endParaRPr lang="en-US" sz="1600" dirty="0"/>
          </a:p>
        </p:txBody>
      </p:sp>
      <p:sp>
        <p:nvSpPr>
          <p:cNvPr id="20" name="Shape 18"/>
          <p:cNvSpPr/>
          <p:nvPr/>
        </p:nvSpPr>
        <p:spPr>
          <a:xfrm>
            <a:off x="6080760" y="4577486"/>
            <a:ext cx="5317236" cy="395935"/>
          </a:xfrm>
          <a:prstGeom prst="rect">
            <a:avLst/>
          </a:prstGeom>
          <a:solidFill>
            <a:srgbClr val="FFFFFF"/>
          </a:solidFill>
          <a:ln w="7620">
            <a:solidFill>
              <a:srgbClr val="FFFFFF"/>
            </a:solidFill>
            <a:prstDash val="solid"/>
          </a:ln>
        </p:spPr>
      </p:sp>
      <p:sp>
        <p:nvSpPr>
          <p:cNvPr id="21" name="Text 19"/>
          <p:cNvSpPr/>
          <p:nvPr/>
        </p:nvSpPr>
        <p:spPr>
          <a:xfrm>
            <a:off x="619963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Run + inspect + check</a:t>
            </a:r>
            <a:endParaRPr lang="en-US" sz="1600" dirty="0"/>
          </a:p>
        </p:txBody>
      </p:sp>
      <p:sp>
        <p:nvSpPr>
          <p:cNvPr id="22" name="Shape 20"/>
          <p:cNvSpPr/>
          <p:nvPr/>
        </p:nvSpPr>
        <p:spPr>
          <a:xfrm>
            <a:off x="731520" y="5005426"/>
            <a:ext cx="5317236" cy="395935"/>
          </a:xfrm>
          <a:prstGeom prst="rect">
            <a:avLst/>
          </a:prstGeom>
          <a:solidFill>
            <a:srgbClr val="EAF2FC"/>
          </a:solidFill>
          <a:ln w="7620">
            <a:solidFill>
              <a:srgbClr val="EAF2FC"/>
            </a:solidFill>
            <a:prstDash val="solid"/>
          </a:ln>
        </p:spPr>
      </p:sp>
      <p:sp>
        <p:nvSpPr>
          <p:cNvPr id="23" name="Text 21"/>
          <p:cNvSpPr/>
          <p:nvPr/>
        </p:nvSpPr>
        <p:spPr>
          <a:xfrm>
            <a:off x="85039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30-40</a:t>
            </a:r>
            <a:endParaRPr lang="en-US" sz="1600" dirty="0"/>
          </a:p>
        </p:txBody>
      </p:sp>
      <p:sp>
        <p:nvSpPr>
          <p:cNvPr id="24" name="Shape 22"/>
          <p:cNvSpPr/>
          <p:nvPr/>
        </p:nvSpPr>
        <p:spPr>
          <a:xfrm>
            <a:off x="6080760" y="5005426"/>
            <a:ext cx="5317236" cy="395935"/>
          </a:xfrm>
          <a:prstGeom prst="rect">
            <a:avLst/>
          </a:prstGeom>
          <a:solidFill>
            <a:srgbClr val="EAF2FC"/>
          </a:solidFill>
          <a:ln w="7620">
            <a:solidFill>
              <a:srgbClr val="EAF2FC"/>
            </a:solidFill>
            <a:prstDash val="solid"/>
          </a:ln>
        </p:spPr>
      </p:sp>
      <p:sp>
        <p:nvSpPr>
          <p:cNvPr id="25" name="Text 23"/>
          <p:cNvSpPr/>
          <p:nvPr/>
        </p:nvSpPr>
        <p:spPr>
          <a:xfrm>
            <a:off x="619963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Explain + compare</a:t>
            </a:r>
            <a:endParaRPr lang="en-US" sz="1600" dirty="0"/>
          </a:p>
        </p:txBody>
      </p:sp>
      <p:sp>
        <p:nvSpPr>
          <p:cNvPr id="26" name="Shape 24"/>
          <p:cNvSpPr/>
          <p:nvPr/>
        </p:nvSpPr>
        <p:spPr>
          <a:xfrm>
            <a:off x="731520" y="5433365"/>
            <a:ext cx="5317236" cy="395935"/>
          </a:xfrm>
          <a:prstGeom prst="rect">
            <a:avLst/>
          </a:prstGeom>
          <a:solidFill>
            <a:srgbClr val="FFFFFF"/>
          </a:solidFill>
          <a:ln w="7620">
            <a:solidFill>
              <a:srgbClr val="FFFFFF"/>
            </a:solidFill>
            <a:prstDash val="solid"/>
          </a:ln>
        </p:spPr>
      </p:sp>
      <p:sp>
        <p:nvSpPr>
          <p:cNvPr id="27" name="Text 25"/>
          <p:cNvSpPr/>
          <p:nvPr/>
        </p:nvSpPr>
        <p:spPr>
          <a:xfrm>
            <a:off x="85039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40-45</a:t>
            </a:r>
            <a:endParaRPr lang="en-US" sz="1600" dirty="0"/>
          </a:p>
        </p:txBody>
      </p:sp>
      <p:sp>
        <p:nvSpPr>
          <p:cNvPr id="28" name="Shape 26"/>
          <p:cNvSpPr/>
          <p:nvPr/>
        </p:nvSpPr>
        <p:spPr>
          <a:xfrm>
            <a:off x="6080760" y="5433365"/>
            <a:ext cx="5317236" cy="395935"/>
          </a:xfrm>
          <a:prstGeom prst="rect">
            <a:avLst/>
          </a:prstGeom>
          <a:solidFill>
            <a:srgbClr val="FFFFFF"/>
          </a:solidFill>
          <a:ln w="7620">
            <a:solidFill>
              <a:srgbClr val="FFFFFF"/>
            </a:solidFill>
            <a:prstDash val="solid"/>
          </a:ln>
        </p:spPr>
      </p:sp>
      <p:sp>
        <p:nvSpPr>
          <p:cNvPr id="29" name="Text 27"/>
          <p:cNvSpPr/>
          <p:nvPr/>
        </p:nvSpPr>
        <p:spPr>
          <a:xfrm>
            <a:off x="619963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Save + submit / exit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CONSOLIDATE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Five terms to use precisely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15</a:t>
            </a:r>
            <a:endParaRPr lang="en-US" sz="800" dirty="0"/>
          </a:p>
        </p:txBody>
      </p:sp>
      <p:sp>
        <p:nvSpPr>
          <p:cNvPr id="9" name="Shape 7"/>
          <p:cNvSpPr/>
          <p:nvPr/>
        </p:nvSpPr>
        <p:spPr>
          <a:xfrm>
            <a:off x="713232" y="1984248"/>
            <a:ext cx="475488" cy="457200"/>
          </a:xfrm>
          <a:prstGeom prst="rect">
            <a:avLst/>
          </a:prstGeom>
          <a:solidFill>
            <a:srgbClr val="2A78D6"/>
          </a:solidFill>
          <a:ln w="7620">
            <a:solidFill>
              <a:srgbClr val="2A78D6"/>
            </a:solidFill>
            <a:prstDash val="solid"/>
          </a:ln>
        </p:spPr>
      </p:sp>
      <p:sp>
        <p:nvSpPr>
          <p:cNvPr id="10" name="Text 8"/>
          <p:cNvSpPr/>
          <p:nvPr/>
        </p:nvSpPr>
        <p:spPr>
          <a:xfrm>
            <a:off x="850392" y="2057400"/>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1" name="Text 9"/>
          <p:cNvSpPr/>
          <p:nvPr/>
        </p:nvSpPr>
        <p:spPr>
          <a:xfrm>
            <a:off x="1426464" y="2011680"/>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evidence</a:t>
            </a:r>
            <a:endParaRPr lang="en-US" sz="2500" dirty="0"/>
          </a:p>
        </p:txBody>
      </p:sp>
      <p:sp>
        <p:nvSpPr>
          <p:cNvPr id="12" name="Shape 10"/>
          <p:cNvSpPr/>
          <p:nvPr/>
        </p:nvSpPr>
        <p:spPr>
          <a:xfrm>
            <a:off x="713232" y="2752344"/>
            <a:ext cx="475488" cy="457200"/>
          </a:xfrm>
          <a:prstGeom prst="rect">
            <a:avLst/>
          </a:prstGeom>
          <a:solidFill>
            <a:srgbClr val="2A78D6"/>
          </a:solidFill>
          <a:ln w="7620">
            <a:solidFill>
              <a:srgbClr val="2A78D6"/>
            </a:solidFill>
            <a:prstDash val="solid"/>
          </a:ln>
        </p:spPr>
      </p:sp>
      <p:sp>
        <p:nvSpPr>
          <p:cNvPr id="13" name="Text 11"/>
          <p:cNvSpPr/>
          <p:nvPr/>
        </p:nvSpPr>
        <p:spPr>
          <a:xfrm>
            <a:off x="850392" y="2825496"/>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4" name="Text 12"/>
          <p:cNvSpPr/>
          <p:nvPr/>
        </p:nvSpPr>
        <p:spPr>
          <a:xfrm>
            <a:off x="1426464" y="2779776"/>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scope</a:t>
            </a:r>
            <a:endParaRPr lang="en-US" sz="2500" dirty="0"/>
          </a:p>
        </p:txBody>
      </p:sp>
      <p:sp>
        <p:nvSpPr>
          <p:cNvPr id="15" name="Shape 13"/>
          <p:cNvSpPr/>
          <p:nvPr/>
        </p:nvSpPr>
        <p:spPr>
          <a:xfrm>
            <a:off x="713232" y="3520440"/>
            <a:ext cx="475488" cy="457200"/>
          </a:xfrm>
          <a:prstGeom prst="rect">
            <a:avLst/>
          </a:prstGeom>
          <a:solidFill>
            <a:srgbClr val="2A78D6"/>
          </a:solidFill>
          <a:ln w="7620">
            <a:solidFill>
              <a:srgbClr val="2A78D6"/>
            </a:solidFill>
            <a:prstDash val="solid"/>
          </a:ln>
        </p:spPr>
      </p:sp>
      <p:sp>
        <p:nvSpPr>
          <p:cNvPr id="16" name="Text 14"/>
          <p:cNvSpPr/>
          <p:nvPr/>
        </p:nvSpPr>
        <p:spPr>
          <a:xfrm>
            <a:off x="850392" y="3593592"/>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17" name="Text 15"/>
          <p:cNvSpPr/>
          <p:nvPr/>
        </p:nvSpPr>
        <p:spPr>
          <a:xfrm>
            <a:off x="1426464" y="3547872"/>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control</a:t>
            </a:r>
            <a:endParaRPr lang="en-US" sz="2500" dirty="0"/>
          </a:p>
        </p:txBody>
      </p:sp>
      <p:sp>
        <p:nvSpPr>
          <p:cNvPr id="18" name="Shape 16"/>
          <p:cNvSpPr/>
          <p:nvPr/>
        </p:nvSpPr>
        <p:spPr>
          <a:xfrm>
            <a:off x="713232" y="4288536"/>
            <a:ext cx="475488" cy="457200"/>
          </a:xfrm>
          <a:prstGeom prst="rect">
            <a:avLst/>
          </a:prstGeom>
          <a:solidFill>
            <a:srgbClr val="2A78D6"/>
          </a:solidFill>
          <a:ln w="7620">
            <a:solidFill>
              <a:srgbClr val="2A78D6"/>
            </a:solidFill>
            <a:prstDash val="solid"/>
          </a:ln>
        </p:spPr>
      </p:sp>
      <p:sp>
        <p:nvSpPr>
          <p:cNvPr id="19" name="Text 17"/>
          <p:cNvSpPr/>
          <p:nvPr/>
        </p:nvSpPr>
        <p:spPr>
          <a:xfrm>
            <a:off x="850392" y="4361688"/>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0" name="Text 18"/>
          <p:cNvSpPr/>
          <p:nvPr/>
        </p:nvSpPr>
        <p:spPr>
          <a:xfrm>
            <a:off x="1426464" y="4315968"/>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contradiction</a:t>
            </a:r>
            <a:endParaRPr lang="en-US" sz="2500" dirty="0"/>
          </a:p>
        </p:txBody>
      </p:sp>
      <p:sp>
        <p:nvSpPr>
          <p:cNvPr id="21" name="Shape 19"/>
          <p:cNvSpPr/>
          <p:nvPr/>
        </p:nvSpPr>
        <p:spPr>
          <a:xfrm>
            <a:off x="713232" y="5056632"/>
            <a:ext cx="475488" cy="457200"/>
          </a:xfrm>
          <a:prstGeom prst="rect">
            <a:avLst/>
          </a:prstGeom>
          <a:solidFill>
            <a:srgbClr val="2A78D6"/>
          </a:solidFill>
          <a:ln w="7620">
            <a:solidFill>
              <a:srgbClr val="2A78D6"/>
            </a:solidFill>
            <a:prstDash val="solid"/>
          </a:ln>
        </p:spPr>
      </p:sp>
      <p:sp>
        <p:nvSpPr>
          <p:cNvPr id="22" name="Text 20"/>
          <p:cNvSpPr/>
          <p:nvPr/>
        </p:nvSpPr>
        <p:spPr>
          <a:xfrm>
            <a:off x="850392" y="5129784"/>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23" name="Text 21"/>
          <p:cNvSpPr/>
          <p:nvPr/>
        </p:nvSpPr>
        <p:spPr>
          <a:xfrm>
            <a:off x="1426464" y="5084064"/>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limitation</a:t>
            </a:r>
            <a:endParaRPr lang="en-US" sz="2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2 MINUTES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Exit ticket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16</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did we actually measure or calculate?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is one assumption or limitation of that result?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check would you perform before sharing it?</a:t>
            </a:r>
            <a:endParaRPr lang="en-US" sz="2297"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OPTIONAL EXTENSION</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Go further only after the core is clear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17</a:t>
            </a:r>
            <a:endParaRPr lang="en-US" sz="800" dirty="0"/>
          </a:p>
        </p:txBody>
      </p:sp>
      <p:sp>
        <p:nvSpPr>
          <p:cNvPr id="9" name="Text 7"/>
          <p:cNvSpPr/>
          <p:nvPr/>
        </p:nvSpPr>
        <p:spPr>
          <a:xfrm>
            <a:off x="768096" y="2212848"/>
            <a:ext cx="10698480" cy="2057400"/>
          </a:xfrm>
          <a:prstGeom prst="rect">
            <a:avLst/>
          </a:prstGeom>
          <a:noFill/>
          <a:ln/>
        </p:spPr>
        <p:txBody>
          <a:bodyPr wrap="square" lIns="0" tIns="0" rIns="0" bIns="0" rtlCol="0" anchor="ctr">
            <a:normAutofit/>
          </a:bodyPr>
          <a:lstStyle/>
          <a:p>
            <a:pPr indent="0" marL="0">
              <a:buNone/>
            </a:pPr>
            <a:r>
              <a:rPr lang="en-US" sz="2797" dirty="0">
                <a:solidFill>
                  <a:srgbClr val="232D3B"/>
                </a:solidFill>
                <a:latin typeface="Aptos" pitchFamily="34" charset="0"/>
                <a:ea typeface="Aptos" pitchFamily="34" charset="-122"/>
                <a:cs typeface="Aptos" pitchFamily="34" charset="-120"/>
              </a:rPr>
              <a:t>Optional: exchange one evidence audit with a peer and check whether you agree on the scope.</a:t>
            </a:r>
            <a:endParaRPr lang="en-US" sz="2797" dirty="0"/>
          </a:p>
        </p:txBody>
      </p:sp>
      <p:sp>
        <p:nvSpPr>
          <p:cNvPr id="10" name="Text 8"/>
          <p:cNvSpPr/>
          <p:nvPr/>
        </p:nvSpPr>
        <p:spPr>
          <a:xfrm>
            <a:off x="786384" y="4828032"/>
            <a:ext cx="10561320" cy="804672"/>
          </a:xfrm>
          <a:prstGeom prst="rect">
            <a:avLst/>
          </a:prstGeom>
          <a:noFill/>
          <a:ln/>
        </p:spPr>
        <p:txBody>
          <a:bodyPr wrap="square" lIns="0" tIns="0" rIns="0" bIns="0" rtlCol="0" anchor="ctr">
            <a:normAutofit/>
          </a:bodyPr>
          <a:lstStyle/>
          <a:p>
            <a:pPr indent="0" marL="0">
              <a:buNone/>
            </a:pPr>
            <a:r>
              <a:rPr lang="en-US" sz="2197" b="1" dirty="0">
                <a:solidFill>
                  <a:srgbClr val="EB6834"/>
                </a:solidFill>
                <a:latin typeface="Aptos" pitchFamily="34" charset="0"/>
                <a:ea typeface="Aptos" pitchFamily="34" charset="-122"/>
                <a:cs typeface="Aptos" pitchFamily="34" charset="-120"/>
              </a:rPr>
              <a:t>Not required for the core grade. No advanced model training is expected.</a:t>
            </a:r>
            <a:endParaRPr lang="en-US" sz="2197"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08</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SOURCE MAP</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the evidence, not only the slide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S03 / S04 / S07 / S10 / S12 / S23  |  18</a:t>
            </a:r>
            <a:endParaRPr lang="en-US" sz="800" dirty="0"/>
          </a:p>
        </p:txBody>
      </p:sp>
      <p:sp>
        <p:nvSpPr>
          <p:cNvPr id="9" name="Text 7"/>
          <p:cNvSpPr/>
          <p:nvPr/>
        </p:nvSpPr>
        <p:spPr>
          <a:xfrm>
            <a:off x="694944" y="1856232"/>
            <a:ext cx="10881360" cy="4160520"/>
          </a:xfrm>
          <a:prstGeom prst="rect">
            <a:avLst/>
          </a:prstGeom>
          <a:noFill/>
          <a:ln/>
        </p:spPr>
        <p:txBody>
          <a:bodyPr wrap="square" lIns="0" tIns="0" rIns="0" bIns="0" rtlCol="0" anchor="t">
            <a:normAutofit/>
          </a:bodyPr>
          <a:lstStyle/>
          <a:p>
            <a:pPr indent="0" marL="0">
              <a:buNone/>
            </a:pPr>
            <a:r>
              <a:rPr lang="en-US" sz="1797" dirty="0">
                <a:solidFill>
                  <a:srgbClr val="232D3B"/>
                </a:solidFill>
                <a:latin typeface="Aptos" pitchFamily="34" charset="0"/>
                <a:ea typeface="Aptos" pitchFamily="34" charset="-122"/>
                <a:cs typeface="Aptos" pitchFamily="34" charset="-120"/>
              </a:rPr>
              <a:t>S03  SAM/BAM, VCF and BED specifications, maintained by the HTS community.</a:t>
            </a:r>
            <a:endParaRPr lang="en-US" sz="1797" dirty="0"/>
          </a:p>
          <a:p>
            <a:pPr indent="0" marL="0">
              <a:buNone/>
            </a:pPr>
            <a:endParaRPr lang="en-US" sz="1797" dirty="0"/>
          </a:p>
          <a:p>
            <a:pPr indent="0" marL="0">
              <a:buNone/>
            </a:pPr>
            <a:r>
              <a:rPr lang="en-US" sz="1797" dirty="0">
                <a:solidFill>
                  <a:srgbClr val="232D3B"/>
                </a:solidFill>
                <a:latin typeface="Aptos" pitchFamily="34" charset="0"/>
                <a:ea typeface="Aptos" pitchFamily="34" charset="-122"/>
                <a:cs typeface="Aptos" pitchFamily="34" charset="-120"/>
              </a:rPr>
              <a:t>S04  UCSC Genome Browser: data format FAQ.</a:t>
            </a:r>
            <a:endParaRPr lang="en-US" sz="1797" dirty="0"/>
          </a:p>
          <a:p>
            <a:pPr indent="0" marL="0">
              <a:buNone/>
            </a:pPr>
            <a:endParaRPr lang="en-US" sz="1797" dirty="0"/>
          </a:p>
          <a:p>
            <a:pPr indent="0" marL="0">
              <a:buNone/>
            </a:pPr>
            <a:r>
              <a:rPr lang="en-US" sz="1797" dirty="0">
                <a:solidFill>
                  <a:srgbClr val="232D3B"/>
                </a:solidFill>
                <a:latin typeface="Aptos" pitchFamily="34" charset="0"/>
                <a:ea typeface="Aptos" pitchFamily="34" charset="-122"/>
                <a:cs typeface="Aptos" pitchFamily="34" charset="-120"/>
              </a:rPr>
              <a:t>S07  American Statistical Association. Statement on statistical significance and p-values (2016).</a:t>
            </a:r>
            <a:endParaRPr lang="en-US" sz="1797" dirty="0"/>
          </a:p>
          <a:p>
            <a:pPr indent="0" marL="0">
              <a:buNone/>
            </a:pPr>
            <a:endParaRPr lang="en-US" sz="1797" dirty="0"/>
          </a:p>
          <a:p>
            <a:pPr indent="0" marL="0">
              <a:buNone/>
            </a:pPr>
            <a:r>
              <a:rPr lang="en-US" sz="1797" dirty="0">
                <a:solidFill>
                  <a:srgbClr val="232D3B"/>
                </a:solidFill>
                <a:latin typeface="Aptos" pitchFamily="34" charset="0"/>
                <a:ea typeface="Aptos" pitchFamily="34" charset="-122"/>
                <a:cs typeface="Aptos" pitchFamily="34" charset="-120"/>
              </a:rPr>
              <a:t>S10  DESeq2: Analyzing RNA-seq data with DESeq2, release vignette.</a:t>
            </a:r>
            <a:endParaRPr lang="en-US" sz="1797" dirty="0"/>
          </a:p>
          <a:p>
            <a:pPr indent="0" marL="0">
              <a:buNone/>
            </a:pPr>
            <a:endParaRPr lang="en-US" sz="1797" dirty="0"/>
          </a:p>
          <a:p>
            <a:pPr indent="0" marL="0">
              <a:buNone/>
            </a:pPr>
            <a:r>
              <a:rPr lang="en-US" sz="1797" dirty="0">
                <a:solidFill>
                  <a:srgbClr val="232D3B"/>
                </a:solidFill>
                <a:latin typeface="Aptos" pitchFamily="34" charset="0"/>
                <a:ea typeface="Aptos" pitchFamily="34" charset="-122"/>
                <a:cs typeface="Aptos" pitchFamily="34" charset="-120"/>
              </a:rPr>
              <a:t>S12  Squair et al. (2021). Confronting false discoveries in single-cell differential expression.</a:t>
            </a:r>
            <a:endParaRPr lang="en-US" sz="1797" dirty="0"/>
          </a:p>
          <a:p>
            <a:pPr indent="0" marL="0">
              <a:buNone/>
            </a:pPr>
            <a:endParaRPr lang="en-US" sz="1797" dirty="0"/>
          </a:p>
          <a:p>
            <a:pPr indent="0" marL="0">
              <a:buNone/>
            </a:pPr>
            <a:r>
              <a:rPr lang="en-US" sz="1797" dirty="0">
                <a:solidFill>
                  <a:srgbClr val="232D3B"/>
                </a:solidFill>
                <a:latin typeface="Aptos" pitchFamily="34" charset="0"/>
                <a:ea typeface="Aptos" pitchFamily="34" charset="-122"/>
                <a:cs typeface="Aptos" pitchFamily="34" charset="-120"/>
              </a:rPr>
              <a:t>S23  ICMJE recommendations: use of AI by authors.</a:t>
            </a:r>
            <a:endParaRPr lang="en-US" sz="17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Ege University | Bioengineering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Midterm review and the evidence audit</dc:title>
  <dc:subject>Scaffolded fourth-year bioengineering</dc:subject>
  <dc:creator>BIB course teaching materials</dc:creator>
  <cp:lastModifiedBy>BIB course teaching materials</cp:lastModifiedBy>
  <cp:revision>1</cp:revision>
  <dcterms:created xsi:type="dcterms:W3CDTF">2026-09-14T18:26:56Z</dcterms:created>
  <dcterms:modified xsi:type="dcterms:W3CDTF">2026-09-14T18:26:56Z</dcterms:modified>
</cp:coreProperties>
</file>