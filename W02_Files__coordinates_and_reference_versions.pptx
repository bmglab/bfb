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2 minutes
Audience: fourth-year bioengineering with limited prior genetics and coding.
Opening question: Are these two files describing the same stretch of DNA?
Do not require students to know all terms yet. Elicit a prediction.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these observable outcomes for feedback. Core assessment requires interpretation and short arithmetic, not reproducing a full specialist pipeline.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students to draw or name the biological experimental unit. Revisit the Week 00 bridge if terminology is unclear.
Read technical terms aloud; ask students to explain the measurement before interpreting the model. Accept justified uncertainty.
[Sources]
S03: SAM/BAM, VCF and BED specifications, maintained by the HTS community.
https://samtools.github.io/hts-specs/
S04: UCSC Genome Browser: data format FAQ.
https://genome.ucsc.edu/FAQ/FAQformat.html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FASTA: sequence. FASTQ: sequence plus per-base quality.
SAM/BAM: read alignments. BED: genomic intervals.
GTF/GFF: annotated features. VCF: sequence variants.
Checkpoint: ask a student to state one conclusion the data do NOT support.
Read technical terms aloud; ask students to explain the measurement before interpreting the model. Accept justified uncertainty.
[Sources]
S03: SAM/BAM, VCF and BED specifications, maintained by the HTS community.
https://samtools.github.io/hts-specs/
S04: UCSC Genome Browser: data format FAQ.
https://genome.ucsc.edu/FAQ/FAQformat.html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header can give an identifier, but it may omit assembly metadata.
Sequence names such as chr1 do not uniquely identify an assembly.
Write unknown and request metadata when evidence is absent.
Checkpoint: ask a student to state one conclusion the data do NOT support.
Read technical terms aloud; ask students to explain the measurement before interpreting the model. Accept justified uncertainty.
[Sources]
S03: SAM/BAM, VCF and BED specifications, maintained by the HTS community.
https://samtools.github.io/hts-specs/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One-based inclusive: first base is position 1; both endpoints count.
BED: start is zero-based; the end is excluded.
One-based [3, 7] and BED [2, 7) describe the same five bases.
Checkpoint: ask a student to state one conclusion the data do NOT support.
Read technical terms aloud; ask students to explain the measurement before interpreting the model. Accept justified uncertainty.
[Sources]
S03: SAM/BAM, VCF and BED specifications, maintained by the HTS community.
https://samtools.github.io/hts-specs/
S04: UCSC Genome Browser: data format FAQ.
https://genome.ucsc.edu/FAQ/FAQformat.html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Inclusive length = end - start + 1.
BED length = end - start.
To convert a positive-length BED interval, add one to start only.
Checkpoint: ask a student to state one conclusion the data do NOT support.
Read technical terms aloud; ask students to explain the measurement before interpreting the model. Accept justified uncertainty.
[Sources]
S03: SAM/BAM, VCF and BED specifications, maintained by the HTS community.
https://samtools.github.io/hts-specs/
S04: UCSC Genome Browser: data format FAQ.
https://genome.ucsc.edu/FAQ/FAQformat.html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BED [0, 5) contains indices 0, 1, 2, 3, 4.
BED [5, 8) contains indices 5, 6, 7.
These intervals touch but share no base.
Checkpoint: ask a student to state one conclusion the data do NOT support.
Read technical terms aloud; ask students to explain the measurement before interpreting the model. Accept justified uncertainty.
[Sources]
S04: UCSC Genome Browser: data format FAQ.
https://genome.ucsc.edu/FAQ/FAQformat.html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GRCh37 and GRCh38 are different human assemblies.
chr1 versus 1 can be a naming difference, not an assembly conversion.
Renaming a chromosome does not lift coordinates between assemblies.
Checkpoint: ask a student to state one conclusion the data do NOT support.
Read technical terms aloud; ask students to explain the measurement before interpreting the model. Accept justified uncertainty.
[Sources]
S03: SAM/BAM, VCF and BED specifications, maintained by the HTS community.
https://samtools.github.io/hts-specs/
S04: UCSC Genome Browser: data format FAQ.
https://genome.ucsc.edu/FAQ/FAQformat.html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SAM text POS uses one-based positions.
BAM stores coordinates internally using a different convention.
A software API may expose zero-based values even when the input file is one-based.
Checkpoint: ask a student to state one conclusion the data do NOT support.
Read technical terms aloud; ask students to explain the measurement before interpreting the model. Accept justified uncertainty.
[Sources]
S03: SAM/BAM, VCF and BED specifications, maintained by the HTS community.
https://samtools.github.io/hts-specs/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G: reference + annotation; E: environment + seed; N: dimensions.
O: coordinates; M: multiplicity + independent unit.
E: stable entities; S: sources. Use justified N/A where a check does not apply.
Checkpoint: ask a student to state one conclusion the data do NOT support.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Allow 60-90 seconds for a prediction. Do not rush to the numerical answer. The following slide shows the reasoning.
Read technical terms aloud; ask students to explain the measurement before interpreting the model. Accept justified uncertainty.
[Sources]
S03: SAM/BAM, VCF and BED specifications, maintained by the HTS community.
https://samtools.github.io/hts-specs/
S04: UCSC Genome Browser: data format FAQ.
https://genome.ucsc.edu/FAQ/FAQformat.html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Show the arithmetic or logical steps one at a time orally. Ask which assumption is necessary at each step.
Read technical terms aloud; ask students to explain the measurement before interpreting the model. Accept justified uncertainty.
[Sources]
S03: SAM/BAM, VCF and BED specifications, maintained by the HTS community.
https://samtools.github.io/hts-specs/
S04: UCSC Genome Browser: data format FAQ.
https://genome.ucsc.edu/FAQ/FAQformat.html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Collect two contrasting answers before advancing. Give one minute solo and two minutes in pairs. This is formative, not an exam item.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Accept other scientifically justified responses. Probe the boundary between measured result, model assumption and biological conclusion.
Read technical terms aloud; ask students to explain the measurement before interpreting the model. Accept justified uncertainty.
[Sources]
S03: SAM/BAM, VCF and BED specifications, maintained by the HTS community.
https://samtools.github.io/hts-specs/
S04: UCSC Genome Browser: data format FAQ.
https://genome.ucsc.edu/FAQ/FAQformat.html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45-minute studio; not part of 90-minute lecture
Audience: fourth-year bioengineering with limited prior genetics and coding.
Use the matching standalone notebook and Lab Workbook. Students may work in pairs while discussing, but submit their own reasoning. Paper fallback carries no penalty. Plotting and extensions are optional.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for a plain-language definition and one example per term. Students may use the glossary. Definitions are not a substitute for interpreting an example.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a quick handwritten or LMS response. Do not add new weighted grading; this is formative feedback. Use common mistakes to plan a short retrieval exercise next week.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Do not use optional extension achievement to disadvantage students with limited computing access. Direct interested students to the primary sources.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Reference slide; do not lecture through every citation
Audience: fourth-year bioengineering with limited prior genetics and coding.
Full links are in the Course Source Register and these speaker notes. Source selection checked September 14, 2026. Older sources support stable foundational ideas, not unverified current clinical policy.
Read technical terms aloud; ask students to explain the measurement before interpreting the model. Accept justified uncertainty.
[Sources]
S03: SAM/BAM, VCF and BED specifications, maintained by the HTS community.
https://samtools.github.io/hts-specs/
S04: UCSC Genome Browser: data format FAQ.
https://genome.ucsc.edu/FAQ/FAQformat.html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B6834"/>
          </a:solidFill>
          <a:ln w="7620">
            <a:solidFill>
              <a:srgbClr val="EB6834"/>
            </a:solidFill>
            <a:prstDash val="solid"/>
          </a:ln>
        </p:spPr>
      </p:sp>
      <p:sp>
        <p:nvSpPr>
          <p:cNvPr id="3" name="Text 1"/>
          <p:cNvSpPr/>
          <p:nvPr/>
        </p:nvSpPr>
        <p:spPr>
          <a:xfrm>
            <a:off x="640080" y="530352"/>
            <a:ext cx="10789920" cy="438912"/>
          </a:xfrm>
          <a:prstGeom prst="rect">
            <a:avLst/>
          </a:prstGeom>
          <a:noFill/>
          <a:ln/>
        </p:spPr>
        <p:txBody>
          <a:bodyPr wrap="square" lIns="0" tIns="0" rIns="0" bIns="0" rtlCol="0" anchor="ctr">
            <a:normAutofit/>
          </a:bodyPr>
          <a:lstStyle/>
          <a:p>
            <a:pPr indent="0" marL="0">
              <a:buNone/>
            </a:pPr>
            <a:r>
              <a:rPr lang="en-US" sz="1300" b="1" dirty="0">
                <a:solidFill>
                  <a:srgbClr val="D1DCE9"/>
                </a:solidFill>
                <a:latin typeface="Aptos" pitchFamily="34" charset="0"/>
                <a:ea typeface="Aptos" pitchFamily="34" charset="-122"/>
                <a:cs typeface="Aptos" pitchFamily="34" charset="-120"/>
              </a:rPr>
              <a:t>BIOINFORMATICS FOR BIOENGINEERING</a:t>
            </a:r>
            <a:endParaRPr lang="en-US" sz="1300" dirty="0"/>
          </a:p>
        </p:txBody>
      </p:sp>
      <p:sp>
        <p:nvSpPr>
          <p:cNvPr id="4" name="Text 2"/>
          <p:cNvSpPr/>
          <p:nvPr/>
        </p:nvSpPr>
        <p:spPr>
          <a:xfrm>
            <a:off x="685800" y="1380744"/>
            <a:ext cx="9144000" cy="548640"/>
          </a:xfrm>
          <a:prstGeom prst="rect">
            <a:avLst/>
          </a:prstGeom>
          <a:noFill/>
          <a:ln/>
        </p:spPr>
        <p:txBody>
          <a:bodyPr wrap="square" lIns="0" tIns="0" rIns="0" bIns="0" rtlCol="0" anchor="ctr">
            <a:normAutofit/>
          </a:bodyPr>
          <a:lstStyle/>
          <a:p>
            <a:pPr indent="0" marL="0">
              <a:buNone/>
            </a:pPr>
            <a:r>
              <a:rPr lang="en-US" sz="2000" b="1" dirty="0">
                <a:solidFill>
                  <a:srgbClr val="7EB5F1"/>
                </a:solidFill>
                <a:latin typeface="Aptos" pitchFamily="34" charset="0"/>
                <a:ea typeface="Aptos" pitchFamily="34" charset="-122"/>
                <a:cs typeface="Aptos" pitchFamily="34" charset="-120"/>
              </a:rPr>
              <a:t>WEEK 02</a:t>
            </a:r>
            <a:endParaRPr lang="en-US" sz="2000" dirty="0"/>
          </a:p>
        </p:txBody>
      </p:sp>
      <p:sp>
        <p:nvSpPr>
          <p:cNvPr id="5" name="Text 3"/>
          <p:cNvSpPr/>
          <p:nvPr/>
        </p:nvSpPr>
        <p:spPr>
          <a:xfrm>
            <a:off x="685800" y="2157984"/>
            <a:ext cx="10744200" cy="1783080"/>
          </a:xfrm>
          <a:prstGeom prst="rect">
            <a:avLst/>
          </a:prstGeom>
          <a:noFill/>
          <a:ln/>
        </p:spPr>
        <p:txBody>
          <a:bodyPr wrap="square" lIns="0" tIns="0" rIns="0" bIns="0" rtlCol="0" anchor="ctr">
            <a:normAutofit/>
          </a:bodyPr>
          <a:lstStyle/>
          <a:p>
            <a:pPr indent="0" marL="0">
              <a:buNone/>
            </a:pPr>
            <a:r>
              <a:rPr lang="en-US" sz="3897" b="1" dirty="0">
                <a:solidFill>
                  <a:srgbClr val="FFFFFF"/>
                </a:solidFill>
                <a:latin typeface="Aptos" pitchFamily="34" charset="0"/>
                <a:ea typeface="Aptos" pitchFamily="34" charset="-122"/>
                <a:cs typeface="Aptos" pitchFamily="34" charset="-120"/>
              </a:rPr>
              <a:t>Files, coordinates and reference versions</a:t>
            </a:r>
            <a:endParaRPr lang="en-US" sz="3897" dirty="0"/>
          </a:p>
        </p:txBody>
      </p:sp>
      <p:sp>
        <p:nvSpPr>
          <p:cNvPr id="6" name="Text 4"/>
          <p:cNvSpPr/>
          <p:nvPr/>
        </p:nvSpPr>
        <p:spPr>
          <a:xfrm>
            <a:off x="731520" y="4599432"/>
            <a:ext cx="10561320" cy="923544"/>
          </a:xfrm>
          <a:prstGeom prst="rect">
            <a:avLst/>
          </a:prstGeom>
          <a:noFill/>
          <a:ln/>
        </p:spPr>
        <p:txBody>
          <a:bodyPr wrap="square" lIns="0" tIns="0" rIns="0" bIns="0" rtlCol="0" anchor="ctr">
            <a:normAutofit/>
          </a:bodyPr>
          <a:lstStyle/>
          <a:p>
            <a:pPr indent="0" marL="0">
              <a:buNone/>
            </a:pPr>
            <a:r>
              <a:rPr lang="en-US" sz="2497" dirty="0">
                <a:solidFill>
                  <a:srgbClr val="D1DCE9"/>
                </a:solidFill>
                <a:latin typeface="Aptos" pitchFamily="34" charset="0"/>
                <a:ea typeface="Aptos" pitchFamily="34" charset="-122"/>
                <a:cs typeface="Aptos" pitchFamily="34" charset="-120"/>
              </a:rPr>
              <a:t>Are these two files describing the same stretch of DNA?</a:t>
            </a:r>
            <a:endParaRPr lang="en-US" sz="2497" dirty="0"/>
          </a:p>
        </p:txBody>
      </p:sp>
      <p:sp>
        <p:nvSpPr>
          <p:cNvPr id="7" name="Text 5"/>
          <p:cNvSpPr/>
          <p:nvPr/>
        </p:nvSpPr>
        <p:spPr>
          <a:xfrm>
            <a:off x="731520" y="6199632"/>
            <a:ext cx="10607040" cy="274320"/>
          </a:xfrm>
          <a:prstGeom prst="rect">
            <a:avLst/>
          </a:prstGeom>
          <a:noFill/>
          <a:ln/>
        </p:spPr>
        <p:txBody>
          <a:bodyPr wrap="square" lIns="0" tIns="0" rIns="0" bIns="0" rtlCol="0" anchor="ctr">
            <a:normAutofit/>
          </a:bodyPr>
          <a:lstStyle/>
          <a:p>
            <a:pPr indent="0" marL="0">
              <a:buNone/>
            </a:pPr>
            <a:r>
              <a:rPr lang="en-US" sz="1100" dirty="0">
                <a:solidFill>
                  <a:srgbClr val="D1DCE9"/>
                </a:solidFill>
                <a:latin typeface="Aptos" pitchFamily="34" charset="0"/>
                <a:ea typeface="Aptos" pitchFamily="34" charset="-122"/>
                <a:cs typeface="Aptos" pitchFamily="34" charset="-120"/>
              </a:rPr>
              <a:t>Yasin Kaymaz, PhD  |  Ege University  |  Teaching edition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LEARNING TARGETS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By the end, you should be able to...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Recognize the purpose of common biological file formats.</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Convert a positive-length interval between BED and one-based inclusive coordinates.</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Report an unknown reference build rather than guess.</a:t>
            </a:r>
            <a:endParaRPr lang="en-US" sz="22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RETRIEVAL</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Reconnect with the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612648" y="1984248"/>
            <a:ext cx="10972800" cy="1828800"/>
          </a:xfrm>
          <a:prstGeom prst="rect">
            <a:avLst/>
          </a:prstGeom>
          <a:solidFill>
            <a:srgbClr val="EAF2FC"/>
          </a:solidFill>
          <a:ln w="7620">
            <a:solidFill>
              <a:srgbClr val="EAF2FC"/>
            </a:solidFill>
            <a:prstDash val="solid"/>
          </a:ln>
        </p:spPr>
      </p:sp>
      <p:sp>
        <p:nvSpPr>
          <p:cNvPr id="10" name="Text 8"/>
          <p:cNvSpPr/>
          <p:nvPr/>
        </p:nvSpPr>
        <p:spPr>
          <a:xfrm>
            <a:off x="850392" y="2258568"/>
            <a:ext cx="10497312" cy="1280160"/>
          </a:xfrm>
          <a:prstGeom prst="rect">
            <a:avLst/>
          </a:prstGeom>
          <a:noFill/>
          <a:ln/>
        </p:spPr>
        <p:txBody>
          <a:bodyPr wrap="square" lIns="0" tIns="0" rIns="0" bIns="0" rtlCol="0" anchor="ctr">
            <a:normAutofit/>
          </a:bodyPr>
          <a:lstStyle/>
          <a:p>
            <a:pPr indent="0" marL="0">
              <a:buNone/>
            </a:pPr>
            <a:r>
              <a:rPr lang="en-US" sz="2697" dirty="0">
                <a:solidFill>
                  <a:srgbClr val="232D3B"/>
                </a:solidFill>
                <a:latin typeface="Aptos" pitchFamily="34" charset="0"/>
                <a:ea typeface="Aptos" pitchFamily="34" charset="-122"/>
                <a:cs typeface="Aptos" pitchFamily="34" charset="-120"/>
              </a:rPr>
              <a:t>A genome is a sequence; an annotation adds named features on a particular sequence version.</a:t>
            </a:r>
            <a:endParaRPr lang="en-US" sz="2697" dirty="0"/>
          </a:p>
        </p:txBody>
      </p:sp>
      <p:sp>
        <p:nvSpPr>
          <p:cNvPr id="11" name="Text 9"/>
          <p:cNvSpPr/>
          <p:nvPr/>
        </p:nvSpPr>
        <p:spPr>
          <a:xfrm>
            <a:off x="859536" y="4370832"/>
            <a:ext cx="10424160" cy="914400"/>
          </a:xfrm>
          <a:prstGeom prst="rect">
            <a:avLst/>
          </a:prstGeom>
          <a:noFill/>
          <a:ln/>
        </p:spPr>
        <p:txBody>
          <a:bodyPr wrap="square" lIns="0" tIns="0" rIns="0" bIns="0" rtlCol="0" anchor="ctr">
            <a:normAutofit/>
          </a:bodyPr>
          <a:lstStyle/>
          <a:p>
            <a:pPr indent="0" marL="0">
              <a:buNone/>
            </a:pPr>
            <a:r>
              <a:rPr lang="en-US" sz="2497" b="1" dirty="0">
                <a:solidFill>
                  <a:srgbClr val="2A78D6"/>
                </a:solidFill>
                <a:latin typeface="Aptos" pitchFamily="34" charset="0"/>
                <a:ea typeface="Aptos" pitchFamily="34" charset="-122"/>
                <a:cs typeface="Aptos" pitchFamily="34" charset="-120"/>
              </a:rPr>
              <a:t>Think silently -&gt; explain to a neighbour -&gt; check the measurement.</a:t>
            </a:r>
            <a:endParaRPr lang="en-US" sz="2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Six file families; six jobs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S04  |  4</a:t>
            </a:r>
            <a:endParaRPr lang="en-US" sz="800" dirty="0"/>
          </a:p>
        </p:txBody>
      </p:sp>
      <p:sp>
        <p:nvSpPr>
          <p:cNvPr id="9" name="Shape 7"/>
          <p:cNvSpPr/>
          <p:nvPr/>
        </p:nvSpPr>
        <p:spPr>
          <a:xfrm>
            <a:off x="594360" y="1828800"/>
            <a:ext cx="5463540" cy="406908"/>
          </a:xfrm>
          <a:prstGeom prst="rect">
            <a:avLst/>
          </a:prstGeom>
          <a:solidFill>
            <a:srgbClr val="2A78D6"/>
          </a:solidFill>
          <a:ln w="7620">
            <a:solidFill>
              <a:srgbClr val="2A78D6"/>
            </a:solidFill>
            <a:prstDash val="solid"/>
          </a:ln>
        </p:spPr>
      </p:sp>
      <p:sp>
        <p:nvSpPr>
          <p:cNvPr id="10" name="Text 8"/>
          <p:cNvSpPr/>
          <p:nvPr/>
        </p:nvSpPr>
        <p:spPr>
          <a:xfrm>
            <a:off x="713232" y="1901952"/>
            <a:ext cx="5221224" cy="265176"/>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File</a:t>
            </a:r>
            <a:endParaRPr lang="en-US" sz="1600" dirty="0"/>
          </a:p>
        </p:txBody>
      </p:sp>
      <p:sp>
        <p:nvSpPr>
          <p:cNvPr id="11" name="Shape 9"/>
          <p:cNvSpPr/>
          <p:nvPr/>
        </p:nvSpPr>
        <p:spPr>
          <a:xfrm>
            <a:off x="6089904" y="1828800"/>
            <a:ext cx="5463540" cy="406908"/>
          </a:xfrm>
          <a:prstGeom prst="rect">
            <a:avLst/>
          </a:prstGeom>
          <a:solidFill>
            <a:srgbClr val="2A78D6"/>
          </a:solidFill>
          <a:ln w="7620">
            <a:solidFill>
              <a:srgbClr val="2A78D6"/>
            </a:solidFill>
            <a:prstDash val="solid"/>
          </a:ln>
        </p:spPr>
      </p:sp>
      <p:sp>
        <p:nvSpPr>
          <p:cNvPr id="12" name="Text 10"/>
          <p:cNvSpPr/>
          <p:nvPr/>
        </p:nvSpPr>
        <p:spPr>
          <a:xfrm>
            <a:off x="6208776" y="1901952"/>
            <a:ext cx="5221224" cy="265176"/>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Primary question</a:t>
            </a:r>
            <a:endParaRPr lang="en-US" sz="1600" dirty="0"/>
          </a:p>
        </p:txBody>
      </p:sp>
      <p:sp>
        <p:nvSpPr>
          <p:cNvPr id="13" name="Shape 11"/>
          <p:cNvSpPr/>
          <p:nvPr/>
        </p:nvSpPr>
        <p:spPr>
          <a:xfrm>
            <a:off x="594360" y="2267712"/>
            <a:ext cx="5463540" cy="406908"/>
          </a:xfrm>
          <a:prstGeom prst="rect">
            <a:avLst/>
          </a:prstGeom>
          <a:solidFill>
            <a:srgbClr val="EAF2FC"/>
          </a:solidFill>
          <a:ln w="7620">
            <a:solidFill>
              <a:srgbClr val="EAF2FC"/>
            </a:solidFill>
            <a:prstDash val="solid"/>
          </a:ln>
        </p:spPr>
      </p:sp>
      <p:sp>
        <p:nvSpPr>
          <p:cNvPr id="14" name="Text 12"/>
          <p:cNvSpPr/>
          <p:nvPr/>
        </p:nvSpPr>
        <p:spPr>
          <a:xfrm>
            <a:off x="713232" y="2331720"/>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FASTA / FASTQ</a:t>
            </a:r>
            <a:endParaRPr lang="en-US" sz="1600" dirty="0"/>
          </a:p>
        </p:txBody>
      </p:sp>
      <p:sp>
        <p:nvSpPr>
          <p:cNvPr id="15" name="Shape 13"/>
          <p:cNvSpPr/>
          <p:nvPr/>
        </p:nvSpPr>
        <p:spPr>
          <a:xfrm>
            <a:off x="6089904" y="2267712"/>
            <a:ext cx="5463540" cy="406908"/>
          </a:xfrm>
          <a:prstGeom prst="rect">
            <a:avLst/>
          </a:prstGeom>
          <a:solidFill>
            <a:srgbClr val="EAF2FC"/>
          </a:solidFill>
          <a:ln w="7620">
            <a:solidFill>
              <a:srgbClr val="EAF2FC"/>
            </a:solidFill>
            <a:prstDash val="solid"/>
          </a:ln>
        </p:spPr>
      </p:sp>
      <p:sp>
        <p:nvSpPr>
          <p:cNvPr id="16" name="Text 14"/>
          <p:cNvSpPr/>
          <p:nvPr/>
        </p:nvSpPr>
        <p:spPr>
          <a:xfrm>
            <a:off x="6208776" y="2331720"/>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What sequence, with what quality?</a:t>
            </a:r>
            <a:endParaRPr lang="en-US" sz="1600" dirty="0"/>
          </a:p>
        </p:txBody>
      </p:sp>
      <p:sp>
        <p:nvSpPr>
          <p:cNvPr id="17" name="Shape 15"/>
          <p:cNvSpPr/>
          <p:nvPr/>
        </p:nvSpPr>
        <p:spPr>
          <a:xfrm>
            <a:off x="594360" y="2706624"/>
            <a:ext cx="5463540" cy="406908"/>
          </a:xfrm>
          <a:prstGeom prst="rect">
            <a:avLst/>
          </a:prstGeom>
          <a:solidFill>
            <a:srgbClr val="FFFFFF"/>
          </a:solidFill>
          <a:ln w="7620">
            <a:solidFill>
              <a:srgbClr val="FFFFFF"/>
            </a:solidFill>
            <a:prstDash val="solid"/>
          </a:ln>
        </p:spPr>
      </p:sp>
      <p:sp>
        <p:nvSpPr>
          <p:cNvPr id="18" name="Text 16"/>
          <p:cNvSpPr/>
          <p:nvPr/>
        </p:nvSpPr>
        <p:spPr>
          <a:xfrm>
            <a:off x="713232" y="2770632"/>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SAM / BAM</a:t>
            </a:r>
            <a:endParaRPr lang="en-US" sz="1600" dirty="0"/>
          </a:p>
        </p:txBody>
      </p:sp>
      <p:sp>
        <p:nvSpPr>
          <p:cNvPr id="19" name="Shape 17"/>
          <p:cNvSpPr/>
          <p:nvPr/>
        </p:nvSpPr>
        <p:spPr>
          <a:xfrm>
            <a:off x="6089904" y="2706624"/>
            <a:ext cx="5463540" cy="406908"/>
          </a:xfrm>
          <a:prstGeom prst="rect">
            <a:avLst/>
          </a:prstGeom>
          <a:solidFill>
            <a:srgbClr val="FFFFFF"/>
          </a:solidFill>
          <a:ln w="7620">
            <a:solidFill>
              <a:srgbClr val="FFFFFF"/>
            </a:solidFill>
            <a:prstDash val="solid"/>
          </a:ln>
        </p:spPr>
      </p:sp>
      <p:sp>
        <p:nvSpPr>
          <p:cNvPr id="20" name="Text 18"/>
          <p:cNvSpPr/>
          <p:nvPr/>
        </p:nvSpPr>
        <p:spPr>
          <a:xfrm>
            <a:off x="6208776" y="2770632"/>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Where did a read align?</a:t>
            </a:r>
            <a:endParaRPr lang="en-US" sz="1600" dirty="0"/>
          </a:p>
        </p:txBody>
      </p:sp>
      <p:sp>
        <p:nvSpPr>
          <p:cNvPr id="21" name="Shape 19"/>
          <p:cNvSpPr/>
          <p:nvPr/>
        </p:nvSpPr>
        <p:spPr>
          <a:xfrm>
            <a:off x="594360" y="3145536"/>
            <a:ext cx="5463540" cy="406908"/>
          </a:xfrm>
          <a:prstGeom prst="rect">
            <a:avLst/>
          </a:prstGeom>
          <a:solidFill>
            <a:srgbClr val="EAF2FC"/>
          </a:solidFill>
          <a:ln w="7620">
            <a:solidFill>
              <a:srgbClr val="EAF2FC"/>
            </a:solidFill>
            <a:prstDash val="solid"/>
          </a:ln>
        </p:spPr>
      </p:sp>
      <p:sp>
        <p:nvSpPr>
          <p:cNvPr id="22" name="Text 20"/>
          <p:cNvSpPr/>
          <p:nvPr/>
        </p:nvSpPr>
        <p:spPr>
          <a:xfrm>
            <a:off x="713232" y="3209544"/>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BED / GTF / GFF</a:t>
            </a:r>
            <a:endParaRPr lang="en-US" sz="1600" dirty="0"/>
          </a:p>
        </p:txBody>
      </p:sp>
      <p:sp>
        <p:nvSpPr>
          <p:cNvPr id="23" name="Shape 21"/>
          <p:cNvSpPr/>
          <p:nvPr/>
        </p:nvSpPr>
        <p:spPr>
          <a:xfrm>
            <a:off x="6089904" y="3145536"/>
            <a:ext cx="5463540" cy="406908"/>
          </a:xfrm>
          <a:prstGeom prst="rect">
            <a:avLst/>
          </a:prstGeom>
          <a:solidFill>
            <a:srgbClr val="EAF2FC"/>
          </a:solidFill>
          <a:ln w="7620">
            <a:solidFill>
              <a:srgbClr val="EAF2FC"/>
            </a:solidFill>
            <a:prstDash val="solid"/>
          </a:ln>
        </p:spPr>
      </p:sp>
      <p:sp>
        <p:nvSpPr>
          <p:cNvPr id="24" name="Text 22"/>
          <p:cNvSpPr/>
          <p:nvPr/>
        </p:nvSpPr>
        <p:spPr>
          <a:xfrm>
            <a:off x="6208776" y="3209544"/>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Where is an interval or feature?</a:t>
            </a:r>
            <a:endParaRPr lang="en-US" sz="1600" dirty="0"/>
          </a:p>
        </p:txBody>
      </p:sp>
      <p:sp>
        <p:nvSpPr>
          <p:cNvPr id="25" name="Shape 23"/>
          <p:cNvSpPr/>
          <p:nvPr/>
        </p:nvSpPr>
        <p:spPr>
          <a:xfrm>
            <a:off x="594360" y="3584448"/>
            <a:ext cx="5463540" cy="406908"/>
          </a:xfrm>
          <a:prstGeom prst="rect">
            <a:avLst/>
          </a:prstGeom>
          <a:solidFill>
            <a:srgbClr val="FFFFFF"/>
          </a:solidFill>
          <a:ln w="7620">
            <a:solidFill>
              <a:srgbClr val="FFFFFF"/>
            </a:solidFill>
            <a:prstDash val="solid"/>
          </a:ln>
        </p:spPr>
      </p:sp>
      <p:sp>
        <p:nvSpPr>
          <p:cNvPr id="26" name="Text 24"/>
          <p:cNvSpPr/>
          <p:nvPr/>
        </p:nvSpPr>
        <p:spPr>
          <a:xfrm>
            <a:off x="713232" y="3648456"/>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VCF</a:t>
            </a:r>
            <a:endParaRPr lang="en-US" sz="1600" dirty="0"/>
          </a:p>
        </p:txBody>
      </p:sp>
      <p:sp>
        <p:nvSpPr>
          <p:cNvPr id="27" name="Shape 25"/>
          <p:cNvSpPr/>
          <p:nvPr/>
        </p:nvSpPr>
        <p:spPr>
          <a:xfrm>
            <a:off x="6089904" y="3584448"/>
            <a:ext cx="5463540" cy="406908"/>
          </a:xfrm>
          <a:prstGeom prst="rect">
            <a:avLst/>
          </a:prstGeom>
          <a:solidFill>
            <a:srgbClr val="FFFFFF"/>
          </a:solidFill>
          <a:ln w="7620">
            <a:solidFill>
              <a:srgbClr val="FFFFFF"/>
            </a:solidFill>
            <a:prstDash val="solid"/>
          </a:ln>
        </p:spPr>
      </p:sp>
      <p:sp>
        <p:nvSpPr>
          <p:cNvPr id="28" name="Text 26"/>
          <p:cNvSpPr/>
          <p:nvPr/>
        </p:nvSpPr>
        <p:spPr>
          <a:xfrm>
            <a:off x="6208776" y="3648456"/>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What differs from the reference?</a:t>
            </a:r>
            <a:endParaRPr lang="en-US" sz="1600" dirty="0"/>
          </a:p>
        </p:txBody>
      </p:sp>
      <p:sp>
        <p:nvSpPr>
          <p:cNvPr id="29" name="Shape 27"/>
          <p:cNvSpPr/>
          <p:nvPr/>
        </p:nvSpPr>
        <p:spPr>
          <a:xfrm>
            <a:off x="612648" y="4279392"/>
            <a:ext cx="50292" cy="435864"/>
          </a:xfrm>
          <a:prstGeom prst="rect">
            <a:avLst/>
          </a:prstGeom>
          <a:solidFill>
            <a:srgbClr val="2A78D6"/>
          </a:solidFill>
          <a:ln w="7620">
            <a:solidFill>
              <a:srgbClr val="2A78D6"/>
            </a:solidFill>
            <a:prstDash val="solid"/>
          </a:ln>
        </p:spPr>
      </p:sp>
      <p:sp>
        <p:nvSpPr>
          <p:cNvPr id="30" name="Text 28"/>
          <p:cNvSpPr/>
          <p:nvPr/>
        </p:nvSpPr>
        <p:spPr>
          <a:xfrm>
            <a:off x="813816" y="4279392"/>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FASTA: sequence. FASTQ: sequence plus per-base quality.</a:t>
            </a:r>
            <a:endParaRPr lang="en-US" sz="2100" dirty="0"/>
          </a:p>
        </p:txBody>
      </p:sp>
      <p:sp>
        <p:nvSpPr>
          <p:cNvPr id="31" name="Shape 29"/>
          <p:cNvSpPr/>
          <p:nvPr/>
        </p:nvSpPr>
        <p:spPr>
          <a:xfrm>
            <a:off x="612648" y="4916424"/>
            <a:ext cx="50292" cy="435864"/>
          </a:xfrm>
          <a:prstGeom prst="rect">
            <a:avLst/>
          </a:prstGeom>
          <a:solidFill>
            <a:srgbClr val="2A78D6"/>
          </a:solidFill>
          <a:ln w="7620">
            <a:solidFill>
              <a:srgbClr val="2A78D6"/>
            </a:solidFill>
            <a:prstDash val="solid"/>
          </a:ln>
        </p:spPr>
      </p:sp>
      <p:sp>
        <p:nvSpPr>
          <p:cNvPr id="32" name="Text 30"/>
          <p:cNvSpPr/>
          <p:nvPr/>
        </p:nvSpPr>
        <p:spPr>
          <a:xfrm>
            <a:off x="813816" y="4916424"/>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SAM/BAM: read alignments. BED: genomic intervals.</a:t>
            </a:r>
            <a:endParaRPr lang="en-US" sz="2100" dirty="0"/>
          </a:p>
        </p:txBody>
      </p:sp>
      <p:sp>
        <p:nvSpPr>
          <p:cNvPr id="33" name="Shape 31"/>
          <p:cNvSpPr/>
          <p:nvPr/>
        </p:nvSpPr>
        <p:spPr>
          <a:xfrm>
            <a:off x="612648" y="5553456"/>
            <a:ext cx="50292" cy="435864"/>
          </a:xfrm>
          <a:prstGeom prst="rect">
            <a:avLst/>
          </a:prstGeom>
          <a:solidFill>
            <a:srgbClr val="2A78D6"/>
          </a:solidFill>
          <a:ln w="7620">
            <a:solidFill>
              <a:srgbClr val="2A78D6"/>
            </a:solidFill>
            <a:prstDash val="solid"/>
          </a:ln>
        </p:spPr>
      </p:sp>
      <p:sp>
        <p:nvSpPr>
          <p:cNvPr id="34" name="Text 32"/>
          <p:cNvSpPr/>
          <p:nvPr/>
        </p:nvSpPr>
        <p:spPr>
          <a:xfrm>
            <a:off x="813816" y="5553456"/>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GTF/GFF: annotated features. VCF: sequence variants.</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FASTA does not guarantee a reference build</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5</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header can give an identifier, but it may omit assembly metadata.</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Sequence names such as chr1 do not uniquely identify an assembly.</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Write unknown and request metadata when evidence is absent.</a:t>
            </a:r>
            <a:endParaRPr lang="en-US" sz="2297" dirty="0"/>
          </a:p>
        </p:txBody>
      </p:sp>
      <p:sp>
        <p:nvSpPr>
          <p:cNvPr id="16" name="Text 14"/>
          <p:cNvSpPr/>
          <p:nvPr/>
        </p:nvSpPr>
        <p:spPr>
          <a:xfrm>
            <a:off x="841248" y="2340864"/>
            <a:ext cx="4471416" cy="3383280"/>
          </a:xfrm>
          <a:prstGeom prst="rect">
            <a:avLst/>
          </a:prstGeom>
          <a:noFill/>
          <a:ln/>
        </p:spPr>
        <p:txBody>
          <a:bodyPr wrap="square" lIns="0" tIns="0" rIns="0" bIns="0" rtlCol="0" anchor="t">
            <a:normAutofit/>
          </a:bodyPr>
          <a:lstStyle/>
          <a:p>
            <a:pPr indent="0" marL="0">
              <a:buNone/>
            </a:pPr>
            <a:r>
              <a:rPr lang="en-US" sz="2197" dirty="0">
                <a:solidFill>
                  <a:srgbClr val="232D3B"/>
                </a:solidFill>
                <a:latin typeface="Consolas" pitchFamily="34" charset="0"/>
                <a:ea typeface="Consolas" pitchFamily="34" charset="-122"/>
                <a:cs typeface="Consolas" pitchFamily="34" charset="-120"/>
              </a:rPr>
              <a:t>&gt;toy_contig</a:t>
            </a:r>
            <a:endParaRPr lang="en-US" sz="2197" dirty="0"/>
          </a:p>
          <a:p>
            <a:pPr indent="0" marL="0">
              <a:buNone/>
            </a:pPr>
            <a:r>
              <a:rPr lang="en-US" sz="2197" dirty="0">
                <a:solidFill>
                  <a:srgbClr val="232D3B"/>
                </a:solidFill>
                <a:latin typeface="Consolas" pitchFamily="34" charset="0"/>
                <a:ea typeface="Consolas" pitchFamily="34" charset="-122"/>
                <a:cs typeface="Consolas" pitchFamily="34" charset="-120"/>
              </a:rPr>
              <a:t>ACGTACGTAA</a:t>
            </a:r>
            <a:endParaRPr lang="en-US" sz="219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Two coordinate rulers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S04  |  6</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One-based inclusive: first base is position 1; both endpoints count.</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BED: start is zero-based; the end is excluded.</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One-based [3, 7] and BED [2, 7) describe the same five bases.</a:t>
            </a:r>
            <a:endParaRPr lang="en-US" sz="2297" dirty="0"/>
          </a:p>
        </p:txBody>
      </p:sp>
      <p:sp>
        <p:nvSpPr>
          <p:cNvPr id="16" name="Text 14"/>
          <p:cNvSpPr/>
          <p:nvPr/>
        </p:nvSpPr>
        <p:spPr>
          <a:xfrm>
            <a:off x="841248" y="2157984"/>
            <a:ext cx="4471416" cy="502920"/>
          </a:xfrm>
          <a:prstGeom prst="rect">
            <a:avLst/>
          </a:prstGeom>
          <a:noFill/>
          <a:ln/>
        </p:spPr>
        <p:txBody>
          <a:bodyPr wrap="square" lIns="0" tIns="0" rIns="0" bIns="0" rtlCol="0" anchor="ctr">
            <a:normAutofit/>
          </a:bodyPr>
          <a:lstStyle/>
          <a:p>
            <a:pPr indent="0" marL="0">
              <a:buNone/>
            </a:pPr>
            <a:r>
              <a:rPr lang="en-US" sz="2000" b="1" dirty="0">
                <a:solidFill>
                  <a:srgbClr val="2A78D6"/>
                </a:solidFill>
                <a:latin typeface="Aptos" pitchFamily="34" charset="0"/>
                <a:ea typeface="Aptos" pitchFamily="34" charset="-122"/>
                <a:cs typeface="Aptos" pitchFamily="34" charset="-120"/>
              </a:rPr>
              <a:t>Same bases. Different ruler.</a:t>
            </a:r>
            <a:endParaRPr lang="en-US" sz="2000" dirty="0"/>
          </a:p>
        </p:txBody>
      </p:sp>
      <p:sp>
        <p:nvSpPr>
          <p:cNvPr id="17" name="Text 15"/>
          <p:cNvSpPr/>
          <p:nvPr/>
        </p:nvSpPr>
        <p:spPr>
          <a:xfrm>
            <a:off x="841248"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1</a:t>
            </a:r>
            <a:endParaRPr lang="en-US" sz="1400" dirty="0"/>
          </a:p>
        </p:txBody>
      </p:sp>
      <p:sp>
        <p:nvSpPr>
          <p:cNvPr id="18" name="Shape 16"/>
          <p:cNvSpPr/>
          <p:nvPr/>
        </p:nvSpPr>
        <p:spPr>
          <a:xfrm>
            <a:off x="841248" y="3712464"/>
            <a:ext cx="384048" cy="484632"/>
          </a:xfrm>
          <a:prstGeom prst="rect">
            <a:avLst/>
          </a:prstGeom>
          <a:solidFill>
            <a:srgbClr val="FFFFFF"/>
          </a:solidFill>
          <a:ln w="7620">
            <a:solidFill>
              <a:srgbClr val="FFFFFF"/>
            </a:solidFill>
            <a:prstDash val="solid"/>
          </a:ln>
        </p:spPr>
      </p:sp>
      <p:sp>
        <p:nvSpPr>
          <p:cNvPr id="19" name="Text 17"/>
          <p:cNvSpPr/>
          <p:nvPr/>
        </p:nvSpPr>
        <p:spPr>
          <a:xfrm>
            <a:off x="841248"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232D3B"/>
                </a:solidFill>
                <a:latin typeface="Aptos" pitchFamily="34" charset="0"/>
                <a:ea typeface="Aptos" pitchFamily="34" charset="-122"/>
                <a:cs typeface="Aptos" pitchFamily="34" charset="-120"/>
              </a:rPr>
              <a:t>A</a:t>
            </a:r>
            <a:endParaRPr lang="en-US" sz="1500" dirty="0"/>
          </a:p>
        </p:txBody>
      </p:sp>
      <p:sp>
        <p:nvSpPr>
          <p:cNvPr id="20" name="Text 18"/>
          <p:cNvSpPr/>
          <p:nvPr/>
        </p:nvSpPr>
        <p:spPr>
          <a:xfrm>
            <a:off x="841248"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0</a:t>
            </a:r>
            <a:endParaRPr lang="en-US" sz="1400" dirty="0"/>
          </a:p>
        </p:txBody>
      </p:sp>
      <p:sp>
        <p:nvSpPr>
          <p:cNvPr id="21" name="Text 19"/>
          <p:cNvSpPr/>
          <p:nvPr/>
        </p:nvSpPr>
        <p:spPr>
          <a:xfrm>
            <a:off x="1278331"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2</a:t>
            </a:r>
            <a:endParaRPr lang="en-US" sz="1400" dirty="0"/>
          </a:p>
        </p:txBody>
      </p:sp>
      <p:sp>
        <p:nvSpPr>
          <p:cNvPr id="22" name="Shape 20"/>
          <p:cNvSpPr/>
          <p:nvPr/>
        </p:nvSpPr>
        <p:spPr>
          <a:xfrm>
            <a:off x="1278331" y="3712464"/>
            <a:ext cx="384048" cy="484632"/>
          </a:xfrm>
          <a:prstGeom prst="rect">
            <a:avLst/>
          </a:prstGeom>
          <a:solidFill>
            <a:srgbClr val="FFFFFF"/>
          </a:solidFill>
          <a:ln w="7620">
            <a:solidFill>
              <a:srgbClr val="FFFFFF"/>
            </a:solidFill>
            <a:prstDash val="solid"/>
          </a:ln>
        </p:spPr>
      </p:sp>
      <p:sp>
        <p:nvSpPr>
          <p:cNvPr id="23" name="Text 21"/>
          <p:cNvSpPr/>
          <p:nvPr/>
        </p:nvSpPr>
        <p:spPr>
          <a:xfrm>
            <a:off x="1278331"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232D3B"/>
                </a:solidFill>
                <a:latin typeface="Aptos" pitchFamily="34" charset="0"/>
                <a:ea typeface="Aptos" pitchFamily="34" charset="-122"/>
                <a:cs typeface="Aptos" pitchFamily="34" charset="-120"/>
              </a:rPr>
              <a:t>C</a:t>
            </a:r>
            <a:endParaRPr lang="en-US" sz="1500" dirty="0"/>
          </a:p>
        </p:txBody>
      </p:sp>
      <p:sp>
        <p:nvSpPr>
          <p:cNvPr id="24" name="Text 22"/>
          <p:cNvSpPr/>
          <p:nvPr/>
        </p:nvSpPr>
        <p:spPr>
          <a:xfrm>
            <a:off x="1278331"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1</a:t>
            </a:r>
            <a:endParaRPr lang="en-US" sz="1400" dirty="0"/>
          </a:p>
        </p:txBody>
      </p:sp>
      <p:sp>
        <p:nvSpPr>
          <p:cNvPr id="25" name="Text 23"/>
          <p:cNvSpPr/>
          <p:nvPr/>
        </p:nvSpPr>
        <p:spPr>
          <a:xfrm>
            <a:off x="1715414"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3</a:t>
            </a:r>
            <a:endParaRPr lang="en-US" sz="1400" dirty="0"/>
          </a:p>
        </p:txBody>
      </p:sp>
      <p:sp>
        <p:nvSpPr>
          <p:cNvPr id="26" name="Shape 24"/>
          <p:cNvSpPr/>
          <p:nvPr/>
        </p:nvSpPr>
        <p:spPr>
          <a:xfrm>
            <a:off x="1715414" y="3712464"/>
            <a:ext cx="384048" cy="484632"/>
          </a:xfrm>
          <a:prstGeom prst="rect">
            <a:avLst/>
          </a:prstGeom>
          <a:solidFill>
            <a:srgbClr val="2A78D6"/>
          </a:solidFill>
          <a:ln w="7620">
            <a:solidFill>
              <a:srgbClr val="2A78D6"/>
            </a:solidFill>
            <a:prstDash val="solid"/>
          </a:ln>
        </p:spPr>
      </p:sp>
      <p:sp>
        <p:nvSpPr>
          <p:cNvPr id="27" name="Text 25"/>
          <p:cNvSpPr/>
          <p:nvPr/>
        </p:nvSpPr>
        <p:spPr>
          <a:xfrm>
            <a:off x="1715414"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G</a:t>
            </a:r>
            <a:endParaRPr lang="en-US" sz="1500" dirty="0"/>
          </a:p>
        </p:txBody>
      </p:sp>
      <p:sp>
        <p:nvSpPr>
          <p:cNvPr id="28" name="Text 26"/>
          <p:cNvSpPr/>
          <p:nvPr/>
        </p:nvSpPr>
        <p:spPr>
          <a:xfrm>
            <a:off x="1715414"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2</a:t>
            </a:r>
            <a:endParaRPr lang="en-US" sz="1400" dirty="0"/>
          </a:p>
        </p:txBody>
      </p:sp>
      <p:sp>
        <p:nvSpPr>
          <p:cNvPr id="29" name="Text 27"/>
          <p:cNvSpPr/>
          <p:nvPr/>
        </p:nvSpPr>
        <p:spPr>
          <a:xfrm>
            <a:off x="2152498"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4</a:t>
            </a:r>
            <a:endParaRPr lang="en-US" sz="1400" dirty="0"/>
          </a:p>
        </p:txBody>
      </p:sp>
      <p:sp>
        <p:nvSpPr>
          <p:cNvPr id="30" name="Shape 28"/>
          <p:cNvSpPr/>
          <p:nvPr/>
        </p:nvSpPr>
        <p:spPr>
          <a:xfrm>
            <a:off x="2152498" y="3712464"/>
            <a:ext cx="384048" cy="484632"/>
          </a:xfrm>
          <a:prstGeom prst="rect">
            <a:avLst/>
          </a:prstGeom>
          <a:solidFill>
            <a:srgbClr val="2A78D6"/>
          </a:solidFill>
          <a:ln w="7620">
            <a:solidFill>
              <a:srgbClr val="2A78D6"/>
            </a:solidFill>
            <a:prstDash val="solid"/>
          </a:ln>
        </p:spPr>
      </p:sp>
      <p:sp>
        <p:nvSpPr>
          <p:cNvPr id="31" name="Text 29"/>
          <p:cNvSpPr/>
          <p:nvPr/>
        </p:nvSpPr>
        <p:spPr>
          <a:xfrm>
            <a:off x="2152498"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a:t>
            </a:r>
            <a:endParaRPr lang="en-US" sz="1500" dirty="0"/>
          </a:p>
        </p:txBody>
      </p:sp>
      <p:sp>
        <p:nvSpPr>
          <p:cNvPr id="32" name="Text 30"/>
          <p:cNvSpPr/>
          <p:nvPr/>
        </p:nvSpPr>
        <p:spPr>
          <a:xfrm>
            <a:off x="2152498"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3</a:t>
            </a:r>
            <a:endParaRPr lang="en-US" sz="1400" dirty="0"/>
          </a:p>
        </p:txBody>
      </p:sp>
      <p:sp>
        <p:nvSpPr>
          <p:cNvPr id="33" name="Text 31"/>
          <p:cNvSpPr/>
          <p:nvPr/>
        </p:nvSpPr>
        <p:spPr>
          <a:xfrm>
            <a:off x="2589581"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5</a:t>
            </a:r>
            <a:endParaRPr lang="en-US" sz="1400" dirty="0"/>
          </a:p>
        </p:txBody>
      </p:sp>
      <p:sp>
        <p:nvSpPr>
          <p:cNvPr id="34" name="Shape 32"/>
          <p:cNvSpPr/>
          <p:nvPr/>
        </p:nvSpPr>
        <p:spPr>
          <a:xfrm>
            <a:off x="2589581" y="3712464"/>
            <a:ext cx="384048" cy="484632"/>
          </a:xfrm>
          <a:prstGeom prst="rect">
            <a:avLst/>
          </a:prstGeom>
          <a:solidFill>
            <a:srgbClr val="2A78D6"/>
          </a:solidFill>
          <a:ln w="7620">
            <a:solidFill>
              <a:srgbClr val="2A78D6"/>
            </a:solidFill>
            <a:prstDash val="solid"/>
          </a:ln>
        </p:spPr>
      </p:sp>
      <p:sp>
        <p:nvSpPr>
          <p:cNvPr id="35" name="Text 33"/>
          <p:cNvSpPr/>
          <p:nvPr/>
        </p:nvSpPr>
        <p:spPr>
          <a:xfrm>
            <a:off x="2589581"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a:t>
            </a:r>
            <a:endParaRPr lang="en-US" sz="1500" dirty="0"/>
          </a:p>
        </p:txBody>
      </p:sp>
      <p:sp>
        <p:nvSpPr>
          <p:cNvPr id="36" name="Text 34"/>
          <p:cNvSpPr/>
          <p:nvPr/>
        </p:nvSpPr>
        <p:spPr>
          <a:xfrm>
            <a:off x="2589581"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4</a:t>
            </a:r>
            <a:endParaRPr lang="en-US" sz="1400" dirty="0"/>
          </a:p>
        </p:txBody>
      </p:sp>
      <p:sp>
        <p:nvSpPr>
          <p:cNvPr id="37" name="Text 35"/>
          <p:cNvSpPr/>
          <p:nvPr/>
        </p:nvSpPr>
        <p:spPr>
          <a:xfrm>
            <a:off x="3026664"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6</a:t>
            </a:r>
            <a:endParaRPr lang="en-US" sz="1400" dirty="0"/>
          </a:p>
        </p:txBody>
      </p:sp>
      <p:sp>
        <p:nvSpPr>
          <p:cNvPr id="38" name="Shape 36"/>
          <p:cNvSpPr/>
          <p:nvPr/>
        </p:nvSpPr>
        <p:spPr>
          <a:xfrm>
            <a:off x="3026664" y="3712464"/>
            <a:ext cx="384048" cy="484632"/>
          </a:xfrm>
          <a:prstGeom prst="rect">
            <a:avLst/>
          </a:prstGeom>
          <a:solidFill>
            <a:srgbClr val="2A78D6"/>
          </a:solidFill>
          <a:ln w="7620">
            <a:solidFill>
              <a:srgbClr val="2A78D6"/>
            </a:solidFill>
            <a:prstDash val="solid"/>
          </a:ln>
        </p:spPr>
      </p:sp>
      <p:sp>
        <p:nvSpPr>
          <p:cNvPr id="39" name="Text 37"/>
          <p:cNvSpPr/>
          <p:nvPr/>
        </p:nvSpPr>
        <p:spPr>
          <a:xfrm>
            <a:off x="3026664"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a:t>
            </a:r>
            <a:endParaRPr lang="en-US" sz="1500" dirty="0"/>
          </a:p>
        </p:txBody>
      </p:sp>
      <p:sp>
        <p:nvSpPr>
          <p:cNvPr id="40" name="Text 38"/>
          <p:cNvSpPr/>
          <p:nvPr/>
        </p:nvSpPr>
        <p:spPr>
          <a:xfrm>
            <a:off x="3026664"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5</a:t>
            </a:r>
            <a:endParaRPr lang="en-US" sz="1400" dirty="0"/>
          </a:p>
        </p:txBody>
      </p:sp>
      <p:sp>
        <p:nvSpPr>
          <p:cNvPr id="41" name="Text 39"/>
          <p:cNvSpPr/>
          <p:nvPr/>
        </p:nvSpPr>
        <p:spPr>
          <a:xfrm>
            <a:off x="3463747"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7</a:t>
            </a:r>
            <a:endParaRPr lang="en-US" sz="1400" dirty="0"/>
          </a:p>
        </p:txBody>
      </p:sp>
      <p:sp>
        <p:nvSpPr>
          <p:cNvPr id="42" name="Shape 40"/>
          <p:cNvSpPr/>
          <p:nvPr/>
        </p:nvSpPr>
        <p:spPr>
          <a:xfrm>
            <a:off x="3463747" y="3712464"/>
            <a:ext cx="384048" cy="484632"/>
          </a:xfrm>
          <a:prstGeom prst="rect">
            <a:avLst/>
          </a:prstGeom>
          <a:solidFill>
            <a:srgbClr val="2A78D6"/>
          </a:solidFill>
          <a:ln w="7620">
            <a:solidFill>
              <a:srgbClr val="2A78D6"/>
            </a:solidFill>
            <a:prstDash val="solid"/>
          </a:ln>
        </p:spPr>
      </p:sp>
      <p:sp>
        <p:nvSpPr>
          <p:cNvPr id="43" name="Text 41"/>
          <p:cNvSpPr/>
          <p:nvPr/>
        </p:nvSpPr>
        <p:spPr>
          <a:xfrm>
            <a:off x="3463747"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G</a:t>
            </a:r>
            <a:endParaRPr lang="en-US" sz="1500" dirty="0"/>
          </a:p>
        </p:txBody>
      </p:sp>
      <p:sp>
        <p:nvSpPr>
          <p:cNvPr id="44" name="Text 42"/>
          <p:cNvSpPr/>
          <p:nvPr/>
        </p:nvSpPr>
        <p:spPr>
          <a:xfrm>
            <a:off x="3463747"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6</a:t>
            </a:r>
            <a:endParaRPr lang="en-US" sz="1400" dirty="0"/>
          </a:p>
        </p:txBody>
      </p:sp>
      <p:sp>
        <p:nvSpPr>
          <p:cNvPr id="45" name="Text 43"/>
          <p:cNvSpPr/>
          <p:nvPr/>
        </p:nvSpPr>
        <p:spPr>
          <a:xfrm>
            <a:off x="3900830"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8</a:t>
            </a:r>
            <a:endParaRPr lang="en-US" sz="1400" dirty="0"/>
          </a:p>
        </p:txBody>
      </p:sp>
      <p:sp>
        <p:nvSpPr>
          <p:cNvPr id="46" name="Shape 44"/>
          <p:cNvSpPr/>
          <p:nvPr/>
        </p:nvSpPr>
        <p:spPr>
          <a:xfrm>
            <a:off x="3900830" y="3712464"/>
            <a:ext cx="384048" cy="484632"/>
          </a:xfrm>
          <a:prstGeom prst="rect">
            <a:avLst/>
          </a:prstGeom>
          <a:solidFill>
            <a:srgbClr val="FFFFFF"/>
          </a:solidFill>
          <a:ln w="7620">
            <a:solidFill>
              <a:srgbClr val="FFFFFF"/>
            </a:solidFill>
            <a:prstDash val="solid"/>
          </a:ln>
        </p:spPr>
      </p:sp>
      <p:sp>
        <p:nvSpPr>
          <p:cNvPr id="47" name="Text 45"/>
          <p:cNvSpPr/>
          <p:nvPr/>
        </p:nvSpPr>
        <p:spPr>
          <a:xfrm>
            <a:off x="3900830"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232D3B"/>
                </a:solidFill>
                <a:latin typeface="Aptos" pitchFamily="34" charset="0"/>
                <a:ea typeface="Aptos" pitchFamily="34" charset="-122"/>
                <a:cs typeface="Aptos" pitchFamily="34" charset="-120"/>
              </a:rPr>
              <a:t>T</a:t>
            </a:r>
            <a:endParaRPr lang="en-US" sz="1500" dirty="0"/>
          </a:p>
        </p:txBody>
      </p:sp>
      <p:sp>
        <p:nvSpPr>
          <p:cNvPr id="48" name="Text 46"/>
          <p:cNvSpPr/>
          <p:nvPr/>
        </p:nvSpPr>
        <p:spPr>
          <a:xfrm>
            <a:off x="3900830"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7</a:t>
            </a:r>
            <a:endParaRPr lang="en-US" sz="1400" dirty="0"/>
          </a:p>
        </p:txBody>
      </p:sp>
      <p:sp>
        <p:nvSpPr>
          <p:cNvPr id="49" name="Text 47"/>
          <p:cNvSpPr/>
          <p:nvPr/>
        </p:nvSpPr>
        <p:spPr>
          <a:xfrm>
            <a:off x="4337914"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9</a:t>
            </a:r>
            <a:endParaRPr lang="en-US" sz="1400" dirty="0"/>
          </a:p>
        </p:txBody>
      </p:sp>
      <p:sp>
        <p:nvSpPr>
          <p:cNvPr id="50" name="Shape 48"/>
          <p:cNvSpPr/>
          <p:nvPr/>
        </p:nvSpPr>
        <p:spPr>
          <a:xfrm>
            <a:off x="4337914" y="3712464"/>
            <a:ext cx="384048" cy="484632"/>
          </a:xfrm>
          <a:prstGeom prst="rect">
            <a:avLst/>
          </a:prstGeom>
          <a:solidFill>
            <a:srgbClr val="FFFFFF"/>
          </a:solidFill>
          <a:ln w="7620">
            <a:solidFill>
              <a:srgbClr val="FFFFFF"/>
            </a:solidFill>
            <a:prstDash val="solid"/>
          </a:ln>
        </p:spPr>
      </p:sp>
      <p:sp>
        <p:nvSpPr>
          <p:cNvPr id="51" name="Text 49"/>
          <p:cNvSpPr/>
          <p:nvPr/>
        </p:nvSpPr>
        <p:spPr>
          <a:xfrm>
            <a:off x="4337914"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232D3B"/>
                </a:solidFill>
                <a:latin typeface="Aptos" pitchFamily="34" charset="0"/>
                <a:ea typeface="Aptos" pitchFamily="34" charset="-122"/>
                <a:cs typeface="Aptos" pitchFamily="34" charset="-120"/>
              </a:rPr>
              <a:t>A</a:t>
            </a:r>
            <a:endParaRPr lang="en-US" sz="1500" dirty="0"/>
          </a:p>
        </p:txBody>
      </p:sp>
      <p:sp>
        <p:nvSpPr>
          <p:cNvPr id="52" name="Text 50"/>
          <p:cNvSpPr/>
          <p:nvPr/>
        </p:nvSpPr>
        <p:spPr>
          <a:xfrm>
            <a:off x="4337914"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8</a:t>
            </a:r>
            <a:endParaRPr lang="en-US" sz="1400" dirty="0"/>
          </a:p>
        </p:txBody>
      </p:sp>
      <p:sp>
        <p:nvSpPr>
          <p:cNvPr id="53" name="Text 51"/>
          <p:cNvSpPr/>
          <p:nvPr/>
        </p:nvSpPr>
        <p:spPr>
          <a:xfrm>
            <a:off x="4774997"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10</a:t>
            </a:r>
            <a:endParaRPr lang="en-US" sz="1400" dirty="0"/>
          </a:p>
        </p:txBody>
      </p:sp>
      <p:sp>
        <p:nvSpPr>
          <p:cNvPr id="54" name="Shape 52"/>
          <p:cNvSpPr/>
          <p:nvPr/>
        </p:nvSpPr>
        <p:spPr>
          <a:xfrm>
            <a:off x="4774997" y="3712464"/>
            <a:ext cx="384048" cy="484632"/>
          </a:xfrm>
          <a:prstGeom prst="rect">
            <a:avLst/>
          </a:prstGeom>
          <a:solidFill>
            <a:srgbClr val="FFFFFF"/>
          </a:solidFill>
          <a:ln w="7620">
            <a:solidFill>
              <a:srgbClr val="FFFFFF"/>
            </a:solidFill>
            <a:prstDash val="solid"/>
          </a:ln>
        </p:spPr>
      </p:sp>
      <p:sp>
        <p:nvSpPr>
          <p:cNvPr id="55" name="Text 53"/>
          <p:cNvSpPr/>
          <p:nvPr/>
        </p:nvSpPr>
        <p:spPr>
          <a:xfrm>
            <a:off x="4774997"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232D3B"/>
                </a:solidFill>
                <a:latin typeface="Aptos" pitchFamily="34" charset="0"/>
                <a:ea typeface="Aptos" pitchFamily="34" charset="-122"/>
                <a:cs typeface="Aptos" pitchFamily="34" charset="-120"/>
              </a:rPr>
              <a:t>A</a:t>
            </a:r>
            <a:endParaRPr lang="en-US" sz="1500" dirty="0"/>
          </a:p>
        </p:txBody>
      </p:sp>
      <p:sp>
        <p:nvSpPr>
          <p:cNvPr id="56" name="Text 54"/>
          <p:cNvSpPr/>
          <p:nvPr/>
        </p:nvSpPr>
        <p:spPr>
          <a:xfrm>
            <a:off x="4774997"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9</a:t>
            </a:r>
            <a:endParaRPr lang="en-US" sz="1400" dirty="0"/>
          </a:p>
        </p:txBody>
      </p:sp>
      <p:sp>
        <p:nvSpPr>
          <p:cNvPr id="57" name="Text 55"/>
          <p:cNvSpPr/>
          <p:nvPr/>
        </p:nvSpPr>
        <p:spPr>
          <a:xfrm>
            <a:off x="841248" y="5157216"/>
            <a:ext cx="4471416" cy="612648"/>
          </a:xfrm>
          <a:prstGeom prst="rect">
            <a:avLst/>
          </a:prstGeom>
          <a:noFill/>
          <a:ln/>
        </p:spPr>
        <p:txBody>
          <a:bodyPr wrap="square" lIns="0" tIns="0" rIns="0" bIns="0" rtlCol="0" anchor="ctr">
            <a:normAutofit/>
          </a:bodyPr>
          <a:lstStyle/>
          <a:p>
            <a:pPr algn="ctr" indent="0" marL="0">
              <a:buNone/>
            </a:pPr>
            <a:r>
              <a:rPr lang="en-US" sz="1534" dirty="0">
                <a:solidFill>
                  <a:srgbClr val="526171"/>
                </a:solidFill>
                <a:latin typeface="Aptos" pitchFamily="34" charset="0"/>
                <a:ea typeface="Aptos" pitchFamily="34" charset="-122"/>
                <a:cs typeface="Aptos" pitchFamily="34" charset="-120"/>
              </a:rPr>
              <a:t>1-based positions above / 0-based indices below</a:t>
            </a:r>
            <a:endParaRPr lang="en-US" sz="153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Keep the interval length invariant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S04  |  7</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Inclusive length = end - start + 1.</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BED length = end - start.</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To convert a positive-length BED interval, add one to start only.</a:t>
            </a:r>
            <a:endParaRPr lang="en-US" sz="2297" dirty="0"/>
          </a:p>
        </p:txBody>
      </p:sp>
      <p:sp>
        <p:nvSpPr>
          <p:cNvPr id="16" name="Text 14"/>
          <p:cNvSpPr/>
          <p:nvPr/>
        </p:nvSpPr>
        <p:spPr>
          <a:xfrm>
            <a:off x="841248" y="2889504"/>
            <a:ext cx="4471416" cy="1828800"/>
          </a:xfrm>
          <a:prstGeom prst="rect">
            <a:avLst/>
          </a:prstGeom>
          <a:noFill/>
          <a:ln/>
        </p:spPr>
        <p:txBody>
          <a:bodyPr wrap="square" lIns="0" tIns="0" rIns="0" bIns="0" rtlCol="0" anchor="ctr">
            <a:normAutofit/>
          </a:bodyPr>
          <a:lstStyle/>
          <a:p>
            <a:pPr algn="ctr" indent="0" marL="0">
              <a:buNone/>
            </a:pPr>
            <a:r>
              <a:rPr lang="en-US" sz="2797" b="1" dirty="0">
                <a:solidFill>
                  <a:srgbClr val="2A78D6"/>
                </a:solidFill>
                <a:latin typeface="Aptos" pitchFamily="34" charset="0"/>
                <a:ea typeface="Aptos" pitchFamily="34" charset="-122"/>
                <a:cs typeface="Aptos" pitchFamily="34" charset="-120"/>
              </a:rPr>
              <a:t>BED [2, 7)  &lt;-&gt;  inclusive [3, 7]</a:t>
            </a:r>
            <a:endParaRPr lang="en-US" sz="2797" dirty="0"/>
          </a:p>
        </p:txBody>
      </p:sp>
      <p:sp>
        <p:nvSpPr>
          <p:cNvPr id="17" name="Text 15"/>
          <p:cNvSpPr/>
          <p:nvPr/>
        </p:nvSpPr>
        <p:spPr>
          <a:xfrm>
            <a:off x="841248" y="4992624"/>
            <a:ext cx="4471416" cy="548640"/>
          </a:xfrm>
          <a:prstGeom prst="rect">
            <a:avLst/>
          </a:prstGeom>
          <a:noFill/>
          <a:ln/>
        </p:spPr>
        <p:txBody>
          <a:bodyPr wrap="square" lIns="0" tIns="0" rIns="0" bIns="0" rtlCol="0" anchor="ctr">
            <a:normAutofit/>
          </a:bodyPr>
          <a:lstStyle/>
          <a:p>
            <a:pPr algn="ctr" indent="0" marL="0">
              <a:buNone/>
            </a:pPr>
            <a:r>
              <a:rPr lang="en-US" sz="1763" dirty="0">
                <a:solidFill>
                  <a:srgbClr val="526171"/>
                </a:solidFill>
                <a:latin typeface="Aptos" pitchFamily="34" charset="0"/>
                <a:ea typeface="Aptos" pitchFamily="34" charset="-122"/>
                <a:cs typeface="Aptos" pitchFamily="34" charset="-120"/>
              </a:rPr>
              <a:t>State the units and the assumptions.</a:t>
            </a:r>
            <a:endParaRPr lang="en-US" sz="176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Why adjacency is not overlap</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S04  |  8</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BED [0, 5) contains indices 0, 1, 2, 3, 4.</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BED [5, 8) contains indices 5, 6, 7.</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These intervals touch but share no base.</a:t>
            </a:r>
            <a:endParaRPr lang="en-US" sz="2297" dirty="0"/>
          </a:p>
        </p:txBody>
      </p:sp>
      <p:sp>
        <p:nvSpPr>
          <p:cNvPr id="16" name="Text 14"/>
          <p:cNvSpPr/>
          <p:nvPr/>
        </p:nvSpPr>
        <p:spPr>
          <a:xfrm>
            <a:off x="841248" y="2157984"/>
            <a:ext cx="4471416" cy="502920"/>
          </a:xfrm>
          <a:prstGeom prst="rect">
            <a:avLst/>
          </a:prstGeom>
          <a:noFill/>
          <a:ln/>
        </p:spPr>
        <p:txBody>
          <a:bodyPr wrap="square" lIns="0" tIns="0" rIns="0" bIns="0" rtlCol="0" anchor="ctr">
            <a:normAutofit/>
          </a:bodyPr>
          <a:lstStyle/>
          <a:p>
            <a:pPr indent="0" marL="0">
              <a:buNone/>
            </a:pPr>
            <a:r>
              <a:rPr lang="en-US" sz="2000" b="1" dirty="0">
                <a:solidFill>
                  <a:srgbClr val="2A78D6"/>
                </a:solidFill>
                <a:latin typeface="Aptos" pitchFamily="34" charset="0"/>
                <a:ea typeface="Aptos" pitchFamily="34" charset="-122"/>
                <a:cs typeface="Aptos" pitchFamily="34" charset="-120"/>
              </a:rPr>
              <a:t>Same bases. Different ruler.</a:t>
            </a:r>
            <a:endParaRPr lang="en-US" sz="2000" dirty="0"/>
          </a:p>
        </p:txBody>
      </p:sp>
      <p:sp>
        <p:nvSpPr>
          <p:cNvPr id="17" name="Text 15"/>
          <p:cNvSpPr/>
          <p:nvPr/>
        </p:nvSpPr>
        <p:spPr>
          <a:xfrm>
            <a:off x="841248"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1</a:t>
            </a:r>
            <a:endParaRPr lang="en-US" sz="1400" dirty="0"/>
          </a:p>
        </p:txBody>
      </p:sp>
      <p:sp>
        <p:nvSpPr>
          <p:cNvPr id="18" name="Shape 16"/>
          <p:cNvSpPr/>
          <p:nvPr/>
        </p:nvSpPr>
        <p:spPr>
          <a:xfrm>
            <a:off x="841248" y="3712464"/>
            <a:ext cx="384048" cy="484632"/>
          </a:xfrm>
          <a:prstGeom prst="rect">
            <a:avLst/>
          </a:prstGeom>
          <a:solidFill>
            <a:srgbClr val="FFFFFF"/>
          </a:solidFill>
          <a:ln w="7620">
            <a:solidFill>
              <a:srgbClr val="FFFFFF"/>
            </a:solidFill>
            <a:prstDash val="solid"/>
          </a:ln>
        </p:spPr>
      </p:sp>
      <p:sp>
        <p:nvSpPr>
          <p:cNvPr id="19" name="Text 17"/>
          <p:cNvSpPr/>
          <p:nvPr/>
        </p:nvSpPr>
        <p:spPr>
          <a:xfrm>
            <a:off x="841248"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232D3B"/>
                </a:solidFill>
                <a:latin typeface="Aptos" pitchFamily="34" charset="0"/>
                <a:ea typeface="Aptos" pitchFamily="34" charset="-122"/>
                <a:cs typeface="Aptos" pitchFamily="34" charset="-120"/>
              </a:rPr>
              <a:t>A</a:t>
            </a:r>
            <a:endParaRPr lang="en-US" sz="1500" dirty="0"/>
          </a:p>
        </p:txBody>
      </p:sp>
      <p:sp>
        <p:nvSpPr>
          <p:cNvPr id="20" name="Text 18"/>
          <p:cNvSpPr/>
          <p:nvPr/>
        </p:nvSpPr>
        <p:spPr>
          <a:xfrm>
            <a:off x="841248"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0</a:t>
            </a:r>
            <a:endParaRPr lang="en-US" sz="1400" dirty="0"/>
          </a:p>
        </p:txBody>
      </p:sp>
      <p:sp>
        <p:nvSpPr>
          <p:cNvPr id="21" name="Text 19"/>
          <p:cNvSpPr/>
          <p:nvPr/>
        </p:nvSpPr>
        <p:spPr>
          <a:xfrm>
            <a:off x="1278331"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2</a:t>
            </a:r>
            <a:endParaRPr lang="en-US" sz="1400" dirty="0"/>
          </a:p>
        </p:txBody>
      </p:sp>
      <p:sp>
        <p:nvSpPr>
          <p:cNvPr id="22" name="Shape 20"/>
          <p:cNvSpPr/>
          <p:nvPr/>
        </p:nvSpPr>
        <p:spPr>
          <a:xfrm>
            <a:off x="1278331" y="3712464"/>
            <a:ext cx="384048" cy="484632"/>
          </a:xfrm>
          <a:prstGeom prst="rect">
            <a:avLst/>
          </a:prstGeom>
          <a:solidFill>
            <a:srgbClr val="FFFFFF"/>
          </a:solidFill>
          <a:ln w="7620">
            <a:solidFill>
              <a:srgbClr val="FFFFFF"/>
            </a:solidFill>
            <a:prstDash val="solid"/>
          </a:ln>
        </p:spPr>
      </p:sp>
      <p:sp>
        <p:nvSpPr>
          <p:cNvPr id="23" name="Text 21"/>
          <p:cNvSpPr/>
          <p:nvPr/>
        </p:nvSpPr>
        <p:spPr>
          <a:xfrm>
            <a:off x="1278331"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232D3B"/>
                </a:solidFill>
                <a:latin typeface="Aptos" pitchFamily="34" charset="0"/>
                <a:ea typeface="Aptos" pitchFamily="34" charset="-122"/>
                <a:cs typeface="Aptos" pitchFamily="34" charset="-120"/>
              </a:rPr>
              <a:t>C</a:t>
            </a:r>
            <a:endParaRPr lang="en-US" sz="1500" dirty="0"/>
          </a:p>
        </p:txBody>
      </p:sp>
      <p:sp>
        <p:nvSpPr>
          <p:cNvPr id="24" name="Text 22"/>
          <p:cNvSpPr/>
          <p:nvPr/>
        </p:nvSpPr>
        <p:spPr>
          <a:xfrm>
            <a:off x="1278331"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1</a:t>
            </a:r>
            <a:endParaRPr lang="en-US" sz="1400" dirty="0"/>
          </a:p>
        </p:txBody>
      </p:sp>
      <p:sp>
        <p:nvSpPr>
          <p:cNvPr id="25" name="Text 23"/>
          <p:cNvSpPr/>
          <p:nvPr/>
        </p:nvSpPr>
        <p:spPr>
          <a:xfrm>
            <a:off x="1715414"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3</a:t>
            </a:r>
            <a:endParaRPr lang="en-US" sz="1400" dirty="0"/>
          </a:p>
        </p:txBody>
      </p:sp>
      <p:sp>
        <p:nvSpPr>
          <p:cNvPr id="26" name="Shape 24"/>
          <p:cNvSpPr/>
          <p:nvPr/>
        </p:nvSpPr>
        <p:spPr>
          <a:xfrm>
            <a:off x="1715414" y="3712464"/>
            <a:ext cx="384048" cy="484632"/>
          </a:xfrm>
          <a:prstGeom prst="rect">
            <a:avLst/>
          </a:prstGeom>
          <a:solidFill>
            <a:srgbClr val="2A78D6"/>
          </a:solidFill>
          <a:ln w="7620">
            <a:solidFill>
              <a:srgbClr val="2A78D6"/>
            </a:solidFill>
            <a:prstDash val="solid"/>
          </a:ln>
        </p:spPr>
      </p:sp>
      <p:sp>
        <p:nvSpPr>
          <p:cNvPr id="27" name="Text 25"/>
          <p:cNvSpPr/>
          <p:nvPr/>
        </p:nvSpPr>
        <p:spPr>
          <a:xfrm>
            <a:off x="1715414"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G</a:t>
            </a:r>
            <a:endParaRPr lang="en-US" sz="1500" dirty="0"/>
          </a:p>
        </p:txBody>
      </p:sp>
      <p:sp>
        <p:nvSpPr>
          <p:cNvPr id="28" name="Text 26"/>
          <p:cNvSpPr/>
          <p:nvPr/>
        </p:nvSpPr>
        <p:spPr>
          <a:xfrm>
            <a:off x="1715414"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2</a:t>
            </a:r>
            <a:endParaRPr lang="en-US" sz="1400" dirty="0"/>
          </a:p>
        </p:txBody>
      </p:sp>
      <p:sp>
        <p:nvSpPr>
          <p:cNvPr id="29" name="Text 27"/>
          <p:cNvSpPr/>
          <p:nvPr/>
        </p:nvSpPr>
        <p:spPr>
          <a:xfrm>
            <a:off x="2152498"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4</a:t>
            </a:r>
            <a:endParaRPr lang="en-US" sz="1400" dirty="0"/>
          </a:p>
        </p:txBody>
      </p:sp>
      <p:sp>
        <p:nvSpPr>
          <p:cNvPr id="30" name="Shape 28"/>
          <p:cNvSpPr/>
          <p:nvPr/>
        </p:nvSpPr>
        <p:spPr>
          <a:xfrm>
            <a:off x="2152498" y="3712464"/>
            <a:ext cx="384048" cy="484632"/>
          </a:xfrm>
          <a:prstGeom prst="rect">
            <a:avLst/>
          </a:prstGeom>
          <a:solidFill>
            <a:srgbClr val="2A78D6"/>
          </a:solidFill>
          <a:ln w="7620">
            <a:solidFill>
              <a:srgbClr val="2A78D6"/>
            </a:solidFill>
            <a:prstDash val="solid"/>
          </a:ln>
        </p:spPr>
      </p:sp>
      <p:sp>
        <p:nvSpPr>
          <p:cNvPr id="31" name="Text 29"/>
          <p:cNvSpPr/>
          <p:nvPr/>
        </p:nvSpPr>
        <p:spPr>
          <a:xfrm>
            <a:off x="2152498"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a:t>
            </a:r>
            <a:endParaRPr lang="en-US" sz="1500" dirty="0"/>
          </a:p>
        </p:txBody>
      </p:sp>
      <p:sp>
        <p:nvSpPr>
          <p:cNvPr id="32" name="Text 30"/>
          <p:cNvSpPr/>
          <p:nvPr/>
        </p:nvSpPr>
        <p:spPr>
          <a:xfrm>
            <a:off x="2152498"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3</a:t>
            </a:r>
            <a:endParaRPr lang="en-US" sz="1400" dirty="0"/>
          </a:p>
        </p:txBody>
      </p:sp>
      <p:sp>
        <p:nvSpPr>
          <p:cNvPr id="33" name="Text 31"/>
          <p:cNvSpPr/>
          <p:nvPr/>
        </p:nvSpPr>
        <p:spPr>
          <a:xfrm>
            <a:off x="2589581"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5</a:t>
            </a:r>
            <a:endParaRPr lang="en-US" sz="1400" dirty="0"/>
          </a:p>
        </p:txBody>
      </p:sp>
      <p:sp>
        <p:nvSpPr>
          <p:cNvPr id="34" name="Shape 32"/>
          <p:cNvSpPr/>
          <p:nvPr/>
        </p:nvSpPr>
        <p:spPr>
          <a:xfrm>
            <a:off x="2589581" y="3712464"/>
            <a:ext cx="384048" cy="484632"/>
          </a:xfrm>
          <a:prstGeom prst="rect">
            <a:avLst/>
          </a:prstGeom>
          <a:solidFill>
            <a:srgbClr val="2A78D6"/>
          </a:solidFill>
          <a:ln w="7620">
            <a:solidFill>
              <a:srgbClr val="2A78D6"/>
            </a:solidFill>
            <a:prstDash val="solid"/>
          </a:ln>
        </p:spPr>
      </p:sp>
      <p:sp>
        <p:nvSpPr>
          <p:cNvPr id="35" name="Text 33"/>
          <p:cNvSpPr/>
          <p:nvPr/>
        </p:nvSpPr>
        <p:spPr>
          <a:xfrm>
            <a:off x="2589581"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a:t>
            </a:r>
            <a:endParaRPr lang="en-US" sz="1500" dirty="0"/>
          </a:p>
        </p:txBody>
      </p:sp>
      <p:sp>
        <p:nvSpPr>
          <p:cNvPr id="36" name="Text 34"/>
          <p:cNvSpPr/>
          <p:nvPr/>
        </p:nvSpPr>
        <p:spPr>
          <a:xfrm>
            <a:off x="2589581"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4</a:t>
            </a:r>
            <a:endParaRPr lang="en-US" sz="1400" dirty="0"/>
          </a:p>
        </p:txBody>
      </p:sp>
      <p:sp>
        <p:nvSpPr>
          <p:cNvPr id="37" name="Text 35"/>
          <p:cNvSpPr/>
          <p:nvPr/>
        </p:nvSpPr>
        <p:spPr>
          <a:xfrm>
            <a:off x="3026664"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6</a:t>
            </a:r>
            <a:endParaRPr lang="en-US" sz="1400" dirty="0"/>
          </a:p>
        </p:txBody>
      </p:sp>
      <p:sp>
        <p:nvSpPr>
          <p:cNvPr id="38" name="Shape 36"/>
          <p:cNvSpPr/>
          <p:nvPr/>
        </p:nvSpPr>
        <p:spPr>
          <a:xfrm>
            <a:off x="3026664" y="3712464"/>
            <a:ext cx="384048" cy="484632"/>
          </a:xfrm>
          <a:prstGeom prst="rect">
            <a:avLst/>
          </a:prstGeom>
          <a:solidFill>
            <a:srgbClr val="2A78D6"/>
          </a:solidFill>
          <a:ln w="7620">
            <a:solidFill>
              <a:srgbClr val="2A78D6"/>
            </a:solidFill>
            <a:prstDash val="solid"/>
          </a:ln>
        </p:spPr>
      </p:sp>
      <p:sp>
        <p:nvSpPr>
          <p:cNvPr id="39" name="Text 37"/>
          <p:cNvSpPr/>
          <p:nvPr/>
        </p:nvSpPr>
        <p:spPr>
          <a:xfrm>
            <a:off x="3026664"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a:t>
            </a:r>
            <a:endParaRPr lang="en-US" sz="1500" dirty="0"/>
          </a:p>
        </p:txBody>
      </p:sp>
      <p:sp>
        <p:nvSpPr>
          <p:cNvPr id="40" name="Text 38"/>
          <p:cNvSpPr/>
          <p:nvPr/>
        </p:nvSpPr>
        <p:spPr>
          <a:xfrm>
            <a:off x="3026664"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5</a:t>
            </a:r>
            <a:endParaRPr lang="en-US" sz="1400" dirty="0"/>
          </a:p>
        </p:txBody>
      </p:sp>
      <p:sp>
        <p:nvSpPr>
          <p:cNvPr id="41" name="Text 39"/>
          <p:cNvSpPr/>
          <p:nvPr/>
        </p:nvSpPr>
        <p:spPr>
          <a:xfrm>
            <a:off x="3463747"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7</a:t>
            </a:r>
            <a:endParaRPr lang="en-US" sz="1400" dirty="0"/>
          </a:p>
        </p:txBody>
      </p:sp>
      <p:sp>
        <p:nvSpPr>
          <p:cNvPr id="42" name="Shape 40"/>
          <p:cNvSpPr/>
          <p:nvPr/>
        </p:nvSpPr>
        <p:spPr>
          <a:xfrm>
            <a:off x="3463747" y="3712464"/>
            <a:ext cx="384048" cy="484632"/>
          </a:xfrm>
          <a:prstGeom prst="rect">
            <a:avLst/>
          </a:prstGeom>
          <a:solidFill>
            <a:srgbClr val="2A78D6"/>
          </a:solidFill>
          <a:ln w="7620">
            <a:solidFill>
              <a:srgbClr val="2A78D6"/>
            </a:solidFill>
            <a:prstDash val="solid"/>
          </a:ln>
        </p:spPr>
      </p:sp>
      <p:sp>
        <p:nvSpPr>
          <p:cNvPr id="43" name="Text 41"/>
          <p:cNvSpPr/>
          <p:nvPr/>
        </p:nvSpPr>
        <p:spPr>
          <a:xfrm>
            <a:off x="3463747"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G</a:t>
            </a:r>
            <a:endParaRPr lang="en-US" sz="1500" dirty="0"/>
          </a:p>
        </p:txBody>
      </p:sp>
      <p:sp>
        <p:nvSpPr>
          <p:cNvPr id="44" name="Text 42"/>
          <p:cNvSpPr/>
          <p:nvPr/>
        </p:nvSpPr>
        <p:spPr>
          <a:xfrm>
            <a:off x="3463747"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6</a:t>
            </a:r>
            <a:endParaRPr lang="en-US" sz="1400" dirty="0"/>
          </a:p>
        </p:txBody>
      </p:sp>
      <p:sp>
        <p:nvSpPr>
          <p:cNvPr id="45" name="Text 43"/>
          <p:cNvSpPr/>
          <p:nvPr/>
        </p:nvSpPr>
        <p:spPr>
          <a:xfrm>
            <a:off x="3900830"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8</a:t>
            </a:r>
            <a:endParaRPr lang="en-US" sz="1400" dirty="0"/>
          </a:p>
        </p:txBody>
      </p:sp>
      <p:sp>
        <p:nvSpPr>
          <p:cNvPr id="46" name="Shape 44"/>
          <p:cNvSpPr/>
          <p:nvPr/>
        </p:nvSpPr>
        <p:spPr>
          <a:xfrm>
            <a:off x="3900830" y="3712464"/>
            <a:ext cx="384048" cy="484632"/>
          </a:xfrm>
          <a:prstGeom prst="rect">
            <a:avLst/>
          </a:prstGeom>
          <a:solidFill>
            <a:srgbClr val="FFFFFF"/>
          </a:solidFill>
          <a:ln w="7620">
            <a:solidFill>
              <a:srgbClr val="FFFFFF"/>
            </a:solidFill>
            <a:prstDash val="solid"/>
          </a:ln>
        </p:spPr>
      </p:sp>
      <p:sp>
        <p:nvSpPr>
          <p:cNvPr id="47" name="Text 45"/>
          <p:cNvSpPr/>
          <p:nvPr/>
        </p:nvSpPr>
        <p:spPr>
          <a:xfrm>
            <a:off x="3900830"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232D3B"/>
                </a:solidFill>
                <a:latin typeface="Aptos" pitchFamily="34" charset="0"/>
                <a:ea typeface="Aptos" pitchFamily="34" charset="-122"/>
                <a:cs typeface="Aptos" pitchFamily="34" charset="-120"/>
              </a:rPr>
              <a:t>T</a:t>
            </a:r>
            <a:endParaRPr lang="en-US" sz="1500" dirty="0"/>
          </a:p>
        </p:txBody>
      </p:sp>
      <p:sp>
        <p:nvSpPr>
          <p:cNvPr id="48" name="Text 46"/>
          <p:cNvSpPr/>
          <p:nvPr/>
        </p:nvSpPr>
        <p:spPr>
          <a:xfrm>
            <a:off x="3900830"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7</a:t>
            </a:r>
            <a:endParaRPr lang="en-US" sz="1400" dirty="0"/>
          </a:p>
        </p:txBody>
      </p:sp>
      <p:sp>
        <p:nvSpPr>
          <p:cNvPr id="49" name="Text 47"/>
          <p:cNvSpPr/>
          <p:nvPr/>
        </p:nvSpPr>
        <p:spPr>
          <a:xfrm>
            <a:off x="4337914"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9</a:t>
            </a:r>
            <a:endParaRPr lang="en-US" sz="1400" dirty="0"/>
          </a:p>
        </p:txBody>
      </p:sp>
      <p:sp>
        <p:nvSpPr>
          <p:cNvPr id="50" name="Shape 48"/>
          <p:cNvSpPr/>
          <p:nvPr/>
        </p:nvSpPr>
        <p:spPr>
          <a:xfrm>
            <a:off x="4337914" y="3712464"/>
            <a:ext cx="384048" cy="484632"/>
          </a:xfrm>
          <a:prstGeom prst="rect">
            <a:avLst/>
          </a:prstGeom>
          <a:solidFill>
            <a:srgbClr val="FFFFFF"/>
          </a:solidFill>
          <a:ln w="7620">
            <a:solidFill>
              <a:srgbClr val="FFFFFF"/>
            </a:solidFill>
            <a:prstDash val="solid"/>
          </a:ln>
        </p:spPr>
      </p:sp>
      <p:sp>
        <p:nvSpPr>
          <p:cNvPr id="51" name="Text 49"/>
          <p:cNvSpPr/>
          <p:nvPr/>
        </p:nvSpPr>
        <p:spPr>
          <a:xfrm>
            <a:off x="4337914"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232D3B"/>
                </a:solidFill>
                <a:latin typeface="Aptos" pitchFamily="34" charset="0"/>
                <a:ea typeface="Aptos" pitchFamily="34" charset="-122"/>
                <a:cs typeface="Aptos" pitchFamily="34" charset="-120"/>
              </a:rPr>
              <a:t>A</a:t>
            </a:r>
            <a:endParaRPr lang="en-US" sz="1500" dirty="0"/>
          </a:p>
        </p:txBody>
      </p:sp>
      <p:sp>
        <p:nvSpPr>
          <p:cNvPr id="52" name="Text 50"/>
          <p:cNvSpPr/>
          <p:nvPr/>
        </p:nvSpPr>
        <p:spPr>
          <a:xfrm>
            <a:off x="4337914"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8</a:t>
            </a:r>
            <a:endParaRPr lang="en-US" sz="1400" dirty="0"/>
          </a:p>
        </p:txBody>
      </p:sp>
      <p:sp>
        <p:nvSpPr>
          <p:cNvPr id="53" name="Text 51"/>
          <p:cNvSpPr/>
          <p:nvPr/>
        </p:nvSpPr>
        <p:spPr>
          <a:xfrm>
            <a:off x="4774997"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10</a:t>
            </a:r>
            <a:endParaRPr lang="en-US" sz="1400" dirty="0"/>
          </a:p>
        </p:txBody>
      </p:sp>
      <p:sp>
        <p:nvSpPr>
          <p:cNvPr id="54" name="Shape 52"/>
          <p:cNvSpPr/>
          <p:nvPr/>
        </p:nvSpPr>
        <p:spPr>
          <a:xfrm>
            <a:off x="4774997" y="3712464"/>
            <a:ext cx="384048" cy="484632"/>
          </a:xfrm>
          <a:prstGeom prst="rect">
            <a:avLst/>
          </a:prstGeom>
          <a:solidFill>
            <a:srgbClr val="FFFFFF"/>
          </a:solidFill>
          <a:ln w="7620">
            <a:solidFill>
              <a:srgbClr val="FFFFFF"/>
            </a:solidFill>
            <a:prstDash val="solid"/>
          </a:ln>
        </p:spPr>
      </p:sp>
      <p:sp>
        <p:nvSpPr>
          <p:cNvPr id="55" name="Text 53"/>
          <p:cNvSpPr/>
          <p:nvPr/>
        </p:nvSpPr>
        <p:spPr>
          <a:xfrm>
            <a:off x="4774997"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232D3B"/>
                </a:solidFill>
                <a:latin typeface="Aptos" pitchFamily="34" charset="0"/>
                <a:ea typeface="Aptos" pitchFamily="34" charset="-122"/>
                <a:cs typeface="Aptos" pitchFamily="34" charset="-120"/>
              </a:rPr>
              <a:t>A</a:t>
            </a:r>
            <a:endParaRPr lang="en-US" sz="1500" dirty="0"/>
          </a:p>
        </p:txBody>
      </p:sp>
      <p:sp>
        <p:nvSpPr>
          <p:cNvPr id="56" name="Text 54"/>
          <p:cNvSpPr/>
          <p:nvPr/>
        </p:nvSpPr>
        <p:spPr>
          <a:xfrm>
            <a:off x="4774997"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9</a:t>
            </a:r>
            <a:endParaRPr lang="en-US" sz="1400" dirty="0"/>
          </a:p>
        </p:txBody>
      </p:sp>
      <p:sp>
        <p:nvSpPr>
          <p:cNvPr id="57" name="Text 55"/>
          <p:cNvSpPr/>
          <p:nvPr/>
        </p:nvSpPr>
        <p:spPr>
          <a:xfrm>
            <a:off x="841248" y="5157216"/>
            <a:ext cx="4471416" cy="612648"/>
          </a:xfrm>
          <a:prstGeom prst="rect">
            <a:avLst/>
          </a:prstGeom>
          <a:noFill/>
          <a:ln/>
        </p:spPr>
        <p:txBody>
          <a:bodyPr wrap="square" lIns="0" tIns="0" rIns="0" bIns="0" rtlCol="0" anchor="ctr">
            <a:normAutofit/>
          </a:bodyPr>
          <a:lstStyle/>
          <a:p>
            <a:pPr algn="ctr" indent="0" marL="0">
              <a:buNone/>
            </a:pPr>
            <a:r>
              <a:rPr lang="en-US" sz="1534" dirty="0">
                <a:solidFill>
                  <a:srgbClr val="526171"/>
                </a:solidFill>
                <a:latin typeface="Aptos" pitchFamily="34" charset="0"/>
                <a:ea typeface="Aptos" pitchFamily="34" charset="-122"/>
                <a:cs typeface="Aptos" pitchFamily="34" charset="-120"/>
              </a:rPr>
              <a:t>1-based positions above / 0-based indices below</a:t>
            </a:r>
            <a:endParaRPr lang="en-US" sz="153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Reference version versus chromosome name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S04  |  9</a:t>
            </a:r>
            <a:endParaRPr lang="en-US" sz="800" dirty="0"/>
          </a:p>
        </p:txBody>
      </p:sp>
      <p:sp>
        <p:nvSpPr>
          <p:cNvPr id="9" name="Shape 7"/>
          <p:cNvSpPr/>
          <p:nvPr/>
        </p:nvSpPr>
        <p:spPr>
          <a:xfrm>
            <a:off x="594360" y="1865376"/>
            <a:ext cx="5321808" cy="1024128"/>
          </a:xfrm>
          <a:prstGeom prst="rect">
            <a:avLst/>
          </a:prstGeom>
          <a:solidFill>
            <a:srgbClr val="EAF2FC"/>
          </a:solidFill>
          <a:ln w="7620">
            <a:solidFill>
              <a:srgbClr val="EAF2FC"/>
            </a:solidFill>
            <a:prstDash val="solid"/>
          </a:ln>
        </p:spPr>
      </p:sp>
      <p:sp>
        <p:nvSpPr>
          <p:cNvPr id="10" name="Shape 8"/>
          <p:cNvSpPr/>
          <p:nvPr/>
        </p:nvSpPr>
        <p:spPr>
          <a:xfrm>
            <a:off x="6199632" y="1865376"/>
            <a:ext cx="5321808" cy="1024128"/>
          </a:xfrm>
          <a:prstGeom prst="rect">
            <a:avLst/>
          </a:prstGeom>
          <a:solidFill>
            <a:srgbClr val="FFF0E8"/>
          </a:solidFill>
          <a:ln w="7620">
            <a:solidFill>
              <a:srgbClr val="FFF0E8"/>
            </a:solidFill>
            <a:prstDash val="solid"/>
          </a:ln>
        </p:spPr>
      </p:sp>
      <p:sp>
        <p:nvSpPr>
          <p:cNvPr id="11" name="Text 9"/>
          <p:cNvSpPr/>
          <p:nvPr/>
        </p:nvSpPr>
        <p:spPr>
          <a:xfrm>
            <a:off x="822960"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2A78D6"/>
                </a:solidFill>
                <a:latin typeface="Aptos" pitchFamily="34" charset="0"/>
                <a:ea typeface="Aptos" pitchFamily="34" charset="-122"/>
                <a:cs typeface="Aptos" pitchFamily="34" charset="-120"/>
              </a:rPr>
              <a:t>Naming convention</a:t>
            </a:r>
            <a:endParaRPr lang="en-US" sz="2372" dirty="0"/>
          </a:p>
        </p:txBody>
      </p:sp>
      <p:sp>
        <p:nvSpPr>
          <p:cNvPr id="12" name="Text 10"/>
          <p:cNvSpPr/>
          <p:nvPr/>
        </p:nvSpPr>
        <p:spPr>
          <a:xfrm>
            <a:off x="6428232"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EB6834"/>
                </a:solidFill>
                <a:latin typeface="Aptos" pitchFamily="34" charset="0"/>
                <a:ea typeface="Aptos" pitchFamily="34" charset="-122"/>
                <a:cs typeface="Aptos" pitchFamily="34" charset="-120"/>
              </a:rPr>
              <a:t>Reference assembly</a:t>
            </a:r>
            <a:endParaRPr lang="en-US" sz="2372" dirty="0"/>
          </a:p>
        </p:txBody>
      </p:sp>
      <p:sp>
        <p:nvSpPr>
          <p:cNvPr id="13" name="Shape 11"/>
          <p:cNvSpPr/>
          <p:nvPr/>
        </p:nvSpPr>
        <p:spPr>
          <a:xfrm>
            <a:off x="658368" y="3218688"/>
            <a:ext cx="50292" cy="719328"/>
          </a:xfrm>
          <a:prstGeom prst="rect">
            <a:avLst/>
          </a:prstGeom>
          <a:solidFill>
            <a:srgbClr val="2A78D6"/>
          </a:solidFill>
          <a:ln w="7620">
            <a:solidFill>
              <a:srgbClr val="2A78D6"/>
            </a:solidFill>
            <a:prstDash val="solid"/>
          </a:ln>
        </p:spPr>
      </p:sp>
      <p:sp>
        <p:nvSpPr>
          <p:cNvPr id="14" name="Text 12"/>
          <p:cNvSpPr/>
          <p:nvPr/>
        </p:nvSpPr>
        <p:spPr>
          <a:xfrm>
            <a:off x="859536" y="3218688"/>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GRCh37 and GRCh38 are different human assemblies.</a:t>
            </a:r>
            <a:endParaRPr lang="en-US" sz="2297" dirty="0"/>
          </a:p>
        </p:txBody>
      </p:sp>
      <p:sp>
        <p:nvSpPr>
          <p:cNvPr id="15" name="Shape 13"/>
          <p:cNvSpPr/>
          <p:nvPr/>
        </p:nvSpPr>
        <p:spPr>
          <a:xfrm>
            <a:off x="658368" y="4139184"/>
            <a:ext cx="50292" cy="719328"/>
          </a:xfrm>
          <a:prstGeom prst="rect">
            <a:avLst/>
          </a:prstGeom>
          <a:solidFill>
            <a:srgbClr val="2A78D6"/>
          </a:solidFill>
          <a:ln w="7620">
            <a:solidFill>
              <a:srgbClr val="2A78D6"/>
            </a:solidFill>
            <a:prstDash val="solid"/>
          </a:ln>
        </p:spPr>
      </p:sp>
      <p:sp>
        <p:nvSpPr>
          <p:cNvPr id="16" name="Text 14"/>
          <p:cNvSpPr/>
          <p:nvPr/>
        </p:nvSpPr>
        <p:spPr>
          <a:xfrm>
            <a:off x="859536" y="4139184"/>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chr1 versus 1 can be a naming difference, not an assembly conversion.</a:t>
            </a:r>
            <a:endParaRPr lang="en-US" sz="2297" dirty="0"/>
          </a:p>
        </p:txBody>
      </p:sp>
      <p:sp>
        <p:nvSpPr>
          <p:cNvPr id="17" name="Shape 15"/>
          <p:cNvSpPr/>
          <p:nvPr/>
        </p:nvSpPr>
        <p:spPr>
          <a:xfrm>
            <a:off x="658368" y="5059680"/>
            <a:ext cx="50292" cy="719328"/>
          </a:xfrm>
          <a:prstGeom prst="rect">
            <a:avLst/>
          </a:prstGeom>
          <a:solidFill>
            <a:srgbClr val="2A78D6"/>
          </a:solidFill>
          <a:ln w="7620">
            <a:solidFill>
              <a:srgbClr val="2A78D6"/>
            </a:solidFill>
            <a:prstDash val="solid"/>
          </a:ln>
        </p:spPr>
      </p:sp>
      <p:sp>
        <p:nvSpPr>
          <p:cNvPr id="18" name="Text 16"/>
          <p:cNvSpPr/>
          <p:nvPr/>
        </p:nvSpPr>
        <p:spPr>
          <a:xfrm>
            <a:off x="859536" y="5059680"/>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Renaming a chromosome does not lift coordinates between assemblies.</a:t>
            </a:r>
            <a:endParaRPr lang="en-US" sz="229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text and binary formats carefully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10</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SAM text POS uses one-based positions.</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BAM stores coordinates internally using a different convention.</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software API may expose zero-based values even when the input file is one-based.</a:t>
            </a:r>
            <a:endParaRPr lang="en-US" sz="229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GENOMES: your reusable audit card</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11</a:t>
            </a:r>
            <a:endParaRPr lang="en-US" sz="800" dirty="0"/>
          </a:p>
        </p:txBody>
      </p:sp>
      <p:sp>
        <p:nvSpPr>
          <p:cNvPr id="9" name="Shape 7"/>
          <p:cNvSpPr/>
          <p:nvPr/>
        </p:nvSpPr>
        <p:spPr>
          <a:xfrm>
            <a:off x="603504" y="2011680"/>
            <a:ext cx="502920" cy="502920"/>
          </a:xfrm>
          <a:prstGeom prst="rect">
            <a:avLst/>
          </a:prstGeom>
          <a:solidFill>
            <a:srgbClr val="EAF2FC"/>
          </a:solidFill>
          <a:ln w="7620">
            <a:solidFill>
              <a:srgbClr val="EAF2FC"/>
            </a:solidFill>
            <a:prstDash val="solid"/>
          </a:ln>
        </p:spPr>
      </p:sp>
      <p:sp>
        <p:nvSpPr>
          <p:cNvPr id="10" name="Text 8"/>
          <p:cNvSpPr/>
          <p:nvPr/>
        </p:nvSpPr>
        <p:spPr>
          <a:xfrm>
            <a:off x="731520" y="2066544"/>
            <a:ext cx="246888" cy="365760"/>
          </a:xfrm>
          <a:prstGeom prst="rect">
            <a:avLst/>
          </a:prstGeom>
          <a:noFill/>
          <a:ln/>
        </p:spPr>
        <p:txBody>
          <a:bodyPr wrap="square" lIns="0" tIns="0" rIns="0" bIns="0" rtlCol="0" anchor="ctr">
            <a:normAutofit/>
          </a:bodyPr>
          <a:lstStyle/>
          <a:p>
            <a:pPr indent="0" marL="0">
              <a:buNone/>
            </a:pPr>
            <a:r>
              <a:rPr lang="en-US" sz="1700" b="1" dirty="0">
                <a:solidFill>
                  <a:srgbClr val="2A78D6"/>
                </a:solidFill>
                <a:latin typeface="Aptos" pitchFamily="34" charset="0"/>
                <a:ea typeface="Aptos" pitchFamily="34" charset="-122"/>
                <a:cs typeface="Aptos" pitchFamily="34" charset="-120"/>
              </a:rPr>
              <a:t>1</a:t>
            </a:r>
            <a:endParaRPr lang="en-US" sz="1700" dirty="0"/>
          </a:p>
        </p:txBody>
      </p:sp>
      <p:sp>
        <p:nvSpPr>
          <p:cNvPr id="11" name="Text 9"/>
          <p:cNvSpPr/>
          <p:nvPr/>
        </p:nvSpPr>
        <p:spPr>
          <a:xfrm>
            <a:off x="1353312" y="1911096"/>
            <a:ext cx="9829800" cy="94183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G: reference + annotation; E: environment + seed; N: dimensions.</a:t>
            </a:r>
            <a:endParaRPr lang="en-US" sz="2297" dirty="0"/>
          </a:p>
        </p:txBody>
      </p:sp>
      <p:sp>
        <p:nvSpPr>
          <p:cNvPr id="12" name="Shape 10"/>
          <p:cNvSpPr/>
          <p:nvPr/>
        </p:nvSpPr>
        <p:spPr>
          <a:xfrm>
            <a:off x="603504" y="3291840"/>
            <a:ext cx="502920" cy="502920"/>
          </a:xfrm>
          <a:prstGeom prst="rect">
            <a:avLst/>
          </a:prstGeom>
          <a:solidFill>
            <a:srgbClr val="EAF2FC"/>
          </a:solidFill>
          <a:ln w="7620">
            <a:solidFill>
              <a:srgbClr val="EAF2FC"/>
            </a:solidFill>
            <a:prstDash val="solid"/>
          </a:ln>
        </p:spPr>
      </p:sp>
      <p:sp>
        <p:nvSpPr>
          <p:cNvPr id="13" name="Text 11"/>
          <p:cNvSpPr/>
          <p:nvPr/>
        </p:nvSpPr>
        <p:spPr>
          <a:xfrm>
            <a:off x="731520" y="3346704"/>
            <a:ext cx="246888" cy="365760"/>
          </a:xfrm>
          <a:prstGeom prst="rect">
            <a:avLst/>
          </a:prstGeom>
          <a:noFill/>
          <a:ln/>
        </p:spPr>
        <p:txBody>
          <a:bodyPr wrap="square" lIns="0" tIns="0" rIns="0" bIns="0" rtlCol="0" anchor="ctr">
            <a:normAutofit/>
          </a:bodyPr>
          <a:lstStyle/>
          <a:p>
            <a:pPr indent="0" marL="0">
              <a:buNone/>
            </a:pPr>
            <a:r>
              <a:rPr lang="en-US" sz="1700" b="1" dirty="0">
                <a:solidFill>
                  <a:srgbClr val="2A78D6"/>
                </a:solidFill>
                <a:latin typeface="Aptos" pitchFamily="34" charset="0"/>
                <a:ea typeface="Aptos" pitchFamily="34" charset="-122"/>
                <a:cs typeface="Aptos" pitchFamily="34" charset="-120"/>
              </a:rPr>
              <a:t>2</a:t>
            </a:r>
            <a:endParaRPr lang="en-US" sz="1700" dirty="0"/>
          </a:p>
        </p:txBody>
      </p:sp>
      <p:sp>
        <p:nvSpPr>
          <p:cNvPr id="14" name="Text 12"/>
          <p:cNvSpPr/>
          <p:nvPr/>
        </p:nvSpPr>
        <p:spPr>
          <a:xfrm>
            <a:off x="1353312" y="3191256"/>
            <a:ext cx="9829800" cy="94183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O: coordinates; M: multiplicity + independent unit.</a:t>
            </a:r>
            <a:endParaRPr lang="en-US" sz="2297" dirty="0"/>
          </a:p>
        </p:txBody>
      </p:sp>
      <p:sp>
        <p:nvSpPr>
          <p:cNvPr id="15" name="Shape 13"/>
          <p:cNvSpPr/>
          <p:nvPr/>
        </p:nvSpPr>
        <p:spPr>
          <a:xfrm>
            <a:off x="603504" y="4572000"/>
            <a:ext cx="502920" cy="502920"/>
          </a:xfrm>
          <a:prstGeom prst="rect">
            <a:avLst/>
          </a:prstGeom>
          <a:solidFill>
            <a:srgbClr val="EAF2FC"/>
          </a:solidFill>
          <a:ln w="7620">
            <a:solidFill>
              <a:srgbClr val="EAF2FC"/>
            </a:solidFill>
            <a:prstDash val="solid"/>
          </a:ln>
        </p:spPr>
      </p:sp>
      <p:sp>
        <p:nvSpPr>
          <p:cNvPr id="16" name="Text 14"/>
          <p:cNvSpPr/>
          <p:nvPr/>
        </p:nvSpPr>
        <p:spPr>
          <a:xfrm>
            <a:off x="731520" y="4626864"/>
            <a:ext cx="246888" cy="365760"/>
          </a:xfrm>
          <a:prstGeom prst="rect">
            <a:avLst/>
          </a:prstGeom>
          <a:noFill/>
          <a:ln/>
        </p:spPr>
        <p:txBody>
          <a:bodyPr wrap="square" lIns="0" tIns="0" rIns="0" bIns="0" rtlCol="0" anchor="ctr">
            <a:normAutofit/>
          </a:bodyPr>
          <a:lstStyle/>
          <a:p>
            <a:pPr indent="0" marL="0">
              <a:buNone/>
            </a:pPr>
            <a:r>
              <a:rPr lang="en-US" sz="1700" b="1" dirty="0">
                <a:solidFill>
                  <a:srgbClr val="2A78D6"/>
                </a:solidFill>
                <a:latin typeface="Aptos" pitchFamily="34" charset="0"/>
                <a:ea typeface="Aptos" pitchFamily="34" charset="-122"/>
                <a:cs typeface="Aptos" pitchFamily="34" charset="-120"/>
              </a:rPr>
              <a:t>3</a:t>
            </a:r>
            <a:endParaRPr lang="en-US" sz="1700" dirty="0"/>
          </a:p>
        </p:txBody>
      </p:sp>
      <p:sp>
        <p:nvSpPr>
          <p:cNvPr id="17" name="Text 15"/>
          <p:cNvSpPr/>
          <p:nvPr/>
        </p:nvSpPr>
        <p:spPr>
          <a:xfrm>
            <a:off x="1353312" y="4471416"/>
            <a:ext cx="9829800" cy="941832"/>
          </a:xfrm>
          <a:prstGeom prst="rect">
            <a:avLst/>
          </a:prstGeom>
          <a:noFill/>
          <a:ln/>
        </p:spPr>
        <p:txBody>
          <a:bodyPr wrap="square" lIns="0" tIns="0" rIns="0" bIns="0" rtlCol="0" anchor="ctr">
            <a:normAutofit/>
          </a:bodyPr>
          <a:lstStyle/>
          <a:p>
            <a:pPr indent="0" marL="0">
              <a:buNone/>
            </a:pPr>
            <a:r>
              <a:rPr lang="en-US" sz="2188" dirty="0">
                <a:solidFill>
                  <a:srgbClr val="232D3B"/>
                </a:solidFill>
                <a:latin typeface="Aptos" pitchFamily="34" charset="0"/>
                <a:ea typeface="Aptos" pitchFamily="34" charset="-122"/>
                <a:cs typeface="Aptos" pitchFamily="34" charset="-120"/>
              </a:rPr>
              <a:t>E: stable entities; S: sources. Use justified N/A where a check does not apply.</a:t>
            </a:r>
            <a:endParaRPr lang="en-US" sz="2188"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Worked example: recover the same bases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12</a:t>
            </a:r>
            <a:endParaRPr lang="en-US" sz="800" dirty="0"/>
          </a:p>
        </p:txBody>
      </p:sp>
      <p:sp>
        <p:nvSpPr>
          <p:cNvPr id="9" name="Text 7"/>
          <p:cNvSpPr/>
          <p:nvPr/>
        </p:nvSpPr>
        <p:spPr>
          <a:xfrm>
            <a:off x="685800" y="2148840"/>
            <a:ext cx="10881360" cy="1783080"/>
          </a:xfrm>
          <a:prstGeom prst="rect">
            <a:avLst/>
          </a:prstGeom>
          <a:noFill/>
          <a:ln/>
        </p:spPr>
        <p:txBody>
          <a:bodyPr wrap="square" lIns="0" tIns="0" rIns="0" bIns="0" rtlCol="0" anchor="ctr">
            <a:normAutofit/>
          </a:bodyPr>
          <a:lstStyle/>
          <a:p>
            <a:pPr indent="0" marL="0">
              <a:buNone/>
            </a:pPr>
            <a:r>
              <a:rPr lang="en-US" sz="2997" dirty="0">
                <a:solidFill>
                  <a:srgbClr val="232D3B"/>
                </a:solidFill>
                <a:latin typeface="Aptos" pitchFamily="34" charset="0"/>
                <a:ea typeface="Aptos" pitchFamily="34" charset="-122"/>
                <a:cs typeface="Aptos" pitchFamily="34" charset="-120"/>
              </a:rPr>
              <a:t>Toy FASTA sequence ACGTACGTAA; select one-based positions 3 through 7.</a:t>
            </a:r>
            <a:endParaRPr lang="en-US" sz="2997" dirty="0"/>
          </a:p>
        </p:txBody>
      </p:sp>
      <p:sp>
        <p:nvSpPr>
          <p:cNvPr id="10" name="Shape 8"/>
          <p:cNvSpPr/>
          <p:nvPr/>
        </p:nvSpPr>
        <p:spPr>
          <a:xfrm>
            <a:off x="685800" y="4572000"/>
            <a:ext cx="10817352" cy="1024128"/>
          </a:xfrm>
          <a:prstGeom prst="rect">
            <a:avLst/>
          </a:prstGeom>
          <a:solidFill>
            <a:srgbClr val="EAF2FC"/>
          </a:solidFill>
          <a:ln w="7620">
            <a:solidFill>
              <a:srgbClr val="EAF2FC"/>
            </a:solidFill>
            <a:prstDash val="solid"/>
          </a:ln>
        </p:spPr>
      </p:sp>
      <p:sp>
        <p:nvSpPr>
          <p:cNvPr id="11" name="Text 9"/>
          <p:cNvSpPr/>
          <p:nvPr/>
        </p:nvSpPr>
        <p:spPr>
          <a:xfrm>
            <a:off x="932688" y="4791456"/>
            <a:ext cx="10287000" cy="576072"/>
          </a:xfrm>
          <a:prstGeom prst="rect">
            <a:avLst/>
          </a:prstGeom>
          <a:noFill/>
          <a:ln/>
        </p:spPr>
        <p:txBody>
          <a:bodyPr wrap="square" lIns="0" tIns="0" rIns="0" bIns="0" rtlCol="0" anchor="ctr">
            <a:normAutofit/>
          </a:bodyPr>
          <a:lstStyle/>
          <a:p>
            <a:pPr indent="0" marL="0">
              <a:buNone/>
            </a:pPr>
            <a:r>
              <a:rPr lang="en-US" sz="2100" b="1" dirty="0">
                <a:solidFill>
                  <a:srgbClr val="2A78D6"/>
                </a:solidFill>
                <a:latin typeface="Aptos" pitchFamily="34" charset="0"/>
                <a:ea typeface="Aptos" pitchFamily="34" charset="-122"/>
                <a:cs typeface="Aptos" pitchFamily="34" charset="-120"/>
              </a:rPr>
              <a:t>Predict the result and one limitation before calculating.</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 through the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13</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Inclusive length: 7 - 3 + 1 = 5.</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Equivalent BED interval: start 2, end 7.</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Python seq[2:7] returns GTACG, five bases.</a:t>
            </a:r>
            <a:endParaRPr lang="en-US" sz="22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PAIR CHECK</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Pause: make a defensible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14</a:t>
            </a:r>
            <a:endParaRPr lang="en-US" sz="800" dirty="0"/>
          </a:p>
        </p:txBody>
      </p:sp>
      <p:sp>
        <p:nvSpPr>
          <p:cNvPr id="9" name="Text 7"/>
          <p:cNvSpPr/>
          <p:nvPr/>
        </p:nvSpPr>
        <p:spPr>
          <a:xfrm>
            <a:off x="713232" y="2130552"/>
            <a:ext cx="10762488" cy="2496312"/>
          </a:xfrm>
          <a:prstGeom prst="rect">
            <a:avLst/>
          </a:prstGeom>
          <a:noFill/>
          <a:ln/>
        </p:spPr>
        <p:txBody>
          <a:bodyPr wrap="square" lIns="0" tIns="0" rIns="0" bIns="0" rtlCol="0" anchor="ctr">
            <a:normAutofit/>
          </a:bodyPr>
          <a:lstStyle/>
          <a:p>
            <a:pPr indent="0" marL="0">
              <a:buNone/>
            </a:pPr>
            <a:r>
              <a:rPr lang="en-US" sz="2897" dirty="0">
                <a:solidFill>
                  <a:srgbClr val="232D3B"/>
                </a:solidFill>
                <a:latin typeface="Aptos" pitchFamily="34" charset="0"/>
                <a:ea typeface="Aptos" pitchFamily="34" charset="-122"/>
                <a:cs typeface="Aptos" pitchFamily="34" charset="-120"/>
              </a:rPr>
              <a:t>Convert BED [4, 9) to one-based inclusive coordinates. Can a FASTA header reading only &gt;chr1 prove GRCh38?</a:t>
            </a:r>
            <a:endParaRPr lang="en-US" sz="2897" dirty="0"/>
          </a:p>
        </p:txBody>
      </p:sp>
      <p:sp>
        <p:nvSpPr>
          <p:cNvPr id="10" name="Text 8"/>
          <p:cNvSpPr/>
          <p:nvPr/>
        </p:nvSpPr>
        <p:spPr>
          <a:xfrm>
            <a:off x="731520" y="5074920"/>
            <a:ext cx="10698480" cy="640080"/>
          </a:xfrm>
          <a:prstGeom prst="rect">
            <a:avLst/>
          </a:prstGeom>
          <a:noFill/>
          <a:ln/>
        </p:spPr>
        <p:txBody>
          <a:bodyPr wrap="square" lIns="0" tIns="0" rIns="0" bIns="0" rtlCol="0" anchor="ctr">
            <a:normAutofit/>
          </a:bodyPr>
          <a:lstStyle/>
          <a:p>
            <a:pPr indent="0" marL="0">
              <a:buNone/>
            </a:pPr>
            <a:r>
              <a:rPr lang="en-US" sz="2197" b="1" dirty="0">
                <a:solidFill>
                  <a:srgbClr val="2A78D6"/>
                </a:solidFill>
                <a:latin typeface="Aptos" pitchFamily="34" charset="0"/>
                <a:ea typeface="Aptos" pitchFamily="34" charset="-122"/>
                <a:cs typeface="Aptos" pitchFamily="34" charset="-120"/>
              </a:rPr>
              <a:t>First answer alone. Then compare the evidence, not just the conclusion.</a:t>
            </a:r>
            <a:endParaRPr lang="en-US" sz="219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DEBRIEF</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defensible response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15</a:t>
            </a:r>
            <a:endParaRPr lang="en-US" sz="800" dirty="0"/>
          </a:p>
        </p:txBody>
      </p:sp>
      <p:sp>
        <p:nvSpPr>
          <p:cNvPr id="9" name="Shape 7"/>
          <p:cNvSpPr/>
          <p:nvPr/>
        </p:nvSpPr>
        <p:spPr>
          <a:xfrm>
            <a:off x="685800" y="2075688"/>
            <a:ext cx="10826496" cy="2816352"/>
          </a:xfrm>
          <a:prstGeom prst="rect">
            <a:avLst/>
          </a:prstGeom>
          <a:solidFill>
            <a:srgbClr val="EAF2FC"/>
          </a:solidFill>
          <a:ln w="7620">
            <a:solidFill>
              <a:srgbClr val="EAF2FC"/>
            </a:solidFill>
            <a:prstDash val="solid"/>
          </a:ln>
        </p:spPr>
      </p:sp>
      <p:sp>
        <p:nvSpPr>
          <p:cNvPr id="10" name="Text 8"/>
          <p:cNvSpPr/>
          <p:nvPr/>
        </p:nvSpPr>
        <p:spPr>
          <a:xfrm>
            <a:off x="941832" y="2331720"/>
            <a:ext cx="10305288" cy="2276856"/>
          </a:xfrm>
          <a:prstGeom prst="rect">
            <a:avLst/>
          </a:prstGeom>
          <a:noFill/>
          <a:ln/>
        </p:spPr>
        <p:txBody>
          <a:bodyPr wrap="square" lIns="0" tIns="0" rIns="0" bIns="0" rtlCol="0" anchor="ctr">
            <a:normAutofit/>
          </a:bodyPr>
          <a:lstStyle/>
          <a:p>
            <a:pPr indent="0" marL="0">
              <a:buNone/>
            </a:pPr>
            <a:r>
              <a:rPr lang="en-US" sz="2597" dirty="0">
                <a:solidFill>
                  <a:srgbClr val="232D3B"/>
                </a:solidFill>
                <a:latin typeface="Aptos" pitchFamily="34" charset="0"/>
                <a:ea typeface="Aptos" pitchFamily="34" charset="-122"/>
                <a:cs typeface="Aptos" pitchFamily="34" charset="-120"/>
              </a:rPr>
              <a:t>The interval is [5, 9], length 5. The header alone does not prove the assembly.</a:t>
            </a:r>
            <a:endParaRPr lang="en-US" sz="259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45-MINUTE STUDIO</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Today's practical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16</a:t>
            </a:r>
            <a:endParaRPr lang="en-US" sz="800" dirty="0"/>
          </a:p>
        </p:txBody>
      </p:sp>
      <p:sp>
        <p:nvSpPr>
          <p:cNvPr id="9" name="Text 7"/>
          <p:cNvSpPr/>
          <p:nvPr/>
        </p:nvSpPr>
        <p:spPr>
          <a:xfrm>
            <a:off x="731520" y="1929384"/>
            <a:ext cx="10698480" cy="1508760"/>
          </a:xfrm>
          <a:prstGeom prst="rect">
            <a:avLst/>
          </a:prstGeom>
          <a:noFill/>
          <a:ln/>
        </p:spPr>
        <p:txBody>
          <a:bodyPr wrap="square" lIns="0" tIns="0" rIns="0" bIns="0" rtlCol="0" anchor="ctr">
            <a:normAutofit/>
          </a:bodyPr>
          <a:lstStyle/>
          <a:p>
            <a:pPr indent="0" marL="0">
              <a:buNone/>
            </a:pPr>
            <a:r>
              <a:rPr lang="en-US" sz="2497" dirty="0">
                <a:solidFill>
                  <a:srgbClr val="232D3B"/>
                </a:solidFill>
                <a:latin typeface="Aptos" pitchFamily="34" charset="0"/>
                <a:ea typeface="Aptos" pitchFamily="34" charset="-122"/>
                <a:cs typeface="Aptos" pitchFamily="34" charset="-120"/>
              </a:rPr>
              <a:t>W02: inspect toy FASTA, BED, GTF and VCF records; fix a start-coordinate error and record reference provenance.</a:t>
            </a:r>
            <a:endParaRPr lang="en-US" sz="2497" dirty="0"/>
          </a:p>
        </p:txBody>
      </p:sp>
      <p:sp>
        <p:nvSpPr>
          <p:cNvPr id="10" name="Shape 8"/>
          <p:cNvSpPr/>
          <p:nvPr/>
        </p:nvSpPr>
        <p:spPr>
          <a:xfrm>
            <a:off x="731520" y="3721608"/>
            <a:ext cx="5317236" cy="395935"/>
          </a:xfrm>
          <a:prstGeom prst="rect">
            <a:avLst/>
          </a:prstGeom>
          <a:solidFill>
            <a:srgbClr val="2A78D6"/>
          </a:solidFill>
          <a:ln w="7620">
            <a:solidFill>
              <a:srgbClr val="2A78D6"/>
            </a:solidFill>
            <a:prstDash val="solid"/>
          </a:ln>
        </p:spPr>
      </p:sp>
      <p:sp>
        <p:nvSpPr>
          <p:cNvPr id="11" name="Text 9"/>
          <p:cNvSpPr/>
          <p:nvPr/>
        </p:nvSpPr>
        <p:spPr>
          <a:xfrm>
            <a:off x="85039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Minutes</a:t>
            </a:r>
            <a:endParaRPr lang="en-US" sz="1600" dirty="0"/>
          </a:p>
        </p:txBody>
      </p:sp>
      <p:sp>
        <p:nvSpPr>
          <p:cNvPr id="12" name="Shape 10"/>
          <p:cNvSpPr/>
          <p:nvPr/>
        </p:nvSpPr>
        <p:spPr>
          <a:xfrm>
            <a:off x="6080760" y="3721608"/>
            <a:ext cx="5317236" cy="395935"/>
          </a:xfrm>
          <a:prstGeom prst="rect">
            <a:avLst/>
          </a:prstGeom>
          <a:solidFill>
            <a:srgbClr val="2A78D6"/>
          </a:solidFill>
          <a:ln w="7620">
            <a:solidFill>
              <a:srgbClr val="2A78D6"/>
            </a:solidFill>
            <a:prstDash val="solid"/>
          </a:ln>
        </p:spPr>
      </p:sp>
      <p:sp>
        <p:nvSpPr>
          <p:cNvPr id="13" name="Text 11"/>
          <p:cNvSpPr/>
          <p:nvPr/>
        </p:nvSpPr>
        <p:spPr>
          <a:xfrm>
            <a:off x="619963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Action</a:t>
            </a:r>
            <a:endParaRPr lang="en-US" sz="1600" dirty="0"/>
          </a:p>
        </p:txBody>
      </p:sp>
      <p:sp>
        <p:nvSpPr>
          <p:cNvPr id="14" name="Shape 12"/>
          <p:cNvSpPr/>
          <p:nvPr/>
        </p:nvSpPr>
        <p:spPr>
          <a:xfrm>
            <a:off x="731520" y="4149547"/>
            <a:ext cx="5317236" cy="395935"/>
          </a:xfrm>
          <a:prstGeom prst="rect">
            <a:avLst/>
          </a:prstGeom>
          <a:solidFill>
            <a:srgbClr val="EAF2FC"/>
          </a:solidFill>
          <a:ln w="7620">
            <a:solidFill>
              <a:srgbClr val="EAF2FC"/>
            </a:solidFill>
            <a:prstDash val="solid"/>
          </a:ln>
        </p:spPr>
      </p:sp>
      <p:sp>
        <p:nvSpPr>
          <p:cNvPr id="15" name="Text 13"/>
          <p:cNvSpPr/>
          <p:nvPr/>
        </p:nvSpPr>
        <p:spPr>
          <a:xfrm>
            <a:off x="85039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0-10</a:t>
            </a:r>
            <a:endParaRPr lang="en-US" sz="1600" dirty="0"/>
          </a:p>
        </p:txBody>
      </p:sp>
      <p:sp>
        <p:nvSpPr>
          <p:cNvPr id="16" name="Shape 14"/>
          <p:cNvSpPr/>
          <p:nvPr/>
        </p:nvSpPr>
        <p:spPr>
          <a:xfrm>
            <a:off x="6080760" y="4149547"/>
            <a:ext cx="5317236" cy="395935"/>
          </a:xfrm>
          <a:prstGeom prst="rect">
            <a:avLst/>
          </a:prstGeom>
          <a:solidFill>
            <a:srgbClr val="EAF2FC"/>
          </a:solidFill>
          <a:ln w="7620">
            <a:solidFill>
              <a:srgbClr val="EAF2FC"/>
            </a:solidFill>
            <a:prstDash val="solid"/>
          </a:ln>
        </p:spPr>
      </p:sp>
      <p:sp>
        <p:nvSpPr>
          <p:cNvPr id="17" name="Text 15"/>
          <p:cNvSpPr/>
          <p:nvPr/>
        </p:nvSpPr>
        <p:spPr>
          <a:xfrm>
            <a:off x="619963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Predict + set up</a:t>
            </a:r>
            <a:endParaRPr lang="en-US" sz="1600" dirty="0"/>
          </a:p>
        </p:txBody>
      </p:sp>
      <p:sp>
        <p:nvSpPr>
          <p:cNvPr id="18" name="Shape 16"/>
          <p:cNvSpPr/>
          <p:nvPr/>
        </p:nvSpPr>
        <p:spPr>
          <a:xfrm>
            <a:off x="731520" y="4577486"/>
            <a:ext cx="5317236" cy="395935"/>
          </a:xfrm>
          <a:prstGeom prst="rect">
            <a:avLst/>
          </a:prstGeom>
          <a:solidFill>
            <a:srgbClr val="FFFFFF"/>
          </a:solidFill>
          <a:ln w="7620">
            <a:solidFill>
              <a:srgbClr val="FFFFFF"/>
            </a:solidFill>
            <a:prstDash val="solid"/>
          </a:ln>
        </p:spPr>
      </p:sp>
      <p:sp>
        <p:nvSpPr>
          <p:cNvPr id="19" name="Text 17"/>
          <p:cNvSpPr/>
          <p:nvPr/>
        </p:nvSpPr>
        <p:spPr>
          <a:xfrm>
            <a:off x="85039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10-30</a:t>
            </a:r>
            <a:endParaRPr lang="en-US" sz="1600" dirty="0"/>
          </a:p>
        </p:txBody>
      </p:sp>
      <p:sp>
        <p:nvSpPr>
          <p:cNvPr id="20" name="Shape 18"/>
          <p:cNvSpPr/>
          <p:nvPr/>
        </p:nvSpPr>
        <p:spPr>
          <a:xfrm>
            <a:off x="6080760" y="4577486"/>
            <a:ext cx="5317236" cy="395935"/>
          </a:xfrm>
          <a:prstGeom prst="rect">
            <a:avLst/>
          </a:prstGeom>
          <a:solidFill>
            <a:srgbClr val="FFFFFF"/>
          </a:solidFill>
          <a:ln w="7620">
            <a:solidFill>
              <a:srgbClr val="FFFFFF"/>
            </a:solidFill>
            <a:prstDash val="solid"/>
          </a:ln>
        </p:spPr>
      </p:sp>
      <p:sp>
        <p:nvSpPr>
          <p:cNvPr id="21" name="Text 19"/>
          <p:cNvSpPr/>
          <p:nvPr/>
        </p:nvSpPr>
        <p:spPr>
          <a:xfrm>
            <a:off x="619963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Run + inspect + check</a:t>
            </a:r>
            <a:endParaRPr lang="en-US" sz="1600" dirty="0"/>
          </a:p>
        </p:txBody>
      </p:sp>
      <p:sp>
        <p:nvSpPr>
          <p:cNvPr id="22" name="Shape 20"/>
          <p:cNvSpPr/>
          <p:nvPr/>
        </p:nvSpPr>
        <p:spPr>
          <a:xfrm>
            <a:off x="731520" y="5005426"/>
            <a:ext cx="5317236" cy="395935"/>
          </a:xfrm>
          <a:prstGeom prst="rect">
            <a:avLst/>
          </a:prstGeom>
          <a:solidFill>
            <a:srgbClr val="EAF2FC"/>
          </a:solidFill>
          <a:ln w="7620">
            <a:solidFill>
              <a:srgbClr val="EAF2FC"/>
            </a:solidFill>
            <a:prstDash val="solid"/>
          </a:ln>
        </p:spPr>
      </p:sp>
      <p:sp>
        <p:nvSpPr>
          <p:cNvPr id="23" name="Text 21"/>
          <p:cNvSpPr/>
          <p:nvPr/>
        </p:nvSpPr>
        <p:spPr>
          <a:xfrm>
            <a:off x="85039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30-40</a:t>
            </a:r>
            <a:endParaRPr lang="en-US" sz="1600" dirty="0"/>
          </a:p>
        </p:txBody>
      </p:sp>
      <p:sp>
        <p:nvSpPr>
          <p:cNvPr id="24" name="Shape 22"/>
          <p:cNvSpPr/>
          <p:nvPr/>
        </p:nvSpPr>
        <p:spPr>
          <a:xfrm>
            <a:off x="6080760" y="5005426"/>
            <a:ext cx="5317236" cy="395935"/>
          </a:xfrm>
          <a:prstGeom prst="rect">
            <a:avLst/>
          </a:prstGeom>
          <a:solidFill>
            <a:srgbClr val="EAF2FC"/>
          </a:solidFill>
          <a:ln w="7620">
            <a:solidFill>
              <a:srgbClr val="EAF2FC"/>
            </a:solidFill>
            <a:prstDash val="solid"/>
          </a:ln>
        </p:spPr>
      </p:sp>
      <p:sp>
        <p:nvSpPr>
          <p:cNvPr id="25" name="Text 23"/>
          <p:cNvSpPr/>
          <p:nvPr/>
        </p:nvSpPr>
        <p:spPr>
          <a:xfrm>
            <a:off x="619963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Explain + compare</a:t>
            </a:r>
            <a:endParaRPr lang="en-US" sz="1600" dirty="0"/>
          </a:p>
        </p:txBody>
      </p:sp>
      <p:sp>
        <p:nvSpPr>
          <p:cNvPr id="26" name="Shape 24"/>
          <p:cNvSpPr/>
          <p:nvPr/>
        </p:nvSpPr>
        <p:spPr>
          <a:xfrm>
            <a:off x="731520" y="5433365"/>
            <a:ext cx="5317236" cy="395935"/>
          </a:xfrm>
          <a:prstGeom prst="rect">
            <a:avLst/>
          </a:prstGeom>
          <a:solidFill>
            <a:srgbClr val="FFFFFF"/>
          </a:solidFill>
          <a:ln w="7620">
            <a:solidFill>
              <a:srgbClr val="FFFFFF"/>
            </a:solidFill>
            <a:prstDash val="solid"/>
          </a:ln>
        </p:spPr>
      </p:sp>
      <p:sp>
        <p:nvSpPr>
          <p:cNvPr id="27" name="Text 25"/>
          <p:cNvSpPr/>
          <p:nvPr/>
        </p:nvSpPr>
        <p:spPr>
          <a:xfrm>
            <a:off x="85039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40-45</a:t>
            </a:r>
            <a:endParaRPr lang="en-US" sz="1600" dirty="0"/>
          </a:p>
        </p:txBody>
      </p:sp>
      <p:sp>
        <p:nvSpPr>
          <p:cNvPr id="28" name="Shape 26"/>
          <p:cNvSpPr/>
          <p:nvPr/>
        </p:nvSpPr>
        <p:spPr>
          <a:xfrm>
            <a:off x="6080760" y="5433365"/>
            <a:ext cx="5317236" cy="395935"/>
          </a:xfrm>
          <a:prstGeom prst="rect">
            <a:avLst/>
          </a:prstGeom>
          <a:solidFill>
            <a:srgbClr val="FFFFFF"/>
          </a:solidFill>
          <a:ln w="7620">
            <a:solidFill>
              <a:srgbClr val="FFFFFF"/>
            </a:solidFill>
            <a:prstDash val="solid"/>
          </a:ln>
        </p:spPr>
      </p:sp>
      <p:sp>
        <p:nvSpPr>
          <p:cNvPr id="29" name="Text 27"/>
          <p:cNvSpPr/>
          <p:nvPr/>
        </p:nvSpPr>
        <p:spPr>
          <a:xfrm>
            <a:off x="619963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Save + submit / exit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CONSOLIDATE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terms to use precisely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17</a:t>
            </a:r>
            <a:endParaRPr lang="en-US" sz="800" dirty="0"/>
          </a:p>
        </p:txBody>
      </p:sp>
      <p:sp>
        <p:nvSpPr>
          <p:cNvPr id="9" name="Shape 7"/>
          <p:cNvSpPr/>
          <p:nvPr/>
        </p:nvSpPr>
        <p:spPr>
          <a:xfrm>
            <a:off x="713232" y="1984248"/>
            <a:ext cx="475488" cy="457200"/>
          </a:xfrm>
          <a:prstGeom prst="rect">
            <a:avLst/>
          </a:prstGeom>
          <a:solidFill>
            <a:srgbClr val="2A78D6"/>
          </a:solidFill>
          <a:ln w="7620">
            <a:solidFill>
              <a:srgbClr val="2A78D6"/>
            </a:solidFill>
            <a:prstDash val="solid"/>
          </a:ln>
        </p:spPr>
      </p:sp>
      <p:sp>
        <p:nvSpPr>
          <p:cNvPr id="10" name="Text 8"/>
          <p:cNvSpPr/>
          <p:nvPr/>
        </p:nvSpPr>
        <p:spPr>
          <a:xfrm>
            <a:off x="850392" y="2057400"/>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1" name="Text 9"/>
          <p:cNvSpPr/>
          <p:nvPr/>
        </p:nvSpPr>
        <p:spPr>
          <a:xfrm>
            <a:off x="1426464" y="2011680"/>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reference</a:t>
            </a:r>
            <a:endParaRPr lang="en-US" sz="2500" dirty="0"/>
          </a:p>
        </p:txBody>
      </p:sp>
      <p:sp>
        <p:nvSpPr>
          <p:cNvPr id="12" name="Shape 10"/>
          <p:cNvSpPr/>
          <p:nvPr/>
        </p:nvSpPr>
        <p:spPr>
          <a:xfrm>
            <a:off x="713232" y="2752344"/>
            <a:ext cx="475488" cy="457200"/>
          </a:xfrm>
          <a:prstGeom prst="rect">
            <a:avLst/>
          </a:prstGeom>
          <a:solidFill>
            <a:srgbClr val="2A78D6"/>
          </a:solidFill>
          <a:ln w="7620">
            <a:solidFill>
              <a:srgbClr val="2A78D6"/>
            </a:solidFill>
            <a:prstDash val="solid"/>
          </a:ln>
        </p:spPr>
      </p:sp>
      <p:sp>
        <p:nvSpPr>
          <p:cNvPr id="13" name="Text 11"/>
          <p:cNvSpPr/>
          <p:nvPr/>
        </p:nvSpPr>
        <p:spPr>
          <a:xfrm>
            <a:off x="850392" y="2825496"/>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p:nvPr/>
        </p:nvSpPr>
        <p:spPr>
          <a:xfrm>
            <a:off x="1426464" y="2779776"/>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annotation</a:t>
            </a:r>
            <a:endParaRPr lang="en-US" sz="2500" dirty="0"/>
          </a:p>
        </p:txBody>
      </p:sp>
      <p:sp>
        <p:nvSpPr>
          <p:cNvPr id="15" name="Shape 13"/>
          <p:cNvSpPr/>
          <p:nvPr/>
        </p:nvSpPr>
        <p:spPr>
          <a:xfrm>
            <a:off x="713232" y="3520440"/>
            <a:ext cx="475488" cy="457200"/>
          </a:xfrm>
          <a:prstGeom prst="rect">
            <a:avLst/>
          </a:prstGeom>
          <a:solidFill>
            <a:srgbClr val="2A78D6"/>
          </a:solidFill>
          <a:ln w="7620">
            <a:solidFill>
              <a:srgbClr val="2A78D6"/>
            </a:solidFill>
            <a:prstDash val="solid"/>
          </a:ln>
        </p:spPr>
      </p:sp>
      <p:sp>
        <p:nvSpPr>
          <p:cNvPr id="16" name="Text 14"/>
          <p:cNvSpPr/>
          <p:nvPr/>
        </p:nvSpPr>
        <p:spPr>
          <a:xfrm>
            <a:off x="850392" y="3593592"/>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7" name="Text 15"/>
          <p:cNvSpPr/>
          <p:nvPr/>
        </p:nvSpPr>
        <p:spPr>
          <a:xfrm>
            <a:off x="1426464" y="3547872"/>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interval</a:t>
            </a:r>
            <a:endParaRPr lang="en-US" sz="2500" dirty="0"/>
          </a:p>
        </p:txBody>
      </p:sp>
      <p:sp>
        <p:nvSpPr>
          <p:cNvPr id="18" name="Shape 16"/>
          <p:cNvSpPr/>
          <p:nvPr/>
        </p:nvSpPr>
        <p:spPr>
          <a:xfrm>
            <a:off x="713232" y="4288536"/>
            <a:ext cx="475488" cy="457200"/>
          </a:xfrm>
          <a:prstGeom prst="rect">
            <a:avLst/>
          </a:prstGeom>
          <a:solidFill>
            <a:srgbClr val="2A78D6"/>
          </a:solidFill>
          <a:ln w="7620">
            <a:solidFill>
              <a:srgbClr val="2A78D6"/>
            </a:solidFill>
            <a:prstDash val="solid"/>
          </a:ln>
        </p:spPr>
      </p:sp>
      <p:sp>
        <p:nvSpPr>
          <p:cNvPr id="19" name="Text 17"/>
          <p:cNvSpPr/>
          <p:nvPr/>
        </p:nvSpPr>
        <p:spPr>
          <a:xfrm>
            <a:off x="850392" y="4361688"/>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0" name="Text 18"/>
          <p:cNvSpPr/>
          <p:nvPr/>
        </p:nvSpPr>
        <p:spPr>
          <a:xfrm>
            <a:off x="1426464" y="4315968"/>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inclusive</a:t>
            </a:r>
            <a:endParaRPr lang="en-US" sz="2500" dirty="0"/>
          </a:p>
        </p:txBody>
      </p:sp>
      <p:sp>
        <p:nvSpPr>
          <p:cNvPr id="21" name="Shape 19"/>
          <p:cNvSpPr/>
          <p:nvPr/>
        </p:nvSpPr>
        <p:spPr>
          <a:xfrm>
            <a:off x="713232" y="5056632"/>
            <a:ext cx="475488" cy="457200"/>
          </a:xfrm>
          <a:prstGeom prst="rect">
            <a:avLst/>
          </a:prstGeom>
          <a:solidFill>
            <a:srgbClr val="2A78D6"/>
          </a:solidFill>
          <a:ln w="7620">
            <a:solidFill>
              <a:srgbClr val="2A78D6"/>
            </a:solidFill>
            <a:prstDash val="solid"/>
          </a:ln>
        </p:spPr>
      </p:sp>
      <p:sp>
        <p:nvSpPr>
          <p:cNvPr id="22" name="Text 20"/>
          <p:cNvSpPr/>
          <p:nvPr/>
        </p:nvSpPr>
        <p:spPr>
          <a:xfrm>
            <a:off x="850392" y="5129784"/>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23" name="Text 21"/>
          <p:cNvSpPr/>
          <p:nvPr/>
        </p:nvSpPr>
        <p:spPr>
          <a:xfrm>
            <a:off x="1426464" y="5084064"/>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half-open</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2 MINUTES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Exit ticket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did we actually measure or calculate?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one assumption or limitation of that result?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check would you perform before sharing it?</a:t>
            </a:r>
            <a:endParaRPr lang="en-US" sz="229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OPTIONAL EXTENSION</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Go further only after the core is clear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19</a:t>
            </a:r>
            <a:endParaRPr lang="en-US" sz="800" dirty="0"/>
          </a:p>
        </p:txBody>
      </p:sp>
      <p:sp>
        <p:nvSpPr>
          <p:cNvPr id="9" name="Text 7"/>
          <p:cNvSpPr/>
          <p:nvPr/>
        </p:nvSpPr>
        <p:spPr>
          <a:xfrm>
            <a:off x="768096" y="2212848"/>
            <a:ext cx="10698480" cy="2057400"/>
          </a:xfrm>
          <a:prstGeom prst="rect">
            <a:avLst/>
          </a:prstGeom>
          <a:noFill/>
          <a:ln/>
        </p:spPr>
        <p:txBody>
          <a:bodyPr wrap="square" lIns="0" tIns="0" rIns="0" bIns="0" rtlCol="0" anchor="ctr">
            <a:normAutofit/>
          </a:bodyPr>
          <a:lstStyle/>
          <a:p>
            <a:pPr indent="0" marL="0">
              <a:buNone/>
            </a:pPr>
            <a:r>
              <a:rPr lang="en-US" sz="2797" dirty="0">
                <a:solidFill>
                  <a:srgbClr val="232D3B"/>
                </a:solidFill>
                <a:latin typeface="Aptos" pitchFamily="34" charset="0"/>
                <a:ea typeface="Aptos" pitchFamily="34" charset="-122"/>
                <a:cs typeface="Aptos" pitchFamily="34" charset="-120"/>
              </a:rPr>
              <a:t>Optional: inspect how a VCF deletion includes an anchor base; no indel normalization is examined.</a:t>
            </a:r>
            <a:endParaRPr lang="en-US" sz="2797" dirty="0"/>
          </a:p>
        </p:txBody>
      </p:sp>
      <p:sp>
        <p:nvSpPr>
          <p:cNvPr id="10" name="Text 8"/>
          <p:cNvSpPr/>
          <p:nvPr/>
        </p:nvSpPr>
        <p:spPr>
          <a:xfrm>
            <a:off x="786384" y="4828032"/>
            <a:ext cx="10561320" cy="804672"/>
          </a:xfrm>
          <a:prstGeom prst="rect">
            <a:avLst/>
          </a:prstGeom>
          <a:noFill/>
          <a:ln/>
        </p:spPr>
        <p:txBody>
          <a:bodyPr wrap="square" lIns="0" tIns="0" rIns="0" bIns="0" rtlCol="0" anchor="ctr">
            <a:normAutofit/>
          </a:bodyPr>
          <a:lstStyle/>
          <a:p>
            <a:pPr indent="0" marL="0">
              <a:buNone/>
            </a:pPr>
            <a:r>
              <a:rPr lang="en-US" sz="2197" b="1" dirty="0">
                <a:solidFill>
                  <a:srgbClr val="EB6834"/>
                </a:solidFill>
                <a:latin typeface="Aptos" pitchFamily="34" charset="0"/>
                <a:ea typeface="Aptos" pitchFamily="34" charset="-122"/>
                <a:cs typeface="Aptos" pitchFamily="34" charset="-120"/>
              </a:rPr>
              <a:t>Not required for the core grade. No advanced model training is expected.</a:t>
            </a:r>
            <a:endParaRPr lang="en-US" sz="219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SOURCE MAP</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the evidence, not only the slide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S04 / S05  |  20</a:t>
            </a:r>
            <a:endParaRPr lang="en-US" sz="800" dirty="0"/>
          </a:p>
        </p:txBody>
      </p:sp>
      <p:sp>
        <p:nvSpPr>
          <p:cNvPr id="9" name="Text 7"/>
          <p:cNvSpPr/>
          <p:nvPr/>
        </p:nvSpPr>
        <p:spPr>
          <a:xfrm>
            <a:off x="694944" y="1856232"/>
            <a:ext cx="10881360" cy="4160520"/>
          </a:xfrm>
          <a:prstGeom prst="rect">
            <a:avLst/>
          </a:prstGeom>
          <a:noFill/>
          <a:ln/>
        </p:spPr>
        <p:txBody>
          <a:bodyPr wrap="square" lIns="0" tIns="0" rIns="0" bIns="0" rtlCol="0" anchor="t">
            <a:normAutofit/>
          </a:bodyPr>
          <a:lstStyle/>
          <a:p>
            <a:pPr indent="0" marL="0">
              <a:buNone/>
            </a:pPr>
            <a:r>
              <a:rPr lang="en-US" sz="1997" dirty="0">
                <a:solidFill>
                  <a:srgbClr val="232D3B"/>
                </a:solidFill>
                <a:latin typeface="Aptos" pitchFamily="34" charset="0"/>
                <a:ea typeface="Aptos" pitchFamily="34" charset="-122"/>
                <a:cs typeface="Aptos" pitchFamily="34" charset="-120"/>
              </a:rPr>
              <a:t>S03  SAM/BAM, VCF and BED specifications, maintained by the HTS community.</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S04  UCSC Genome Browser: data format FAQ.</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S05  Python 3 tutorial: introduction and control flow.</a:t>
            </a:r>
            <a:endParaRPr lang="en-US" sz="19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Ege University | Bioengineering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Files, coordinates and reference versions</dc:title>
  <dc:subject>Scaffolded fourth-year bioengineering</dc:subject>
  <dc:creator>BIB course teaching materials</dc:creator>
  <cp:lastModifiedBy>BIB course teaching materials</cp:lastModifiedBy>
  <cp:revision>1</cp:revision>
  <dcterms:created xsi:type="dcterms:W3CDTF">2026-09-14T18:26:54Z</dcterms:created>
  <dcterms:modified xsi:type="dcterms:W3CDTF">2026-09-14T18:26:54Z</dcterms:modified>
</cp:coreProperties>
</file>