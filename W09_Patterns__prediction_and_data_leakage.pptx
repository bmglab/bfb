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Does the model recognize biology, or merely recognize the donor?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S11: scikit-learn: Common pitfalls and recommended practices.
https://scikit-learn.org/stable/common_pitfalls.html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Clustering groups observations using similarity without supplied class labels.
Classification learns a mapping from features to known labels.
A visual cluster is not automatically a cell type or a disease mechanism.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PCA summarizes directions of variation.
UMAP emphasizes a neighborhood representation and depends on parameters.
Distances between plotted islands do not automatically measure biological separation.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Will the model be applied to another observation from a known donor?
Or to a new donor, study, hospital or time period?
The test split must represent the intended use.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Near-duplicate observations can identify their donor.
A row-level split may put the same donor in train and test.
Keep all observations from a donor together for new-donor evaluation.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Split first. Fit scaling and feature selection on training data.
Use the fitted transform on validation or test data.
Do not choose a method by repeatedly inspecting the final test score.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True positive and false negative describe actual positives.
False positive and true negative describe actual negatives.
Sensitivity and specificity use different denominators.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If 95 of 100 samples are negative, always predicting negative gives 95% accuracy.
But sensitivity is zero.
Report the class balance, independent sample count and uncertainty.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For repeated donors, shuffle labels at donor level.
Keep all observations of a donor assigned the same shuffled label.
Repeat the control; chance-level performance varies in small test sets.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S11: scikit-learn: Common pitfalls and recommended practices.
https://scikit-learn.org/stable/common_pitfalls.html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S11: scikit-learn: Common pitfalls and recommended practices.
https://scikit-learn.org/stable/common_pitfalls.html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S11: scikit-learn: Common pitfalls and recommended practices.
https://scikit-learn.org/stable/common_pitfalls.html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S11: scikit-learn: Common pitfalls and recommended practices.
https://scikit-learn.org/stable/common_pitfalls.html
S13: AnnData documentation: annotated data matrices.
https://anndata.readthedocs.io/en/stable/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09</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Patterns, prediction and data leakage</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Does the model recognize biology, or merely recognize the donor?</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Distinguish clustering from supervised prediction.</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Split repeated observations by the intended independent unit.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Read a confusion matrix and compare against a negative control.</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A feature is a measured input; a label is the outcome being predicted. Rows from the same donor can share a signature.</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Two different questions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4</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Explore patterns</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Predict labels</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69" dirty="0">
                <a:solidFill>
                  <a:srgbClr val="232D3B"/>
                </a:solidFill>
                <a:latin typeface="Aptos" pitchFamily="34" charset="0"/>
                <a:ea typeface="Aptos" pitchFamily="34" charset="-122"/>
                <a:cs typeface="Aptos" pitchFamily="34" charset="-120"/>
              </a:rPr>
              <a:t>Clustering groups observations using similarity without supplied class labels.</a:t>
            </a:r>
            <a:endParaRPr lang="en-US" sz="2269"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Classification learns a mapping from features to known labels.</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visual cluster is not automatically a cell type or a disease mechanism.</a:t>
            </a:r>
            <a:endParaRPr lang="en-US" sz="22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projection is a view, not the complete data</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S13  |  5</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PCA summarizes directions of variation.</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UMAP emphasizes a neighborhood representation and depends on parameters.</a:t>
            </a:r>
            <a:endParaRPr lang="en-US" sz="2100"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Distances between plotted islands do not automatically measure biological separation.</a:t>
            </a:r>
            <a:endParaRPr lang="en-US" sz="2100" dirty="0"/>
          </a:p>
        </p:txBody>
      </p:sp>
      <p:sp>
        <p:nvSpPr>
          <p:cNvPr id="16" name="Text 14"/>
          <p:cNvSpPr/>
          <p:nvPr/>
        </p:nvSpPr>
        <p:spPr>
          <a:xfrm>
            <a:off x="841248" y="2157984"/>
            <a:ext cx="4471416" cy="411480"/>
          </a:xfrm>
          <a:prstGeom prst="rect">
            <a:avLst/>
          </a:prstGeom>
          <a:noFill/>
          <a:ln/>
        </p:spPr>
        <p:txBody>
          <a:bodyPr wrap="square" lIns="0" tIns="0" rIns="0" bIns="0" rtlCol="0" anchor="ctr">
            <a:normAutofit/>
          </a:bodyPr>
          <a:lstStyle/>
          <a:p>
            <a:pPr indent="0" marL="0">
              <a:buNone/>
            </a:pPr>
            <a:r>
              <a:rPr lang="en-US" sz="1900" b="1" dirty="0">
                <a:solidFill>
                  <a:srgbClr val="2A78D6"/>
                </a:solidFill>
                <a:latin typeface="Aptos" pitchFamily="34" charset="0"/>
                <a:ea typeface="Aptos" pitchFamily="34" charset="-122"/>
                <a:cs typeface="Aptos" pitchFamily="34" charset="-120"/>
              </a:rPr>
              <a:t>Illustrative 2D projection</a:t>
            </a:r>
            <a:endParaRPr lang="en-US" sz="1900" dirty="0"/>
          </a:p>
        </p:txBody>
      </p:sp>
      <p:sp>
        <p:nvSpPr>
          <p:cNvPr id="17" name="Shape 15"/>
          <p:cNvSpPr/>
          <p:nvPr/>
        </p:nvSpPr>
        <p:spPr>
          <a:xfrm>
            <a:off x="1298448" y="5038344"/>
            <a:ext cx="3657600" cy="0"/>
          </a:xfrm>
          <a:prstGeom prst="line">
            <a:avLst/>
          </a:prstGeom>
          <a:noFill/>
          <a:ln w="12700">
            <a:solidFill>
              <a:srgbClr val="526171"/>
            </a:solidFill>
            <a:prstDash val="solid"/>
          </a:ln>
        </p:spPr>
      </p:sp>
      <p:sp>
        <p:nvSpPr>
          <p:cNvPr id="18" name="Shape 16"/>
          <p:cNvSpPr/>
          <p:nvPr/>
        </p:nvSpPr>
        <p:spPr>
          <a:xfrm>
            <a:off x="1298448" y="2935224"/>
            <a:ext cx="0" cy="2103120"/>
          </a:xfrm>
          <a:prstGeom prst="line">
            <a:avLst/>
          </a:prstGeom>
          <a:noFill/>
          <a:ln w="12700">
            <a:solidFill>
              <a:srgbClr val="526171"/>
            </a:solidFill>
            <a:prstDash val="solid"/>
          </a:ln>
        </p:spPr>
      </p:sp>
      <p:sp>
        <p:nvSpPr>
          <p:cNvPr id="19" name="Shape 17"/>
          <p:cNvSpPr/>
          <p:nvPr/>
        </p:nvSpPr>
        <p:spPr>
          <a:xfrm>
            <a:off x="1709928" y="3346704"/>
            <a:ext cx="118872" cy="118872"/>
          </a:xfrm>
          <a:prstGeom prst="ellipse">
            <a:avLst/>
          </a:prstGeom>
          <a:solidFill>
            <a:srgbClr val="2A78D6"/>
          </a:solidFill>
          <a:ln w="12700">
            <a:solidFill>
              <a:srgbClr val="2A78D6"/>
            </a:solidFill>
            <a:prstDash val="solid"/>
          </a:ln>
        </p:spPr>
      </p:sp>
      <p:sp>
        <p:nvSpPr>
          <p:cNvPr id="20" name="Shape 18"/>
          <p:cNvSpPr/>
          <p:nvPr/>
        </p:nvSpPr>
        <p:spPr>
          <a:xfrm>
            <a:off x="1938528" y="3346704"/>
            <a:ext cx="118872" cy="118872"/>
          </a:xfrm>
          <a:prstGeom prst="ellipse">
            <a:avLst/>
          </a:prstGeom>
          <a:solidFill>
            <a:srgbClr val="2A78D6"/>
          </a:solidFill>
          <a:ln w="12700">
            <a:solidFill>
              <a:srgbClr val="2A78D6"/>
            </a:solidFill>
            <a:prstDash val="solid"/>
          </a:ln>
        </p:spPr>
      </p:sp>
      <p:sp>
        <p:nvSpPr>
          <p:cNvPr id="21" name="Shape 19"/>
          <p:cNvSpPr/>
          <p:nvPr/>
        </p:nvSpPr>
        <p:spPr>
          <a:xfrm>
            <a:off x="2167128" y="3346704"/>
            <a:ext cx="118872" cy="118872"/>
          </a:xfrm>
          <a:prstGeom prst="ellipse">
            <a:avLst/>
          </a:prstGeom>
          <a:solidFill>
            <a:srgbClr val="2A78D6"/>
          </a:solidFill>
          <a:ln w="12700">
            <a:solidFill>
              <a:srgbClr val="2A78D6"/>
            </a:solidFill>
            <a:prstDash val="solid"/>
          </a:ln>
        </p:spPr>
      </p:sp>
      <p:sp>
        <p:nvSpPr>
          <p:cNvPr id="22" name="Shape 20"/>
          <p:cNvSpPr/>
          <p:nvPr/>
        </p:nvSpPr>
        <p:spPr>
          <a:xfrm>
            <a:off x="1709928" y="3639312"/>
            <a:ext cx="118872" cy="118872"/>
          </a:xfrm>
          <a:prstGeom prst="ellipse">
            <a:avLst/>
          </a:prstGeom>
          <a:solidFill>
            <a:srgbClr val="2A78D6"/>
          </a:solidFill>
          <a:ln w="12700">
            <a:solidFill>
              <a:srgbClr val="2A78D6"/>
            </a:solidFill>
            <a:prstDash val="solid"/>
          </a:ln>
        </p:spPr>
      </p:sp>
      <p:sp>
        <p:nvSpPr>
          <p:cNvPr id="23" name="Shape 21"/>
          <p:cNvSpPr/>
          <p:nvPr/>
        </p:nvSpPr>
        <p:spPr>
          <a:xfrm>
            <a:off x="1938528" y="3639312"/>
            <a:ext cx="118872" cy="118872"/>
          </a:xfrm>
          <a:prstGeom prst="ellipse">
            <a:avLst/>
          </a:prstGeom>
          <a:solidFill>
            <a:srgbClr val="2A78D6"/>
          </a:solidFill>
          <a:ln w="12700">
            <a:solidFill>
              <a:srgbClr val="2A78D6"/>
            </a:solidFill>
            <a:prstDash val="solid"/>
          </a:ln>
        </p:spPr>
      </p:sp>
      <p:sp>
        <p:nvSpPr>
          <p:cNvPr id="24" name="Shape 22"/>
          <p:cNvSpPr/>
          <p:nvPr/>
        </p:nvSpPr>
        <p:spPr>
          <a:xfrm>
            <a:off x="2167128" y="3639312"/>
            <a:ext cx="118872" cy="118872"/>
          </a:xfrm>
          <a:prstGeom prst="ellipse">
            <a:avLst/>
          </a:prstGeom>
          <a:solidFill>
            <a:srgbClr val="2A78D6"/>
          </a:solidFill>
          <a:ln w="12700">
            <a:solidFill>
              <a:srgbClr val="2A78D6"/>
            </a:solidFill>
            <a:prstDash val="solid"/>
          </a:ln>
        </p:spPr>
      </p:sp>
      <p:sp>
        <p:nvSpPr>
          <p:cNvPr id="25" name="Shape 23"/>
          <p:cNvSpPr/>
          <p:nvPr/>
        </p:nvSpPr>
        <p:spPr>
          <a:xfrm>
            <a:off x="1709928" y="3931920"/>
            <a:ext cx="118872" cy="118872"/>
          </a:xfrm>
          <a:prstGeom prst="ellipse">
            <a:avLst/>
          </a:prstGeom>
          <a:solidFill>
            <a:srgbClr val="2A78D6"/>
          </a:solidFill>
          <a:ln w="12700">
            <a:solidFill>
              <a:srgbClr val="2A78D6"/>
            </a:solidFill>
            <a:prstDash val="solid"/>
          </a:ln>
        </p:spPr>
      </p:sp>
      <p:sp>
        <p:nvSpPr>
          <p:cNvPr id="26" name="Shape 24"/>
          <p:cNvSpPr/>
          <p:nvPr/>
        </p:nvSpPr>
        <p:spPr>
          <a:xfrm>
            <a:off x="1938528" y="3931920"/>
            <a:ext cx="118872" cy="118872"/>
          </a:xfrm>
          <a:prstGeom prst="ellipse">
            <a:avLst/>
          </a:prstGeom>
          <a:solidFill>
            <a:srgbClr val="2A78D6"/>
          </a:solidFill>
          <a:ln w="12700">
            <a:solidFill>
              <a:srgbClr val="2A78D6"/>
            </a:solidFill>
            <a:prstDash val="solid"/>
          </a:ln>
        </p:spPr>
      </p:sp>
      <p:sp>
        <p:nvSpPr>
          <p:cNvPr id="27" name="Shape 25"/>
          <p:cNvSpPr/>
          <p:nvPr/>
        </p:nvSpPr>
        <p:spPr>
          <a:xfrm>
            <a:off x="2167128" y="3931920"/>
            <a:ext cx="118872" cy="118872"/>
          </a:xfrm>
          <a:prstGeom prst="ellipse">
            <a:avLst/>
          </a:prstGeom>
          <a:solidFill>
            <a:srgbClr val="2A78D6"/>
          </a:solidFill>
          <a:ln w="12700">
            <a:solidFill>
              <a:srgbClr val="2A78D6"/>
            </a:solidFill>
            <a:prstDash val="solid"/>
          </a:ln>
        </p:spPr>
      </p:sp>
      <p:sp>
        <p:nvSpPr>
          <p:cNvPr id="28" name="Shape 26"/>
          <p:cNvSpPr/>
          <p:nvPr/>
        </p:nvSpPr>
        <p:spPr>
          <a:xfrm>
            <a:off x="3675888" y="3529584"/>
            <a:ext cx="118872" cy="118872"/>
          </a:xfrm>
          <a:prstGeom prst="ellipse">
            <a:avLst/>
          </a:prstGeom>
          <a:solidFill>
            <a:srgbClr val="EB6834"/>
          </a:solidFill>
          <a:ln w="12700">
            <a:solidFill>
              <a:srgbClr val="EB6834"/>
            </a:solidFill>
            <a:prstDash val="solid"/>
          </a:ln>
        </p:spPr>
      </p:sp>
      <p:sp>
        <p:nvSpPr>
          <p:cNvPr id="29" name="Shape 27"/>
          <p:cNvSpPr/>
          <p:nvPr/>
        </p:nvSpPr>
        <p:spPr>
          <a:xfrm>
            <a:off x="3904488" y="3529584"/>
            <a:ext cx="118872" cy="118872"/>
          </a:xfrm>
          <a:prstGeom prst="ellipse">
            <a:avLst/>
          </a:prstGeom>
          <a:solidFill>
            <a:srgbClr val="EB6834"/>
          </a:solidFill>
          <a:ln w="12700">
            <a:solidFill>
              <a:srgbClr val="EB6834"/>
            </a:solidFill>
            <a:prstDash val="solid"/>
          </a:ln>
        </p:spPr>
      </p:sp>
      <p:sp>
        <p:nvSpPr>
          <p:cNvPr id="30" name="Shape 28"/>
          <p:cNvSpPr/>
          <p:nvPr/>
        </p:nvSpPr>
        <p:spPr>
          <a:xfrm>
            <a:off x="4133088" y="3529584"/>
            <a:ext cx="118872" cy="118872"/>
          </a:xfrm>
          <a:prstGeom prst="ellipse">
            <a:avLst/>
          </a:prstGeom>
          <a:solidFill>
            <a:srgbClr val="EB6834"/>
          </a:solidFill>
          <a:ln w="12700">
            <a:solidFill>
              <a:srgbClr val="EB6834"/>
            </a:solidFill>
            <a:prstDash val="solid"/>
          </a:ln>
        </p:spPr>
      </p:sp>
      <p:sp>
        <p:nvSpPr>
          <p:cNvPr id="31" name="Shape 29"/>
          <p:cNvSpPr/>
          <p:nvPr/>
        </p:nvSpPr>
        <p:spPr>
          <a:xfrm>
            <a:off x="3675888" y="3822192"/>
            <a:ext cx="118872" cy="118872"/>
          </a:xfrm>
          <a:prstGeom prst="ellipse">
            <a:avLst/>
          </a:prstGeom>
          <a:solidFill>
            <a:srgbClr val="EB6834"/>
          </a:solidFill>
          <a:ln w="12700">
            <a:solidFill>
              <a:srgbClr val="EB6834"/>
            </a:solidFill>
            <a:prstDash val="solid"/>
          </a:ln>
        </p:spPr>
      </p:sp>
      <p:sp>
        <p:nvSpPr>
          <p:cNvPr id="32" name="Shape 30"/>
          <p:cNvSpPr/>
          <p:nvPr/>
        </p:nvSpPr>
        <p:spPr>
          <a:xfrm>
            <a:off x="3904488" y="3822192"/>
            <a:ext cx="118872" cy="118872"/>
          </a:xfrm>
          <a:prstGeom prst="ellipse">
            <a:avLst/>
          </a:prstGeom>
          <a:solidFill>
            <a:srgbClr val="EB6834"/>
          </a:solidFill>
          <a:ln w="12700">
            <a:solidFill>
              <a:srgbClr val="EB6834"/>
            </a:solidFill>
            <a:prstDash val="solid"/>
          </a:ln>
        </p:spPr>
      </p:sp>
      <p:sp>
        <p:nvSpPr>
          <p:cNvPr id="33" name="Shape 31"/>
          <p:cNvSpPr/>
          <p:nvPr/>
        </p:nvSpPr>
        <p:spPr>
          <a:xfrm>
            <a:off x="4133088" y="3822192"/>
            <a:ext cx="118872" cy="118872"/>
          </a:xfrm>
          <a:prstGeom prst="ellipse">
            <a:avLst/>
          </a:prstGeom>
          <a:solidFill>
            <a:srgbClr val="EB6834"/>
          </a:solidFill>
          <a:ln w="12700">
            <a:solidFill>
              <a:srgbClr val="EB6834"/>
            </a:solidFill>
            <a:prstDash val="solid"/>
          </a:ln>
        </p:spPr>
      </p:sp>
      <p:sp>
        <p:nvSpPr>
          <p:cNvPr id="34" name="Shape 32"/>
          <p:cNvSpPr/>
          <p:nvPr/>
        </p:nvSpPr>
        <p:spPr>
          <a:xfrm>
            <a:off x="3675888" y="4114800"/>
            <a:ext cx="118872" cy="118872"/>
          </a:xfrm>
          <a:prstGeom prst="ellipse">
            <a:avLst/>
          </a:prstGeom>
          <a:solidFill>
            <a:srgbClr val="EB6834"/>
          </a:solidFill>
          <a:ln w="12700">
            <a:solidFill>
              <a:srgbClr val="EB6834"/>
            </a:solidFill>
            <a:prstDash val="solid"/>
          </a:ln>
        </p:spPr>
      </p:sp>
      <p:sp>
        <p:nvSpPr>
          <p:cNvPr id="35" name="Shape 33"/>
          <p:cNvSpPr/>
          <p:nvPr/>
        </p:nvSpPr>
        <p:spPr>
          <a:xfrm>
            <a:off x="3904488" y="4114800"/>
            <a:ext cx="118872" cy="118872"/>
          </a:xfrm>
          <a:prstGeom prst="ellipse">
            <a:avLst/>
          </a:prstGeom>
          <a:solidFill>
            <a:srgbClr val="EB6834"/>
          </a:solidFill>
          <a:ln w="12700">
            <a:solidFill>
              <a:srgbClr val="EB6834"/>
            </a:solidFill>
            <a:prstDash val="solid"/>
          </a:ln>
        </p:spPr>
      </p:sp>
      <p:sp>
        <p:nvSpPr>
          <p:cNvPr id="36" name="Shape 34"/>
          <p:cNvSpPr/>
          <p:nvPr/>
        </p:nvSpPr>
        <p:spPr>
          <a:xfrm>
            <a:off x="4133088" y="4114800"/>
            <a:ext cx="118872" cy="118872"/>
          </a:xfrm>
          <a:prstGeom prst="ellipse">
            <a:avLst/>
          </a:prstGeom>
          <a:solidFill>
            <a:srgbClr val="EB6834"/>
          </a:solidFill>
          <a:ln w="12700">
            <a:solidFill>
              <a:srgbClr val="EB6834"/>
            </a:solidFill>
            <a:prstDash val="solid"/>
          </a:ln>
        </p:spPr>
      </p:sp>
      <p:sp>
        <p:nvSpPr>
          <p:cNvPr id="37" name="Text 35"/>
          <p:cNvSpPr/>
          <p:nvPr/>
        </p:nvSpPr>
        <p:spPr>
          <a:xfrm>
            <a:off x="841248" y="5340096"/>
            <a:ext cx="4471416" cy="685800"/>
          </a:xfrm>
          <a:prstGeom prst="rect">
            <a:avLst/>
          </a:prstGeom>
          <a:noFill/>
          <a:ln/>
        </p:spPr>
        <p:txBody>
          <a:bodyPr wrap="square" lIns="0" tIns="0" rIns="0" bIns="0" rtlCol="0" anchor="ctr">
            <a:normAutofit/>
          </a:bodyPr>
          <a:lstStyle/>
          <a:p>
            <a:pPr algn="ctr" indent="0" marL="0">
              <a:buNone/>
            </a:pPr>
            <a:r>
              <a:rPr lang="en-US" sz="1600" dirty="0">
                <a:solidFill>
                  <a:srgbClr val="526171"/>
                </a:solidFill>
                <a:latin typeface="Aptos" pitchFamily="34" charset="0"/>
                <a:ea typeface="Aptos" pitchFamily="34" charset="-122"/>
                <a:cs typeface="Aptos" pitchFamily="34" charset="-120"/>
              </a:rPr>
              <a:t>A displayed group is a hypothesis, not a diagnosis.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Define the prediction target first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6</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Will the model be applied to another observation from a known donor?</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Or to a new donor, study, hospital or time period?</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test split must represent the intended use.</a:t>
            </a:r>
            <a:endParaRPr lang="en-US" sz="2297"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Repeated donors can leak across a row split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7</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Near-duplicate observations can identify their donor.</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row-level split may put the same donor in train and test.</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Keep all observations from a donor together for new-donor evaluation.</a:t>
            </a:r>
            <a:endParaRPr lang="en-US" sz="2297" dirty="0"/>
          </a:p>
        </p:txBody>
      </p:sp>
      <p:sp>
        <p:nvSpPr>
          <p:cNvPr id="16" name="Shape 14"/>
          <p:cNvSpPr/>
          <p:nvPr/>
        </p:nvSpPr>
        <p:spPr>
          <a:xfrm>
            <a:off x="841248" y="2340864"/>
            <a:ext cx="2203704" cy="461772"/>
          </a:xfrm>
          <a:prstGeom prst="rect">
            <a:avLst/>
          </a:prstGeom>
          <a:solidFill>
            <a:srgbClr val="2A78D6"/>
          </a:solidFill>
          <a:ln w="7620">
            <a:solidFill>
              <a:srgbClr val="2A78D6"/>
            </a:solidFill>
            <a:prstDash val="solid"/>
          </a:ln>
        </p:spPr>
      </p:sp>
      <p:sp>
        <p:nvSpPr>
          <p:cNvPr id="17" name="Text 15"/>
          <p:cNvSpPr/>
          <p:nvPr/>
        </p:nvSpPr>
        <p:spPr>
          <a:xfrm>
            <a:off x="960120" y="2414016"/>
            <a:ext cx="1961388" cy="32004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Train</a:t>
            </a:r>
            <a:endParaRPr lang="en-US" sz="1600" dirty="0"/>
          </a:p>
        </p:txBody>
      </p:sp>
      <p:sp>
        <p:nvSpPr>
          <p:cNvPr id="18" name="Shape 16"/>
          <p:cNvSpPr/>
          <p:nvPr/>
        </p:nvSpPr>
        <p:spPr>
          <a:xfrm>
            <a:off x="3076956" y="2340864"/>
            <a:ext cx="2203704" cy="461772"/>
          </a:xfrm>
          <a:prstGeom prst="rect">
            <a:avLst/>
          </a:prstGeom>
          <a:solidFill>
            <a:srgbClr val="2A78D6"/>
          </a:solidFill>
          <a:ln w="7620">
            <a:solidFill>
              <a:srgbClr val="2A78D6"/>
            </a:solidFill>
            <a:prstDash val="solid"/>
          </a:ln>
        </p:spPr>
      </p:sp>
      <p:sp>
        <p:nvSpPr>
          <p:cNvPr id="19" name="Text 17"/>
          <p:cNvSpPr/>
          <p:nvPr/>
        </p:nvSpPr>
        <p:spPr>
          <a:xfrm>
            <a:off x="3195828" y="2414016"/>
            <a:ext cx="1961388" cy="320040"/>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Test</a:t>
            </a:r>
            <a:endParaRPr lang="en-US" sz="1600" dirty="0"/>
          </a:p>
        </p:txBody>
      </p:sp>
      <p:sp>
        <p:nvSpPr>
          <p:cNvPr id="20" name="Shape 18"/>
          <p:cNvSpPr/>
          <p:nvPr/>
        </p:nvSpPr>
        <p:spPr>
          <a:xfrm>
            <a:off x="841248" y="2834640"/>
            <a:ext cx="2203704" cy="461772"/>
          </a:xfrm>
          <a:prstGeom prst="rect">
            <a:avLst/>
          </a:prstGeom>
          <a:solidFill>
            <a:srgbClr val="EAF2FC"/>
          </a:solidFill>
          <a:ln w="7620">
            <a:solidFill>
              <a:srgbClr val="EAF2FC"/>
            </a:solidFill>
            <a:prstDash val="solid"/>
          </a:ln>
        </p:spPr>
      </p:sp>
      <p:sp>
        <p:nvSpPr>
          <p:cNvPr id="21" name="Text 19"/>
          <p:cNvSpPr/>
          <p:nvPr/>
        </p:nvSpPr>
        <p:spPr>
          <a:xfrm>
            <a:off x="960120" y="2898648"/>
            <a:ext cx="1961388" cy="338328"/>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Donor A rows</a:t>
            </a:r>
            <a:endParaRPr lang="en-US" sz="1600" dirty="0"/>
          </a:p>
        </p:txBody>
      </p:sp>
      <p:sp>
        <p:nvSpPr>
          <p:cNvPr id="22" name="Shape 20"/>
          <p:cNvSpPr/>
          <p:nvPr/>
        </p:nvSpPr>
        <p:spPr>
          <a:xfrm>
            <a:off x="3076956" y="2834640"/>
            <a:ext cx="2203704" cy="461772"/>
          </a:xfrm>
          <a:prstGeom prst="rect">
            <a:avLst/>
          </a:prstGeom>
          <a:solidFill>
            <a:srgbClr val="EAF2FC"/>
          </a:solidFill>
          <a:ln w="7620">
            <a:solidFill>
              <a:srgbClr val="EAF2FC"/>
            </a:solidFill>
            <a:prstDash val="solid"/>
          </a:ln>
        </p:spPr>
      </p:sp>
      <p:sp>
        <p:nvSpPr>
          <p:cNvPr id="23" name="Text 21"/>
          <p:cNvSpPr/>
          <p:nvPr/>
        </p:nvSpPr>
        <p:spPr>
          <a:xfrm>
            <a:off x="3195828" y="2898648"/>
            <a:ext cx="1961388" cy="338328"/>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Donor A rows</a:t>
            </a:r>
            <a:endParaRPr lang="en-US" sz="1600" dirty="0"/>
          </a:p>
        </p:txBody>
      </p:sp>
      <p:sp>
        <p:nvSpPr>
          <p:cNvPr id="24" name="Shape 22"/>
          <p:cNvSpPr/>
          <p:nvPr/>
        </p:nvSpPr>
        <p:spPr>
          <a:xfrm>
            <a:off x="841248" y="3328416"/>
            <a:ext cx="2203704" cy="461772"/>
          </a:xfrm>
          <a:prstGeom prst="rect">
            <a:avLst/>
          </a:prstGeom>
          <a:solidFill>
            <a:srgbClr val="FFFFFF"/>
          </a:solidFill>
          <a:ln w="7620">
            <a:solidFill>
              <a:srgbClr val="FFFFFF"/>
            </a:solidFill>
            <a:prstDash val="solid"/>
          </a:ln>
        </p:spPr>
      </p:sp>
      <p:sp>
        <p:nvSpPr>
          <p:cNvPr id="25" name="Text 23"/>
          <p:cNvSpPr/>
          <p:nvPr/>
        </p:nvSpPr>
        <p:spPr>
          <a:xfrm>
            <a:off x="960120" y="3392424"/>
            <a:ext cx="1961388" cy="338328"/>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Donor B rows</a:t>
            </a:r>
            <a:endParaRPr lang="en-US" sz="1600" dirty="0"/>
          </a:p>
        </p:txBody>
      </p:sp>
      <p:sp>
        <p:nvSpPr>
          <p:cNvPr id="26" name="Shape 24"/>
          <p:cNvSpPr/>
          <p:nvPr/>
        </p:nvSpPr>
        <p:spPr>
          <a:xfrm>
            <a:off x="3076956" y="3328416"/>
            <a:ext cx="2203704" cy="461772"/>
          </a:xfrm>
          <a:prstGeom prst="rect">
            <a:avLst/>
          </a:prstGeom>
          <a:solidFill>
            <a:srgbClr val="FFFFFF"/>
          </a:solidFill>
          <a:ln w="7620">
            <a:solidFill>
              <a:srgbClr val="FFFFFF"/>
            </a:solidFill>
            <a:prstDash val="solid"/>
          </a:ln>
        </p:spPr>
      </p:sp>
      <p:sp>
        <p:nvSpPr>
          <p:cNvPr id="27" name="Text 25"/>
          <p:cNvSpPr/>
          <p:nvPr/>
        </p:nvSpPr>
        <p:spPr>
          <a:xfrm>
            <a:off x="3195828" y="3392424"/>
            <a:ext cx="1961388" cy="338328"/>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Donor B rows</a:t>
            </a:r>
            <a:endParaRPr lang="en-US" sz="1600" dirty="0"/>
          </a:p>
        </p:txBody>
      </p:sp>
      <p:sp>
        <p:nvSpPr>
          <p:cNvPr id="28" name="Text 26"/>
          <p:cNvSpPr/>
          <p:nvPr/>
        </p:nvSpPr>
        <p:spPr>
          <a:xfrm>
            <a:off x="841248" y="3931920"/>
            <a:ext cx="4471416" cy="530352"/>
          </a:xfrm>
          <a:prstGeom prst="rect">
            <a:avLst/>
          </a:prstGeom>
          <a:noFill/>
          <a:ln/>
        </p:spPr>
        <p:txBody>
          <a:bodyPr wrap="square" lIns="0" tIns="0" rIns="0" bIns="0" rtlCol="0" anchor="ctr">
            <a:normAutofit/>
          </a:bodyPr>
          <a:lstStyle/>
          <a:p>
            <a:pPr algn="ctr" indent="0" marL="0">
              <a:buNone/>
            </a:pPr>
            <a:r>
              <a:rPr lang="en-US" sz="1700" b="1" dirty="0">
                <a:solidFill>
                  <a:srgbClr val="EB6834"/>
                </a:solidFill>
                <a:latin typeface="Aptos" pitchFamily="34" charset="0"/>
                <a:ea typeface="Aptos" pitchFamily="34" charset="-122"/>
                <a:cs typeface="Aptos" pitchFamily="34" charset="-120"/>
              </a:rPr>
              <a:t>Wrong for a new-donor claim</a:t>
            </a:r>
            <a:endParaRPr lang="en-US" sz="1700" dirty="0"/>
          </a:p>
        </p:txBody>
      </p:sp>
      <p:sp>
        <p:nvSpPr>
          <p:cNvPr id="29" name="Shape 27"/>
          <p:cNvSpPr/>
          <p:nvPr/>
        </p:nvSpPr>
        <p:spPr>
          <a:xfrm>
            <a:off x="841248" y="4690872"/>
            <a:ext cx="2203704" cy="539496"/>
          </a:xfrm>
          <a:prstGeom prst="rect">
            <a:avLst/>
          </a:prstGeom>
          <a:solidFill>
            <a:srgbClr val="2A78D6"/>
          </a:solidFill>
          <a:ln w="7620">
            <a:solidFill>
              <a:srgbClr val="2A78D6"/>
            </a:solidFill>
            <a:prstDash val="solid"/>
          </a:ln>
        </p:spPr>
      </p:sp>
      <p:sp>
        <p:nvSpPr>
          <p:cNvPr id="30" name="Text 28"/>
          <p:cNvSpPr/>
          <p:nvPr/>
        </p:nvSpPr>
        <p:spPr>
          <a:xfrm>
            <a:off x="960120" y="4764024"/>
            <a:ext cx="1961388" cy="39776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Train</a:t>
            </a:r>
            <a:endParaRPr lang="en-US" sz="1600" dirty="0"/>
          </a:p>
        </p:txBody>
      </p:sp>
      <p:sp>
        <p:nvSpPr>
          <p:cNvPr id="31" name="Shape 29"/>
          <p:cNvSpPr/>
          <p:nvPr/>
        </p:nvSpPr>
        <p:spPr>
          <a:xfrm>
            <a:off x="3076956" y="4690872"/>
            <a:ext cx="2203704" cy="539496"/>
          </a:xfrm>
          <a:prstGeom prst="rect">
            <a:avLst/>
          </a:prstGeom>
          <a:solidFill>
            <a:srgbClr val="2A78D6"/>
          </a:solidFill>
          <a:ln w="7620">
            <a:solidFill>
              <a:srgbClr val="2A78D6"/>
            </a:solidFill>
            <a:prstDash val="solid"/>
          </a:ln>
        </p:spPr>
      </p:sp>
      <p:sp>
        <p:nvSpPr>
          <p:cNvPr id="32" name="Text 30"/>
          <p:cNvSpPr/>
          <p:nvPr/>
        </p:nvSpPr>
        <p:spPr>
          <a:xfrm>
            <a:off x="3195828" y="4764024"/>
            <a:ext cx="1961388" cy="397764"/>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Test</a:t>
            </a:r>
            <a:endParaRPr lang="en-US" sz="1600" dirty="0"/>
          </a:p>
        </p:txBody>
      </p:sp>
      <p:sp>
        <p:nvSpPr>
          <p:cNvPr id="33" name="Shape 31"/>
          <p:cNvSpPr/>
          <p:nvPr/>
        </p:nvSpPr>
        <p:spPr>
          <a:xfrm>
            <a:off x="841248" y="5262372"/>
            <a:ext cx="2203704" cy="539496"/>
          </a:xfrm>
          <a:prstGeom prst="rect">
            <a:avLst/>
          </a:prstGeom>
          <a:solidFill>
            <a:srgbClr val="EAF2FC"/>
          </a:solidFill>
          <a:ln w="7620">
            <a:solidFill>
              <a:srgbClr val="EAF2FC"/>
            </a:solidFill>
            <a:prstDash val="solid"/>
          </a:ln>
        </p:spPr>
      </p:sp>
      <p:sp>
        <p:nvSpPr>
          <p:cNvPr id="34" name="Text 32"/>
          <p:cNvSpPr/>
          <p:nvPr/>
        </p:nvSpPr>
        <p:spPr>
          <a:xfrm>
            <a:off x="960120" y="5326380"/>
            <a:ext cx="1961388" cy="41605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Donors A + B</a:t>
            </a:r>
            <a:endParaRPr lang="en-US" sz="1600" dirty="0"/>
          </a:p>
        </p:txBody>
      </p:sp>
      <p:sp>
        <p:nvSpPr>
          <p:cNvPr id="35" name="Shape 33"/>
          <p:cNvSpPr/>
          <p:nvPr/>
        </p:nvSpPr>
        <p:spPr>
          <a:xfrm>
            <a:off x="3076956" y="5262372"/>
            <a:ext cx="2203704" cy="539496"/>
          </a:xfrm>
          <a:prstGeom prst="rect">
            <a:avLst/>
          </a:prstGeom>
          <a:solidFill>
            <a:srgbClr val="EAF2FC"/>
          </a:solidFill>
          <a:ln w="7620">
            <a:solidFill>
              <a:srgbClr val="EAF2FC"/>
            </a:solidFill>
            <a:prstDash val="solid"/>
          </a:ln>
        </p:spPr>
      </p:sp>
      <p:sp>
        <p:nvSpPr>
          <p:cNvPr id="36" name="Text 34"/>
          <p:cNvSpPr/>
          <p:nvPr/>
        </p:nvSpPr>
        <p:spPr>
          <a:xfrm>
            <a:off x="3195828" y="5326380"/>
            <a:ext cx="1961388" cy="416052"/>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Donors C + D</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Preprocessing can leak too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8</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Split first. Fit scaling and feature selection on training data.</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Use the fitted transform on validation or test data.</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Do not choose a method by repeatedly inspecting the final test score.</a:t>
            </a:r>
            <a:endParaRPr lang="en-US" sz="229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Four counts explain a classifier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9</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True positive and false negative describe actual positives.</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False positive and true negative describe actual negatives.</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Sensitivity and specificity use different denominators.</a:t>
            </a:r>
            <a:endParaRPr lang="en-US" sz="2297" dirty="0"/>
          </a:p>
        </p:txBody>
      </p:sp>
      <p:sp>
        <p:nvSpPr>
          <p:cNvPr id="16" name="Shape 14"/>
          <p:cNvSpPr/>
          <p:nvPr/>
        </p:nvSpPr>
        <p:spPr>
          <a:xfrm>
            <a:off x="841248" y="2478024"/>
            <a:ext cx="1458468" cy="617220"/>
          </a:xfrm>
          <a:prstGeom prst="rect">
            <a:avLst/>
          </a:prstGeom>
          <a:solidFill>
            <a:srgbClr val="2A78D6"/>
          </a:solidFill>
          <a:ln w="7620">
            <a:solidFill>
              <a:srgbClr val="2A78D6"/>
            </a:solidFill>
            <a:prstDash val="solid"/>
          </a:ln>
        </p:spPr>
      </p:sp>
      <p:sp>
        <p:nvSpPr>
          <p:cNvPr id="17" name="Text 15"/>
          <p:cNvSpPr/>
          <p:nvPr/>
        </p:nvSpPr>
        <p:spPr>
          <a:xfrm>
            <a:off x="960120" y="2551176"/>
            <a:ext cx="1216152" cy="47548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Truth</a:t>
            </a:r>
            <a:endParaRPr lang="en-US" sz="1600" dirty="0"/>
          </a:p>
        </p:txBody>
      </p:sp>
      <p:sp>
        <p:nvSpPr>
          <p:cNvPr id="18" name="Shape 16"/>
          <p:cNvSpPr/>
          <p:nvPr/>
        </p:nvSpPr>
        <p:spPr>
          <a:xfrm>
            <a:off x="2331720" y="2478024"/>
            <a:ext cx="1458468" cy="617220"/>
          </a:xfrm>
          <a:prstGeom prst="rect">
            <a:avLst/>
          </a:prstGeom>
          <a:solidFill>
            <a:srgbClr val="2A78D6"/>
          </a:solidFill>
          <a:ln w="7620">
            <a:solidFill>
              <a:srgbClr val="2A78D6"/>
            </a:solidFill>
            <a:prstDash val="solid"/>
          </a:ln>
        </p:spPr>
      </p:sp>
      <p:sp>
        <p:nvSpPr>
          <p:cNvPr id="19" name="Text 17"/>
          <p:cNvSpPr/>
          <p:nvPr/>
        </p:nvSpPr>
        <p:spPr>
          <a:xfrm>
            <a:off x="2450592" y="2551176"/>
            <a:ext cx="1216152" cy="47548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Pred +</a:t>
            </a:r>
            <a:endParaRPr lang="en-US" sz="1600" dirty="0"/>
          </a:p>
        </p:txBody>
      </p:sp>
      <p:sp>
        <p:nvSpPr>
          <p:cNvPr id="20" name="Shape 18"/>
          <p:cNvSpPr/>
          <p:nvPr/>
        </p:nvSpPr>
        <p:spPr>
          <a:xfrm>
            <a:off x="3822192" y="2478024"/>
            <a:ext cx="1458468" cy="617220"/>
          </a:xfrm>
          <a:prstGeom prst="rect">
            <a:avLst/>
          </a:prstGeom>
          <a:solidFill>
            <a:srgbClr val="2A78D6"/>
          </a:solidFill>
          <a:ln w="7620">
            <a:solidFill>
              <a:srgbClr val="2A78D6"/>
            </a:solidFill>
            <a:prstDash val="solid"/>
          </a:ln>
        </p:spPr>
      </p:sp>
      <p:sp>
        <p:nvSpPr>
          <p:cNvPr id="21" name="Text 19"/>
          <p:cNvSpPr/>
          <p:nvPr/>
        </p:nvSpPr>
        <p:spPr>
          <a:xfrm>
            <a:off x="3941064" y="2551176"/>
            <a:ext cx="1216152" cy="475488"/>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Pred -</a:t>
            </a:r>
            <a:endParaRPr lang="en-US" sz="1600" dirty="0"/>
          </a:p>
        </p:txBody>
      </p:sp>
      <p:sp>
        <p:nvSpPr>
          <p:cNvPr id="22" name="Shape 20"/>
          <p:cNvSpPr/>
          <p:nvPr/>
        </p:nvSpPr>
        <p:spPr>
          <a:xfrm>
            <a:off x="841248" y="3127248"/>
            <a:ext cx="1458468" cy="617220"/>
          </a:xfrm>
          <a:prstGeom prst="rect">
            <a:avLst/>
          </a:prstGeom>
          <a:solidFill>
            <a:srgbClr val="EAF2FC"/>
          </a:solidFill>
          <a:ln w="7620">
            <a:solidFill>
              <a:srgbClr val="EAF2FC"/>
            </a:solidFill>
            <a:prstDash val="solid"/>
          </a:ln>
        </p:spPr>
      </p:sp>
      <p:sp>
        <p:nvSpPr>
          <p:cNvPr id="23" name="Text 21"/>
          <p:cNvSpPr/>
          <p:nvPr/>
        </p:nvSpPr>
        <p:spPr>
          <a:xfrm>
            <a:off x="960120" y="3191256"/>
            <a:ext cx="1216152" cy="49377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Positive</a:t>
            </a:r>
            <a:endParaRPr lang="en-US" sz="1600" dirty="0"/>
          </a:p>
        </p:txBody>
      </p:sp>
      <p:sp>
        <p:nvSpPr>
          <p:cNvPr id="24" name="Shape 22"/>
          <p:cNvSpPr/>
          <p:nvPr/>
        </p:nvSpPr>
        <p:spPr>
          <a:xfrm>
            <a:off x="2331720" y="3127248"/>
            <a:ext cx="1458468" cy="617220"/>
          </a:xfrm>
          <a:prstGeom prst="rect">
            <a:avLst/>
          </a:prstGeom>
          <a:solidFill>
            <a:srgbClr val="EAF2FC"/>
          </a:solidFill>
          <a:ln w="7620">
            <a:solidFill>
              <a:srgbClr val="EAF2FC"/>
            </a:solidFill>
            <a:prstDash val="solid"/>
          </a:ln>
        </p:spPr>
      </p:sp>
      <p:sp>
        <p:nvSpPr>
          <p:cNvPr id="25" name="Text 23"/>
          <p:cNvSpPr/>
          <p:nvPr/>
        </p:nvSpPr>
        <p:spPr>
          <a:xfrm>
            <a:off x="2450592" y="3191256"/>
            <a:ext cx="1216152" cy="49377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TP = 8</a:t>
            </a:r>
            <a:endParaRPr lang="en-US" sz="1600" dirty="0"/>
          </a:p>
        </p:txBody>
      </p:sp>
      <p:sp>
        <p:nvSpPr>
          <p:cNvPr id="26" name="Shape 24"/>
          <p:cNvSpPr/>
          <p:nvPr/>
        </p:nvSpPr>
        <p:spPr>
          <a:xfrm>
            <a:off x="3822192" y="3127248"/>
            <a:ext cx="1458468" cy="617220"/>
          </a:xfrm>
          <a:prstGeom prst="rect">
            <a:avLst/>
          </a:prstGeom>
          <a:solidFill>
            <a:srgbClr val="EAF2FC"/>
          </a:solidFill>
          <a:ln w="7620">
            <a:solidFill>
              <a:srgbClr val="EAF2FC"/>
            </a:solidFill>
            <a:prstDash val="solid"/>
          </a:ln>
        </p:spPr>
      </p:sp>
      <p:sp>
        <p:nvSpPr>
          <p:cNvPr id="27" name="Text 25"/>
          <p:cNvSpPr/>
          <p:nvPr/>
        </p:nvSpPr>
        <p:spPr>
          <a:xfrm>
            <a:off x="3941064" y="3191256"/>
            <a:ext cx="1216152" cy="49377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FN = 2</a:t>
            </a:r>
            <a:endParaRPr lang="en-US" sz="1600" dirty="0"/>
          </a:p>
        </p:txBody>
      </p:sp>
      <p:sp>
        <p:nvSpPr>
          <p:cNvPr id="28" name="Shape 26"/>
          <p:cNvSpPr/>
          <p:nvPr/>
        </p:nvSpPr>
        <p:spPr>
          <a:xfrm>
            <a:off x="841248" y="3776472"/>
            <a:ext cx="1458468" cy="617220"/>
          </a:xfrm>
          <a:prstGeom prst="rect">
            <a:avLst/>
          </a:prstGeom>
          <a:solidFill>
            <a:srgbClr val="FFFFFF"/>
          </a:solidFill>
          <a:ln w="7620">
            <a:solidFill>
              <a:srgbClr val="FFFFFF"/>
            </a:solidFill>
            <a:prstDash val="solid"/>
          </a:ln>
        </p:spPr>
      </p:sp>
      <p:sp>
        <p:nvSpPr>
          <p:cNvPr id="29" name="Text 27"/>
          <p:cNvSpPr/>
          <p:nvPr/>
        </p:nvSpPr>
        <p:spPr>
          <a:xfrm>
            <a:off x="960120" y="3840480"/>
            <a:ext cx="1216152" cy="49377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Negative</a:t>
            </a:r>
            <a:endParaRPr lang="en-US" sz="1600" dirty="0"/>
          </a:p>
        </p:txBody>
      </p:sp>
      <p:sp>
        <p:nvSpPr>
          <p:cNvPr id="30" name="Shape 28"/>
          <p:cNvSpPr/>
          <p:nvPr/>
        </p:nvSpPr>
        <p:spPr>
          <a:xfrm>
            <a:off x="2331720" y="3776472"/>
            <a:ext cx="1458468" cy="617220"/>
          </a:xfrm>
          <a:prstGeom prst="rect">
            <a:avLst/>
          </a:prstGeom>
          <a:solidFill>
            <a:srgbClr val="FFFFFF"/>
          </a:solidFill>
          <a:ln w="7620">
            <a:solidFill>
              <a:srgbClr val="FFFFFF"/>
            </a:solidFill>
            <a:prstDash val="solid"/>
          </a:ln>
        </p:spPr>
      </p:sp>
      <p:sp>
        <p:nvSpPr>
          <p:cNvPr id="31" name="Text 29"/>
          <p:cNvSpPr/>
          <p:nvPr/>
        </p:nvSpPr>
        <p:spPr>
          <a:xfrm>
            <a:off x="2450592" y="3840480"/>
            <a:ext cx="1216152" cy="49377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FP = 1</a:t>
            </a:r>
            <a:endParaRPr lang="en-US" sz="1600" dirty="0"/>
          </a:p>
        </p:txBody>
      </p:sp>
      <p:sp>
        <p:nvSpPr>
          <p:cNvPr id="32" name="Shape 30"/>
          <p:cNvSpPr/>
          <p:nvPr/>
        </p:nvSpPr>
        <p:spPr>
          <a:xfrm>
            <a:off x="3822192" y="3776472"/>
            <a:ext cx="1458468" cy="617220"/>
          </a:xfrm>
          <a:prstGeom prst="rect">
            <a:avLst/>
          </a:prstGeom>
          <a:solidFill>
            <a:srgbClr val="FFFFFF"/>
          </a:solidFill>
          <a:ln w="7620">
            <a:solidFill>
              <a:srgbClr val="FFFFFF"/>
            </a:solidFill>
            <a:prstDash val="solid"/>
          </a:ln>
        </p:spPr>
      </p:sp>
      <p:sp>
        <p:nvSpPr>
          <p:cNvPr id="33" name="Text 31"/>
          <p:cNvSpPr/>
          <p:nvPr/>
        </p:nvSpPr>
        <p:spPr>
          <a:xfrm>
            <a:off x="3941064" y="3840480"/>
            <a:ext cx="1216152" cy="493776"/>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TN = 9</a:t>
            </a:r>
            <a:endParaRPr lang="en-US" sz="1600" dirty="0"/>
          </a:p>
        </p:txBody>
      </p:sp>
      <p:sp>
        <p:nvSpPr>
          <p:cNvPr id="34" name="Text 32"/>
          <p:cNvSpPr/>
          <p:nvPr/>
        </p:nvSpPr>
        <p:spPr>
          <a:xfrm>
            <a:off x="841248" y="4946904"/>
            <a:ext cx="4471416" cy="786384"/>
          </a:xfrm>
          <a:prstGeom prst="rect">
            <a:avLst/>
          </a:prstGeom>
          <a:noFill/>
          <a:ln/>
        </p:spPr>
        <p:txBody>
          <a:bodyPr wrap="square" lIns="0" tIns="0" rIns="0" bIns="0" rtlCol="0" anchor="ctr">
            <a:normAutofit/>
          </a:bodyPr>
          <a:lstStyle/>
          <a:p>
            <a:pPr algn="ctr" indent="0" marL="0">
              <a:buNone/>
            </a:pPr>
            <a:r>
              <a:rPr lang="en-US" sz="1900" b="1" dirty="0">
                <a:solidFill>
                  <a:srgbClr val="2A78D6"/>
                </a:solidFill>
                <a:latin typeface="Aptos" pitchFamily="34" charset="0"/>
                <a:ea typeface="Aptos" pitchFamily="34" charset="-122"/>
                <a:cs typeface="Aptos" pitchFamily="34" charset="-120"/>
              </a:rPr>
              <a:t>Sensitivity 8/10 = 0.80</a:t>
            </a:r>
            <a:endParaRPr lang="en-US" sz="1900" dirty="0"/>
          </a:p>
          <a:p>
            <a:pPr algn="ctr" indent="0" marL="0">
              <a:buNone/>
            </a:pPr>
            <a:r>
              <a:rPr lang="en-US" sz="1900" b="1" dirty="0">
                <a:solidFill>
                  <a:srgbClr val="2A78D6"/>
                </a:solidFill>
                <a:latin typeface="Aptos" pitchFamily="34" charset="0"/>
                <a:ea typeface="Aptos" pitchFamily="34" charset="-122"/>
                <a:cs typeface="Aptos" pitchFamily="34" charset="-120"/>
              </a:rPr>
              <a:t>Specificity 9/10 = 0.90</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Accuracy needs context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10</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169" dirty="0">
                <a:solidFill>
                  <a:srgbClr val="232D3B"/>
                </a:solidFill>
                <a:latin typeface="Aptos" pitchFamily="34" charset="0"/>
                <a:ea typeface="Aptos" pitchFamily="34" charset="-122"/>
                <a:cs typeface="Aptos" pitchFamily="34" charset="-120"/>
              </a:rPr>
              <a:t>If 95 of 100 samples are negative, always predicting negative gives 95% accuracy.</a:t>
            </a:r>
            <a:endParaRPr lang="en-US" sz="2169"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But sensitivity is zero.</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Report the class balance, independent sample count and uncertainty.</a:t>
            </a:r>
            <a:endParaRPr lang="en-US" sz="2297" dirty="0"/>
          </a:p>
        </p:txBody>
      </p:sp>
      <p:sp>
        <p:nvSpPr>
          <p:cNvPr id="16" name="Text 14"/>
          <p:cNvSpPr/>
          <p:nvPr/>
        </p:nvSpPr>
        <p:spPr>
          <a:xfrm>
            <a:off x="841248" y="2478024"/>
            <a:ext cx="4471416" cy="1508760"/>
          </a:xfrm>
          <a:prstGeom prst="rect">
            <a:avLst/>
          </a:prstGeom>
          <a:noFill/>
          <a:ln/>
        </p:spPr>
        <p:txBody>
          <a:bodyPr wrap="square" lIns="0" tIns="0" rIns="0" bIns="0" rtlCol="0" anchor="ctr">
            <a:normAutofit/>
          </a:bodyPr>
          <a:lstStyle/>
          <a:p>
            <a:pPr algn="ctr" indent="0" marL="0">
              <a:buNone/>
            </a:pPr>
            <a:r>
              <a:rPr lang="en-US" sz="4397" b="1" dirty="0">
                <a:solidFill>
                  <a:srgbClr val="2A78D6"/>
                </a:solidFill>
                <a:latin typeface="Aptos" pitchFamily="34" charset="0"/>
                <a:ea typeface="Aptos" pitchFamily="34" charset="-122"/>
                <a:cs typeface="Aptos" pitchFamily="34" charset="-120"/>
              </a:rPr>
              <a:t>95% accuracy</a:t>
            </a:r>
            <a:endParaRPr lang="en-US" sz="4397" dirty="0"/>
          </a:p>
        </p:txBody>
      </p:sp>
      <p:sp>
        <p:nvSpPr>
          <p:cNvPr id="17" name="Text 15"/>
          <p:cNvSpPr/>
          <p:nvPr/>
        </p:nvSpPr>
        <p:spPr>
          <a:xfrm>
            <a:off x="841248" y="4489704"/>
            <a:ext cx="4471416" cy="960120"/>
          </a:xfrm>
          <a:prstGeom prst="rect">
            <a:avLst/>
          </a:prstGeom>
          <a:noFill/>
          <a:ln/>
        </p:spPr>
        <p:txBody>
          <a:bodyPr wrap="square" lIns="0" tIns="0" rIns="0" bIns="0" rtlCol="0" anchor="ctr">
            <a:normAutofit/>
          </a:bodyPr>
          <a:lstStyle/>
          <a:p>
            <a:pPr algn="ctr" indent="0" marL="0">
              <a:buNone/>
            </a:pPr>
            <a:r>
              <a:rPr lang="en-US" sz="1997" dirty="0">
                <a:solidFill>
                  <a:srgbClr val="526171"/>
                </a:solidFill>
                <a:latin typeface="Aptos" pitchFamily="34" charset="0"/>
                <a:ea typeface="Aptos" pitchFamily="34" charset="-122"/>
                <a:cs typeface="Aptos" pitchFamily="34" charset="-120"/>
              </a:rPr>
              <a:t>Can coexist with zero sensitivity</a:t>
            </a:r>
            <a:endParaRPr lang="en-US" sz="199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shuffled-label control respects the design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11</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For repeated donors, shuffle labels at donor level.</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Keep all observations of a donor assigned the same shuffled label.</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Repeat the control; chance-level performance varies in small test sets.</a:t>
            </a:r>
            <a:endParaRPr lang="en-US" sz="22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read a confusion matrix</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TP=8, FN=2, TN=9, FP=1; the test set contains 20 independent individuals.</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Sensitivity = 8 / (8 + 2) = 0.80.</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Specificity = 9 / (9 + 1) = 0.90.</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Accuracy = (8 + 9) / 20 = 0.85; balanced accuracy = (0.80 + 0.90) / 2 = 0.85.</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A dataset contains six rows for each of 12 donors. A random row split gives 100% accuracy. What split would test performance on new donors?</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Hold out whole donors so no donor is shared across train and test, then report donor-level performance and the small independent test size.</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W09 / Project D2: compare a deliberately leaky row split with an honest donor split, calculate confusion counts and run a donor-level permutation control.</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feature</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label</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train/test</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leakage</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sensitivity</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nested cross-validation and calibration; no neural-network training is required.</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09</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S13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S11  scikit-learn: Common pitfalls and recommended practices.</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S13  AnnData documentation: annotated data matrices.</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Patterns, prediction and data leakage</dc:title>
  <dc:subject>Scaffolded fourth-year bioengineering</dc:subject>
  <dc:creator>BIB course teaching materials</dc:creator>
  <cp:lastModifiedBy>BIB course teaching materials</cp:lastModifiedBy>
  <cp:revision>1</cp:revision>
  <dcterms:created xsi:type="dcterms:W3CDTF">2026-09-14T18:26:57Z</dcterms:created>
  <dcterms:modified xsi:type="dcterms:W3CDTF">2026-09-14T18:26:57Z</dcterms:modified>
</cp:coreProperties>
</file>