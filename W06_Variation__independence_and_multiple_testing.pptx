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What would this result look like if nothing biological had changed?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Biological variation: independently sampled experimental units can differ.
Technical variation: measurement or processing can vary.
The design determines which differences can be attributed to treatment.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Three donors, each with 100 measured cells, still give three donors.
For donor-level claims, uncertainty must account for donor-to-donor variation.
Cells can be valid observations for other questions; name the question first.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All treated samples in batch A and all controls in batch B confound treatment and batch.
A statistical adjustment cannot create the missing comparison.
Balance conditions across batches before data collection where feasible.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Assume the stated null model and its assumptions.
How probable are data at least as extreme by the chosen test statistic?
It is not P(the null is true) and not a measure of effect size.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Effect size: how large is the estimated difference?
Uncertainty interval: which values are compatible with the model and data?
p-value: how incompatible is the chosen statistic with the null model?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1,000 valid null tests at alpha 0.05, expected false positives are 50.
This expectation does not require all tests to be independent.
The observed count varies; no single run must equal 50.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Sort p-values; compare p(i) with i x q / m.
Select through the largest passing rank in the step-up rule.
FDR is an expected false-discovery proportion under assumptions, not each gene's error probability.
Checkpoint: ask a student to state one conclusion the data do NOT support.
Read technical terms aloud; ask students to explain the measurement before interpreting the model. Accept justified uncertainty.
[Sources]
S08: Benjamini and Hochberg (1995). Controlling the false discovery rate: a practical and powerful approach to multiple testing.
https://doi.org/10.1111/j.2517-6161.1995.tb02031.x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Simulate a known null or use an appropriate design-respecting permutation.
Repeat the experiment rather than pick one convenient random seed.
A control failing to reject does not prove every assumption is correct.
Checkpoint: ask a student to state one conclusion the data do NOT support.
Read technical terms aloud; ask students to explain the measurement before interpreting the model. Accept justified uncertainty.
[Sources]
S07: American Statistical Association. Statement on statistical significance and p-values (2016).
https://www.amstat.org/asa/files/pdfs/P-ValueStatement.pdf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S07: American Statistical Association. Statement on statistical significance and p-values (2016).
https://www.amstat.org/asa/files/pdfs/P-ValueStatement.pdf
S08: Benjamini and Hochberg (1995). Controlling the false discovery rate: a practical and powerful approach to multiple testing.
https://doi.org/10.1111/j.2517-6161.1995.tb02031.x
S10: DESeq2: Analyzing RNA-seq data with DESeq2, release vignette.
https://bioconductor.org/packages/release/bioc/vignettes/DESeq2/inst/doc/DESeq2.html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06</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Variation, independence and multiple testing</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What would this result look like if nothing biological had changed?</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Identify the experimental unit and a confounded comparison.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Interpret a p-value without calling it the probability the hypothesis is true.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Apply a small BH correction and explain its limits.</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Technical repeats share biological origins; more observations are not automatically more independent evidence.</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Variation has different sources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S12  |  4</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Biological variation: independently sampled experimental units can differ.</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Technical variation: measurement or processing can vary.</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56" dirty="0">
                <a:solidFill>
                  <a:srgbClr val="232D3B"/>
                </a:solidFill>
                <a:latin typeface="Aptos" pitchFamily="34" charset="0"/>
                <a:ea typeface="Aptos" pitchFamily="34" charset="-122"/>
                <a:cs typeface="Aptos" pitchFamily="34" charset="-120"/>
              </a:rPr>
              <a:t>The design determines which differences can be attributed to treatment.</a:t>
            </a:r>
            <a:endParaRPr lang="en-US" sz="2156" dirty="0"/>
          </a:p>
        </p:txBody>
      </p:sp>
      <p:sp>
        <p:nvSpPr>
          <p:cNvPr id="16" name="Text 14"/>
          <p:cNvSpPr/>
          <p:nvPr/>
        </p:nvSpPr>
        <p:spPr>
          <a:xfrm>
            <a:off x="841248"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1</a:t>
            </a:r>
            <a:endParaRPr lang="en-US" sz="1797" dirty="0"/>
          </a:p>
        </p:txBody>
      </p:sp>
      <p:sp>
        <p:nvSpPr>
          <p:cNvPr id="17" name="Shape 15"/>
          <p:cNvSpPr/>
          <p:nvPr/>
        </p:nvSpPr>
        <p:spPr>
          <a:xfrm>
            <a:off x="841248" y="3209544"/>
            <a:ext cx="1325880" cy="1554480"/>
          </a:xfrm>
          <a:prstGeom prst="rect">
            <a:avLst/>
          </a:prstGeom>
          <a:solidFill>
            <a:srgbClr val="FFFFFF"/>
          </a:solidFill>
          <a:ln w="7620">
            <a:solidFill>
              <a:srgbClr val="FFFFFF"/>
            </a:solidFill>
            <a:prstDash val="solid"/>
          </a:ln>
        </p:spPr>
      </p:sp>
      <p:sp>
        <p:nvSpPr>
          <p:cNvPr id="18" name="Shape 16"/>
          <p:cNvSpPr/>
          <p:nvPr/>
        </p:nvSpPr>
        <p:spPr>
          <a:xfrm>
            <a:off x="1024128" y="3438144"/>
            <a:ext cx="201168" cy="201168"/>
          </a:xfrm>
          <a:prstGeom prst="ellipse">
            <a:avLst/>
          </a:prstGeom>
          <a:solidFill>
            <a:srgbClr val="2A78D6"/>
          </a:solidFill>
          <a:ln w="12700">
            <a:solidFill>
              <a:srgbClr val="2A78D6"/>
            </a:solidFill>
            <a:prstDash val="solid"/>
          </a:ln>
        </p:spPr>
      </p:sp>
      <p:sp>
        <p:nvSpPr>
          <p:cNvPr id="19" name="Shape 17"/>
          <p:cNvSpPr/>
          <p:nvPr/>
        </p:nvSpPr>
        <p:spPr>
          <a:xfrm>
            <a:off x="1554480" y="3438144"/>
            <a:ext cx="201168" cy="201168"/>
          </a:xfrm>
          <a:prstGeom prst="ellipse">
            <a:avLst/>
          </a:prstGeom>
          <a:solidFill>
            <a:srgbClr val="2A78D6"/>
          </a:solidFill>
          <a:ln w="12700">
            <a:solidFill>
              <a:srgbClr val="2A78D6"/>
            </a:solidFill>
            <a:prstDash val="solid"/>
          </a:ln>
        </p:spPr>
      </p:sp>
      <p:sp>
        <p:nvSpPr>
          <p:cNvPr id="20" name="Shape 18"/>
          <p:cNvSpPr/>
          <p:nvPr/>
        </p:nvSpPr>
        <p:spPr>
          <a:xfrm>
            <a:off x="1024128" y="3822192"/>
            <a:ext cx="201168" cy="201168"/>
          </a:xfrm>
          <a:prstGeom prst="ellipse">
            <a:avLst/>
          </a:prstGeom>
          <a:solidFill>
            <a:srgbClr val="2A78D6"/>
          </a:solidFill>
          <a:ln w="12700">
            <a:solidFill>
              <a:srgbClr val="2A78D6"/>
            </a:solidFill>
            <a:prstDash val="solid"/>
          </a:ln>
        </p:spPr>
      </p:sp>
      <p:sp>
        <p:nvSpPr>
          <p:cNvPr id="21" name="Shape 19"/>
          <p:cNvSpPr/>
          <p:nvPr/>
        </p:nvSpPr>
        <p:spPr>
          <a:xfrm>
            <a:off x="1554480" y="3822192"/>
            <a:ext cx="201168" cy="201168"/>
          </a:xfrm>
          <a:prstGeom prst="ellipse">
            <a:avLst/>
          </a:prstGeom>
          <a:solidFill>
            <a:srgbClr val="2A78D6"/>
          </a:solidFill>
          <a:ln w="12700">
            <a:solidFill>
              <a:srgbClr val="2A78D6"/>
            </a:solidFill>
            <a:prstDash val="solid"/>
          </a:ln>
        </p:spPr>
      </p:sp>
      <p:sp>
        <p:nvSpPr>
          <p:cNvPr id="22" name="Shape 20"/>
          <p:cNvSpPr/>
          <p:nvPr/>
        </p:nvSpPr>
        <p:spPr>
          <a:xfrm>
            <a:off x="1024128" y="4206240"/>
            <a:ext cx="201168" cy="201168"/>
          </a:xfrm>
          <a:prstGeom prst="ellipse">
            <a:avLst/>
          </a:prstGeom>
          <a:solidFill>
            <a:srgbClr val="2A78D6"/>
          </a:solidFill>
          <a:ln w="12700">
            <a:solidFill>
              <a:srgbClr val="2A78D6"/>
            </a:solidFill>
            <a:prstDash val="solid"/>
          </a:ln>
        </p:spPr>
      </p:sp>
      <p:sp>
        <p:nvSpPr>
          <p:cNvPr id="23" name="Shape 21"/>
          <p:cNvSpPr/>
          <p:nvPr/>
        </p:nvSpPr>
        <p:spPr>
          <a:xfrm>
            <a:off x="1554480" y="4206240"/>
            <a:ext cx="201168" cy="201168"/>
          </a:xfrm>
          <a:prstGeom prst="ellipse">
            <a:avLst/>
          </a:prstGeom>
          <a:solidFill>
            <a:srgbClr val="2A78D6"/>
          </a:solidFill>
          <a:ln w="12700">
            <a:solidFill>
              <a:srgbClr val="2A78D6"/>
            </a:solidFill>
            <a:prstDash val="solid"/>
          </a:ln>
        </p:spPr>
      </p:sp>
      <p:sp>
        <p:nvSpPr>
          <p:cNvPr id="24" name="Text 22"/>
          <p:cNvSpPr/>
          <p:nvPr/>
        </p:nvSpPr>
        <p:spPr>
          <a:xfrm>
            <a:off x="2331720"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2</a:t>
            </a:r>
            <a:endParaRPr lang="en-US" sz="1797" dirty="0"/>
          </a:p>
        </p:txBody>
      </p:sp>
      <p:sp>
        <p:nvSpPr>
          <p:cNvPr id="25" name="Shape 23"/>
          <p:cNvSpPr/>
          <p:nvPr/>
        </p:nvSpPr>
        <p:spPr>
          <a:xfrm>
            <a:off x="2331720" y="3209544"/>
            <a:ext cx="1325880" cy="1554480"/>
          </a:xfrm>
          <a:prstGeom prst="rect">
            <a:avLst/>
          </a:prstGeom>
          <a:solidFill>
            <a:srgbClr val="FFFFFF"/>
          </a:solidFill>
          <a:ln w="7620">
            <a:solidFill>
              <a:srgbClr val="FFFFFF"/>
            </a:solidFill>
            <a:prstDash val="solid"/>
          </a:ln>
        </p:spPr>
      </p:sp>
      <p:sp>
        <p:nvSpPr>
          <p:cNvPr id="26" name="Shape 24"/>
          <p:cNvSpPr/>
          <p:nvPr/>
        </p:nvSpPr>
        <p:spPr>
          <a:xfrm>
            <a:off x="2514600" y="3438144"/>
            <a:ext cx="201168" cy="201168"/>
          </a:xfrm>
          <a:prstGeom prst="ellipse">
            <a:avLst/>
          </a:prstGeom>
          <a:solidFill>
            <a:srgbClr val="2A78D6"/>
          </a:solidFill>
          <a:ln w="12700">
            <a:solidFill>
              <a:srgbClr val="2A78D6"/>
            </a:solidFill>
            <a:prstDash val="solid"/>
          </a:ln>
        </p:spPr>
      </p:sp>
      <p:sp>
        <p:nvSpPr>
          <p:cNvPr id="27" name="Shape 25"/>
          <p:cNvSpPr/>
          <p:nvPr/>
        </p:nvSpPr>
        <p:spPr>
          <a:xfrm>
            <a:off x="3044952" y="3438144"/>
            <a:ext cx="201168" cy="201168"/>
          </a:xfrm>
          <a:prstGeom prst="ellipse">
            <a:avLst/>
          </a:prstGeom>
          <a:solidFill>
            <a:srgbClr val="2A78D6"/>
          </a:solidFill>
          <a:ln w="12700">
            <a:solidFill>
              <a:srgbClr val="2A78D6"/>
            </a:solidFill>
            <a:prstDash val="solid"/>
          </a:ln>
        </p:spPr>
      </p:sp>
      <p:sp>
        <p:nvSpPr>
          <p:cNvPr id="28" name="Shape 26"/>
          <p:cNvSpPr/>
          <p:nvPr/>
        </p:nvSpPr>
        <p:spPr>
          <a:xfrm>
            <a:off x="2514600" y="3822192"/>
            <a:ext cx="201168" cy="201168"/>
          </a:xfrm>
          <a:prstGeom prst="ellipse">
            <a:avLst/>
          </a:prstGeom>
          <a:solidFill>
            <a:srgbClr val="2A78D6"/>
          </a:solidFill>
          <a:ln w="12700">
            <a:solidFill>
              <a:srgbClr val="2A78D6"/>
            </a:solidFill>
            <a:prstDash val="solid"/>
          </a:ln>
        </p:spPr>
      </p:sp>
      <p:sp>
        <p:nvSpPr>
          <p:cNvPr id="29" name="Shape 27"/>
          <p:cNvSpPr/>
          <p:nvPr/>
        </p:nvSpPr>
        <p:spPr>
          <a:xfrm>
            <a:off x="3044952" y="3822192"/>
            <a:ext cx="201168" cy="201168"/>
          </a:xfrm>
          <a:prstGeom prst="ellipse">
            <a:avLst/>
          </a:prstGeom>
          <a:solidFill>
            <a:srgbClr val="2A78D6"/>
          </a:solidFill>
          <a:ln w="12700">
            <a:solidFill>
              <a:srgbClr val="2A78D6"/>
            </a:solidFill>
            <a:prstDash val="solid"/>
          </a:ln>
        </p:spPr>
      </p:sp>
      <p:sp>
        <p:nvSpPr>
          <p:cNvPr id="30" name="Shape 28"/>
          <p:cNvSpPr/>
          <p:nvPr/>
        </p:nvSpPr>
        <p:spPr>
          <a:xfrm>
            <a:off x="2514600" y="4206240"/>
            <a:ext cx="201168" cy="201168"/>
          </a:xfrm>
          <a:prstGeom prst="ellipse">
            <a:avLst/>
          </a:prstGeom>
          <a:solidFill>
            <a:srgbClr val="2A78D6"/>
          </a:solidFill>
          <a:ln w="12700">
            <a:solidFill>
              <a:srgbClr val="2A78D6"/>
            </a:solidFill>
            <a:prstDash val="solid"/>
          </a:ln>
        </p:spPr>
      </p:sp>
      <p:sp>
        <p:nvSpPr>
          <p:cNvPr id="31" name="Shape 29"/>
          <p:cNvSpPr/>
          <p:nvPr/>
        </p:nvSpPr>
        <p:spPr>
          <a:xfrm>
            <a:off x="3044952" y="4206240"/>
            <a:ext cx="201168" cy="201168"/>
          </a:xfrm>
          <a:prstGeom prst="ellipse">
            <a:avLst/>
          </a:prstGeom>
          <a:solidFill>
            <a:srgbClr val="2A78D6"/>
          </a:solidFill>
          <a:ln w="12700">
            <a:solidFill>
              <a:srgbClr val="2A78D6"/>
            </a:solidFill>
            <a:prstDash val="solid"/>
          </a:ln>
        </p:spPr>
      </p:sp>
      <p:sp>
        <p:nvSpPr>
          <p:cNvPr id="32" name="Text 30"/>
          <p:cNvSpPr/>
          <p:nvPr/>
        </p:nvSpPr>
        <p:spPr>
          <a:xfrm>
            <a:off x="3822192"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3</a:t>
            </a:r>
            <a:endParaRPr lang="en-US" sz="1797" dirty="0"/>
          </a:p>
        </p:txBody>
      </p:sp>
      <p:sp>
        <p:nvSpPr>
          <p:cNvPr id="33" name="Shape 31"/>
          <p:cNvSpPr/>
          <p:nvPr/>
        </p:nvSpPr>
        <p:spPr>
          <a:xfrm>
            <a:off x="3822192" y="3209544"/>
            <a:ext cx="1325880" cy="1554480"/>
          </a:xfrm>
          <a:prstGeom prst="rect">
            <a:avLst/>
          </a:prstGeom>
          <a:solidFill>
            <a:srgbClr val="FFFFFF"/>
          </a:solidFill>
          <a:ln w="7620">
            <a:solidFill>
              <a:srgbClr val="FFFFFF"/>
            </a:solidFill>
            <a:prstDash val="solid"/>
          </a:ln>
        </p:spPr>
      </p:sp>
      <p:sp>
        <p:nvSpPr>
          <p:cNvPr id="34" name="Shape 32"/>
          <p:cNvSpPr/>
          <p:nvPr/>
        </p:nvSpPr>
        <p:spPr>
          <a:xfrm>
            <a:off x="4005072" y="3438144"/>
            <a:ext cx="201168" cy="201168"/>
          </a:xfrm>
          <a:prstGeom prst="ellipse">
            <a:avLst/>
          </a:prstGeom>
          <a:solidFill>
            <a:srgbClr val="2A78D6"/>
          </a:solidFill>
          <a:ln w="12700">
            <a:solidFill>
              <a:srgbClr val="2A78D6"/>
            </a:solidFill>
            <a:prstDash val="solid"/>
          </a:ln>
        </p:spPr>
      </p:sp>
      <p:sp>
        <p:nvSpPr>
          <p:cNvPr id="35" name="Shape 33"/>
          <p:cNvSpPr/>
          <p:nvPr/>
        </p:nvSpPr>
        <p:spPr>
          <a:xfrm>
            <a:off x="4535424" y="3438144"/>
            <a:ext cx="201168" cy="201168"/>
          </a:xfrm>
          <a:prstGeom prst="ellipse">
            <a:avLst/>
          </a:prstGeom>
          <a:solidFill>
            <a:srgbClr val="2A78D6"/>
          </a:solidFill>
          <a:ln w="12700">
            <a:solidFill>
              <a:srgbClr val="2A78D6"/>
            </a:solidFill>
            <a:prstDash val="solid"/>
          </a:ln>
        </p:spPr>
      </p:sp>
      <p:sp>
        <p:nvSpPr>
          <p:cNvPr id="36" name="Shape 34"/>
          <p:cNvSpPr/>
          <p:nvPr/>
        </p:nvSpPr>
        <p:spPr>
          <a:xfrm>
            <a:off x="4005072" y="3822192"/>
            <a:ext cx="201168" cy="201168"/>
          </a:xfrm>
          <a:prstGeom prst="ellipse">
            <a:avLst/>
          </a:prstGeom>
          <a:solidFill>
            <a:srgbClr val="2A78D6"/>
          </a:solidFill>
          <a:ln w="12700">
            <a:solidFill>
              <a:srgbClr val="2A78D6"/>
            </a:solidFill>
            <a:prstDash val="solid"/>
          </a:ln>
        </p:spPr>
      </p:sp>
      <p:sp>
        <p:nvSpPr>
          <p:cNvPr id="37" name="Shape 35"/>
          <p:cNvSpPr/>
          <p:nvPr/>
        </p:nvSpPr>
        <p:spPr>
          <a:xfrm>
            <a:off x="4535424" y="3822192"/>
            <a:ext cx="201168" cy="201168"/>
          </a:xfrm>
          <a:prstGeom prst="ellipse">
            <a:avLst/>
          </a:prstGeom>
          <a:solidFill>
            <a:srgbClr val="2A78D6"/>
          </a:solidFill>
          <a:ln w="12700">
            <a:solidFill>
              <a:srgbClr val="2A78D6"/>
            </a:solidFill>
            <a:prstDash val="solid"/>
          </a:ln>
        </p:spPr>
      </p:sp>
      <p:sp>
        <p:nvSpPr>
          <p:cNvPr id="38" name="Shape 36"/>
          <p:cNvSpPr/>
          <p:nvPr/>
        </p:nvSpPr>
        <p:spPr>
          <a:xfrm>
            <a:off x="4005072" y="4206240"/>
            <a:ext cx="201168" cy="201168"/>
          </a:xfrm>
          <a:prstGeom prst="ellipse">
            <a:avLst/>
          </a:prstGeom>
          <a:solidFill>
            <a:srgbClr val="2A78D6"/>
          </a:solidFill>
          <a:ln w="12700">
            <a:solidFill>
              <a:srgbClr val="2A78D6"/>
            </a:solidFill>
            <a:prstDash val="solid"/>
          </a:ln>
        </p:spPr>
      </p:sp>
      <p:sp>
        <p:nvSpPr>
          <p:cNvPr id="39" name="Shape 37"/>
          <p:cNvSpPr/>
          <p:nvPr/>
        </p:nvSpPr>
        <p:spPr>
          <a:xfrm>
            <a:off x="4535424" y="4206240"/>
            <a:ext cx="201168" cy="201168"/>
          </a:xfrm>
          <a:prstGeom prst="ellipse">
            <a:avLst/>
          </a:prstGeom>
          <a:solidFill>
            <a:srgbClr val="2A78D6"/>
          </a:solidFill>
          <a:ln w="12700">
            <a:solidFill>
              <a:srgbClr val="2A78D6"/>
            </a:solidFill>
            <a:prstDash val="solid"/>
          </a:ln>
        </p:spPr>
      </p:sp>
      <p:sp>
        <p:nvSpPr>
          <p:cNvPr id="40" name="Text 38"/>
          <p:cNvSpPr/>
          <p:nvPr/>
        </p:nvSpPr>
        <p:spPr>
          <a:xfrm>
            <a:off x="841248" y="5175504"/>
            <a:ext cx="4471416" cy="621792"/>
          </a:xfrm>
          <a:prstGeom prst="rect">
            <a:avLst/>
          </a:prstGeom>
          <a:noFill/>
          <a:ln/>
        </p:spPr>
        <p:txBody>
          <a:bodyPr wrap="square" lIns="0" tIns="0" rIns="0" bIns="0" rtlCol="0" anchor="ctr">
            <a:normAutofit/>
          </a:bodyPr>
          <a:lstStyle/>
          <a:p>
            <a:pPr algn="ctr" indent="0" marL="0">
              <a:buNone/>
            </a:pPr>
            <a:r>
              <a:rPr lang="en-US" sz="1903" dirty="0">
                <a:solidFill>
                  <a:srgbClr val="526171"/>
                </a:solidFill>
                <a:latin typeface="Aptos" pitchFamily="34" charset="0"/>
                <a:ea typeface="Aptos" pitchFamily="34" charset="-122"/>
                <a:cs typeface="Aptos" pitchFamily="34" charset="-120"/>
              </a:rPr>
              <a:t>Nested cells do not create new donors.</a:t>
            </a:r>
            <a:endParaRPr lang="en-US" sz="190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Count independent units, not rows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Three donors, each with 100 measured cells, still give three donors.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03" dirty="0">
                <a:solidFill>
                  <a:srgbClr val="232D3B"/>
                </a:solidFill>
                <a:latin typeface="Aptos" pitchFamily="34" charset="0"/>
                <a:ea typeface="Aptos" pitchFamily="34" charset="-122"/>
                <a:cs typeface="Aptos" pitchFamily="34" charset="-120"/>
              </a:rPr>
              <a:t>For donor-level claims, uncertainty must account for donor-to-donor variation.</a:t>
            </a:r>
            <a:endParaRPr lang="en-US" sz="2203"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16" dirty="0">
                <a:solidFill>
                  <a:srgbClr val="232D3B"/>
                </a:solidFill>
                <a:latin typeface="Aptos" pitchFamily="34" charset="0"/>
                <a:ea typeface="Aptos" pitchFamily="34" charset="-122"/>
                <a:cs typeface="Aptos" pitchFamily="34" charset="-120"/>
              </a:rPr>
              <a:t>Cells can be valid observations for other questions; name the question first.</a:t>
            </a:r>
            <a:endParaRPr lang="en-US" sz="2216" dirty="0"/>
          </a:p>
        </p:txBody>
      </p:sp>
      <p:sp>
        <p:nvSpPr>
          <p:cNvPr id="16" name="Text 14"/>
          <p:cNvSpPr/>
          <p:nvPr/>
        </p:nvSpPr>
        <p:spPr>
          <a:xfrm>
            <a:off x="841248"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1</a:t>
            </a:r>
            <a:endParaRPr lang="en-US" sz="1797" dirty="0"/>
          </a:p>
        </p:txBody>
      </p:sp>
      <p:sp>
        <p:nvSpPr>
          <p:cNvPr id="17" name="Shape 15"/>
          <p:cNvSpPr/>
          <p:nvPr/>
        </p:nvSpPr>
        <p:spPr>
          <a:xfrm>
            <a:off x="841248" y="3209544"/>
            <a:ext cx="1325880" cy="1554480"/>
          </a:xfrm>
          <a:prstGeom prst="rect">
            <a:avLst/>
          </a:prstGeom>
          <a:solidFill>
            <a:srgbClr val="FFFFFF"/>
          </a:solidFill>
          <a:ln w="7620">
            <a:solidFill>
              <a:srgbClr val="FFFFFF"/>
            </a:solidFill>
            <a:prstDash val="solid"/>
          </a:ln>
        </p:spPr>
      </p:sp>
      <p:sp>
        <p:nvSpPr>
          <p:cNvPr id="18" name="Shape 16"/>
          <p:cNvSpPr/>
          <p:nvPr/>
        </p:nvSpPr>
        <p:spPr>
          <a:xfrm>
            <a:off x="1024128" y="3438144"/>
            <a:ext cx="201168" cy="201168"/>
          </a:xfrm>
          <a:prstGeom prst="ellipse">
            <a:avLst/>
          </a:prstGeom>
          <a:solidFill>
            <a:srgbClr val="2A78D6"/>
          </a:solidFill>
          <a:ln w="12700">
            <a:solidFill>
              <a:srgbClr val="2A78D6"/>
            </a:solidFill>
            <a:prstDash val="solid"/>
          </a:ln>
        </p:spPr>
      </p:sp>
      <p:sp>
        <p:nvSpPr>
          <p:cNvPr id="19" name="Shape 17"/>
          <p:cNvSpPr/>
          <p:nvPr/>
        </p:nvSpPr>
        <p:spPr>
          <a:xfrm>
            <a:off x="1554480" y="3438144"/>
            <a:ext cx="201168" cy="201168"/>
          </a:xfrm>
          <a:prstGeom prst="ellipse">
            <a:avLst/>
          </a:prstGeom>
          <a:solidFill>
            <a:srgbClr val="2A78D6"/>
          </a:solidFill>
          <a:ln w="12700">
            <a:solidFill>
              <a:srgbClr val="2A78D6"/>
            </a:solidFill>
            <a:prstDash val="solid"/>
          </a:ln>
        </p:spPr>
      </p:sp>
      <p:sp>
        <p:nvSpPr>
          <p:cNvPr id="20" name="Shape 18"/>
          <p:cNvSpPr/>
          <p:nvPr/>
        </p:nvSpPr>
        <p:spPr>
          <a:xfrm>
            <a:off x="1024128" y="3822192"/>
            <a:ext cx="201168" cy="201168"/>
          </a:xfrm>
          <a:prstGeom prst="ellipse">
            <a:avLst/>
          </a:prstGeom>
          <a:solidFill>
            <a:srgbClr val="2A78D6"/>
          </a:solidFill>
          <a:ln w="12700">
            <a:solidFill>
              <a:srgbClr val="2A78D6"/>
            </a:solidFill>
            <a:prstDash val="solid"/>
          </a:ln>
        </p:spPr>
      </p:sp>
      <p:sp>
        <p:nvSpPr>
          <p:cNvPr id="21" name="Shape 19"/>
          <p:cNvSpPr/>
          <p:nvPr/>
        </p:nvSpPr>
        <p:spPr>
          <a:xfrm>
            <a:off x="1554480" y="3822192"/>
            <a:ext cx="201168" cy="201168"/>
          </a:xfrm>
          <a:prstGeom prst="ellipse">
            <a:avLst/>
          </a:prstGeom>
          <a:solidFill>
            <a:srgbClr val="2A78D6"/>
          </a:solidFill>
          <a:ln w="12700">
            <a:solidFill>
              <a:srgbClr val="2A78D6"/>
            </a:solidFill>
            <a:prstDash val="solid"/>
          </a:ln>
        </p:spPr>
      </p:sp>
      <p:sp>
        <p:nvSpPr>
          <p:cNvPr id="22" name="Shape 20"/>
          <p:cNvSpPr/>
          <p:nvPr/>
        </p:nvSpPr>
        <p:spPr>
          <a:xfrm>
            <a:off x="1024128" y="4206240"/>
            <a:ext cx="201168" cy="201168"/>
          </a:xfrm>
          <a:prstGeom prst="ellipse">
            <a:avLst/>
          </a:prstGeom>
          <a:solidFill>
            <a:srgbClr val="2A78D6"/>
          </a:solidFill>
          <a:ln w="12700">
            <a:solidFill>
              <a:srgbClr val="2A78D6"/>
            </a:solidFill>
            <a:prstDash val="solid"/>
          </a:ln>
        </p:spPr>
      </p:sp>
      <p:sp>
        <p:nvSpPr>
          <p:cNvPr id="23" name="Shape 21"/>
          <p:cNvSpPr/>
          <p:nvPr/>
        </p:nvSpPr>
        <p:spPr>
          <a:xfrm>
            <a:off x="1554480" y="4206240"/>
            <a:ext cx="201168" cy="201168"/>
          </a:xfrm>
          <a:prstGeom prst="ellipse">
            <a:avLst/>
          </a:prstGeom>
          <a:solidFill>
            <a:srgbClr val="2A78D6"/>
          </a:solidFill>
          <a:ln w="12700">
            <a:solidFill>
              <a:srgbClr val="2A78D6"/>
            </a:solidFill>
            <a:prstDash val="solid"/>
          </a:ln>
        </p:spPr>
      </p:sp>
      <p:sp>
        <p:nvSpPr>
          <p:cNvPr id="24" name="Text 22"/>
          <p:cNvSpPr/>
          <p:nvPr/>
        </p:nvSpPr>
        <p:spPr>
          <a:xfrm>
            <a:off x="2331720"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2</a:t>
            </a:r>
            <a:endParaRPr lang="en-US" sz="1797" dirty="0"/>
          </a:p>
        </p:txBody>
      </p:sp>
      <p:sp>
        <p:nvSpPr>
          <p:cNvPr id="25" name="Shape 23"/>
          <p:cNvSpPr/>
          <p:nvPr/>
        </p:nvSpPr>
        <p:spPr>
          <a:xfrm>
            <a:off x="2331720" y="3209544"/>
            <a:ext cx="1325880" cy="1554480"/>
          </a:xfrm>
          <a:prstGeom prst="rect">
            <a:avLst/>
          </a:prstGeom>
          <a:solidFill>
            <a:srgbClr val="FFFFFF"/>
          </a:solidFill>
          <a:ln w="7620">
            <a:solidFill>
              <a:srgbClr val="FFFFFF"/>
            </a:solidFill>
            <a:prstDash val="solid"/>
          </a:ln>
        </p:spPr>
      </p:sp>
      <p:sp>
        <p:nvSpPr>
          <p:cNvPr id="26" name="Shape 24"/>
          <p:cNvSpPr/>
          <p:nvPr/>
        </p:nvSpPr>
        <p:spPr>
          <a:xfrm>
            <a:off x="2514600" y="3438144"/>
            <a:ext cx="201168" cy="201168"/>
          </a:xfrm>
          <a:prstGeom prst="ellipse">
            <a:avLst/>
          </a:prstGeom>
          <a:solidFill>
            <a:srgbClr val="2A78D6"/>
          </a:solidFill>
          <a:ln w="12700">
            <a:solidFill>
              <a:srgbClr val="2A78D6"/>
            </a:solidFill>
            <a:prstDash val="solid"/>
          </a:ln>
        </p:spPr>
      </p:sp>
      <p:sp>
        <p:nvSpPr>
          <p:cNvPr id="27" name="Shape 25"/>
          <p:cNvSpPr/>
          <p:nvPr/>
        </p:nvSpPr>
        <p:spPr>
          <a:xfrm>
            <a:off x="3044952" y="3438144"/>
            <a:ext cx="201168" cy="201168"/>
          </a:xfrm>
          <a:prstGeom prst="ellipse">
            <a:avLst/>
          </a:prstGeom>
          <a:solidFill>
            <a:srgbClr val="2A78D6"/>
          </a:solidFill>
          <a:ln w="12700">
            <a:solidFill>
              <a:srgbClr val="2A78D6"/>
            </a:solidFill>
            <a:prstDash val="solid"/>
          </a:ln>
        </p:spPr>
      </p:sp>
      <p:sp>
        <p:nvSpPr>
          <p:cNvPr id="28" name="Shape 26"/>
          <p:cNvSpPr/>
          <p:nvPr/>
        </p:nvSpPr>
        <p:spPr>
          <a:xfrm>
            <a:off x="2514600" y="3822192"/>
            <a:ext cx="201168" cy="201168"/>
          </a:xfrm>
          <a:prstGeom prst="ellipse">
            <a:avLst/>
          </a:prstGeom>
          <a:solidFill>
            <a:srgbClr val="2A78D6"/>
          </a:solidFill>
          <a:ln w="12700">
            <a:solidFill>
              <a:srgbClr val="2A78D6"/>
            </a:solidFill>
            <a:prstDash val="solid"/>
          </a:ln>
        </p:spPr>
      </p:sp>
      <p:sp>
        <p:nvSpPr>
          <p:cNvPr id="29" name="Shape 27"/>
          <p:cNvSpPr/>
          <p:nvPr/>
        </p:nvSpPr>
        <p:spPr>
          <a:xfrm>
            <a:off x="3044952" y="3822192"/>
            <a:ext cx="201168" cy="201168"/>
          </a:xfrm>
          <a:prstGeom prst="ellipse">
            <a:avLst/>
          </a:prstGeom>
          <a:solidFill>
            <a:srgbClr val="2A78D6"/>
          </a:solidFill>
          <a:ln w="12700">
            <a:solidFill>
              <a:srgbClr val="2A78D6"/>
            </a:solidFill>
            <a:prstDash val="solid"/>
          </a:ln>
        </p:spPr>
      </p:sp>
      <p:sp>
        <p:nvSpPr>
          <p:cNvPr id="30" name="Shape 28"/>
          <p:cNvSpPr/>
          <p:nvPr/>
        </p:nvSpPr>
        <p:spPr>
          <a:xfrm>
            <a:off x="2514600" y="4206240"/>
            <a:ext cx="201168" cy="201168"/>
          </a:xfrm>
          <a:prstGeom prst="ellipse">
            <a:avLst/>
          </a:prstGeom>
          <a:solidFill>
            <a:srgbClr val="2A78D6"/>
          </a:solidFill>
          <a:ln w="12700">
            <a:solidFill>
              <a:srgbClr val="2A78D6"/>
            </a:solidFill>
            <a:prstDash val="solid"/>
          </a:ln>
        </p:spPr>
      </p:sp>
      <p:sp>
        <p:nvSpPr>
          <p:cNvPr id="31" name="Shape 29"/>
          <p:cNvSpPr/>
          <p:nvPr/>
        </p:nvSpPr>
        <p:spPr>
          <a:xfrm>
            <a:off x="3044952" y="4206240"/>
            <a:ext cx="201168" cy="201168"/>
          </a:xfrm>
          <a:prstGeom prst="ellipse">
            <a:avLst/>
          </a:prstGeom>
          <a:solidFill>
            <a:srgbClr val="2A78D6"/>
          </a:solidFill>
          <a:ln w="12700">
            <a:solidFill>
              <a:srgbClr val="2A78D6"/>
            </a:solidFill>
            <a:prstDash val="solid"/>
          </a:ln>
        </p:spPr>
      </p:sp>
      <p:sp>
        <p:nvSpPr>
          <p:cNvPr id="32" name="Text 30"/>
          <p:cNvSpPr/>
          <p:nvPr/>
        </p:nvSpPr>
        <p:spPr>
          <a:xfrm>
            <a:off x="3822192"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3</a:t>
            </a:r>
            <a:endParaRPr lang="en-US" sz="1797" dirty="0"/>
          </a:p>
        </p:txBody>
      </p:sp>
      <p:sp>
        <p:nvSpPr>
          <p:cNvPr id="33" name="Shape 31"/>
          <p:cNvSpPr/>
          <p:nvPr/>
        </p:nvSpPr>
        <p:spPr>
          <a:xfrm>
            <a:off x="3822192" y="3209544"/>
            <a:ext cx="1325880" cy="1554480"/>
          </a:xfrm>
          <a:prstGeom prst="rect">
            <a:avLst/>
          </a:prstGeom>
          <a:solidFill>
            <a:srgbClr val="FFFFFF"/>
          </a:solidFill>
          <a:ln w="7620">
            <a:solidFill>
              <a:srgbClr val="FFFFFF"/>
            </a:solidFill>
            <a:prstDash val="solid"/>
          </a:ln>
        </p:spPr>
      </p:sp>
      <p:sp>
        <p:nvSpPr>
          <p:cNvPr id="34" name="Shape 32"/>
          <p:cNvSpPr/>
          <p:nvPr/>
        </p:nvSpPr>
        <p:spPr>
          <a:xfrm>
            <a:off x="4005072" y="3438144"/>
            <a:ext cx="201168" cy="201168"/>
          </a:xfrm>
          <a:prstGeom prst="ellipse">
            <a:avLst/>
          </a:prstGeom>
          <a:solidFill>
            <a:srgbClr val="2A78D6"/>
          </a:solidFill>
          <a:ln w="12700">
            <a:solidFill>
              <a:srgbClr val="2A78D6"/>
            </a:solidFill>
            <a:prstDash val="solid"/>
          </a:ln>
        </p:spPr>
      </p:sp>
      <p:sp>
        <p:nvSpPr>
          <p:cNvPr id="35" name="Shape 33"/>
          <p:cNvSpPr/>
          <p:nvPr/>
        </p:nvSpPr>
        <p:spPr>
          <a:xfrm>
            <a:off x="4535424" y="3438144"/>
            <a:ext cx="201168" cy="201168"/>
          </a:xfrm>
          <a:prstGeom prst="ellipse">
            <a:avLst/>
          </a:prstGeom>
          <a:solidFill>
            <a:srgbClr val="2A78D6"/>
          </a:solidFill>
          <a:ln w="12700">
            <a:solidFill>
              <a:srgbClr val="2A78D6"/>
            </a:solidFill>
            <a:prstDash val="solid"/>
          </a:ln>
        </p:spPr>
      </p:sp>
      <p:sp>
        <p:nvSpPr>
          <p:cNvPr id="36" name="Shape 34"/>
          <p:cNvSpPr/>
          <p:nvPr/>
        </p:nvSpPr>
        <p:spPr>
          <a:xfrm>
            <a:off x="4005072" y="3822192"/>
            <a:ext cx="201168" cy="201168"/>
          </a:xfrm>
          <a:prstGeom prst="ellipse">
            <a:avLst/>
          </a:prstGeom>
          <a:solidFill>
            <a:srgbClr val="2A78D6"/>
          </a:solidFill>
          <a:ln w="12700">
            <a:solidFill>
              <a:srgbClr val="2A78D6"/>
            </a:solidFill>
            <a:prstDash val="solid"/>
          </a:ln>
        </p:spPr>
      </p:sp>
      <p:sp>
        <p:nvSpPr>
          <p:cNvPr id="37" name="Shape 35"/>
          <p:cNvSpPr/>
          <p:nvPr/>
        </p:nvSpPr>
        <p:spPr>
          <a:xfrm>
            <a:off x="4535424" y="3822192"/>
            <a:ext cx="201168" cy="201168"/>
          </a:xfrm>
          <a:prstGeom prst="ellipse">
            <a:avLst/>
          </a:prstGeom>
          <a:solidFill>
            <a:srgbClr val="2A78D6"/>
          </a:solidFill>
          <a:ln w="12700">
            <a:solidFill>
              <a:srgbClr val="2A78D6"/>
            </a:solidFill>
            <a:prstDash val="solid"/>
          </a:ln>
        </p:spPr>
      </p:sp>
      <p:sp>
        <p:nvSpPr>
          <p:cNvPr id="38" name="Shape 36"/>
          <p:cNvSpPr/>
          <p:nvPr/>
        </p:nvSpPr>
        <p:spPr>
          <a:xfrm>
            <a:off x="4005072" y="4206240"/>
            <a:ext cx="201168" cy="201168"/>
          </a:xfrm>
          <a:prstGeom prst="ellipse">
            <a:avLst/>
          </a:prstGeom>
          <a:solidFill>
            <a:srgbClr val="2A78D6"/>
          </a:solidFill>
          <a:ln w="12700">
            <a:solidFill>
              <a:srgbClr val="2A78D6"/>
            </a:solidFill>
            <a:prstDash val="solid"/>
          </a:ln>
        </p:spPr>
      </p:sp>
      <p:sp>
        <p:nvSpPr>
          <p:cNvPr id="39" name="Shape 37"/>
          <p:cNvSpPr/>
          <p:nvPr/>
        </p:nvSpPr>
        <p:spPr>
          <a:xfrm>
            <a:off x="4535424" y="4206240"/>
            <a:ext cx="201168" cy="201168"/>
          </a:xfrm>
          <a:prstGeom prst="ellipse">
            <a:avLst/>
          </a:prstGeom>
          <a:solidFill>
            <a:srgbClr val="2A78D6"/>
          </a:solidFill>
          <a:ln w="12700">
            <a:solidFill>
              <a:srgbClr val="2A78D6"/>
            </a:solidFill>
            <a:prstDash val="solid"/>
          </a:ln>
        </p:spPr>
      </p:sp>
      <p:sp>
        <p:nvSpPr>
          <p:cNvPr id="40" name="Text 38"/>
          <p:cNvSpPr/>
          <p:nvPr/>
        </p:nvSpPr>
        <p:spPr>
          <a:xfrm>
            <a:off x="841248" y="5175504"/>
            <a:ext cx="4471416" cy="621792"/>
          </a:xfrm>
          <a:prstGeom prst="rect">
            <a:avLst/>
          </a:prstGeom>
          <a:noFill/>
          <a:ln/>
        </p:spPr>
        <p:txBody>
          <a:bodyPr wrap="square" lIns="0" tIns="0" rIns="0" bIns="0" rtlCol="0" anchor="ctr">
            <a:normAutofit/>
          </a:bodyPr>
          <a:lstStyle/>
          <a:p>
            <a:pPr algn="ctr" indent="0" marL="0">
              <a:buNone/>
            </a:pPr>
            <a:r>
              <a:rPr lang="en-US" sz="1903" dirty="0">
                <a:solidFill>
                  <a:srgbClr val="526171"/>
                </a:solidFill>
                <a:latin typeface="Aptos" pitchFamily="34" charset="0"/>
                <a:ea typeface="Aptos" pitchFamily="34" charset="-122"/>
                <a:cs typeface="Aptos" pitchFamily="34" charset="-120"/>
              </a:rPr>
              <a:t>Nested cells do not create new donors.</a:t>
            </a:r>
            <a:endParaRPr lang="en-US" sz="190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Confounding is a design problem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S11  |  6</a:t>
            </a:r>
            <a:endParaRPr lang="en-US" sz="800" dirty="0"/>
          </a:p>
        </p:txBody>
      </p:sp>
      <p:sp>
        <p:nvSpPr>
          <p:cNvPr id="9" name="Shape 7"/>
          <p:cNvSpPr/>
          <p:nvPr/>
        </p:nvSpPr>
        <p:spPr>
          <a:xfrm>
            <a:off x="594360" y="1828800"/>
            <a:ext cx="5463540" cy="699516"/>
          </a:xfrm>
          <a:prstGeom prst="rect">
            <a:avLst/>
          </a:prstGeom>
          <a:solidFill>
            <a:srgbClr val="2A78D6"/>
          </a:solidFill>
          <a:ln w="7620">
            <a:solidFill>
              <a:srgbClr val="2A78D6"/>
            </a:solidFill>
            <a:prstDash val="solid"/>
          </a:ln>
        </p:spPr>
      </p:sp>
      <p:sp>
        <p:nvSpPr>
          <p:cNvPr id="10" name="Text 8"/>
          <p:cNvSpPr/>
          <p:nvPr/>
        </p:nvSpPr>
        <p:spPr>
          <a:xfrm>
            <a:off x="713232" y="1901952"/>
            <a:ext cx="5221224"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Bad design</a:t>
            </a:r>
            <a:endParaRPr lang="en-US" sz="1797" dirty="0"/>
          </a:p>
        </p:txBody>
      </p:sp>
      <p:sp>
        <p:nvSpPr>
          <p:cNvPr id="11" name="Shape 9"/>
          <p:cNvSpPr/>
          <p:nvPr/>
        </p:nvSpPr>
        <p:spPr>
          <a:xfrm>
            <a:off x="6089904" y="1828800"/>
            <a:ext cx="5463540" cy="699516"/>
          </a:xfrm>
          <a:prstGeom prst="rect">
            <a:avLst/>
          </a:prstGeom>
          <a:solidFill>
            <a:srgbClr val="2A78D6"/>
          </a:solidFill>
          <a:ln w="7620">
            <a:solidFill>
              <a:srgbClr val="2A78D6"/>
            </a:solidFill>
            <a:prstDash val="solid"/>
          </a:ln>
        </p:spPr>
      </p:sp>
      <p:sp>
        <p:nvSpPr>
          <p:cNvPr id="12" name="Text 10"/>
          <p:cNvSpPr/>
          <p:nvPr/>
        </p:nvSpPr>
        <p:spPr>
          <a:xfrm>
            <a:off x="6208776" y="1901952"/>
            <a:ext cx="5221224"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Better design</a:t>
            </a:r>
            <a:endParaRPr lang="en-US" sz="1797" dirty="0"/>
          </a:p>
        </p:txBody>
      </p:sp>
      <p:sp>
        <p:nvSpPr>
          <p:cNvPr id="13" name="Shape 11"/>
          <p:cNvSpPr/>
          <p:nvPr/>
        </p:nvSpPr>
        <p:spPr>
          <a:xfrm>
            <a:off x="594360" y="2560320"/>
            <a:ext cx="5463540" cy="699516"/>
          </a:xfrm>
          <a:prstGeom prst="rect">
            <a:avLst/>
          </a:prstGeom>
          <a:solidFill>
            <a:srgbClr val="EAF2FC"/>
          </a:solidFill>
          <a:ln w="7620">
            <a:solidFill>
              <a:srgbClr val="EAF2FC"/>
            </a:solidFill>
            <a:prstDash val="solid"/>
          </a:ln>
        </p:spPr>
      </p:sp>
      <p:sp>
        <p:nvSpPr>
          <p:cNvPr id="14" name="Text 12"/>
          <p:cNvSpPr/>
          <p:nvPr/>
        </p:nvSpPr>
        <p:spPr>
          <a:xfrm>
            <a:off x="713232" y="2624328"/>
            <a:ext cx="5221224"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Batch A: treatment only</a:t>
            </a:r>
            <a:endParaRPr lang="en-US" sz="1797" dirty="0"/>
          </a:p>
        </p:txBody>
      </p:sp>
      <p:sp>
        <p:nvSpPr>
          <p:cNvPr id="15" name="Shape 13"/>
          <p:cNvSpPr/>
          <p:nvPr/>
        </p:nvSpPr>
        <p:spPr>
          <a:xfrm>
            <a:off x="6089904" y="2560320"/>
            <a:ext cx="5463540" cy="699516"/>
          </a:xfrm>
          <a:prstGeom prst="rect">
            <a:avLst/>
          </a:prstGeom>
          <a:solidFill>
            <a:srgbClr val="EAF2FC"/>
          </a:solidFill>
          <a:ln w="7620">
            <a:solidFill>
              <a:srgbClr val="EAF2FC"/>
            </a:solidFill>
            <a:prstDash val="solid"/>
          </a:ln>
        </p:spPr>
      </p:sp>
      <p:sp>
        <p:nvSpPr>
          <p:cNvPr id="16" name="Text 14"/>
          <p:cNvSpPr/>
          <p:nvPr/>
        </p:nvSpPr>
        <p:spPr>
          <a:xfrm>
            <a:off x="6208776" y="2624328"/>
            <a:ext cx="5221224"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Batch A: treatment + control</a:t>
            </a:r>
            <a:endParaRPr lang="en-US" sz="1797" dirty="0"/>
          </a:p>
        </p:txBody>
      </p:sp>
      <p:sp>
        <p:nvSpPr>
          <p:cNvPr id="17" name="Shape 15"/>
          <p:cNvSpPr/>
          <p:nvPr/>
        </p:nvSpPr>
        <p:spPr>
          <a:xfrm>
            <a:off x="594360" y="3291840"/>
            <a:ext cx="5463540" cy="699516"/>
          </a:xfrm>
          <a:prstGeom prst="rect">
            <a:avLst/>
          </a:prstGeom>
          <a:solidFill>
            <a:srgbClr val="FFFFFF"/>
          </a:solidFill>
          <a:ln w="7620">
            <a:solidFill>
              <a:srgbClr val="FFFFFF"/>
            </a:solidFill>
            <a:prstDash val="solid"/>
          </a:ln>
        </p:spPr>
      </p:sp>
      <p:sp>
        <p:nvSpPr>
          <p:cNvPr id="18" name="Text 16"/>
          <p:cNvSpPr/>
          <p:nvPr/>
        </p:nvSpPr>
        <p:spPr>
          <a:xfrm>
            <a:off x="713232" y="3355848"/>
            <a:ext cx="5221224"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Batch B: control only</a:t>
            </a:r>
            <a:endParaRPr lang="en-US" sz="1797" dirty="0"/>
          </a:p>
        </p:txBody>
      </p:sp>
      <p:sp>
        <p:nvSpPr>
          <p:cNvPr id="19" name="Shape 17"/>
          <p:cNvSpPr/>
          <p:nvPr/>
        </p:nvSpPr>
        <p:spPr>
          <a:xfrm>
            <a:off x="6089904" y="3291840"/>
            <a:ext cx="5463540" cy="699516"/>
          </a:xfrm>
          <a:prstGeom prst="rect">
            <a:avLst/>
          </a:prstGeom>
          <a:solidFill>
            <a:srgbClr val="FFFFFF"/>
          </a:solidFill>
          <a:ln w="7620">
            <a:solidFill>
              <a:srgbClr val="FFFFFF"/>
            </a:solidFill>
            <a:prstDash val="solid"/>
          </a:ln>
        </p:spPr>
      </p:sp>
      <p:sp>
        <p:nvSpPr>
          <p:cNvPr id="20" name="Text 18"/>
          <p:cNvSpPr/>
          <p:nvPr/>
        </p:nvSpPr>
        <p:spPr>
          <a:xfrm>
            <a:off x="6208776" y="3355848"/>
            <a:ext cx="5221224"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Batch B: treatment + control</a:t>
            </a:r>
            <a:endParaRPr lang="en-US" sz="1797" dirty="0"/>
          </a:p>
        </p:txBody>
      </p:sp>
      <p:sp>
        <p:nvSpPr>
          <p:cNvPr id="21" name="Shape 19"/>
          <p:cNvSpPr/>
          <p:nvPr/>
        </p:nvSpPr>
        <p:spPr>
          <a:xfrm>
            <a:off x="612648" y="4279392"/>
            <a:ext cx="50292" cy="435864"/>
          </a:xfrm>
          <a:prstGeom prst="rect">
            <a:avLst/>
          </a:prstGeom>
          <a:solidFill>
            <a:srgbClr val="2A78D6"/>
          </a:solidFill>
          <a:ln w="7620">
            <a:solidFill>
              <a:srgbClr val="2A78D6"/>
            </a:solidFill>
            <a:prstDash val="solid"/>
          </a:ln>
        </p:spPr>
      </p:sp>
      <p:sp>
        <p:nvSpPr>
          <p:cNvPr id="22" name="Text 20"/>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All treated samples in batch A and all controls in batch B confound treatment and batch.</a:t>
            </a:r>
            <a:endParaRPr lang="en-US" sz="2100" dirty="0"/>
          </a:p>
        </p:txBody>
      </p:sp>
      <p:sp>
        <p:nvSpPr>
          <p:cNvPr id="23" name="Shape 21"/>
          <p:cNvSpPr/>
          <p:nvPr/>
        </p:nvSpPr>
        <p:spPr>
          <a:xfrm>
            <a:off x="612648" y="4916424"/>
            <a:ext cx="50292" cy="435864"/>
          </a:xfrm>
          <a:prstGeom prst="rect">
            <a:avLst/>
          </a:prstGeom>
          <a:solidFill>
            <a:srgbClr val="2A78D6"/>
          </a:solidFill>
          <a:ln w="7620">
            <a:solidFill>
              <a:srgbClr val="2A78D6"/>
            </a:solidFill>
            <a:prstDash val="solid"/>
          </a:ln>
        </p:spPr>
      </p:sp>
      <p:sp>
        <p:nvSpPr>
          <p:cNvPr id="24" name="Text 22"/>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A statistical adjustment cannot create the missing comparison.</a:t>
            </a:r>
            <a:endParaRPr lang="en-US" sz="2100" dirty="0"/>
          </a:p>
        </p:txBody>
      </p:sp>
      <p:sp>
        <p:nvSpPr>
          <p:cNvPr id="25" name="Shape 23"/>
          <p:cNvSpPr/>
          <p:nvPr/>
        </p:nvSpPr>
        <p:spPr>
          <a:xfrm>
            <a:off x="612648" y="5553456"/>
            <a:ext cx="50292" cy="435864"/>
          </a:xfrm>
          <a:prstGeom prst="rect">
            <a:avLst/>
          </a:prstGeom>
          <a:solidFill>
            <a:srgbClr val="2A78D6"/>
          </a:solidFill>
          <a:ln w="7620">
            <a:solidFill>
              <a:srgbClr val="2A78D6"/>
            </a:solidFill>
            <a:prstDash val="solid"/>
          </a:ln>
        </p:spPr>
      </p:sp>
      <p:sp>
        <p:nvSpPr>
          <p:cNvPr id="26" name="Text 24"/>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Balance conditions across batches before data collection where feasible.</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What a p-value actually asks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7</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Assume the stated null model and its assumptions.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How probable are data at least as extreme by the chosen test statistic?</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It is not P(the null is true) and not a measure of effect size.</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Effect, uncertainty and p answer different questions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8</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Size and uncertainty</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Compatibility with a null</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Effect size: how large is the estimated difference?</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Uncertainty interval: which values are compatible with the model and data?</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p-value: how incompatible is the chosen statistic with the null model?</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Testing many nulls generates false positives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S08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1,000 valid null tests at alpha 0.05, expected false positives are 50.</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This expectation does not require all tests to be independent.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observed count varies; no single run must equal 50.</a:t>
            </a:r>
            <a:endParaRPr lang="en-US" sz="2297" dirty="0"/>
          </a:p>
        </p:txBody>
      </p:sp>
      <p:sp>
        <p:nvSpPr>
          <p:cNvPr id="16" name="Text 14"/>
          <p:cNvSpPr/>
          <p:nvPr/>
        </p:nvSpPr>
        <p:spPr>
          <a:xfrm>
            <a:off x="841248" y="2478024"/>
            <a:ext cx="4471416" cy="1508760"/>
          </a:xfrm>
          <a:prstGeom prst="rect">
            <a:avLst/>
          </a:prstGeom>
          <a:noFill/>
          <a:ln/>
        </p:spPr>
        <p:txBody>
          <a:bodyPr wrap="square" lIns="0" tIns="0" rIns="0" bIns="0" rtlCol="0" anchor="ctr">
            <a:normAutofit/>
          </a:bodyPr>
          <a:lstStyle/>
          <a:p>
            <a:pPr algn="ctr" indent="0" marL="0">
              <a:buNone/>
            </a:pPr>
            <a:r>
              <a:rPr lang="en-US" sz="4397" b="1" dirty="0">
                <a:solidFill>
                  <a:srgbClr val="2A78D6"/>
                </a:solidFill>
                <a:latin typeface="Aptos" pitchFamily="34" charset="0"/>
                <a:ea typeface="Aptos" pitchFamily="34" charset="-122"/>
                <a:cs typeface="Aptos" pitchFamily="34" charset="-120"/>
              </a:rPr>
              <a:t>1,000 x 0.05 = 50</a:t>
            </a:r>
            <a:endParaRPr lang="en-US" sz="4397" dirty="0"/>
          </a:p>
        </p:txBody>
      </p:sp>
      <p:sp>
        <p:nvSpPr>
          <p:cNvPr id="17" name="Text 15"/>
          <p:cNvSpPr/>
          <p:nvPr/>
        </p:nvSpPr>
        <p:spPr>
          <a:xfrm>
            <a:off x="841248" y="4489704"/>
            <a:ext cx="4471416" cy="960120"/>
          </a:xfrm>
          <a:prstGeom prst="rect">
            <a:avLst/>
          </a:prstGeom>
          <a:noFill/>
          <a:ln/>
        </p:spPr>
        <p:txBody>
          <a:bodyPr wrap="square" lIns="0" tIns="0" rIns="0" bIns="0" rtlCol="0" anchor="ctr">
            <a:normAutofit/>
          </a:bodyPr>
          <a:lstStyle/>
          <a:p>
            <a:pPr algn="ctr" indent="0" marL="0">
              <a:buNone/>
            </a:pPr>
            <a:r>
              <a:rPr lang="en-US" sz="1997" dirty="0">
                <a:solidFill>
                  <a:srgbClr val="526171"/>
                </a:solidFill>
                <a:latin typeface="Aptos" pitchFamily="34" charset="0"/>
                <a:ea typeface="Aptos" pitchFamily="34" charset="-122"/>
                <a:cs typeface="Aptos" pitchFamily="34" charset="-120"/>
              </a:rPr>
              <a:t>Expected, not guaranteed</a:t>
            </a:r>
            <a:endParaRPr lang="en-US" sz="19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BH controls a family-level error quantity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S08  |  10</a:t>
            </a:r>
            <a:endParaRPr lang="en-US" sz="800" dirty="0"/>
          </a:p>
        </p:txBody>
      </p:sp>
      <p:sp>
        <p:nvSpPr>
          <p:cNvPr id="9" name="Shape 7"/>
          <p:cNvSpPr/>
          <p:nvPr/>
        </p:nvSpPr>
        <p:spPr>
          <a:xfrm>
            <a:off x="594360" y="1828800"/>
            <a:ext cx="3631692" cy="406908"/>
          </a:xfrm>
          <a:prstGeom prst="rect">
            <a:avLst/>
          </a:prstGeom>
          <a:solidFill>
            <a:srgbClr val="2A78D6"/>
          </a:solidFill>
          <a:ln w="7620">
            <a:solidFill>
              <a:srgbClr val="2A78D6"/>
            </a:solidFill>
            <a:prstDash val="solid"/>
          </a:ln>
        </p:spPr>
      </p:sp>
      <p:sp>
        <p:nvSpPr>
          <p:cNvPr id="10" name="Text 8"/>
          <p:cNvSpPr/>
          <p:nvPr/>
        </p:nvSpPr>
        <p:spPr>
          <a:xfrm>
            <a:off x="713232" y="1901952"/>
            <a:ext cx="3389376"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Rank</a:t>
            </a:r>
            <a:endParaRPr lang="en-US" sz="1600" dirty="0"/>
          </a:p>
        </p:txBody>
      </p:sp>
      <p:sp>
        <p:nvSpPr>
          <p:cNvPr id="11" name="Shape 9"/>
          <p:cNvSpPr/>
          <p:nvPr/>
        </p:nvSpPr>
        <p:spPr>
          <a:xfrm>
            <a:off x="4258056" y="1828800"/>
            <a:ext cx="3631692" cy="406908"/>
          </a:xfrm>
          <a:prstGeom prst="rect">
            <a:avLst/>
          </a:prstGeom>
          <a:solidFill>
            <a:srgbClr val="2A78D6"/>
          </a:solidFill>
          <a:ln w="7620">
            <a:solidFill>
              <a:srgbClr val="2A78D6"/>
            </a:solidFill>
            <a:prstDash val="solid"/>
          </a:ln>
        </p:spPr>
      </p:sp>
      <p:sp>
        <p:nvSpPr>
          <p:cNvPr id="12" name="Text 10"/>
          <p:cNvSpPr/>
          <p:nvPr/>
        </p:nvSpPr>
        <p:spPr>
          <a:xfrm>
            <a:off x="4376928" y="1901952"/>
            <a:ext cx="3389376"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a:t>
            </a:r>
            <a:endParaRPr lang="en-US" sz="1600" dirty="0"/>
          </a:p>
        </p:txBody>
      </p:sp>
      <p:sp>
        <p:nvSpPr>
          <p:cNvPr id="13" name="Shape 11"/>
          <p:cNvSpPr/>
          <p:nvPr/>
        </p:nvSpPr>
        <p:spPr>
          <a:xfrm>
            <a:off x="7921752" y="1828800"/>
            <a:ext cx="3631692" cy="406908"/>
          </a:xfrm>
          <a:prstGeom prst="rect">
            <a:avLst/>
          </a:prstGeom>
          <a:solidFill>
            <a:srgbClr val="2A78D6"/>
          </a:solidFill>
          <a:ln w="7620">
            <a:solidFill>
              <a:srgbClr val="2A78D6"/>
            </a:solidFill>
            <a:prstDash val="solid"/>
          </a:ln>
        </p:spPr>
      </p:sp>
      <p:sp>
        <p:nvSpPr>
          <p:cNvPr id="14" name="Text 12"/>
          <p:cNvSpPr/>
          <p:nvPr/>
        </p:nvSpPr>
        <p:spPr>
          <a:xfrm>
            <a:off x="8040624" y="1901952"/>
            <a:ext cx="3389376" cy="265176"/>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Threshold, q=0.05</a:t>
            </a:r>
            <a:endParaRPr lang="en-US" sz="1600" dirty="0"/>
          </a:p>
        </p:txBody>
      </p:sp>
      <p:sp>
        <p:nvSpPr>
          <p:cNvPr id="15" name="Shape 13"/>
          <p:cNvSpPr/>
          <p:nvPr/>
        </p:nvSpPr>
        <p:spPr>
          <a:xfrm>
            <a:off x="594360" y="2267712"/>
            <a:ext cx="3631692" cy="406908"/>
          </a:xfrm>
          <a:prstGeom prst="rect">
            <a:avLst/>
          </a:prstGeom>
          <a:solidFill>
            <a:srgbClr val="EAF2FC"/>
          </a:solidFill>
          <a:ln w="7620">
            <a:solidFill>
              <a:srgbClr val="EAF2FC"/>
            </a:solidFill>
            <a:prstDash val="solid"/>
          </a:ln>
        </p:spPr>
      </p:sp>
      <p:sp>
        <p:nvSpPr>
          <p:cNvPr id="16" name="Text 14"/>
          <p:cNvSpPr/>
          <p:nvPr/>
        </p:nvSpPr>
        <p:spPr>
          <a:xfrm>
            <a:off x="713232" y="2331720"/>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a:t>
            </a:r>
            <a:endParaRPr lang="en-US" sz="1600" dirty="0"/>
          </a:p>
        </p:txBody>
      </p:sp>
      <p:sp>
        <p:nvSpPr>
          <p:cNvPr id="17" name="Shape 15"/>
          <p:cNvSpPr/>
          <p:nvPr/>
        </p:nvSpPr>
        <p:spPr>
          <a:xfrm>
            <a:off x="4258056" y="2267712"/>
            <a:ext cx="3631692" cy="406908"/>
          </a:xfrm>
          <a:prstGeom prst="rect">
            <a:avLst/>
          </a:prstGeom>
          <a:solidFill>
            <a:srgbClr val="EAF2FC"/>
          </a:solidFill>
          <a:ln w="7620">
            <a:solidFill>
              <a:srgbClr val="EAF2FC"/>
            </a:solidFill>
            <a:prstDash val="solid"/>
          </a:ln>
        </p:spPr>
      </p:sp>
      <p:sp>
        <p:nvSpPr>
          <p:cNvPr id="18" name="Text 16"/>
          <p:cNvSpPr/>
          <p:nvPr/>
        </p:nvSpPr>
        <p:spPr>
          <a:xfrm>
            <a:off x="4376928" y="2331720"/>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0.001</a:t>
            </a:r>
            <a:endParaRPr lang="en-US" sz="1600" dirty="0"/>
          </a:p>
        </p:txBody>
      </p:sp>
      <p:sp>
        <p:nvSpPr>
          <p:cNvPr id="19" name="Shape 17"/>
          <p:cNvSpPr/>
          <p:nvPr/>
        </p:nvSpPr>
        <p:spPr>
          <a:xfrm>
            <a:off x="7921752" y="2267712"/>
            <a:ext cx="3631692" cy="406908"/>
          </a:xfrm>
          <a:prstGeom prst="rect">
            <a:avLst/>
          </a:prstGeom>
          <a:solidFill>
            <a:srgbClr val="EAF2FC"/>
          </a:solidFill>
          <a:ln w="7620">
            <a:solidFill>
              <a:srgbClr val="EAF2FC"/>
            </a:solidFill>
            <a:prstDash val="solid"/>
          </a:ln>
        </p:spPr>
      </p:sp>
      <p:sp>
        <p:nvSpPr>
          <p:cNvPr id="20" name="Text 18"/>
          <p:cNvSpPr/>
          <p:nvPr/>
        </p:nvSpPr>
        <p:spPr>
          <a:xfrm>
            <a:off x="8040624" y="2331720"/>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0.0125</a:t>
            </a:r>
            <a:endParaRPr lang="en-US" sz="1600" dirty="0"/>
          </a:p>
        </p:txBody>
      </p:sp>
      <p:sp>
        <p:nvSpPr>
          <p:cNvPr id="21" name="Shape 19"/>
          <p:cNvSpPr/>
          <p:nvPr/>
        </p:nvSpPr>
        <p:spPr>
          <a:xfrm>
            <a:off x="594360" y="2706624"/>
            <a:ext cx="3631692" cy="406908"/>
          </a:xfrm>
          <a:prstGeom prst="rect">
            <a:avLst/>
          </a:prstGeom>
          <a:solidFill>
            <a:srgbClr val="FFFFFF"/>
          </a:solidFill>
          <a:ln w="7620">
            <a:solidFill>
              <a:srgbClr val="FFFFFF"/>
            </a:solidFill>
            <a:prstDash val="solid"/>
          </a:ln>
        </p:spPr>
      </p:sp>
      <p:sp>
        <p:nvSpPr>
          <p:cNvPr id="22" name="Text 20"/>
          <p:cNvSpPr/>
          <p:nvPr/>
        </p:nvSpPr>
        <p:spPr>
          <a:xfrm>
            <a:off x="713232" y="2770632"/>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2</a:t>
            </a:r>
            <a:endParaRPr lang="en-US" sz="1600" dirty="0"/>
          </a:p>
        </p:txBody>
      </p:sp>
      <p:sp>
        <p:nvSpPr>
          <p:cNvPr id="23" name="Shape 21"/>
          <p:cNvSpPr/>
          <p:nvPr/>
        </p:nvSpPr>
        <p:spPr>
          <a:xfrm>
            <a:off x="4258056" y="2706624"/>
            <a:ext cx="3631692" cy="406908"/>
          </a:xfrm>
          <a:prstGeom prst="rect">
            <a:avLst/>
          </a:prstGeom>
          <a:solidFill>
            <a:srgbClr val="FFFFFF"/>
          </a:solidFill>
          <a:ln w="7620">
            <a:solidFill>
              <a:srgbClr val="FFFFFF"/>
            </a:solidFill>
            <a:prstDash val="solid"/>
          </a:ln>
        </p:spPr>
      </p:sp>
      <p:sp>
        <p:nvSpPr>
          <p:cNvPr id="24" name="Text 22"/>
          <p:cNvSpPr/>
          <p:nvPr/>
        </p:nvSpPr>
        <p:spPr>
          <a:xfrm>
            <a:off x="4376928" y="2770632"/>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0.010</a:t>
            </a:r>
            <a:endParaRPr lang="en-US" sz="1600" dirty="0"/>
          </a:p>
        </p:txBody>
      </p:sp>
      <p:sp>
        <p:nvSpPr>
          <p:cNvPr id="25" name="Shape 23"/>
          <p:cNvSpPr/>
          <p:nvPr/>
        </p:nvSpPr>
        <p:spPr>
          <a:xfrm>
            <a:off x="7921752" y="2706624"/>
            <a:ext cx="3631692" cy="406908"/>
          </a:xfrm>
          <a:prstGeom prst="rect">
            <a:avLst/>
          </a:prstGeom>
          <a:solidFill>
            <a:srgbClr val="FFFFFF"/>
          </a:solidFill>
          <a:ln w="7620">
            <a:solidFill>
              <a:srgbClr val="FFFFFF"/>
            </a:solidFill>
            <a:prstDash val="solid"/>
          </a:ln>
        </p:spPr>
      </p:sp>
      <p:sp>
        <p:nvSpPr>
          <p:cNvPr id="26" name="Text 24"/>
          <p:cNvSpPr/>
          <p:nvPr/>
        </p:nvSpPr>
        <p:spPr>
          <a:xfrm>
            <a:off x="8040624" y="2770632"/>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0.0250</a:t>
            </a:r>
            <a:endParaRPr lang="en-US" sz="1600" dirty="0"/>
          </a:p>
        </p:txBody>
      </p:sp>
      <p:sp>
        <p:nvSpPr>
          <p:cNvPr id="27" name="Shape 25"/>
          <p:cNvSpPr/>
          <p:nvPr/>
        </p:nvSpPr>
        <p:spPr>
          <a:xfrm>
            <a:off x="594360" y="3145536"/>
            <a:ext cx="3631692" cy="406908"/>
          </a:xfrm>
          <a:prstGeom prst="rect">
            <a:avLst/>
          </a:prstGeom>
          <a:solidFill>
            <a:srgbClr val="EAF2FC"/>
          </a:solidFill>
          <a:ln w="7620">
            <a:solidFill>
              <a:srgbClr val="EAF2FC"/>
            </a:solidFill>
            <a:prstDash val="solid"/>
          </a:ln>
        </p:spPr>
      </p:sp>
      <p:sp>
        <p:nvSpPr>
          <p:cNvPr id="28" name="Text 26"/>
          <p:cNvSpPr/>
          <p:nvPr/>
        </p:nvSpPr>
        <p:spPr>
          <a:xfrm>
            <a:off x="713232" y="3209544"/>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a:t>
            </a:r>
            <a:endParaRPr lang="en-US" sz="1600" dirty="0"/>
          </a:p>
        </p:txBody>
      </p:sp>
      <p:sp>
        <p:nvSpPr>
          <p:cNvPr id="29" name="Shape 27"/>
          <p:cNvSpPr/>
          <p:nvPr/>
        </p:nvSpPr>
        <p:spPr>
          <a:xfrm>
            <a:off x="4258056" y="3145536"/>
            <a:ext cx="3631692" cy="406908"/>
          </a:xfrm>
          <a:prstGeom prst="rect">
            <a:avLst/>
          </a:prstGeom>
          <a:solidFill>
            <a:srgbClr val="EAF2FC"/>
          </a:solidFill>
          <a:ln w="7620">
            <a:solidFill>
              <a:srgbClr val="EAF2FC"/>
            </a:solidFill>
            <a:prstDash val="solid"/>
          </a:ln>
        </p:spPr>
      </p:sp>
      <p:sp>
        <p:nvSpPr>
          <p:cNvPr id="30" name="Text 28"/>
          <p:cNvSpPr/>
          <p:nvPr/>
        </p:nvSpPr>
        <p:spPr>
          <a:xfrm>
            <a:off x="4376928" y="3209544"/>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0.040</a:t>
            </a:r>
            <a:endParaRPr lang="en-US" sz="1600" dirty="0"/>
          </a:p>
        </p:txBody>
      </p:sp>
      <p:sp>
        <p:nvSpPr>
          <p:cNvPr id="31" name="Shape 29"/>
          <p:cNvSpPr/>
          <p:nvPr/>
        </p:nvSpPr>
        <p:spPr>
          <a:xfrm>
            <a:off x="7921752" y="3145536"/>
            <a:ext cx="3631692" cy="406908"/>
          </a:xfrm>
          <a:prstGeom prst="rect">
            <a:avLst/>
          </a:prstGeom>
          <a:solidFill>
            <a:srgbClr val="EAF2FC"/>
          </a:solidFill>
          <a:ln w="7620">
            <a:solidFill>
              <a:srgbClr val="EAF2FC"/>
            </a:solidFill>
            <a:prstDash val="solid"/>
          </a:ln>
        </p:spPr>
      </p:sp>
      <p:sp>
        <p:nvSpPr>
          <p:cNvPr id="32" name="Text 30"/>
          <p:cNvSpPr/>
          <p:nvPr/>
        </p:nvSpPr>
        <p:spPr>
          <a:xfrm>
            <a:off x="8040624" y="3209544"/>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0.0375</a:t>
            </a:r>
            <a:endParaRPr lang="en-US" sz="1600" dirty="0"/>
          </a:p>
        </p:txBody>
      </p:sp>
      <p:sp>
        <p:nvSpPr>
          <p:cNvPr id="33" name="Shape 31"/>
          <p:cNvSpPr/>
          <p:nvPr/>
        </p:nvSpPr>
        <p:spPr>
          <a:xfrm>
            <a:off x="594360" y="3584448"/>
            <a:ext cx="3631692" cy="406908"/>
          </a:xfrm>
          <a:prstGeom prst="rect">
            <a:avLst/>
          </a:prstGeom>
          <a:solidFill>
            <a:srgbClr val="FFFFFF"/>
          </a:solidFill>
          <a:ln w="7620">
            <a:solidFill>
              <a:srgbClr val="FFFFFF"/>
            </a:solidFill>
            <a:prstDash val="solid"/>
          </a:ln>
        </p:spPr>
      </p:sp>
      <p:sp>
        <p:nvSpPr>
          <p:cNvPr id="34" name="Text 32"/>
          <p:cNvSpPr/>
          <p:nvPr/>
        </p:nvSpPr>
        <p:spPr>
          <a:xfrm>
            <a:off x="713232" y="3648456"/>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a:t>
            </a:r>
            <a:endParaRPr lang="en-US" sz="1600" dirty="0"/>
          </a:p>
        </p:txBody>
      </p:sp>
      <p:sp>
        <p:nvSpPr>
          <p:cNvPr id="35" name="Shape 33"/>
          <p:cNvSpPr/>
          <p:nvPr/>
        </p:nvSpPr>
        <p:spPr>
          <a:xfrm>
            <a:off x="4258056" y="3584448"/>
            <a:ext cx="3631692" cy="406908"/>
          </a:xfrm>
          <a:prstGeom prst="rect">
            <a:avLst/>
          </a:prstGeom>
          <a:solidFill>
            <a:srgbClr val="FFFFFF"/>
          </a:solidFill>
          <a:ln w="7620">
            <a:solidFill>
              <a:srgbClr val="FFFFFF"/>
            </a:solidFill>
            <a:prstDash val="solid"/>
          </a:ln>
        </p:spPr>
      </p:sp>
      <p:sp>
        <p:nvSpPr>
          <p:cNvPr id="36" name="Text 34"/>
          <p:cNvSpPr/>
          <p:nvPr/>
        </p:nvSpPr>
        <p:spPr>
          <a:xfrm>
            <a:off x="4376928" y="3648456"/>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0.200</a:t>
            </a:r>
            <a:endParaRPr lang="en-US" sz="1600" dirty="0"/>
          </a:p>
        </p:txBody>
      </p:sp>
      <p:sp>
        <p:nvSpPr>
          <p:cNvPr id="37" name="Shape 35"/>
          <p:cNvSpPr/>
          <p:nvPr/>
        </p:nvSpPr>
        <p:spPr>
          <a:xfrm>
            <a:off x="7921752" y="3584448"/>
            <a:ext cx="3631692" cy="406908"/>
          </a:xfrm>
          <a:prstGeom prst="rect">
            <a:avLst/>
          </a:prstGeom>
          <a:solidFill>
            <a:srgbClr val="FFFFFF"/>
          </a:solidFill>
          <a:ln w="7620">
            <a:solidFill>
              <a:srgbClr val="FFFFFF"/>
            </a:solidFill>
            <a:prstDash val="solid"/>
          </a:ln>
        </p:spPr>
      </p:sp>
      <p:sp>
        <p:nvSpPr>
          <p:cNvPr id="38" name="Text 36"/>
          <p:cNvSpPr/>
          <p:nvPr/>
        </p:nvSpPr>
        <p:spPr>
          <a:xfrm>
            <a:off x="8040624" y="3648456"/>
            <a:ext cx="3389376" cy="283464"/>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0.0500</a:t>
            </a:r>
            <a:endParaRPr lang="en-US" sz="1600" dirty="0"/>
          </a:p>
        </p:txBody>
      </p:sp>
      <p:sp>
        <p:nvSpPr>
          <p:cNvPr id="39" name="Shape 37"/>
          <p:cNvSpPr/>
          <p:nvPr/>
        </p:nvSpPr>
        <p:spPr>
          <a:xfrm>
            <a:off x="612648" y="4279392"/>
            <a:ext cx="50292" cy="435864"/>
          </a:xfrm>
          <a:prstGeom prst="rect">
            <a:avLst/>
          </a:prstGeom>
          <a:solidFill>
            <a:srgbClr val="2A78D6"/>
          </a:solidFill>
          <a:ln w="7620">
            <a:solidFill>
              <a:srgbClr val="2A78D6"/>
            </a:solidFill>
            <a:prstDash val="solid"/>
          </a:ln>
        </p:spPr>
      </p:sp>
      <p:sp>
        <p:nvSpPr>
          <p:cNvPr id="40" name="Text 38"/>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Sort p-values; compare p(i) with i x q / m.</a:t>
            </a:r>
            <a:endParaRPr lang="en-US" sz="2100" dirty="0"/>
          </a:p>
        </p:txBody>
      </p:sp>
      <p:sp>
        <p:nvSpPr>
          <p:cNvPr id="41" name="Shape 39"/>
          <p:cNvSpPr/>
          <p:nvPr/>
        </p:nvSpPr>
        <p:spPr>
          <a:xfrm>
            <a:off x="612648" y="4916424"/>
            <a:ext cx="50292" cy="435864"/>
          </a:xfrm>
          <a:prstGeom prst="rect">
            <a:avLst/>
          </a:prstGeom>
          <a:solidFill>
            <a:srgbClr val="2A78D6"/>
          </a:solidFill>
          <a:ln w="7620">
            <a:solidFill>
              <a:srgbClr val="2A78D6"/>
            </a:solidFill>
            <a:prstDash val="solid"/>
          </a:ln>
        </p:spPr>
      </p:sp>
      <p:sp>
        <p:nvSpPr>
          <p:cNvPr id="42" name="Text 40"/>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Select through the largest passing rank in the step-up rule.</a:t>
            </a:r>
            <a:endParaRPr lang="en-US" sz="2100" dirty="0"/>
          </a:p>
        </p:txBody>
      </p:sp>
      <p:sp>
        <p:nvSpPr>
          <p:cNvPr id="43" name="Shape 41"/>
          <p:cNvSpPr/>
          <p:nvPr/>
        </p:nvSpPr>
        <p:spPr>
          <a:xfrm>
            <a:off x="612648" y="5553456"/>
            <a:ext cx="50292" cy="435864"/>
          </a:xfrm>
          <a:prstGeom prst="rect">
            <a:avLst/>
          </a:prstGeom>
          <a:solidFill>
            <a:srgbClr val="2A78D6"/>
          </a:solidFill>
          <a:ln w="7620">
            <a:solidFill>
              <a:srgbClr val="2A78D6"/>
            </a:solidFill>
            <a:prstDash val="solid"/>
          </a:ln>
        </p:spPr>
      </p:sp>
      <p:sp>
        <p:nvSpPr>
          <p:cNvPr id="44" name="Text 42"/>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FDR is an expected false-discovery proportion under assumptions, not each gene's error probability.</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negative control tests the pipeline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S11  |  11</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56" dirty="0">
                <a:solidFill>
                  <a:srgbClr val="232D3B"/>
                </a:solidFill>
                <a:latin typeface="Aptos" pitchFamily="34" charset="0"/>
                <a:ea typeface="Aptos" pitchFamily="34" charset="-122"/>
                <a:cs typeface="Aptos" pitchFamily="34" charset="-120"/>
              </a:rPr>
              <a:t>Simulate a known null or use an appropriate design-respecting permutation.</a:t>
            </a:r>
            <a:endParaRPr lang="en-US" sz="2256"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169" dirty="0">
                <a:solidFill>
                  <a:srgbClr val="232D3B"/>
                </a:solidFill>
                <a:latin typeface="Aptos" pitchFamily="34" charset="0"/>
                <a:ea typeface="Aptos" pitchFamily="34" charset="-122"/>
                <a:cs typeface="Aptos" pitchFamily="34" charset="-120"/>
              </a:rPr>
              <a:t>Repeat the experiment rather than pick one convenient random seed.</a:t>
            </a:r>
            <a:endParaRPr lang="en-US" sz="2169"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control failing to reject does not prove every assumption is correct.</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a four-test BH family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p = 0.001, 0.010, 0.040, 0.200; target FDR q = 0.05.</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BH thresholds are 0.0125, 0.0250, 0.0375, 0.0500.</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largest passing rank is 2, so reject tests 1 and 2.</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Monotone adjusted p-values are 0.004, 0.020, about 0.0533, 0.200.</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An analyst calls 100 cells per donor 100 independent replicates. There are two donors per condition. What is the donor-level sample size per condition?</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Two donors per condition. Treating all cells as independent for that comparison is pseudoreplication and can underestimate uncertainty.</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W06: simulate uniformly distributed valid null p-values, compare raw and BH discoveries across repeated runs, and identify an intentionally wrong independence claim.</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null</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p-value</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effect size</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confounding</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FDR</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show why dependence affects a multiple-testing guarantee; do not memorize a proof.</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06</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S07 / S08 / S10 / S12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S07  American Statistical Association. Statement on statistical significance and p-values (2016).</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S08  Benjamini and Hochberg (1995). Controlling the false discovery rate: a practical and powerful approach to multiple testing.</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S10  DESeq2: Analyzing RNA-seq data with DESeq2, release vignette.</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S12  Squair et al. (2021). Confronting false discoveries in single-cell differential expression.</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 independence and multiple testing</dc:title>
  <dc:subject>Scaffolded fourth-year bioengineering</dc:subject>
  <dc:creator>BIB course teaching materials</dc:creator>
  <cp:lastModifiedBy>BIB course teaching materials</cp:lastModifiedBy>
  <cp:revision>1</cp:revision>
  <dcterms:created xsi:type="dcterms:W3CDTF">2026-09-14T18:26:55Z</dcterms:created>
  <dcterms:modified xsi:type="dcterms:W3CDTF">2026-09-14T18:26:55Z</dcterms:modified>
</cp:coreProperties>
</file>