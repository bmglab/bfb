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How much sequencing is enough for the stated question?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S03: SAM/BAM, VCF and BED specifications, maintained by the HTS community.
https://samtools.github.io/hts-specs/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Samples are processed into a sequencing library.
A read is a reported sequence from that library.
PCR and technical duplication can create repeated observations of the same original material.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Longer reads can span larger structures or transcript isoforms.
Short-read workflows can be useful for many counting and variant questions.
Choose using the assay question, sample quality and required evidence, not a vendor ranking.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FASTQ record contains an identifier, sequence, separator and quality string.
The number of base qualities should match the sequence length.
Quality is about base-call error, not whether the biological conclusion is true.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Q = -10 log10(p_error).
Q20 corresponds to p_error = 0.01; Q30 to 0.001.
A quality score describes a model of base-call error; quality calibration matters.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For N single reads of length L over target size G: C = N x L / G.
For read pairs, count both sequenced ends in the base budget.
This is nominal average depth; overlapping reads and duplicates complicate unique evidence.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The same average depth can hide very different coverage distributions.
Report the fraction of target positions reaching a threshold.
No universal depth cutoff guarantees a clinically usable result.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toy usable fraction combines retention and duplicate assumptions.
Keep assumptions explicit; duplicate rate can depend on library complexity.
Sensitivity analysis: compare what happens when usable yield is lower than expected.
Checkpoint: ask a student to state one conclusion the data do NOT support.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Choose target, independent samples and a sequencing budget.
Compare two designs, including a control and one failure scenario.
Defend a limited conclusion; all quoted classroom costs are hypothetical.
Checkpoint: ask a student to state one conclusion the data do NOT support.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S03: SAM/BAM, VCF and BED specifications, maintained by the HTS community.
https://samtools.github.io/hts-specs/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S03: SAM/BAM, VCF and BED specifications, maintained by the HTS community.
https://samtools.github.io/hts-specs/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S03: SAM/BAM, VCF and BED specifications, maintained by the HTS community.
https://samtools.github.io/hts-specs/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S03: SAM/BAM, VCF and BED specifications, maintained by the HTS community.
https://samtools.github.io/hts-specs/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05</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From sample to reads: designing an experiment</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How much sequencing is enough for the stated question?</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Explain reads, read pairs, quality and depth.</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Calculate nominal and usable average depth with units.</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Choose a feasible design without confusing more reads with more replicates.</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DNA sequencing measures sequence fragments; RNA sequencing samples molecules derived from RNA.</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library is a prepared collection of molecules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S10  |  4</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Samples are processed into a sequencing library.</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read is a reported sequence from that library.</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PCR and technical duplication can create repeated observations of the same original material.</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Short and long reads are design choices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S10  |  5</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What must be resolved?</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What can be measured?</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Longer reads can span larger structures or transcript isoforms.</a:t>
            </a:r>
            <a:endParaRPr lang="en-US" sz="2297"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59" dirty="0">
                <a:solidFill>
                  <a:srgbClr val="232D3B"/>
                </a:solidFill>
                <a:latin typeface="Aptos" pitchFamily="34" charset="0"/>
                <a:ea typeface="Aptos" pitchFamily="34" charset="-122"/>
                <a:cs typeface="Aptos" pitchFamily="34" charset="-120"/>
              </a:rPr>
              <a:t>Short-read workflows can be useful for many counting and variant questions.</a:t>
            </a:r>
            <a:endParaRPr lang="en-US" sz="2259"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Choose using the assay question, sample quality and required evidence, not a vendor ranking.</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FASTQ links bases to quality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6</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69" dirty="0">
                <a:solidFill>
                  <a:srgbClr val="232D3B"/>
                </a:solidFill>
                <a:latin typeface="Aptos" pitchFamily="34" charset="0"/>
                <a:ea typeface="Aptos" pitchFamily="34" charset="-122"/>
                <a:cs typeface="Aptos" pitchFamily="34" charset="-120"/>
              </a:rPr>
              <a:t>A FASTQ record contains an identifier, sequence, separator and quality string.</a:t>
            </a:r>
            <a:endParaRPr lang="en-US" sz="2269"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number of base qualities should match the sequence length.</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159" dirty="0">
                <a:solidFill>
                  <a:srgbClr val="232D3B"/>
                </a:solidFill>
                <a:latin typeface="Aptos" pitchFamily="34" charset="0"/>
                <a:ea typeface="Aptos" pitchFamily="34" charset="-122"/>
                <a:cs typeface="Aptos" pitchFamily="34" charset="-120"/>
              </a:rPr>
              <a:t>Quality is about base-call error, not whether the biological conclusion is true.</a:t>
            </a:r>
            <a:endParaRPr lang="en-US" sz="2159" dirty="0"/>
          </a:p>
        </p:txBody>
      </p:sp>
      <p:sp>
        <p:nvSpPr>
          <p:cNvPr id="16" name="Text 14"/>
          <p:cNvSpPr/>
          <p:nvPr/>
        </p:nvSpPr>
        <p:spPr>
          <a:xfrm>
            <a:off x="841248" y="2340864"/>
            <a:ext cx="4471416" cy="3383280"/>
          </a:xfrm>
          <a:prstGeom prst="rect">
            <a:avLst/>
          </a:prstGeom>
          <a:noFill/>
          <a:ln/>
        </p:spPr>
        <p:txBody>
          <a:bodyPr wrap="square" lIns="0" tIns="0" rIns="0" bIns="0" rtlCol="0" anchor="t">
            <a:normAutofit/>
          </a:bodyPr>
          <a:lstStyle/>
          <a:p>
            <a:pPr indent="0" marL="0">
              <a:buNone/>
            </a:pPr>
            <a:r>
              <a:rPr lang="en-US" sz="2197" dirty="0">
                <a:solidFill>
                  <a:srgbClr val="232D3B"/>
                </a:solidFill>
                <a:latin typeface="Consolas" pitchFamily="34" charset="0"/>
                <a:ea typeface="Consolas" pitchFamily="34" charset="-122"/>
                <a:cs typeface="Consolas" pitchFamily="34" charset="-120"/>
              </a:rPr>
              <a:t>@toy_read</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ACGT</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IIII</a:t>
            </a:r>
            <a:endParaRPr lang="en-US" sz="219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Phred quality is a log-scale error measure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7</a:t>
            </a:r>
            <a:endParaRPr lang="en-US" sz="800" dirty="0"/>
          </a:p>
        </p:txBody>
      </p:sp>
      <p:sp>
        <p:nvSpPr>
          <p:cNvPr id="9" name="Shape 7"/>
          <p:cNvSpPr/>
          <p:nvPr/>
        </p:nvSpPr>
        <p:spPr>
          <a:xfrm>
            <a:off x="594360" y="1828800"/>
            <a:ext cx="5463540" cy="516636"/>
          </a:xfrm>
          <a:prstGeom prst="rect">
            <a:avLst/>
          </a:prstGeom>
          <a:solidFill>
            <a:srgbClr val="2A78D6"/>
          </a:solidFill>
          <a:ln w="7620">
            <a:solidFill>
              <a:srgbClr val="2A78D6"/>
            </a:solidFill>
            <a:prstDash val="solid"/>
          </a:ln>
        </p:spPr>
      </p:sp>
      <p:sp>
        <p:nvSpPr>
          <p:cNvPr id="10" name="Text 8"/>
          <p:cNvSpPr/>
          <p:nvPr/>
        </p:nvSpPr>
        <p:spPr>
          <a:xfrm>
            <a:off x="713232" y="1901952"/>
            <a:ext cx="5221224"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Q</a:t>
            </a:r>
            <a:endParaRPr lang="en-US" sz="1600" dirty="0"/>
          </a:p>
        </p:txBody>
      </p:sp>
      <p:sp>
        <p:nvSpPr>
          <p:cNvPr id="11" name="Shape 9"/>
          <p:cNvSpPr/>
          <p:nvPr/>
        </p:nvSpPr>
        <p:spPr>
          <a:xfrm>
            <a:off x="6089904" y="1828800"/>
            <a:ext cx="5463540" cy="516636"/>
          </a:xfrm>
          <a:prstGeom prst="rect">
            <a:avLst/>
          </a:prstGeom>
          <a:solidFill>
            <a:srgbClr val="2A78D6"/>
          </a:solidFill>
          <a:ln w="7620">
            <a:solidFill>
              <a:srgbClr val="2A78D6"/>
            </a:solidFill>
            <a:prstDash val="solid"/>
          </a:ln>
        </p:spPr>
      </p:sp>
      <p:sp>
        <p:nvSpPr>
          <p:cNvPr id="12" name="Text 10"/>
          <p:cNvSpPr/>
          <p:nvPr/>
        </p:nvSpPr>
        <p:spPr>
          <a:xfrm>
            <a:off x="6208776" y="1901952"/>
            <a:ext cx="5221224"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Error probability</a:t>
            </a:r>
            <a:endParaRPr lang="en-US" sz="1600" dirty="0"/>
          </a:p>
        </p:txBody>
      </p:sp>
      <p:sp>
        <p:nvSpPr>
          <p:cNvPr id="13" name="Shape 11"/>
          <p:cNvSpPr/>
          <p:nvPr/>
        </p:nvSpPr>
        <p:spPr>
          <a:xfrm>
            <a:off x="594360" y="2377440"/>
            <a:ext cx="5463540" cy="516636"/>
          </a:xfrm>
          <a:prstGeom prst="rect">
            <a:avLst/>
          </a:prstGeom>
          <a:solidFill>
            <a:srgbClr val="EAF2FC"/>
          </a:solidFill>
          <a:ln w="7620">
            <a:solidFill>
              <a:srgbClr val="EAF2FC"/>
            </a:solidFill>
            <a:prstDash val="solid"/>
          </a:ln>
        </p:spPr>
      </p:sp>
      <p:sp>
        <p:nvSpPr>
          <p:cNvPr id="14" name="Text 12"/>
          <p:cNvSpPr/>
          <p:nvPr/>
        </p:nvSpPr>
        <p:spPr>
          <a:xfrm>
            <a:off x="713232" y="244144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20</a:t>
            </a:r>
            <a:endParaRPr lang="en-US" sz="1600" dirty="0"/>
          </a:p>
        </p:txBody>
      </p:sp>
      <p:sp>
        <p:nvSpPr>
          <p:cNvPr id="15" name="Shape 13"/>
          <p:cNvSpPr/>
          <p:nvPr/>
        </p:nvSpPr>
        <p:spPr>
          <a:xfrm>
            <a:off x="6089904" y="2377440"/>
            <a:ext cx="5463540" cy="516636"/>
          </a:xfrm>
          <a:prstGeom prst="rect">
            <a:avLst/>
          </a:prstGeom>
          <a:solidFill>
            <a:srgbClr val="EAF2FC"/>
          </a:solidFill>
          <a:ln w="7620">
            <a:solidFill>
              <a:srgbClr val="EAF2FC"/>
            </a:solidFill>
            <a:prstDash val="solid"/>
          </a:ln>
        </p:spPr>
      </p:sp>
      <p:sp>
        <p:nvSpPr>
          <p:cNvPr id="16" name="Text 14"/>
          <p:cNvSpPr/>
          <p:nvPr/>
        </p:nvSpPr>
        <p:spPr>
          <a:xfrm>
            <a:off x="6208776" y="244144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 / 100</a:t>
            </a:r>
            <a:endParaRPr lang="en-US" sz="1600" dirty="0"/>
          </a:p>
        </p:txBody>
      </p:sp>
      <p:sp>
        <p:nvSpPr>
          <p:cNvPr id="17" name="Shape 15"/>
          <p:cNvSpPr/>
          <p:nvPr/>
        </p:nvSpPr>
        <p:spPr>
          <a:xfrm>
            <a:off x="594360" y="2926080"/>
            <a:ext cx="5463540" cy="516636"/>
          </a:xfrm>
          <a:prstGeom prst="rect">
            <a:avLst/>
          </a:prstGeom>
          <a:solidFill>
            <a:srgbClr val="FFFFFF"/>
          </a:solidFill>
          <a:ln w="7620">
            <a:solidFill>
              <a:srgbClr val="FFFFFF"/>
            </a:solidFill>
            <a:prstDash val="solid"/>
          </a:ln>
        </p:spPr>
      </p:sp>
      <p:sp>
        <p:nvSpPr>
          <p:cNvPr id="18" name="Text 16"/>
          <p:cNvSpPr/>
          <p:nvPr/>
        </p:nvSpPr>
        <p:spPr>
          <a:xfrm>
            <a:off x="713232" y="299008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a:t>
            </a:r>
            <a:endParaRPr lang="en-US" sz="1600" dirty="0"/>
          </a:p>
        </p:txBody>
      </p:sp>
      <p:sp>
        <p:nvSpPr>
          <p:cNvPr id="19" name="Shape 17"/>
          <p:cNvSpPr/>
          <p:nvPr/>
        </p:nvSpPr>
        <p:spPr>
          <a:xfrm>
            <a:off x="6089904" y="2926080"/>
            <a:ext cx="5463540" cy="516636"/>
          </a:xfrm>
          <a:prstGeom prst="rect">
            <a:avLst/>
          </a:prstGeom>
          <a:solidFill>
            <a:srgbClr val="FFFFFF"/>
          </a:solidFill>
          <a:ln w="7620">
            <a:solidFill>
              <a:srgbClr val="FFFFFF"/>
            </a:solidFill>
            <a:prstDash val="solid"/>
          </a:ln>
        </p:spPr>
      </p:sp>
      <p:sp>
        <p:nvSpPr>
          <p:cNvPr id="20" name="Text 18"/>
          <p:cNvSpPr/>
          <p:nvPr/>
        </p:nvSpPr>
        <p:spPr>
          <a:xfrm>
            <a:off x="6208776" y="299008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 / 1,000</a:t>
            </a:r>
            <a:endParaRPr lang="en-US" sz="1600" dirty="0"/>
          </a:p>
        </p:txBody>
      </p:sp>
      <p:sp>
        <p:nvSpPr>
          <p:cNvPr id="21" name="Shape 19"/>
          <p:cNvSpPr/>
          <p:nvPr/>
        </p:nvSpPr>
        <p:spPr>
          <a:xfrm>
            <a:off x="594360" y="3474720"/>
            <a:ext cx="5463540" cy="516636"/>
          </a:xfrm>
          <a:prstGeom prst="rect">
            <a:avLst/>
          </a:prstGeom>
          <a:solidFill>
            <a:srgbClr val="EAF2FC"/>
          </a:solidFill>
          <a:ln w="7620">
            <a:solidFill>
              <a:srgbClr val="EAF2FC"/>
            </a:solidFill>
            <a:prstDash val="solid"/>
          </a:ln>
        </p:spPr>
      </p:sp>
      <p:sp>
        <p:nvSpPr>
          <p:cNvPr id="22" name="Text 20"/>
          <p:cNvSpPr/>
          <p:nvPr/>
        </p:nvSpPr>
        <p:spPr>
          <a:xfrm>
            <a:off x="713232" y="353872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a:t>
            </a:r>
            <a:endParaRPr lang="en-US" sz="1600" dirty="0"/>
          </a:p>
        </p:txBody>
      </p:sp>
      <p:sp>
        <p:nvSpPr>
          <p:cNvPr id="23" name="Shape 21"/>
          <p:cNvSpPr/>
          <p:nvPr/>
        </p:nvSpPr>
        <p:spPr>
          <a:xfrm>
            <a:off x="6089904" y="3474720"/>
            <a:ext cx="5463540" cy="516636"/>
          </a:xfrm>
          <a:prstGeom prst="rect">
            <a:avLst/>
          </a:prstGeom>
          <a:solidFill>
            <a:srgbClr val="EAF2FC"/>
          </a:solidFill>
          <a:ln w="7620">
            <a:solidFill>
              <a:srgbClr val="EAF2FC"/>
            </a:solidFill>
            <a:prstDash val="solid"/>
          </a:ln>
        </p:spPr>
      </p:sp>
      <p:sp>
        <p:nvSpPr>
          <p:cNvPr id="24" name="Text 22"/>
          <p:cNvSpPr/>
          <p:nvPr/>
        </p:nvSpPr>
        <p:spPr>
          <a:xfrm>
            <a:off x="6208776" y="353872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 / 10,000</a:t>
            </a:r>
            <a:endParaRPr lang="en-US" sz="1600" dirty="0"/>
          </a:p>
        </p:txBody>
      </p:sp>
      <p:sp>
        <p:nvSpPr>
          <p:cNvPr id="25" name="Shape 23"/>
          <p:cNvSpPr/>
          <p:nvPr/>
        </p:nvSpPr>
        <p:spPr>
          <a:xfrm>
            <a:off x="612648" y="4279392"/>
            <a:ext cx="50292" cy="435864"/>
          </a:xfrm>
          <a:prstGeom prst="rect">
            <a:avLst/>
          </a:prstGeom>
          <a:solidFill>
            <a:srgbClr val="2A78D6"/>
          </a:solidFill>
          <a:ln w="7620">
            <a:solidFill>
              <a:srgbClr val="2A78D6"/>
            </a:solidFill>
            <a:prstDash val="solid"/>
          </a:ln>
        </p:spPr>
      </p:sp>
      <p:sp>
        <p:nvSpPr>
          <p:cNvPr id="26" name="Text 24"/>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Q = -10 log10(p_error).</a:t>
            </a:r>
            <a:endParaRPr lang="en-US" sz="2100" dirty="0"/>
          </a:p>
        </p:txBody>
      </p:sp>
      <p:sp>
        <p:nvSpPr>
          <p:cNvPr id="27" name="Shape 25"/>
          <p:cNvSpPr/>
          <p:nvPr/>
        </p:nvSpPr>
        <p:spPr>
          <a:xfrm>
            <a:off x="612648" y="4916424"/>
            <a:ext cx="50292" cy="435864"/>
          </a:xfrm>
          <a:prstGeom prst="rect">
            <a:avLst/>
          </a:prstGeom>
          <a:solidFill>
            <a:srgbClr val="2A78D6"/>
          </a:solidFill>
          <a:ln w="7620">
            <a:solidFill>
              <a:srgbClr val="2A78D6"/>
            </a:solidFill>
            <a:prstDash val="solid"/>
          </a:ln>
        </p:spPr>
      </p:sp>
      <p:sp>
        <p:nvSpPr>
          <p:cNvPr id="28" name="Text 26"/>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Q20 corresponds to p_error = 0.01; Q30 to 0.001.</a:t>
            </a:r>
            <a:endParaRPr lang="en-US" sz="2100" dirty="0"/>
          </a:p>
        </p:txBody>
      </p:sp>
      <p:sp>
        <p:nvSpPr>
          <p:cNvPr id="29" name="Shape 27"/>
          <p:cNvSpPr/>
          <p:nvPr/>
        </p:nvSpPr>
        <p:spPr>
          <a:xfrm>
            <a:off x="612648" y="5553456"/>
            <a:ext cx="50292" cy="435864"/>
          </a:xfrm>
          <a:prstGeom prst="rect">
            <a:avLst/>
          </a:prstGeom>
          <a:solidFill>
            <a:srgbClr val="2A78D6"/>
          </a:solidFill>
          <a:ln w="7620">
            <a:solidFill>
              <a:srgbClr val="2A78D6"/>
            </a:solidFill>
            <a:prstDash val="solid"/>
          </a:ln>
        </p:spPr>
      </p:sp>
      <p:sp>
        <p:nvSpPr>
          <p:cNvPr id="30" name="Text 28"/>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 quality score describes a model of base-call error; quality calibration matters.</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Average depth is a budget calculation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8</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For N single reads of length L over target size G: C = N x L / G.</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For read pairs, count both sequenced ends in the base budget.</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This is nominal average depth; overlapping reads and duplicates complicate unique evidence.</a:t>
            </a:r>
            <a:endParaRPr lang="en-US" sz="2100" dirty="0"/>
          </a:p>
        </p:txBody>
      </p:sp>
      <p:sp>
        <p:nvSpPr>
          <p:cNvPr id="16" name="Text 14"/>
          <p:cNvSpPr/>
          <p:nvPr/>
        </p:nvSpPr>
        <p:spPr>
          <a:xfrm>
            <a:off x="841248" y="2889504"/>
            <a:ext cx="4471416" cy="1828800"/>
          </a:xfrm>
          <a:prstGeom prst="rect">
            <a:avLst/>
          </a:prstGeom>
          <a:noFill/>
          <a:ln/>
        </p:spPr>
        <p:txBody>
          <a:bodyPr wrap="square" lIns="0" tIns="0" rIns="0" bIns="0" rtlCol="0" anchor="ctr">
            <a:normAutofit/>
          </a:bodyPr>
          <a:lstStyle/>
          <a:p>
            <a:pPr algn="ctr" indent="0" marL="0">
              <a:buNone/>
            </a:pPr>
            <a:r>
              <a:rPr lang="en-US" sz="2797" b="1" dirty="0">
                <a:solidFill>
                  <a:srgbClr val="2A78D6"/>
                </a:solidFill>
                <a:latin typeface="Aptos" pitchFamily="34" charset="0"/>
                <a:ea typeface="Aptos" pitchFamily="34" charset="-122"/>
                <a:cs typeface="Aptos" pitchFamily="34" charset="-120"/>
              </a:rPr>
              <a:t>C = sequenced bases / target bases</a:t>
            </a:r>
            <a:endParaRPr lang="en-US" sz="2797" dirty="0"/>
          </a:p>
        </p:txBody>
      </p:sp>
      <p:sp>
        <p:nvSpPr>
          <p:cNvPr id="17" name="Text 15"/>
          <p:cNvSpPr/>
          <p:nvPr/>
        </p:nvSpPr>
        <p:spPr>
          <a:xfrm>
            <a:off x="841248" y="4992624"/>
            <a:ext cx="4471416" cy="548640"/>
          </a:xfrm>
          <a:prstGeom prst="rect">
            <a:avLst/>
          </a:prstGeom>
          <a:noFill/>
          <a:ln/>
        </p:spPr>
        <p:txBody>
          <a:bodyPr wrap="square" lIns="0" tIns="0" rIns="0" bIns="0" rtlCol="0" anchor="ctr">
            <a:normAutofit/>
          </a:bodyPr>
          <a:lstStyle/>
          <a:p>
            <a:pPr algn="ctr" indent="0" marL="0">
              <a:buNone/>
            </a:pPr>
            <a:r>
              <a:rPr lang="en-US" sz="1763" dirty="0">
                <a:solidFill>
                  <a:srgbClr val="526171"/>
                </a:solidFill>
                <a:latin typeface="Aptos" pitchFamily="34" charset="0"/>
                <a:ea typeface="Aptos" pitchFamily="34" charset="-122"/>
                <a:cs typeface="Aptos" pitchFamily="34" charset="-120"/>
              </a:rPr>
              <a:t>State the units and the assumptions.</a:t>
            </a:r>
            <a:endParaRPr lang="en-US" sz="176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Average is not the same as everywhere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9</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same average depth can hide very different coverage distributions.</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Report the fraction of target positions reaching a threshold.</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No universal depth cutoff guarantees a clinically usable result.</a:t>
            </a:r>
            <a:endParaRPr lang="en-US" sz="2297" dirty="0"/>
          </a:p>
        </p:txBody>
      </p:sp>
      <p:sp>
        <p:nvSpPr>
          <p:cNvPr id="16" name="Text 14"/>
          <p:cNvSpPr/>
          <p:nvPr/>
        </p:nvSpPr>
        <p:spPr>
          <a:xfrm>
            <a:off x="841248" y="2157984"/>
            <a:ext cx="4471416" cy="457200"/>
          </a:xfrm>
          <a:prstGeom prst="rect">
            <a:avLst/>
          </a:prstGeom>
          <a:noFill/>
          <a:ln/>
        </p:spPr>
        <p:txBody>
          <a:bodyPr wrap="square" lIns="0" tIns="0" rIns="0" bIns="0" rtlCol="0" anchor="ctr">
            <a:normAutofit/>
          </a:bodyPr>
          <a:lstStyle/>
          <a:p>
            <a:pPr indent="0" marL="0">
              <a:buNone/>
            </a:pPr>
            <a:r>
              <a:rPr lang="en-US" sz="2000" b="1" dirty="0">
                <a:solidFill>
                  <a:srgbClr val="2A78D6"/>
                </a:solidFill>
                <a:latin typeface="Aptos" pitchFamily="34" charset="0"/>
                <a:ea typeface="Aptos" pitchFamily="34" charset="-122"/>
                <a:cs typeface="Aptos" pitchFamily="34" charset="-120"/>
              </a:rPr>
              <a:t>Synthetic: both means = 20x</a:t>
            </a:r>
            <a:endParaRPr lang="en-US" sz="2000" dirty="0"/>
          </a:p>
        </p:txBody>
      </p:sp>
      <p:sp>
        <p:nvSpPr>
          <p:cNvPr id="17" name="Shape 15"/>
          <p:cNvSpPr/>
          <p:nvPr/>
        </p:nvSpPr>
        <p:spPr>
          <a:xfrm>
            <a:off x="1115568" y="3666744"/>
            <a:ext cx="3886200" cy="0"/>
          </a:xfrm>
          <a:prstGeom prst="line">
            <a:avLst/>
          </a:prstGeom>
          <a:noFill/>
          <a:ln w="12700">
            <a:solidFill>
              <a:srgbClr val="526171"/>
            </a:solidFill>
            <a:prstDash val="solid"/>
          </a:ln>
        </p:spPr>
      </p:sp>
      <p:sp>
        <p:nvSpPr>
          <p:cNvPr id="18" name="Shape 16"/>
          <p:cNvSpPr/>
          <p:nvPr/>
        </p:nvSpPr>
        <p:spPr>
          <a:xfrm>
            <a:off x="1252728" y="3334235"/>
            <a:ext cx="457200" cy="332509"/>
          </a:xfrm>
          <a:prstGeom prst="rect">
            <a:avLst/>
          </a:prstGeom>
          <a:solidFill>
            <a:srgbClr val="2A78D6"/>
          </a:solidFill>
          <a:ln w="7620">
            <a:solidFill>
              <a:srgbClr val="2A78D6"/>
            </a:solidFill>
            <a:prstDash val="solid"/>
          </a:ln>
        </p:spPr>
      </p:sp>
      <p:sp>
        <p:nvSpPr>
          <p:cNvPr id="19" name="Shape 17"/>
          <p:cNvSpPr/>
          <p:nvPr/>
        </p:nvSpPr>
        <p:spPr>
          <a:xfrm>
            <a:off x="1947672" y="3334235"/>
            <a:ext cx="457200" cy="332509"/>
          </a:xfrm>
          <a:prstGeom prst="rect">
            <a:avLst/>
          </a:prstGeom>
          <a:solidFill>
            <a:srgbClr val="2A78D6"/>
          </a:solidFill>
          <a:ln w="7620">
            <a:solidFill>
              <a:srgbClr val="2A78D6"/>
            </a:solidFill>
            <a:prstDash val="solid"/>
          </a:ln>
        </p:spPr>
      </p:sp>
      <p:sp>
        <p:nvSpPr>
          <p:cNvPr id="20" name="Shape 18"/>
          <p:cNvSpPr/>
          <p:nvPr/>
        </p:nvSpPr>
        <p:spPr>
          <a:xfrm>
            <a:off x="2642616" y="3334235"/>
            <a:ext cx="457200" cy="332509"/>
          </a:xfrm>
          <a:prstGeom prst="rect">
            <a:avLst/>
          </a:prstGeom>
          <a:solidFill>
            <a:srgbClr val="2A78D6"/>
          </a:solidFill>
          <a:ln w="7620">
            <a:solidFill>
              <a:srgbClr val="2A78D6"/>
            </a:solidFill>
            <a:prstDash val="solid"/>
          </a:ln>
        </p:spPr>
      </p:sp>
      <p:sp>
        <p:nvSpPr>
          <p:cNvPr id="21" name="Shape 19"/>
          <p:cNvSpPr/>
          <p:nvPr/>
        </p:nvSpPr>
        <p:spPr>
          <a:xfrm>
            <a:off x="3337560" y="3334235"/>
            <a:ext cx="457200" cy="332509"/>
          </a:xfrm>
          <a:prstGeom prst="rect">
            <a:avLst/>
          </a:prstGeom>
          <a:solidFill>
            <a:srgbClr val="2A78D6"/>
          </a:solidFill>
          <a:ln w="7620">
            <a:solidFill>
              <a:srgbClr val="2A78D6"/>
            </a:solidFill>
            <a:prstDash val="solid"/>
          </a:ln>
        </p:spPr>
      </p:sp>
      <p:sp>
        <p:nvSpPr>
          <p:cNvPr id="22" name="Shape 20"/>
          <p:cNvSpPr/>
          <p:nvPr/>
        </p:nvSpPr>
        <p:spPr>
          <a:xfrm>
            <a:off x="4032504" y="3334235"/>
            <a:ext cx="457200" cy="332509"/>
          </a:xfrm>
          <a:prstGeom prst="rect">
            <a:avLst/>
          </a:prstGeom>
          <a:solidFill>
            <a:srgbClr val="2A78D6"/>
          </a:solidFill>
          <a:ln w="7620">
            <a:solidFill>
              <a:srgbClr val="2A78D6"/>
            </a:solidFill>
            <a:prstDash val="solid"/>
          </a:ln>
        </p:spPr>
      </p:sp>
      <p:sp>
        <p:nvSpPr>
          <p:cNvPr id="23" name="Text 21"/>
          <p:cNvSpPr/>
          <p:nvPr/>
        </p:nvSpPr>
        <p:spPr>
          <a:xfrm>
            <a:off x="841248" y="3758184"/>
            <a:ext cx="4471416" cy="320040"/>
          </a:xfrm>
          <a:prstGeom prst="rect">
            <a:avLst/>
          </a:prstGeom>
          <a:noFill/>
          <a:ln/>
        </p:spPr>
        <p:txBody>
          <a:bodyPr wrap="square" lIns="0" tIns="0" rIns="0" bIns="0" rtlCol="0" anchor="ctr">
            <a:normAutofit/>
          </a:bodyPr>
          <a:lstStyle/>
          <a:p>
            <a:pPr algn="ctr" indent="0" marL="0">
              <a:buNone/>
            </a:pPr>
            <a:r>
              <a:rPr lang="en-US" sz="1500" dirty="0">
                <a:solidFill>
                  <a:srgbClr val="526171"/>
                </a:solidFill>
                <a:latin typeface="Aptos" pitchFamily="34" charset="0"/>
                <a:ea typeface="Aptos" pitchFamily="34" charset="-122"/>
                <a:cs typeface="Aptos" pitchFamily="34" charset="-120"/>
              </a:rPr>
              <a:t>Uniform coverage</a:t>
            </a:r>
            <a:endParaRPr lang="en-US" sz="1500" dirty="0"/>
          </a:p>
        </p:txBody>
      </p:sp>
      <p:sp>
        <p:nvSpPr>
          <p:cNvPr id="24" name="Shape 22"/>
          <p:cNvSpPr/>
          <p:nvPr/>
        </p:nvSpPr>
        <p:spPr>
          <a:xfrm>
            <a:off x="1115568" y="5084064"/>
            <a:ext cx="3886200" cy="0"/>
          </a:xfrm>
          <a:prstGeom prst="line">
            <a:avLst/>
          </a:prstGeom>
          <a:noFill/>
          <a:ln w="12700">
            <a:solidFill>
              <a:srgbClr val="526171"/>
            </a:solidFill>
            <a:prstDash val="solid"/>
          </a:ln>
        </p:spPr>
      </p:sp>
      <p:sp>
        <p:nvSpPr>
          <p:cNvPr id="25" name="Shape 23"/>
          <p:cNvSpPr/>
          <p:nvPr/>
        </p:nvSpPr>
        <p:spPr>
          <a:xfrm>
            <a:off x="1252728" y="5084064"/>
            <a:ext cx="457200" cy="22860"/>
          </a:xfrm>
          <a:prstGeom prst="rect">
            <a:avLst/>
          </a:prstGeom>
          <a:solidFill>
            <a:srgbClr val="EB6834"/>
          </a:solidFill>
          <a:ln w="7620">
            <a:solidFill>
              <a:srgbClr val="EB6834"/>
            </a:solidFill>
            <a:prstDash val="solid"/>
          </a:ln>
        </p:spPr>
      </p:sp>
      <p:sp>
        <p:nvSpPr>
          <p:cNvPr id="26" name="Shape 24"/>
          <p:cNvSpPr/>
          <p:nvPr/>
        </p:nvSpPr>
        <p:spPr>
          <a:xfrm>
            <a:off x="1947672" y="5084064"/>
            <a:ext cx="457200" cy="22860"/>
          </a:xfrm>
          <a:prstGeom prst="rect">
            <a:avLst/>
          </a:prstGeom>
          <a:solidFill>
            <a:srgbClr val="EB6834"/>
          </a:solidFill>
          <a:ln w="7620">
            <a:solidFill>
              <a:srgbClr val="EB6834"/>
            </a:solidFill>
            <a:prstDash val="solid"/>
          </a:ln>
        </p:spPr>
      </p:sp>
      <p:sp>
        <p:nvSpPr>
          <p:cNvPr id="27" name="Shape 25"/>
          <p:cNvSpPr/>
          <p:nvPr/>
        </p:nvSpPr>
        <p:spPr>
          <a:xfrm>
            <a:off x="2642616" y="5084064"/>
            <a:ext cx="457200" cy="22860"/>
          </a:xfrm>
          <a:prstGeom prst="rect">
            <a:avLst/>
          </a:prstGeom>
          <a:solidFill>
            <a:srgbClr val="EB6834"/>
          </a:solidFill>
          <a:ln w="7620">
            <a:solidFill>
              <a:srgbClr val="EB6834"/>
            </a:solidFill>
            <a:prstDash val="solid"/>
          </a:ln>
        </p:spPr>
      </p:sp>
      <p:sp>
        <p:nvSpPr>
          <p:cNvPr id="28" name="Shape 26"/>
          <p:cNvSpPr/>
          <p:nvPr/>
        </p:nvSpPr>
        <p:spPr>
          <a:xfrm>
            <a:off x="3337560" y="4252791"/>
            <a:ext cx="457200" cy="831273"/>
          </a:xfrm>
          <a:prstGeom prst="rect">
            <a:avLst/>
          </a:prstGeom>
          <a:solidFill>
            <a:srgbClr val="EB6834"/>
          </a:solidFill>
          <a:ln w="7620">
            <a:solidFill>
              <a:srgbClr val="EB6834"/>
            </a:solidFill>
            <a:prstDash val="solid"/>
          </a:ln>
        </p:spPr>
      </p:sp>
      <p:sp>
        <p:nvSpPr>
          <p:cNvPr id="29" name="Shape 27"/>
          <p:cNvSpPr/>
          <p:nvPr/>
        </p:nvSpPr>
        <p:spPr>
          <a:xfrm>
            <a:off x="4032504" y="4252791"/>
            <a:ext cx="457200" cy="831273"/>
          </a:xfrm>
          <a:prstGeom prst="rect">
            <a:avLst/>
          </a:prstGeom>
          <a:solidFill>
            <a:srgbClr val="EB6834"/>
          </a:solidFill>
          <a:ln w="7620">
            <a:solidFill>
              <a:srgbClr val="EB6834"/>
            </a:solidFill>
            <a:prstDash val="solid"/>
          </a:ln>
        </p:spPr>
      </p:sp>
      <p:sp>
        <p:nvSpPr>
          <p:cNvPr id="30" name="Text 28"/>
          <p:cNvSpPr/>
          <p:nvPr/>
        </p:nvSpPr>
        <p:spPr>
          <a:xfrm>
            <a:off x="841248" y="5175504"/>
            <a:ext cx="4471416" cy="320040"/>
          </a:xfrm>
          <a:prstGeom prst="rect">
            <a:avLst/>
          </a:prstGeom>
          <a:noFill/>
          <a:ln/>
        </p:spPr>
        <p:txBody>
          <a:bodyPr wrap="square" lIns="0" tIns="0" rIns="0" bIns="0" rtlCol="0" anchor="ctr">
            <a:normAutofit/>
          </a:bodyPr>
          <a:lstStyle/>
          <a:p>
            <a:pPr algn="ctr" indent="0" marL="0">
              <a:buNone/>
            </a:pPr>
            <a:r>
              <a:rPr lang="en-US" sz="1500" dirty="0">
                <a:solidFill>
                  <a:srgbClr val="526171"/>
                </a:solidFill>
                <a:latin typeface="Aptos" pitchFamily="34" charset="0"/>
                <a:ea typeface="Aptos" pitchFamily="34" charset="-122"/>
                <a:cs typeface="Aptos" pitchFamily="34" charset="-120"/>
              </a:rPr>
              <a:t>Uneven coverage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Usable yield is smaller than purchased yield</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10</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toy usable fraction combines retention and duplicate assumptions.</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Keep assumptions explicit; duplicate rate can depend on library complexity.</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Sensitivity analysis: compare what happens when usable yield is lower than expected.</a:t>
            </a:r>
            <a:endParaRPr lang="en-US" sz="2100" dirty="0"/>
          </a:p>
        </p:txBody>
      </p:sp>
      <p:sp>
        <p:nvSpPr>
          <p:cNvPr id="16" name="Text 14"/>
          <p:cNvSpPr/>
          <p:nvPr/>
        </p:nvSpPr>
        <p:spPr>
          <a:xfrm>
            <a:off x="841248" y="2889504"/>
            <a:ext cx="4471416" cy="1828800"/>
          </a:xfrm>
          <a:prstGeom prst="rect">
            <a:avLst/>
          </a:prstGeom>
          <a:noFill/>
          <a:ln/>
        </p:spPr>
        <p:txBody>
          <a:bodyPr wrap="square" lIns="0" tIns="0" rIns="0" bIns="0" rtlCol="0" anchor="ctr">
            <a:normAutofit/>
          </a:bodyPr>
          <a:lstStyle/>
          <a:p>
            <a:pPr algn="ctr" indent="0" marL="0">
              <a:buNone/>
            </a:pPr>
            <a:r>
              <a:rPr lang="en-US" sz="2797" b="1" dirty="0">
                <a:solidFill>
                  <a:srgbClr val="2A78D6"/>
                </a:solidFill>
                <a:latin typeface="Aptos" pitchFamily="34" charset="0"/>
                <a:ea typeface="Aptos" pitchFamily="34" charset="-122"/>
                <a:cs typeface="Aptos" pitchFamily="34" charset="-120"/>
              </a:rPr>
              <a:t>usable depth = nominal depth x usable fraction</a:t>
            </a:r>
            <a:endParaRPr lang="en-US" sz="2797" dirty="0"/>
          </a:p>
        </p:txBody>
      </p:sp>
      <p:sp>
        <p:nvSpPr>
          <p:cNvPr id="17" name="Text 15"/>
          <p:cNvSpPr/>
          <p:nvPr/>
        </p:nvSpPr>
        <p:spPr>
          <a:xfrm>
            <a:off x="841248" y="4992624"/>
            <a:ext cx="4471416" cy="548640"/>
          </a:xfrm>
          <a:prstGeom prst="rect">
            <a:avLst/>
          </a:prstGeom>
          <a:noFill/>
          <a:ln/>
        </p:spPr>
        <p:txBody>
          <a:bodyPr wrap="square" lIns="0" tIns="0" rIns="0" bIns="0" rtlCol="0" anchor="ctr">
            <a:normAutofit/>
          </a:bodyPr>
          <a:lstStyle/>
          <a:p>
            <a:pPr algn="ctr" indent="0" marL="0">
              <a:buNone/>
            </a:pPr>
            <a:r>
              <a:rPr lang="en-US" sz="1763" dirty="0">
                <a:solidFill>
                  <a:srgbClr val="526171"/>
                </a:solidFill>
                <a:latin typeface="Aptos" pitchFamily="34" charset="0"/>
                <a:ea typeface="Aptos" pitchFamily="34" charset="-122"/>
                <a:cs typeface="Aptos" pitchFamily="34" charset="-120"/>
              </a:rPr>
              <a:t>State the units and the assumptions.</a:t>
            </a:r>
            <a:endParaRPr lang="en-US" sz="1763"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Design Notebook 1: the decision, not a shopping list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11</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Choose target, independent samples and a sequencing budget.</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Compare two designs, including a control and one failure scenario.</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72" dirty="0">
                <a:solidFill>
                  <a:srgbClr val="232D3B"/>
                </a:solidFill>
                <a:latin typeface="Aptos" pitchFamily="34" charset="0"/>
                <a:ea typeface="Aptos" pitchFamily="34" charset="-122"/>
                <a:cs typeface="Aptos" pitchFamily="34" charset="-120"/>
              </a:rPr>
              <a:t>Defend a limited conclusion; all quoted classroom costs are hypothetical.</a:t>
            </a:r>
            <a:endParaRPr lang="en-US" sz="2272"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one million read pairs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1,000,000 pairs, 150 bases per end, target size 5,000,000 bases, usable fraction 0.80.</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Sequenced bases = 1,000,000 x 2 x 150 = 300,000,000.</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Nominal average depth = 300,000,000 / 5,000,000 = 60x.</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Toy usable depth = 60 x 0.80 = 48x; this is not guaranteed depth at every base.</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Two libraries from the same donor each have 60x depth. How many donors were measured? What does sequencing both libraries more deeply fail to fix?</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One donor. More technical observations do not add independent donors or establish between-donor variation.</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W05 / Project D1: select one of three fully specified budget scenarios, calculate depth, inspect a simulated coverage distribution and write a design justification.</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library</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read pair</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quality</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depth</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replication</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derive the ideal Poisson zero-coverage probability exp(-C), then explain why real coverage may violate that model.</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05</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S10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S03  SAM/BAM, VCF and BED specifications, maintained by the HTS community.</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S10  DESeq2: Analyzing RNA-seq data with DESeq2, release vignette.</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sample to reads: designing an experiment</dc:title>
  <dc:subject>Scaffolded fourth-year bioengineering</dc:subject>
  <dc:creator>BIB course teaching materials</dc:creator>
  <cp:lastModifiedBy>BIB course teaching materials</cp:lastModifiedBy>
  <cp:revision>1</cp:revision>
  <dcterms:created xsi:type="dcterms:W3CDTF">2026-09-14T18:26:55Z</dcterms:created>
  <dcterms:modified xsi:type="dcterms:W3CDTF">2026-09-14T18:26:55Z</dcterms:modified>
</cp:coreProperties>
</file>