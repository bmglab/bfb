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2 minutes
Audience: fourth-year bioengineering with limited prior genetics and coding.
Opening question: What does a good alignment tell us, and what does it not tell us?
Do not require students to know all terms yet. Elicit a prediction.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these observable outcomes for feedback. Core assessment requires interpretation and short arithmetic, not reproducing a full specialist pipeline.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students to draw or name the biological experimental unit. Revisit the Week 00 bridge if terminology is unclear.
Read technical terms aloud; ask students to explain the measurement before interpreting the model. Accept justified uncertainty.
[Sources]
S06: NCBI: How BLAST Works and BLAST Statistics: The Expect Value.
https://www.nlm.nih.gov/ncbi/workshops/2023-08_BLAST_evol/e_value.html
S26: NCBI: How BLAST Works (2022 workshop).
https://www.nlm.nih.gov/ncbi/workshops/2022-10_Basic-Web-BLAST/how-blast-works.html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Identity counts identical aligned symbols.
Similarity can use a scoring scheme that rewards related amino acids.
Homology means common ancestry; do not report 70% homology.
Checkpoint: ask a student to state one conclusion the data do NOT support.
Read technical terms aloud; ask students to explain the measurement before interpreting the model. Accept justified uncertainty.
[Sources]
S26: NCBI: How BLAST Works (2022 workshop).
https://www.nlm.nih.gov/ncbi/workshops/2022-10_Basic-Web-BLAST/how-blast-works.html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Global alignment compares full sequences under a scoring scheme.
Local alignment finds a high-scoring matching segment.
A short local match may cover only a small fraction of a protein.
Checkpoint: ask a student to state one conclusion the data do NOT support.
Read technical terms aloud; ask students to explain the measurement before interpreting the model. Accept justified uncertainty.
[Sources]
S26: NCBI: How BLAST Works (2022 workshop).
https://www.nlm.nih.gov/ncbi/workshops/2022-10_Basic-Web-BLAST/how-blast-works.html
S28: Smith and Waterman (1981). Identification of common molecular subsequences. Journal of Molecular Biology 147:195-197.
https://doi.org/10.1016/0022-2836(81)90087-5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For our toy DNA alignment: match +2, mismatch -1, gap -2 per position.
Scores from different rules are not directly interchangeable.
A biological interpretation comes after the arithmetic.
Checkpoint: ask a student to state one conclusion the data do NOT support.
Read technical terms aloud; ask students to explain the measurement before interpreting the model. Accept justified uncertainty.
[Sources]
S28: Smith and Waterman (1981). Identification of common molecular subsequences. Journal of Molecular Biology 147:195-197.
https://doi.org/10.1016/0022-2836(81)90087-5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Each cell considers a match/mismatch, a gap from either direction, or zero.
Zero permits a local alignment to start fresh.
The maximum is exact for this recurrence and scoring model, not proof of a biological mechanism.
Checkpoint: ask a student to state one conclusion the data do NOT support.
Read technical terms aloud; ask students to explain the measurement before interpreting the model. Accept justified uncertainty.
[Sources]
S26: NCBI: How BLAST Works (2022 workshop).
https://www.nlm.nih.gov/ncbi/workshops/2022-10_Basic-Web-BLAST/how-blast-works.html
S28: Smith and Waterman (1981). Identification of common molecular subsequences. Journal of Molecular Biology 147:195-197.
https://doi.org/10.1016/0022-2836(81)90087-5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A database may contain many sequences.
BLAST uses seed-and-extend heuristics to find useful local matches efficiently.
A heuristic may miss matches; its output still needs an audit.
Checkpoint: ask a student to state one conclusion the data do NOT support.
Read technical terms aloud; ask students to explain the measurement before interpreting the model. Accept justified uncertainty.
[Sources]
S26: NCBI: How BLAST Works (2022 workshop).
https://www.nlm.nih.gov/ncbi/workshops/2022-10_Basic-Web-BLAST/how-blast-works.html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Identity: how alike are aligned positions?
Query coverage: how much of the query is represented?
E-value: expected chance matches at least this strong under the search model.
Checkpoint: ask a student to state one conclusion the data do NOT support.
Read technical terms aloud; ask students to explain the measurement before interpreting the model. Accept justified uncertainty.
[Sources]
S06: NCBI: How BLAST Works and BLAST Statistics: The Expect Value.
https://www.nlm.nih.gov/ncbi/workshops/2023-08_BLAST_evol/e_value.html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For a comparable alignment score, a larger search space can increase the E-value.
An E-value is not the chance the functional annotation is wrong.
Also inspect low complexity, domains, identifiers and database provenance.
Checkpoint: ask a student to state one conclusion the data do NOT support.
Read technical terms aloud; ask students to explain the measurement before interpreting the model. Accept justified uncertainty.
[Sources]
S06: NCBI: How BLAST Works and BLAST Statistics: The Expect Value.
https://www.nlm.nih.gov/ncbi/workshops/2023-08_BLAST_evol/e_value.html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Explain the slide using one concrete example.
Exact optimization solves a specified mathematical problem.
Heuristics trade exhaustive search for speed.
Learned representations depend on training data; a tool can contain all three.
Checkpoint: ask a student to state one conclusion the data do NOT support.
Read technical terms aloud; ask students to explain the measurement before interpreting the model. Accept justified uncertainty.
[Sources]
S11: scikit-learn: Common pitfalls and recommended practices.
https://scikit-learn.org/stable/common_pitfalls.html
S26: NCBI: How BLAST Works (2022 workshop).
https://www.nlm.nih.gov/ncbi/workshops/2022-10_Basic-Web-BLAST/how-blast-works.html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Allow 60-90 seconds for a prediction. Do not rush to the numerical answer. The following slide shows the reasoning.
Read technical terms aloud; ask students to explain the measurement before interpreting the model. Accept justified uncertainty.
[Sources]
S06: NCBI: How BLAST Works and BLAST Statistics: The Expect Value.
https://www.nlm.nih.gov/ncbi/workshops/2023-08_BLAST_evol/e_value.html
S26: NCBI: How BLAST Works (2022 workshop).
https://www.nlm.nih.gov/ncbi/workshops/2022-10_Basic-Web-BLAST/how-blast-works.html
S28: Smith and Waterman (1981). Identification of common molecular subsequences. Journal of Molecular Biology 147:195-197.
https://doi.org/10.1016/0022-2836(81)90087-5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Show the arithmetic or logical steps one at a time orally. Ask which assumption is necessary at each step.
Read technical terms aloud; ask students to explain the measurement before interpreting the model. Accept justified uncertainty.
[Sources]
S06: NCBI: How BLAST Works and BLAST Statistics: The Expect Value.
https://www.nlm.nih.gov/ncbi/workshops/2023-08_BLAST_evol/e_value.html
S26: NCBI: How BLAST Works (2022 workshop).
https://www.nlm.nih.gov/ncbi/workshops/2022-10_Basic-Web-BLAST/how-blast-works.html
S28: Smith and Waterman (1981). Identification of common molecular subsequences. Journal of Molecular Biology 147:195-197.
https://doi.org/10.1016/0022-2836(81)90087-5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Collect two contrasting answers before advancing. Give one minute solo and two minutes in pairs. This is formative, not an exam item.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Accept other scientifically justified responses. Probe the boundary between measured result, model assumption and biological conclusion.
Read technical terms aloud; ask students to explain the measurement before interpreting the model. Accept justified uncertainty.
[Sources]
S06: NCBI: How BLAST Works and BLAST Statistics: The Expect Value.
https://www.nlm.nih.gov/ncbi/workshops/2023-08_BLAST_evol/e_value.html
S26: NCBI: How BLAST Works (2022 workshop).
https://www.nlm.nih.gov/ncbi/workshops/2022-10_Basic-Web-BLAST/how-blast-works.html
S28: Smith and Waterman (1981). Identification of common molecular subsequences. Journal of Molecular Biology 147:195-197.
https://doi.org/10.1016/0022-2836(81)90087-5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45-minute studio; not part of 90-minute lecture
Audience: fourth-year bioengineering with limited prior genetics and coding.
Use the matching standalone notebook and Lab Workbook. Students may work in pairs while discussing, but submit their own reasoning. Paper fallback carries no penalty. Plotting and extensions are optional.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Ask for a plain-language definition and one example per term. Students may use the glossary. Definitions are not a substitute for interpreting an example.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Use a quick handwritten or LMS response. Do not add new weighted grading; this is formative feedback. Use common mistakes to plan a short retrieval exercise next week.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3-5 minutes
Audience: fourth-year bioengineering with limited prior genetics and coding.
Do not use optional extension achievement to disadvantage students with limited computing access. Direct interested students to the primary sources.
Read technical terms aloud; ask students to explain the measurement before interpreting the model. Accept justified uncertainty.
[Sources]
Original teaching design / explicitly synthetic classroom example. No external asset used.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Teaching guide | Reference slide; do not lecture through every citation
Audience: fourth-year bioengineering with limited prior genetics and coding.
Full links are in the Course Source Register and these speaker notes. Source selection checked September 14, 2026. Older sources support stable foundational ideas, not unverified current clinical policy.
Read technical terms aloud; ask students to explain the measurement before interpreting the model. Accept justified uncertainty.
[Sources]
S06: NCBI: How BLAST Works and BLAST Statistics: The Expect Value.
https://www.nlm.nih.gov/ncbi/workshops/2023-08_BLAST_evol/e_value.html
S26: NCBI: How BLAST Works (2022 workshop).
https://www.nlm.nih.gov/ncbi/workshops/2022-10_Basic-Web-BLAST/how-blast-works.html
S28: Smith and Waterman (1981). Identification of common molecular subsequences. Journal of Molecular Biology 147:195-197.
https://doi.org/10.1016/0022-2836(81)90087-5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32D3B"/>
        </a:solidFill>
      </p:bgPr>
    </p:bg>
    <p:spTree>
      <p:nvGrpSpPr>
        <p:cNvPr id="1" name=""/>
        <p:cNvGrpSpPr/>
        <p:nvPr/>
      </p:nvGrpSpPr>
      <p:grpSpPr>
        <a:xfrm>
          <a:off x="0" y="0"/>
          <a:ext cx="0" cy="0"/>
          <a:chOff x="0" y="0"/>
          <a:chExt cx="0" cy="0"/>
        </a:xfrm>
      </p:grpSpPr>
      <p:sp>
        <p:nvSpPr>
          <p:cNvPr id="2" name="Shape 0"/>
          <p:cNvSpPr/>
          <p:nvPr/>
        </p:nvSpPr>
        <p:spPr>
          <a:xfrm>
            <a:off x="0" y="0"/>
            <a:ext cx="164592" cy="6858000"/>
          </a:xfrm>
          <a:prstGeom prst="rect">
            <a:avLst/>
          </a:prstGeom>
          <a:solidFill>
            <a:srgbClr val="EB6834"/>
          </a:solidFill>
          <a:ln w="7620">
            <a:solidFill>
              <a:srgbClr val="EB6834"/>
            </a:solidFill>
            <a:prstDash val="solid"/>
          </a:ln>
        </p:spPr>
      </p:sp>
      <p:sp>
        <p:nvSpPr>
          <p:cNvPr id="3" name="Text 1"/>
          <p:cNvSpPr/>
          <p:nvPr/>
        </p:nvSpPr>
        <p:spPr>
          <a:xfrm>
            <a:off x="640080" y="530352"/>
            <a:ext cx="10789920" cy="438912"/>
          </a:xfrm>
          <a:prstGeom prst="rect">
            <a:avLst/>
          </a:prstGeom>
          <a:noFill/>
          <a:ln/>
        </p:spPr>
        <p:txBody>
          <a:bodyPr wrap="square" lIns="0" tIns="0" rIns="0" bIns="0" rtlCol="0" anchor="ctr">
            <a:normAutofit/>
          </a:bodyPr>
          <a:lstStyle/>
          <a:p>
            <a:pPr indent="0" marL="0">
              <a:buNone/>
            </a:pPr>
            <a:r>
              <a:rPr lang="en-US" sz="1300" b="1" dirty="0">
                <a:solidFill>
                  <a:srgbClr val="D1DCE9"/>
                </a:solidFill>
                <a:latin typeface="Aptos" pitchFamily="34" charset="0"/>
                <a:ea typeface="Aptos" pitchFamily="34" charset="-122"/>
                <a:cs typeface="Aptos" pitchFamily="34" charset="-120"/>
              </a:rPr>
              <a:t>BIOINFORMATICS FOR BIOENGINEERING</a:t>
            </a:r>
            <a:endParaRPr lang="en-US" sz="1300" dirty="0"/>
          </a:p>
        </p:txBody>
      </p:sp>
      <p:sp>
        <p:nvSpPr>
          <p:cNvPr id="4" name="Text 2"/>
          <p:cNvSpPr/>
          <p:nvPr/>
        </p:nvSpPr>
        <p:spPr>
          <a:xfrm>
            <a:off x="685800" y="1380744"/>
            <a:ext cx="9144000" cy="548640"/>
          </a:xfrm>
          <a:prstGeom prst="rect">
            <a:avLst/>
          </a:prstGeom>
          <a:noFill/>
          <a:ln/>
        </p:spPr>
        <p:txBody>
          <a:bodyPr wrap="square" lIns="0" tIns="0" rIns="0" bIns="0" rtlCol="0" anchor="ctr">
            <a:normAutofit/>
          </a:bodyPr>
          <a:lstStyle/>
          <a:p>
            <a:pPr indent="0" marL="0">
              <a:buNone/>
            </a:pPr>
            <a:r>
              <a:rPr lang="en-US" sz="2000" b="1" dirty="0">
                <a:solidFill>
                  <a:srgbClr val="7EB5F1"/>
                </a:solidFill>
                <a:latin typeface="Aptos" pitchFamily="34" charset="0"/>
                <a:ea typeface="Aptos" pitchFamily="34" charset="-122"/>
                <a:cs typeface="Aptos" pitchFamily="34" charset="-120"/>
              </a:rPr>
              <a:t>WEEK 04</a:t>
            </a:r>
            <a:endParaRPr lang="en-US" sz="2000" dirty="0"/>
          </a:p>
        </p:txBody>
      </p:sp>
      <p:sp>
        <p:nvSpPr>
          <p:cNvPr id="5" name="Text 3"/>
          <p:cNvSpPr/>
          <p:nvPr/>
        </p:nvSpPr>
        <p:spPr>
          <a:xfrm>
            <a:off x="685800" y="2157984"/>
            <a:ext cx="10744200" cy="1783080"/>
          </a:xfrm>
          <a:prstGeom prst="rect">
            <a:avLst/>
          </a:prstGeom>
          <a:noFill/>
          <a:ln/>
        </p:spPr>
        <p:txBody>
          <a:bodyPr wrap="square" lIns="0" tIns="0" rIns="0" bIns="0" rtlCol="0" anchor="ctr">
            <a:normAutofit/>
          </a:bodyPr>
          <a:lstStyle/>
          <a:p>
            <a:pPr indent="0" marL="0">
              <a:buNone/>
            </a:pPr>
            <a:r>
              <a:rPr lang="en-US" sz="3897" b="1" dirty="0">
                <a:solidFill>
                  <a:srgbClr val="FFFFFF"/>
                </a:solidFill>
                <a:latin typeface="Aptos" pitchFamily="34" charset="0"/>
                <a:ea typeface="Aptos" pitchFamily="34" charset="-122"/>
                <a:cs typeface="Aptos" pitchFamily="34" charset="-120"/>
              </a:rPr>
              <a:t>Sequence similarity without overclaiming</a:t>
            </a:r>
            <a:endParaRPr lang="en-US" sz="3897" dirty="0"/>
          </a:p>
        </p:txBody>
      </p:sp>
      <p:sp>
        <p:nvSpPr>
          <p:cNvPr id="6" name="Text 4"/>
          <p:cNvSpPr/>
          <p:nvPr/>
        </p:nvSpPr>
        <p:spPr>
          <a:xfrm>
            <a:off x="731520" y="4599432"/>
            <a:ext cx="10561320" cy="923544"/>
          </a:xfrm>
          <a:prstGeom prst="rect">
            <a:avLst/>
          </a:prstGeom>
          <a:noFill/>
          <a:ln/>
        </p:spPr>
        <p:txBody>
          <a:bodyPr wrap="square" lIns="0" tIns="0" rIns="0" bIns="0" rtlCol="0" anchor="ctr">
            <a:normAutofit/>
          </a:bodyPr>
          <a:lstStyle/>
          <a:p>
            <a:pPr indent="0" marL="0">
              <a:buNone/>
            </a:pPr>
            <a:r>
              <a:rPr lang="en-US" sz="2497" dirty="0">
                <a:solidFill>
                  <a:srgbClr val="D1DCE9"/>
                </a:solidFill>
                <a:latin typeface="Aptos" pitchFamily="34" charset="0"/>
                <a:ea typeface="Aptos" pitchFamily="34" charset="-122"/>
                <a:cs typeface="Aptos" pitchFamily="34" charset="-120"/>
              </a:rPr>
              <a:t>What does a good alignment tell us, and what does it not tell us?</a:t>
            </a:r>
            <a:endParaRPr lang="en-US" sz="2497" dirty="0"/>
          </a:p>
        </p:txBody>
      </p:sp>
      <p:sp>
        <p:nvSpPr>
          <p:cNvPr id="7" name="Text 5"/>
          <p:cNvSpPr/>
          <p:nvPr/>
        </p:nvSpPr>
        <p:spPr>
          <a:xfrm>
            <a:off x="731520" y="6199632"/>
            <a:ext cx="10607040" cy="274320"/>
          </a:xfrm>
          <a:prstGeom prst="rect">
            <a:avLst/>
          </a:prstGeom>
          <a:noFill/>
          <a:ln/>
        </p:spPr>
        <p:txBody>
          <a:bodyPr wrap="square" lIns="0" tIns="0" rIns="0" bIns="0" rtlCol="0" anchor="ctr">
            <a:normAutofit/>
          </a:bodyPr>
          <a:lstStyle/>
          <a:p>
            <a:pPr indent="0" marL="0">
              <a:buNone/>
            </a:pPr>
            <a:r>
              <a:rPr lang="en-US" sz="1100" dirty="0">
                <a:solidFill>
                  <a:srgbClr val="D1DCE9"/>
                </a:solidFill>
                <a:latin typeface="Aptos" pitchFamily="34" charset="0"/>
                <a:ea typeface="Aptos" pitchFamily="34" charset="-122"/>
                <a:cs typeface="Aptos" pitchFamily="34" charset="-120"/>
              </a:rPr>
              <a:t>Yasin Kaymaz, PhD  |  Ege University  |  Teaching edition 2026</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LEARNING TARGETS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By the end, you should be able to...</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2</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Distinguish sequence identity, similarity and homology.</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Score a short alignment and interpret a local match.</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Read a BLAST hit using coverage, identity and E-value together.</a:t>
            </a:r>
            <a:endParaRPr lang="en-US" sz="2297"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RETRIEVAL</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Reconnect with the biology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3</a:t>
            </a:r>
            <a:endParaRPr lang="en-US" sz="800" dirty="0"/>
          </a:p>
        </p:txBody>
      </p:sp>
      <p:sp>
        <p:nvSpPr>
          <p:cNvPr id="9" name="Shape 7"/>
          <p:cNvSpPr/>
          <p:nvPr/>
        </p:nvSpPr>
        <p:spPr>
          <a:xfrm>
            <a:off x="612648" y="1984248"/>
            <a:ext cx="10972800" cy="1828800"/>
          </a:xfrm>
          <a:prstGeom prst="rect">
            <a:avLst/>
          </a:prstGeom>
          <a:solidFill>
            <a:srgbClr val="EAF2FC"/>
          </a:solidFill>
          <a:ln w="7620">
            <a:solidFill>
              <a:srgbClr val="EAF2FC"/>
            </a:solidFill>
            <a:prstDash val="solid"/>
          </a:ln>
        </p:spPr>
      </p:sp>
      <p:sp>
        <p:nvSpPr>
          <p:cNvPr id="10" name="Text 8"/>
          <p:cNvSpPr/>
          <p:nvPr/>
        </p:nvSpPr>
        <p:spPr>
          <a:xfrm>
            <a:off x="850392" y="2258568"/>
            <a:ext cx="10497312" cy="1280160"/>
          </a:xfrm>
          <a:prstGeom prst="rect">
            <a:avLst/>
          </a:prstGeom>
          <a:noFill/>
          <a:ln/>
        </p:spPr>
        <p:txBody>
          <a:bodyPr wrap="square" lIns="0" tIns="0" rIns="0" bIns="0" rtlCol="0" anchor="ctr">
            <a:normAutofit/>
          </a:bodyPr>
          <a:lstStyle/>
          <a:p>
            <a:pPr indent="0" marL="0">
              <a:buNone/>
            </a:pPr>
            <a:r>
              <a:rPr lang="en-US" sz="2697" dirty="0">
                <a:solidFill>
                  <a:srgbClr val="232D3B"/>
                </a:solidFill>
                <a:latin typeface="Aptos" pitchFamily="34" charset="0"/>
                <a:ea typeface="Aptos" pitchFamily="34" charset="-122"/>
                <a:cs typeface="Aptos" pitchFamily="34" charset="-120"/>
              </a:rPr>
              <a:t>DNA sequences and protein sequences use different alphabets; compare like with like.</a:t>
            </a:r>
            <a:endParaRPr lang="en-US" sz="2697" dirty="0"/>
          </a:p>
        </p:txBody>
      </p:sp>
      <p:sp>
        <p:nvSpPr>
          <p:cNvPr id="11" name="Text 9"/>
          <p:cNvSpPr/>
          <p:nvPr/>
        </p:nvSpPr>
        <p:spPr>
          <a:xfrm>
            <a:off x="859536" y="4370832"/>
            <a:ext cx="10424160" cy="914400"/>
          </a:xfrm>
          <a:prstGeom prst="rect">
            <a:avLst/>
          </a:prstGeom>
          <a:noFill/>
          <a:ln/>
        </p:spPr>
        <p:txBody>
          <a:bodyPr wrap="square" lIns="0" tIns="0" rIns="0" bIns="0" rtlCol="0" anchor="ctr">
            <a:normAutofit/>
          </a:bodyPr>
          <a:lstStyle/>
          <a:p>
            <a:pPr indent="0" marL="0">
              <a:buNone/>
            </a:pPr>
            <a:r>
              <a:rPr lang="en-US" sz="2497" b="1" dirty="0">
                <a:solidFill>
                  <a:srgbClr val="2A78D6"/>
                </a:solidFill>
                <a:latin typeface="Aptos" pitchFamily="34" charset="0"/>
                <a:ea typeface="Aptos" pitchFamily="34" charset="-122"/>
                <a:cs typeface="Aptos" pitchFamily="34" charset="-120"/>
              </a:rPr>
              <a:t>Think silently -&gt; explain to a neighbour -&gt; check the measurement.</a:t>
            </a:r>
            <a:endParaRPr lang="en-US" sz="2497"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Similarity is observed; homology is inferred</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S26  |  4</a:t>
            </a:r>
            <a:endParaRPr lang="en-US" sz="800" dirty="0"/>
          </a:p>
        </p:txBody>
      </p:sp>
      <p:sp>
        <p:nvSpPr>
          <p:cNvPr id="9" name="Shape 7"/>
          <p:cNvSpPr/>
          <p:nvPr/>
        </p:nvSpPr>
        <p:spPr>
          <a:xfrm>
            <a:off x="594360" y="1865376"/>
            <a:ext cx="5321808" cy="1024128"/>
          </a:xfrm>
          <a:prstGeom prst="rect">
            <a:avLst/>
          </a:prstGeom>
          <a:solidFill>
            <a:srgbClr val="EAF2FC"/>
          </a:solidFill>
          <a:ln w="7620">
            <a:solidFill>
              <a:srgbClr val="EAF2FC"/>
            </a:solidFill>
            <a:prstDash val="solid"/>
          </a:ln>
        </p:spPr>
      </p:sp>
      <p:sp>
        <p:nvSpPr>
          <p:cNvPr id="10" name="Shape 8"/>
          <p:cNvSpPr/>
          <p:nvPr/>
        </p:nvSpPr>
        <p:spPr>
          <a:xfrm>
            <a:off x="6199632" y="1865376"/>
            <a:ext cx="5321808" cy="1024128"/>
          </a:xfrm>
          <a:prstGeom prst="rect">
            <a:avLst/>
          </a:prstGeom>
          <a:solidFill>
            <a:srgbClr val="FFF0E8"/>
          </a:solidFill>
          <a:ln w="7620">
            <a:solidFill>
              <a:srgbClr val="FFF0E8"/>
            </a:solidFill>
            <a:prstDash val="solid"/>
          </a:ln>
        </p:spPr>
      </p:sp>
      <p:sp>
        <p:nvSpPr>
          <p:cNvPr id="11" name="Text 9"/>
          <p:cNvSpPr/>
          <p:nvPr/>
        </p:nvSpPr>
        <p:spPr>
          <a:xfrm>
            <a:off x="822960"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2A78D6"/>
                </a:solidFill>
                <a:latin typeface="Aptos" pitchFamily="34" charset="0"/>
                <a:ea typeface="Aptos" pitchFamily="34" charset="-122"/>
                <a:cs typeface="Aptos" pitchFamily="34" charset="-120"/>
              </a:rPr>
              <a:t>Measured similarity</a:t>
            </a:r>
            <a:endParaRPr lang="en-US" sz="2372" dirty="0"/>
          </a:p>
        </p:txBody>
      </p:sp>
      <p:sp>
        <p:nvSpPr>
          <p:cNvPr id="12" name="Text 10"/>
          <p:cNvSpPr/>
          <p:nvPr/>
        </p:nvSpPr>
        <p:spPr>
          <a:xfrm>
            <a:off x="6428232"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EB6834"/>
                </a:solidFill>
                <a:latin typeface="Aptos" pitchFamily="34" charset="0"/>
                <a:ea typeface="Aptos" pitchFamily="34" charset="-122"/>
                <a:cs typeface="Aptos" pitchFamily="34" charset="-120"/>
              </a:rPr>
              <a:t>Evolutionary relationship</a:t>
            </a:r>
            <a:endParaRPr lang="en-US" sz="2372" dirty="0"/>
          </a:p>
        </p:txBody>
      </p:sp>
      <p:sp>
        <p:nvSpPr>
          <p:cNvPr id="13" name="Shape 11"/>
          <p:cNvSpPr/>
          <p:nvPr/>
        </p:nvSpPr>
        <p:spPr>
          <a:xfrm>
            <a:off x="658368" y="3218688"/>
            <a:ext cx="50292" cy="719328"/>
          </a:xfrm>
          <a:prstGeom prst="rect">
            <a:avLst/>
          </a:prstGeom>
          <a:solidFill>
            <a:srgbClr val="2A78D6"/>
          </a:solidFill>
          <a:ln w="7620">
            <a:solidFill>
              <a:srgbClr val="2A78D6"/>
            </a:solidFill>
            <a:prstDash val="solid"/>
          </a:ln>
        </p:spPr>
      </p:sp>
      <p:sp>
        <p:nvSpPr>
          <p:cNvPr id="14" name="Text 12"/>
          <p:cNvSpPr/>
          <p:nvPr/>
        </p:nvSpPr>
        <p:spPr>
          <a:xfrm>
            <a:off x="859536" y="3218688"/>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Identity counts identical aligned symbols.</a:t>
            </a:r>
            <a:endParaRPr lang="en-US" sz="2297" dirty="0"/>
          </a:p>
        </p:txBody>
      </p:sp>
      <p:sp>
        <p:nvSpPr>
          <p:cNvPr id="15" name="Shape 13"/>
          <p:cNvSpPr/>
          <p:nvPr/>
        </p:nvSpPr>
        <p:spPr>
          <a:xfrm>
            <a:off x="658368" y="4139184"/>
            <a:ext cx="50292" cy="719328"/>
          </a:xfrm>
          <a:prstGeom prst="rect">
            <a:avLst/>
          </a:prstGeom>
          <a:solidFill>
            <a:srgbClr val="2A78D6"/>
          </a:solidFill>
          <a:ln w="7620">
            <a:solidFill>
              <a:srgbClr val="2A78D6"/>
            </a:solidFill>
            <a:prstDash val="solid"/>
          </a:ln>
        </p:spPr>
      </p:sp>
      <p:sp>
        <p:nvSpPr>
          <p:cNvPr id="16" name="Text 14"/>
          <p:cNvSpPr/>
          <p:nvPr/>
        </p:nvSpPr>
        <p:spPr>
          <a:xfrm>
            <a:off x="859536" y="4139184"/>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Similarity can use a scoring scheme that rewards related amino acids.</a:t>
            </a:r>
            <a:endParaRPr lang="en-US" sz="2297" dirty="0"/>
          </a:p>
        </p:txBody>
      </p:sp>
      <p:sp>
        <p:nvSpPr>
          <p:cNvPr id="17" name="Shape 15"/>
          <p:cNvSpPr/>
          <p:nvPr/>
        </p:nvSpPr>
        <p:spPr>
          <a:xfrm>
            <a:off x="658368" y="5059680"/>
            <a:ext cx="50292" cy="719328"/>
          </a:xfrm>
          <a:prstGeom prst="rect">
            <a:avLst/>
          </a:prstGeom>
          <a:solidFill>
            <a:srgbClr val="2A78D6"/>
          </a:solidFill>
          <a:ln w="7620">
            <a:solidFill>
              <a:srgbClr val="2A78D6"/>
            </a:solidFill>
            <a:prstDash val="solid"/>
          </a:ln>
        </p:spPr>
      </p:sp>
      <p:sp>
        <p:nvSpPr>
          <p:cNvPr id="18" name="Text 16"/>
          <p:cNvSpPr/>
          <p:nvPr/>
        </p:nvSpPr>
        <p:spPr>
          <a:xfrm>
            <a:off x="859536" y="5059680"/>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Homology means common ancestry; do not report 70% homology.</a:t>
            </a:r>
            <a:endParaRPr lang="en-US" sz="2297"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Global and local answer different questions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S26 / S28  |  5</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Global alignment compares full sequences under a scoring scheme.</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Local alignment finds a high-scoring matching segment.</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short local match may cover only a small fraction of a protein.</a:t>
            </a:r>
            <a:endParaRPr lang="en-US" sz="2297" dirty="0"/>
          </a:p>
        </p:txBody>
      </p:sp>
      <p:sp>
        <p:nvSpPr>
          <p:cNvPr id="16" name="Text 14"/>
          <p:cNvSpPr/>
          <p:nvPr/>
        </p:nvSpPr>
        <p:spPr>
          <a:xfrm>
            <a:off x="841248" y="2157984"/>
            <a:ext cx="4471416" cy="457200"/>
          </a:xfrm>
          <a:prstGeom prst="rect">
            <a:avLst/>
          </a:prstGeom>
          <a:noFill/>
          <a:ln/>
        </p:spPr>
        <p:txBody>
          <a:bodyPr wrap="square" lIns="0" tIns="0" rIns="0" bIns="0" rtlCol="0" anchor="ctr">
            <a:normAutofit/>
          </a:bodyPr>
          <a:lstStyle/>
          <a:p>
            <a:pPr indent="0" marL="0">
              <a:buNone/>
            </a:pPr>
            <a:r>
              <a:rPr lang="en-US" sz="1800" b="1" dirty="0">
                <a:solidFill>
                  <a:srgbClr val="2A78D6"/>
                </a:solidFill>
                <a:latin typeface="Aptos" pitchFamily="34" charset="0"/>
                <a:ea typeface="Aptos" pitchFamily="34" charset="-122"/>
                <a:cs typeface="Aptos" pitchFamily="34" charset="-120"/>
              </a:rPr>
              <a:t>Global: full sequences</a:t>
            </a:r>
            <a:endParaRPr lang="en-US" sz="1800" dirty="0"/>
          </a:p>
        </p:txBody>
      </p:sp>
      <p:sp>
        <p:nvSpPr>
          <p:cNvPr id="17" name="Text 15"/>
          <p:cNvSpPr/>
          <p:nvPr/>
        </p:nvSpPr>
        <p:spPr>
          <a:xfrm>
            <a:off x="841248" y="2798064"/>
            <a:ext cx="4471416" cy="941832"/>
          </a:xfrm>
          <a:prstGeom prst="rect">
            <a:avLst/>
          </a:prstGeom>
          <a:noFill/>
          <a:ln/>
        </p:spPr>
        <p:txBody>
          <a:bodyPr wrap="square" lIns="0" tIns="0" rIns="0" bIns="0" rtlCol="0" anchor="ctr">
            <a:normAutofit/>
          </a:bodyPr>
          <a:lstStyle/>
          <a:p>
            <a:pPr algn="ctr" indent="0" marL="0">
              <a:buNone/>
            </a:pPr>
            <a:r>
              <a:rPr lang="en-US" sz="2400" b="1" dirty="0">
                <a:solidFill>
                  <a:srgbClr val="232D3B"/>
                </a:solidFill>
                <a:latin typeface="Consolas" pitchFamily="34" charset="0"/>
                <a:ea typeface="Consolas" pitchFamily="34" charset="-122"/>
                <a:cs typeface="Consolas" pitchFamily="34" charset="-120"/>
              </a:rPr>
              <a:t>ACGTTAC</a:t>
            </a:r>
            <a:endParaRPr lang="en-US" sz="2400" dirty="0"/>
          </a:p>
          <a:p>
            <a:pPr algn="ctr" indent="0" marL="0">
              <a:buNone/>
            </a:pPr>
            <a:r>
              <a:rPr lang="en-US" sz="2400" b="1" dirty="0">
                <a:solidFill>
                  <a:srgbClr val="232D3B"/>
                </a:solidFill>
                <a:latin typeface="Consolas" pitchFamily="34" charset="0"/>
                <a:ea typeface="Consolas" pitchFamily="34" charset="-122"/>
                <a:cs typeface="Consolas" pitchFamily="34" charset="-120"/>
              </a:rPr>
              <a:t>ACGCTAC</a:t>
            </a:r>
            <a:endParaRPr lang="en-US" sz="2400" dirty="0"/>
          </a:p>
        </p:txBody>
      </p:sp>
      <p:sp>
        <p:nvSpPr>
          <p:cNvPr id="18" name="Text 16"/>
          <p:cNvSpPr/>
          <p:nvPr/>
        </p:nvSpPr>
        <p:spPr>
          <a:xfrm>
            <a:off x="841248" y="4187952"/>
            <a:ext cx="4471416" cy="457200"/>
          </a:xfrm>
          <a:prstGeom prst="rect">
            <a:avLst/>
          </a:prstGeom>
          <a:noFill/>
          <a:ln/>
        </p:spPr>
        <p:txBody>
          <a:bodyPr wrap="square" lIns="0" tIns="0" rIns="0" bIns="0" rtlCol="0" anchor="ctr">
            <a:normAutofit/>
          </a:bodyPr>
          <a:lstStyle/>
          <a:p>
            <a:pPr indent="0" marL="0">
              <a:buNone/>
            </a:pPr>
            <a:r>
              <a:rPr lang="en-US" sz="1800" b="1" dirty="0">
                <a:solidFill>
                  <a:srgbClr val="2A78D6"/>
                </a:solidFill>
                <a:latin typeface="Aptos" pitchFamily="34" charset="0"/>
                <a:ea typeface="Aptos" pitchFamily="34" charset="-122"/>
                <a:cs typeface="Aptos" pitchFamily="34" charset="-120"/>
              </a:rPr>
              <a:t>Local: selected region</a:t>
            </a:r>
            <a:endParaRPr lang="en-US" sz="1800" dirty="0"/>
          </a:p>
        </p:txBody>
      </p:sp>
      <p:sp>
        <p:nvSpPr>
          <p:cNvPr id="19" name="Text 17"/>
          <p:cNvSpPr/>
          <p:nvPr/>
        </p:nvSpPr>
        <p:spPr>
          <a:xfrm>
            <a:off x="841248" y="4846320"/>
            <a:ext cx="4471416" cy="886968"/>
          </a:xfrm>
          <a:prstGeom prst="rect">
            <a:avLst/>
          </a:prstGeom>
          <a:noFill/>
          <a:ln/>
        </p:spPr>
        <p:txBody>
          <a:bodyPr wrap="square" lIns="0" tIns="0" rIns="0" bIns="0" rtlCol="0" anchor="ctr">
            <a:normAutofit/>
          </a:bodyPr>
          <a:lstStyle/>
          <a:p>
            <a:pPr algn="ctr" indent="0" marL="0">
              <a:buNone/>
            </a:pPr>
            <a:r>
              <a:rPr lang="en-US" sz="2400" b="1" dirty="0">
                <a:solidFill>
                  <a:srgbClr val="232D3B"/>
                </a:solidFill>
                <a:latin typeface="Consolas" pitchFamily="34" charset="0"/>
                <a:ea typeface="Consolas" pitchFamily="34" charset="-122"/>
                <a:cs typeface="Consolas" pitchFamily="34" charset="-120"/>
              </a:rPr>
              <a:t>... GTT ...</a:t>
            </a:r>
            <a:endParaRPr lang="en-US" sz="2400" dirty="0"/>
          </a:p>
          <a:p>
            <a:pPr algn="ctr" indent="0" marL="0">
              <a:buNone/>
            </a:pPr>
            <a:r>
              <a:rPr lang="en-US" sz="2400" b="1" dirty="0">
                <a:solidFill>
                  <a:srgbClr val="232D3B"/>
                </a:solidFill>
                <a:latin typeface="Consolas" pitchFamily="34" charset="0"/>
                <a:ea typeface="Consolas" pitchFamily="34" charset="-122"/>
                <a:cs typeface="Consolas" pitchFamily="34" charset="-120"/>
              </a:rPr>
              <a:t>... GTT ...</a:t>
            </a:r>
            <a:endParaRPr lang="en-US" sz="2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scoring rule must be stated</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S28  |  6</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For our toy DNA alignment: match +2, mismatch -1, gap -2 per position.</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Scores from different rules are not directly interchangeable.</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biological interpretation comes after the arithmetic.</a:t>
            </a:r>
            <a:endParaRPr lang="en-US" sz="2297" dirty="0"/>
          </a:p>
        </p:txBody>
      </p:sp>
      <p:sp>
        <p:nvSpPr>
          <p:cNvPr id="16" name="Text 14"/>
          <p:cNvSpPr/>
          <p:nvPr/>
        </p:nvSpPr>
        <p:spPr>
          <a:xfrm>
            <a:off x="841248" y="2889504"/>
            <a:ext cx="4471416" cy="1828800"/>
          </a:xfrm>
          <a:prstGeom prst="rect">
            <a:avLst/>
          </a:prstGeom>
          <a:noFill/>
          <a:ln/>
        </p:spPr>
        <p:txBody>
          <a:bodyPr wrap="square" lIns="0" tIns="0" rIns="0" bIns="0" rtlCol="0" anchor="ctr">
            <a:normAutofit/>
          </a:bodyPr>
          <a:lstStyle/>
          <a:p>
            <a:pPr algn="ctr" indent="0" marL="0">
              <a:buNone/>
            </a:pPr>
            <a:r>
              <a:rPr lang="en-US" sz="2797" b="1" dirty="0">
                <a:solidFill>
                  <a:srgbClr val="2A78D6"/>
                </a:solidFill>
                <a:latin typeface="Aptos" pitchFamily="34" charset="0"/>
                <a:ea typeface="Aptos" pitchFamily="34" charset="-122"/>
                <a:cs typeface="Aptos" pitchFamily="34" charset="-120"/>
              </a:rPr>
              <a:t>score = 2 x matches - mismatches - 2 x gaps</a:t>
            </a:r>
            <a:endParaRPr lang="en-US" sz="2797" dirty="0"/>
          </a:p>
        </p:txBody>
      </p:sp>
      <p:sp>
        <p:nvSpPr>
          <p:cNvPr id="17" name="Text 15"/>
          <p:cNvSpPr/>
          <p:nvPr/>
        </p:nvSpPr>
        <p:spPr>
          <a:xfrm>
            <a:off x="841248" y="4992624"/>
            <a:ext cx="4471416" cy="548640"/>
          </a:xfrm>
          <a:prstGeom prst="rect">
            <a:avLst/>
          </a:prstGeom>
          <a:noFill/>
          <a:ln/>
        </p:spPr>
        <p:txBody>
          <a:bodyPr wrap="square" lIns="0" tIns="0" rIns="0" bIns="0" rtlCol="0" anchor="ctr">
            <a:normAutofit/>
          </a:bodyPr>
          <a:lstStyle/>
          <a:p>
            <a:pPr algn="ctr" indent="0" marL="0">
              <a:buNone/>
            </a:pPr>
            <a:r>
              <a:rPr lang="en-US" sz="1763" dirty="0">
                <a:solidFill>
                  <a:srgbClr val="526171"/>
                </a:solidFill>
                <a:latin typeface="Aptos" pitchFamily="34" charset="0"/>
                <a:ea typeface="Aptos" pitchFamily="34" charset="-122"/>
                <a:cs typeface="Aptos" pitchFamily="34" charset="-120"/>
              </a:rPr>
              <a:t>State the units and the assumptions.</a:t>
            </a:r>
            <a:endParaRPr lang="en-US" sz="1763"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One exact local-alignment step</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S26 / S28  |  7</a:t>
            </a:r>
            <a:endParaRPr lang="en-US" sz="800" dirty="0"/>
          </a:p>
        </p:txBody>
      </p:sp>
      <p:sp>
        <p:nvSpPr>
          <p:cNvPr id="9" name="Shape 7"/>
          <p:cNvSpPr/>
          <p:nvPr/>
        </p:nvSpPr>
        <p:spPr>
          <a:xfrm>
            <a:off x="594360" y="1828800"/>
            <a:ext cx="4965192" cy="4224528"/>
          </a:xfrm>
          <a:prstGeom prst="rect">
            <a:avLst/>
          </a:prstGeom>
          <a:solidFill>
            <a:srgbClr val="EAF2FC"/>
          </a:solidFill>
          <a:ln w="7620">
            <a:solidFill>
              <a:srgbClr val="EAF2FC"/>
            </a:solidFill>
            <a:prstDash val="solid"/>
          </a:ln>
        </p:spPr>
      </p:sp>
      <p:sp>
        <p:nvSpPr>
          <p:cNvPr id="10" name="Shape 8"/>
          <p:cNvSpPr/>
          <p:nvPr/>
        </p:nvSpPr>
        <p:spPr>
          <a:xfrm>
            <a:off x="5943600" y="1901952"/>
            <a:ext cx="50292" cy="1216152"/>
          </a:xfrm>
          <a:prstGeom prst="rect">
            <a:avLst/>
          </a:prstGeom>
          <a:solidFill>
            <a:srgbClr val="2A78D6"/>
          </a:solidFill>
          <a:ln w="7620">
            <a:solidFill>
              <a:srgbClr val="2A78D6"/>
            </a:solidFill>
            <a:prstDash val="solid"/>
          </a:ln>
        </p:spPr>
      </p:sp>
      <p:sp>
        <p:nvSpPr>
          <p:cNvPr id="11" name="Text 9"/>
          <p:cNvSpPr/>
          <p:nvPr/>
        </p:nvSpPr>
        <p:spPr>
          <a:xfrm>
            <a:off x="6144768" y="190195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Each cell considers a match/mismatch, a gap from either direction, or zero.</a:t>
            </a:r>
            <a:endParaRPr lang="en-US" sz="2297" dirty="0"/>
          </a:p>
        </p:txBody>
      </p:sp>
      <p:sp>
        <p:nvSpPr>
          <p:cNvPr id="12" name="Shape 10"/>
          <p:cNvSpPr/>
          <p:nvPr/>
        </p:nvSpPr>
        <p:spPr>
          <a:xfrm>
            <a:off x="5943600" y="3319272"/>
            <a:ext cx="50292" cy="1216152"/>
          </a:xfrm>
          <a:prstGeom prst="rect">
            <a:avLst/>
          </a:prstGeom>
          <a:solidFill>
            <a:srgbClr val="2A78D6"/>
          </a:solidFill>
          <a:ln w="7620">
            <a:solidFill>
              <a:srgbClr val="2A78D6"/>
            </a:solidFill>
            <a:prstDash val="solid"/>
          </a:ln>
        </p:spPr>
      </p:sp>
      <p:sp>
        <p:nvSpPr>
          <p:cNvPr id="13" name="Text 11"/>
          <p:cNvSpPr/>
          <p:nvPr/>
        </p:nvSpPr>
        <p:spPr>
          <a:xfrm>
            <a:off x="6144768" y="3319272"/>
            <a:ext cx="5367528" cy="1216152"/>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Zero permits a local alignment to start fresh.</a:t>
            </a:r>
            <a:endParaRPr lang="en-US" sz="2297" dirty="0"/>
          </a:p>
        </p:txBody>
      </p:sp>
      <p:sp>
        <p:nvSpPr>
          <p:cNvPr id="14" name="Shape 12"/>
          <p:cNvSpPr/>
          <p:nvPr/>
        </p:nvSpPr>
        <p:spPr>
          <a:xfrm>
            <a:off x="5943600" y="4736592"/>
            <a:ext cx="50292" cy="1216152"/>
          </a:xfrm>
          <a:prstGeom prst="rect">
            <a:avLst/>
          </a:prstGeom>
          <a:solidFill>
            <a:srgbClr val="2A78D6"/>
          </a:solidFill>
          <a:ln w="7620">
            <a:solidFill>
              <a:srgbClr val="2A78D6"/>
            </a:solidFill>
            <a:prstDash val="solid"/>
          </a:ln>
        </p:spPr>
      </p:sp>
      <p:sp>
        <p:nvSpPr>
          <p:cNvPr id="15" name="Text 13"/>
          <p:cNvSpPr/>
          <p:nvPr/>
        </p:nvSpPr>
        <p:spPr>
          <a:xfrm>
            <a:off x="6144768" y="4736592"/>
            <a:ext cx="5367528" cy="1216152"/>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The maximum is exact for this recurrence and scoring model, not proof of a biological mechanism.</a:t>
            </a:r>
            <a:endParaRPr lang="en-US" sz="2100" dirty="0"/>
          </a:p>
        </p:txBody>
      </p:sp>
      <p:sp>
        <p:nvSpPr>
          <p:cNvPr id="16" name="Text 14"/>
          <p:cNvSpPr/>
          <p:nvPr/>
        </p:nvSpPr>
        <p:spPr>
          <a:xfrm>
            <a:off x="841248" y="2340864"/>
            <a:ext cx="4471416" cy="3383280"/>
          </a:xfrm>
          <a:prstGeom prst="rect">
            <a:avLst/>
          </a:prstGeom>
          <a:noFill/>
          <a:ln/>
        </p:spPr>
        <p:txBody>
          <a:bodyPr wrap="square" lIns="0" tIns="0" rIns="0" bIns="0" rtlCol="0" anchor="t">
            <a:normAutofit/>
          </a:bodyPr>
          <a:lstStyle/>
          <a:p>
            <a:pPr indent="0" marL="0">
              <a:buNone/>
            </a:pPr>
            <a:r>
              <a:rPr lang="en-US" sz="2197" dirty="0">
                <a:solidFill>
                  <a:srgbClr val="232D3B"/>
                </a:solidFill>
                <a:latin typeface="Consolas" pitchFamily="34" charset="0"/>
                <a:ea typeface="Consolas" pitchFamily="34" charset="-122"/>
                <a:cs typeface="Consolas" pitchFamily="34" charset="-120"/>
              </a:rPr>
              <a:t>H[i,j] = max(0,</a:t>
            </a:r>
            <a:endParaRPr lang="en-US" sz="2197" dirty="0"/>
          </a:p>
          <a:p>
            <a:pPr indent="0" marL="0">
              <a:buNone/>
            </a:pPr>
            <a:r>
              <a:rPr lang="en-US" sz="2197" dirty="0">
                <a:solidFill>
                  <a:srgbClr val="232D3B"/>
                </a:solidFill>
                <a:latin typeface="Consolas" pitchFamily="34" charset="0"/>
                <a:ea typeface="Consolas" pitchFamily="34" charset="-122"/>
                <a:cs typeface="Consolas" pitchFamily="34" charset="-120"/>
              </a:rPr>
              <a:t> H[i-1,j-1] + substitution,</a:t>
            </a:r>
            <a:endParaRPr lang="en-US" sz="2197" dirty="0"/>
          </a:p>
          <a:p>
            <a:pPr indent="0" marL="0">
              <a:buNone/>
            </a:pPr>
            <a:r>
              <a:rPr lang="en-US" sz="2197" dirty="0">
                <a:solidFill>
                  <a:srgbClr val="232D3B"/>
                </a:solidFill>
                <a:latin typeface="Consolas" pitchFamily="34" charset="0"/>
                <a:ea typeface="Consolas" pitchFamily="34" charset="-122"/>
                <a:cs typeface="Consolas" pitchFamily="34" charset="-120"/>
              </a:rPr>
              <a:t> H[i-1,j] - 2, H[i,j-1] - 2)</a:t>
            </a:r>
            <a:endParaRPr lang="en-US" sz="2197"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Why search tools use shortcuts</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S26  |  8</a:t>
            </a:r>
            <a:endParaRPr lang="en-US" sz="800" dirty="0"/>
          </a:p>
        </p:txBody>
      </p:sp>
      <p:sp>
        <p:nvSpPr>
          <p:cNvPr id="9" name="Shape 7"/>
          <p:cNvSpPr/>
          <p:nvPr/>
        </p:nvSpPr>
        <p:spPr>
          <a:xfrm>
            <a:off x="594360" y="2148840"/>
            <a:ext cx="3429000" cy="3136392"/>
          </a:xfrm>
          <a:prstGeom prst="rect">
            <a:avLst/>
          </a:prstGeom>
          <a:solidFill>
            <a:srgbClr val="EAF2FC"/>
          </a:solidFill>
          <a:ln w="7620">
            <a:solidFill>
              <a:srgbClr val="EAF2FC"/>
            </a:solidFill>
            <a:prstDash val="solid"/>
          </a:ln>
        </p:spPr>
      </p:sp>
      <p:sp>
        <p:nvSpPr>
          <p:cNvPr id="10" name="Text 8"/>
          <p:cNvSpPr/>
          <p:nvPr/>
        </p:nvSpPr>
        <p:spPr>
          <a:xfrm>
            <a:off x="79552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01</a:t>
            </a:r>
            <a:endParaRPr lang="en-US" sz="2900" dirty="0"/>
          </a:p>
        </p:txBody>
      </p:sp>
      <p:sp>
        <p:nvSpPr>
          <p:cNvPr id="11" name="Text 9"/>
          <p:cNvSpPr/>
          <p:nvPr/>
        </p:nvSpPr>
        <p:spPr>
          <a:xfrm>
            <a:off x="80467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database may contain many sequences.</a:t>
            </a:r>
            <a:endParaRPr lang="en-US" sz="2297" dirty="0"/>
          </a:p>
        </p:txBody>
      </p:sp>
      <p:sp>
        <p:nvSpPr>
          <p:cNvPr id="12" name="Text 10"/>
          <p:cNvSpPr/>
          <p:nvPr/>
        </p:nvSpPr>
        <p:spPr>
          <a:xfrm>
            <a:off x="408736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3" name="Shape 11"/>
          <p:cNvSpPr/>
          <p:nvPr/>
        </p:nvSpPr>
        <p:spPr>
          <a:xfrm>
            <a:off x="4389120" y="2148840"/>
            <a:ext cx="3429000" cy="3136392"/>
          </a:xfrm>
          <a:prstGeom prst="rect">
            <a:avLst/>
          </a:prstGeom>
          <a:solidFill>
            <a:srgbClr val="EAF2FC"/>
          </a:solidFill>
          <a:ln w="7620">
            <a:solidFill>
              <a:srgbClr val="EAF2FC"/>
            </a:solidFill>
            <a:prstDash val="solid"/>
          </a:ln>
        </p:spPr>
      </p:sp>
      <p:sp>
        <p:nvSpPr>
          <p:cNvPr id="14" name="Text 12"/>
          <p:cNvSpPr/>
          <p:nvPr/>
        </p:nvSpPr>
        <p:spPr>
          <a:xfrm>
            <a:off x="459028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02</a:t>
            </a:r>
            <a:endParaRPr lang="en-US" sz="2900" dirty="0"/>
          </a:p>
        </p:txBody>
      </p:sp>
      <p:sp>
        <p:nvSpPr>
          <p:cNvPr id="15" name="Text 13"/>
          <p:cNvSpPr/>
          <p:nvPr/>
        </p:nvSpPr>
        <p:spPr>
          <a:xfrm>
            <a:off x="459943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BLAST uses seed-and-extend heuristics to find useful local matches efficiently.</a:t>
            </a:r>
            <a:endParaRPr lang="en-US" sz="2297" dirty="0"/>
          </a:p>
        </p:txBody>
      </p:sp>
      <p:sp>
        <p:nvSpPr>
          <p:cNvPr id="16" name="Text 14"/>
          <p:cNvSpPr/>
          <p:nvPr/>
        </p:nvSpPr>
        <p:spPr>
          <a:xfrm>
            <a:off x="7882128" y="3355848"/>
            <a:ext cx="219456" cy="457200"/>
          </a:xfrm>
          <a:prstGeom prst="rect">
            <a:avLst/>
          </a:prstGeom>
          <a:noFill/>
          <a:ln/>
        </p:spPr>
        <p:txBody>
          <a:bodyPr wrap="square" lIns="0" tIns="0" rIns="0" bIns="0" rtlCol="0" anchor="ctr">
            <a:normAutofit/>
          </a:bodyPr>
          <a:lstStyle/>
          <a:p>
            <a:pPr indent="0" marL="0">
              <a:buNone/>
            </a:pPr>
            <a:r>
              <a:rPr lang="en-US" sz="2300" b="1" dirty="0">
                <a:solidFill>
                  <a:srgbClr val="EB6834"/>
                </a:solidFill>
                <a:latin typeface="Aptos" pitchFamily="34" charset="0"/>
                <a:ea typeface="Aptos" pitchFamily="34" charset="-122"/>
                <a:cs typeface="Aptos" pitchFamily="34" charset="-120"/>
              </a:rPr>
              <a:t>&gt;</a:t>
            </a:r>
            <a:endParaRPr lang="en-US" sz="2300" dirty="0"/>
          </a:p>
        </p:txBody>
      </p:sp>
      <p:sp>
        <p:nvSpPr>
          <p:cNvPr id="17" name="Shape 15"/>
          <p:cNvSpPr/>
          <p:nvPr/>
        </p:nvSpPr>
        <p:spPr>
          <a:xfrm>
            <a:off x="8183880" y="2148840"/>
            <a:ext cx="3429000" cy="3136392"/>
          </a:xfrm>
          <a:prstGeom prst="rect">
            <a:avLst/>
          </a:prstGeom>
          <a:solidFill>
            <a:srgbClr val="EAF2FC"/>
          </a:solidFill>
          <a:ln w="7620">
            <a:solidFill>
              <a:srgbClr val="EAF2FC"/>
            </a:solidFill>
            <a:prstDash val="solid"/>
          </a:ln>
        </p:spPr>
      </p:sp>
      <p:sp>
        <p:nvSpPr>
          <p:cNvPr id="18" name="Text 16"/>
          <p:cNvSpPr/>
          <p:nvPr/>
        </p:nvSpPr>
        <p:spPr>
          <a:xfrm>
            <a:off x="8385048" y="2404872"/>
            <a:ext cx="914400" cy="502920"/>
          </a:xfrm>
          <a:prstGeom prst="rect">
            <a:avLst/>
          </a:prstGeom>
          <a:noFill/>
          <a:ln/>
        </p:spPr>
        <p:txBody>
          <a:bodyPr wrap="square" lIns="0" tIns="0" rIns="0" bIns="0" rtlCol="0" anchor="ctr">
            <a:normAutofit/>
          </a:bodyPr>
          <a:lstStyle/>
          <a:p>
            <a:pPr indent="0" marL="0">
              <a:buNone/>
            </a:pPr>
            <a:r>
              <a:rPr lang="en-US" sz="2900" b="1" dirty="0">
                <a:solidFill>
                  <a:srgbClr val="2A78D6"/>
                </a:solidFill>
                <a:latin typeface="Aptos" pitchFamily="34" charset="0"/>
                <a:ea typeface="Aptos" pitchFamily="34" charset="-122"/>
                <a:cs typeface="Aptos" pitchFamily="34" charset="-120"/>
              </a:rPr>
              <a:t>03</a:t>
            </a:r>
            <a:endParaRPr lang="en-US" sz="2900" dirty="0"/>
          </a:p>
        </p:txBody>
      </p:sp>
      <p:sp>
        <p:nvSpPr>
          <p:cNvPr id="19" name="Text 17"/>
          <p:cNvSpPr/>
          <p:nvPr/>
        </p:nvSpPr>
        <p:spPr>
          <a:xfrm>
            <a:off x="8394192" y="3127248"/>
            <a:ext cx="3008376" cy="180136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 heuristic may miss matches; its output still needs an audit.</a:t>
            </a:r>
            <a:endParaRPr lang="en-US" sz="2297"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three columns, not one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S06  |  9</a:t>
            </a:r>
            <a:endParaRPr lang="en-US" sz="800" dirty="0"/>
          </a:p>
        </p:txBody>
      </p:sp>
      <p:sp>
        <p:nvSpPr>
          <p:cNvPr id="9" name="Shape 7"/>
          <p:cNvSpPr/>
          <p:nvPr/>
        </p:nvSpPr>
        <p:spPr>
          <a:xfrm>
            <a:off x="594360" y="1828800"/>
            <a:ext cx="2715768" cy="699516"/>
          </a:xfrm>
          <a:prstGeom prst="rect">
            <a:avLst/>
          </a:prstGeom>
          <a:solidFill>
            <a:srgbClr val="2A78D6"/>
          </a:solidFill>
          <a:ln w="7620">
            <a:solidFill>
              <a:srgbClr val="2A78D6"/>
            </a:solidFill>
            <a:prstDash val="solid"/>
          </a:ln>
        </p:spPr>
      </p:sp>
      <p:sp>
        <p:nvSpPr>
          <p:cNvPr id="10" name="Text 8"/>
          <p:cNvSpPr/>
          <p:nvPr/>
        </p:nvSpPr>
        <p:spPr>
          <a:xfrm>
            <a:off x="713232" y="1901952"/>
            <a:ext cx="2473452" cy="557784"/>
          </a:xfrm>
          <a:prstGeom prst="rect">
            <a:avLst/>
          </a:prstGeom>
          <a:noFill/>
          <a:ln/>
        </p:spPr>
        <p:txBody>
          <a:bodyPr wrap="square" lIns="0" tIns="0" rIns="0" bIns="0" rtlCol="0" anchor="ctr">
            <a:normAutofit/>
          </a:bodyPr>
          <a:lstStyle/>
          <a:p>
            <a:pPr indent="0" marL="0">
              <a:buNone/>
            </a:pPr>
            <a:r>
              <a:rPr lang="en-US" sz="1797" b="1" dirty="0">
                <a:solidFill>
                  <a:srgbClr val="FFFFFF"/>
                </a:solidFill>
                <a:latin typeface="Aptos" pitchFamily="34" charset="0"/>
                <a:ea typeface="Aptos" pitchFamily="34" charset="-122"/>
                <a:cs typeface="Aptos" pitchFamily="34" charset="-120"/>
              </a:rPr>
              <a:t>Hit</a:t>
            </a:r>
            <a:endParaRPr lang="en-US" sz="1797" dirty="0"/>
          </a:p>
        </p:txBody>
      </p:sp>
      <p:sp>
        <p:nvSpPr>
          <p:cNvPr id="11" name="Shape 9"/>
          <p:cNvSpPr/>
          <p:nvPr/>
        </p:nvSpPr>
        <p:spPr>
          <a:xfrm>
            <a:off x="3342132" y="1828800"/>
            <a:ext cx="2715768" cy="699516"/>
          </a:xfrm>
          <a:prstGeom prst="rect">
            <a:avLst/>
          </a:prstGeom>
          <a:solidFill>
            <a:srgbClr val="2A78D6"/>
          </a:solidFill>
          <a:ln w="7620">
            <a:solidFill>
              <a:srgbClr val="2A78D6"/>
            </a:solidFill>
            <a:prstDash val="solid"/>
          </a:ln>
        </p:spPr>
      </p:sp>
      <p:sp>
        <p:nvSpPr>
          <p:cNvPr id="12" name="Text 10"/>
          <p:cNvSpPr/>
          <p:nvPr/>
        </p:nvSpPr>
        <p:spPr>
          <a:xfrm>
            <a:off x="3461004" y="1901952"/>
            <a:ext cx="2473452" cy="557784"/>
          </a:xfrm>
          <a:prstGeom prst="rect">
            <a:avLst/>
          </a:prstGeom>
          <a:noFill/>
          <a:ln/>
        </p:spPr>
        <p:txBody>
          <a:bodyPr wrap="square" lIns="0" tIns="0" rIns="0" bIns="0" rtlCol="0" anchor="ctr">
            <a:normAutofit/>
          </a:bodyPr>
          <a:lstStyle/>
          <a:p>
            <a:pPr indent="0" marL="0">
              <a:buNone/>
            </a:pPr>
            <a:r>
              <a:rPr lang="en-US" sz="1797" b="1" dirty="0">
                <a:solidFill>
                  <a:srgbClr val="FFFFFF"/>
                </a:solidFill>
                <a:latin typeface="Aptos" pitchFamily="34" charset="0"/>
                <a:ea typeface="Aptos" pitchFamily="34" charset="-122"/>
                <a:cs typeface="Aptos" pitchFamily="34" charset="-120"/>
              </a:rPr>
              <a:t>Identity</a:t>
            </a:r>
            <a:endParaRPr lang="en-US" sz="1797" dirty="0"/>
          </a:p>
        </p:txBody>
      </p:sp>
      <p:sp>
        <p:nvSpPr>
          <p:cNvPr id="13" name="Shape 11"/>
          <p:cNvSpPr/>
          <p:nvPr/>
        </p:nvSpPr>
        <p:spPr>
          <a:xfrm>
            <a:off x="6089904" y="1828800"/>
            <a:ext cx="2715768" cy="699516"/>
          </a:xfrm>
          <a:prstGeom prst="rect">
            <a:avLst/>
          </a:prstGeom>
          <a:solidFill>
            <a:srgbClr val="2A78D6"/>
          </a:solidFill>
          <a:ln w="7620">
            <a:solidFill>
              <a:srgbClr val="2A78D6"/>
            </a:solidFill>
            <a:prstDash val="solid"/>
          </a:ln>
        </p:spPr>
      </p:sp>
      <p:sp>
        <p:nvSpPr>
          <p:cNvPr id="14" name="Text 12"/>
          <p:cNvSpPr/>
          <p:nvPr/>
        </p:nvSpPr>
        <p:spPr>
          <a:xfrm>
            <a:off x="6208776" y="1901952"/>
            <a:ext cx="2473452" cy="557784"/>
          </a:xfrm>
          <a:prstGeom prst="rect">
            <a:avLst/>
          </a:prstGeom>
          <a:noFill/>
          <a:ln/>
        </p:spPr>
        <p:txBody>
          <a:bodyPr wrap="square" lIns="0" tIns="0" rIns="0" bIns="0" rtlCol="0" anchor="ctr">
            <a:normAutofit/>
          </a:bodyPr>
          <a:lstStyle/>
          <a:p>
            <a:pPr indent="0" marL="0">
              <a:buNone/>
            </a:pPr>
            <a:r>
              <a:rPr lang="en-US" sz="1797" b="1" dirty="0">
                <a:solidFill>
                  <a:srgbClr val="FFFFFF"/>
                </a:solidFill>
                <a:latin typeface="Aptos" pitchFamily="34" charset="0"/>
                <a:ea typeface="Aptos" pitchFamily="34" charset="-122"/>
                <a:cs typeface="Aptos" pitchFamily="34" charset="-120"/>
              </a:rPr>
              <a:t>Coverage</a:t>
            </a:r>
            <a:endParaRPr lang="en-US" sz="1797" dirty="0"/>
          </a:p>
        </p:txBody>
      </p:sp>
      <p:sp>
        <p:nvSpPr>
          <p:cNvPr id="15" name="Shape 13"/>
          <p:cNvSpPr/>
          <p:nvPr/>
        </p:nvSpPr>
        <p:spPr>
          <a:xfrm>
            <a:off x="8837676" y="1828800"/>
            <a:ext cx="2715768" cy="699516"/>
          </a:xfrm>
          <a:prstGeom prst="rect">
            <a:avLst/>
          </a:prstGeom>
          <a:solidFill>
            <a:srgbClr val="2A78D6"/>
          </a:solidFill>
          <a:ln w="7620">
            <a:solidFill>
              <a:srgbClr val="2A78D6"/>
            </a:solidFill>
            <a:prstDash val="solid"/>
          </a:ln>
        </p:spPr>
      </p:sp>
      <p:sp>
        <p:nvSpPr>
          <p:cNvPr id="16" name="Text 14"/>
          <p:cNvSpPr/>
          <p:nvPr/>
        </p:nvSpPr>
        <p:spPr>
          <a:xfrm>
            <a:off x="8956548" y="1901952"/>
            <a:ext cx="2473452" cy="557784"/>
          </a:xfrm>
          <a:prstGeom prst="rect">
            <a:avLst/>
          </a:prstGeom>
          <a:noFill/>
          <a:ln/>
        </p:spPr>
        <p:txBody>
          <a:bodyPr wrap="square" lIns="0" tIns="0" rIns="0" bIns="0" rtlCol="0" anchor="ctr">
            <a:normAutofit/>
          </a:bodyPr>
          <a:lstStyle/>
          <a:p>
            <a:pPr indent="0" marL="0">
              <a:buNone/>
            </a:pPr>
            <a:r>
              <a:rPr lang="en-US" sz="1797" b="1" dirty="0">
                <a:solidFill>
                  <a:srgbClr val="FFFFFF"/>
                </a:solidFill>
                <a:latin typeface="Aptos" pitchFamily="34" charset="0"/>
                <a:ea typeface="Aptos" pitchFamily="34" charset="-122"/>
                <a:cs typeface="Aptos" pitchFamily="34" charset="-120"/>
              </a:rPr>
              <a:t>E-value</a:t>
            </a:r>
            <a:endParaRPr lang="en-US" sz="1797" dirty="0"/>
          </a:p>
        </p:txBody>
      </p:sp>
      <p:sp>
        <p:nvSpPr>
          <p:cNvPr id="17" name="Shape 15"/>
          <p:cNvSpPr/>
          <p:nvPr/>
        </p:nvSpPr>
        <p:spPr>
          <a:xfrm>
            <a:off x="594360" y="2560320"/>
            <a:ext cx="2715768" cy="699516"/>
          </a:xfrm>
          <a:prstGeom prst="rect">
            <a:avLst/>
          </a:prstGeom>
          <a:solidFill>
            <a:srgbClr val="EAF2FC"/>
          </a:solidFill>
          <a:ln w="7620">
            <a:solidFill>
              <a:srgbClr val="EAF2FC"/>
            </a:solidFill>
            <a:prstDash val="solid"/>
          </a:ln>
        </p:spPr>
      </p:sp>
      <p:sp>
        <p:nvSpPr>
          <p:cNvPr id="18" name="Text 16"/>
          <p:cNvSpPr/>
          <p:nvPr/>
        </p:nvSpPr>
        <p:spPr>
          <a:xfrm>
            <a:off x="713232" y="262432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A</a:t>
            </a:r>
            <a:endParaRPr lang="en-US" sz="1797" dirty="0"/>
          </a:p>
        </p:txBody>
      </p:sp>
      <p:sp>
        <p:nvSpPr>
          <p:cNvPr id="19" name="Shape 17"/>
          <p:cNvSpPr/>
          <p:nvPr/>
        </p:nvSpPr>
        <p:spPr>
          <a:xfrm>
            <a:off x="3342132" y="2560320"/>
            <a:ext cx="2715768" cy="699516"/>
          </a:xfrm>
          <a:prstGeom prst="rect">
            <a:avLst/>
          </a:prstGeom>
          <a:solidFill>
            <a:srgbClr val="EAF2FC"/>
          </a:solidFill>
          <a:ln w="7620">
            <a:solidFill>
              <a:srgbClr val="EAF2FC"/>
            </a:solidFill>
            <a:prstDash val="solid"/>
          </a:ln>
        </p:spPr>
      </p:sp>
      <p:sp>
        <p:nvSpPr>
          <p:cNvPr id="20" name="Text 18"/>
          <p:cNvSpPr/>
          <p:nvPr/>
        </p:nvSpPr>
        <p:spPr>
          <a:xfrm>
            <a:off x="3461004" y="262432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95%</a:t>
            </a:r>
            <a:endParaRPr lang="en-US" sz="1797" dirty="0"/>
          </a:p>
        </p:txBody>
      </p:sp>
      <p:sp>
        <p:nvSpPr>
          <p:cNvPr id="21" name="Shape 19"/>
          <p:cNvSpPr/>
          <p:nvPr/>
        </p:nvSpPr>
        <p:spPr>
          <a:xfrm>
            <a:off x="6089904" y="2560320"/>
            <a:ext cx="2715768" cy="699516"/>
          </a:xfrm>
          <a:prstGeom prst="rect">
            <a:avLst/>
          </a:prstGeom>
          <a:solidFill>
            <a:srgbClr val="EAF2FC"/>
          </a:solidFill>
          <a:ln w="7620">
            <a:solidFill>
              <a:srgbClr val="EAF2FC"/>
            </a:solidFill>
            <a:prstDash val="solid"/>
          </a:ln>
        </p:spPr>
      </p:sp>
      <p:sp>
        <p:nvSpPr>
          <p:cNvPr id="22" name="Text 20"/>
          <p:cNvSpPr/>
          <p:nvPr/>
        </p:nvSpPr>
        <p:spPr>
          <a:xfrm>
            <a:off x="6208776" y="262432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10%</a:t>
            </a:r>
            <a:endParaRPr lang="en-US" sz="1797" dirty="0"/>
          </a:p>
        </p:txBody>
      </p:sp>
      <p:sp>
        <p:nvSpPr>
          <p:cNvPr id="23" name="Shape 21"/>
          <p:cNvSpPr/>
          <p:nvPr/>
        </p:nvSpPr>
        <p:spPr>
          <a:xfrm>
            <a:off x="8837676" y="2560320"/>
            <a:ext cx="2715768" cy="699516"/>
          </a:xfrm>
          <a:prstGeom prst="rect">
            <a:avLst/>
          </a:prstGeom>
          <a:solidFill>
            <a:srgbClr val="EAF2FC"/>
          </a:solidFill>
          <a:ln w="7620">
            <a:solidFill>
              <a:srgbClr val="EAF2FC"/>
            </a:solidFill>
            <a:prstDash val="solid"/>
          </a:ln>
        </p:spPr>
      </p:sp>
      <p:sp>
        <p:nvSpPr>
          <p:cNvPr id="24" name="Text 22"/>
          <p:cNvSpPr/>
          <p:nvPr/>
        </p:nvSpPr>
        <p:spPr>
          <a:xfrm>
            <a:off x="8956548" y="262432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0.02</a:t>
            </a:r>
            <a:endParaRPr lang="en-US" sz="1797" dirty="0"/>
          </a:p>
        </p:txBody>
      </p:sp>
      <p:sp>
        <p:nvSpPr>
          <p:cNvPr id="25" name="Shape 23"/>
          <p:cNvSpPr/>
          <p:nvPr/>
        </p:nvSpPr>
        <p:spPr>
          <a:xfrm>
            <a:off x="594360" y="3291840"/>
            <a:ext cx="2715768" cy="699516"/>
          </a:xfrm>
          <a:prstGeom prst="rect">
            <a:avLst/>
          </a:prstGeom>
          <a:solidFill>
            <a:srgbClr val="FFFFFF"/>
          </a:solidFill>
          <a:ln w="7620">
            <a:solidFill>
              <a:srgbClr val="FFFFFF"/>
            </a:solidFill>
            <a:prstDash val="solid"/>
          </a:ln>
        </p:spPr>
      </p:sp>
      <p:sp>
        <p:nvSpPr>
          <p:cNvPr id="26" name="Text 24"/>
          <p:cNvSpPr/>
          <p:nvPr/>
        </p:nvSpPr>
        <p:spPr>
          <a:xfrm>
            <a:off x="713232" y="335584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B</a:t>
            </a:r>
            <a:endParaRPr lang="en-US" sz="1797" dirty="0"/>
          </a:p>
        </p:txBody>
      </p:sp>
      <p:sp>
        <p:nvSpPr>
          <p:cNvPr id="27" name="Shape 25"/>
          <p:cNvSpPr/>
          <p:nvPr/>
        </p:nvSpPr>
        <p:spPr>
          <a:xfrm>
            <a:off x="3342132" y="3291840"/>
            <a:ext cx="2715768" cy="699516"/>
          </a:xfrm>
          <a:prstGeom prst="rect">
            <a:avLst/>
          </a:prstGeom>
          <a:solidFill>
            <a:srgbClr val="FFFFFF"/>
          </a:solidFill>
          <a:ln w="7620">
            <a:solidFill>
              <a:srgbClr val="FFFFFF"/>
            </a:solidFill>
            <a:prstDash val="solid"/>
          </a:ln>
        </p:spPr>
      </p:sp>
      <p:sp>
        <p:nvSpPr>
          <p:cNvPr id="28" name="Text 26"/>
          <p:cNvSpPr/>
          <p:nvPr/>
        </p:nvSpPr>
        <p:spPr>
          <a:xfrm>
            <a:off x="3461004" y="335584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70%</a:t>
            </a:r>
            <a:endParaRPr lang="en-US" sz="1797" dirty="0"/>
          </a:p>
        </p:txBody>
      </p:sp>
      <p:sp>
        <p:nvSpPr>
          <p:cNvPr id="29" name="Shape 27"/>
          <p:cNvSpPr/>
          <p:nvPr/>
        </p:nvSpPr>
        <p:spPr>
          <a:xfrm>
            <a:off x="6089904" y="3291840"/>
            <a:ext cx="2715768" cy="699516"/>
          </a:xfrm>
          <a:prstGeom prst="rect">
            <a:avLst/>
          </a:prstGeom>
          <a:solidFill>
            <a:srgbClr val="FFFFFF"/>
          </a:solidFill>
          <a:ln w="7620">
            <a:solidFill>
              <a:srgbClr val="FFFFFF"/>
            </a:solidFill>
            <a:prstDash val="solid"/>
          </a:ln>
        </p:spPr>
      </p:sp>
      <p:sp>
        <p:nvSpPr>
          <p:cNvPr id="30" name="Text 28"/>
          <p:cNvSpPr/>
          <p:nvPr/>
        </p:nvSpPr>
        <p:spPr>
          <a:xfrm>
            <a:off x="6208776" y="335584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90%</a:t>
            </a:r>
            <a:endParaRPr lang="en-US" sz="1797" dirty="0"/>
          </a:p>
        </p:txBody>
      </p:sp>
      <p:sp>
        <p:nvSpPr>
          <p:cNvPr id="31" name="Shape 29"/>
          <p:cNvSpPr/>
          <p:nvPr/>
        </p:nvSpPr>
        <p:spPr>
          <a:xfrm>
            <a:off x="8837676" y="3291840"/>
            <a:ext cx="2715768" cy="699516"/>
          </a:xfrm>
          <a:prstGeom prst="rect">
            <a:avLst/>
          </a:prstGeom>
          <a:solidFill>
            <a:srgbClr val="FFFFFF"/>
          </a:solidFill>
          <a:ln w="7620">
            <a:solidFill>
              <a:srgbClr val="FFFFFF"/>
            </a:solidFill>
            <a:prstDash val="solid"/>
          </a:ln>
        </p:spPr>
      </p:sp>
      <p:sp>
        <p:nvSpPr>
          <p:cNvPr id="32" name="Text 30"/>
          <p:cNvSpPr/>
          <p:nvPr/>
        </p:nvSpPr>
        <p:spPr>
          <a:xfrm>
            <a:off x="8956548" y="3355848"/>
            <a:ext cx="2473452" cy="576072"/>
          </a:xfrm>
          <a:prstGeom prst="rect">
            <a:avLst/>
          </a:prstGeom>
          <a:noFill/>
          <a:ln/>
        </p:spPr>
        <p:txBody>
          <a:bodyPr wrap="square" lIns="0" tIns="0" rIns="0" bIns="0" rtlCol="0" anchor="ctr">
            <a:normAutofit/>
          </a:bodyPr>
          <a:lstStyle/>
          <a:p>
            <a:pPr indent="0" marL="0">
              <a:buNone/>
            </a:pPr>
            <a:r>
              <a:rPr lang="en-US" sz="1797" dirty="0">
                <a:solidFill>
                  <a:srgbClr val="232D3B"/>
                </a:solidFill>
                <a:latin typeface="Aptos" pitchFamily="34" charset="0"/>
                <a:ea typeface="Aptos" pitchFamily="34" charset="-122"/>
                <a:cs typeface="Aptos" pitchFamily="34" charset="-120"/>
              </a:rPr>
              <a:t>1e-30</a:t>
            </a:r>
            <a:endParaRPr lang="en-US" sz="1797" dirty="0"/>
          </a:p>
        </p:txBody>
      </p:sp>
      <p:sp>
        <p:nvSpPr>
          <p:cNvPr id="33" name="Shape 31"/>
          <p:cNvSpPr/>
          <p:nvPr/>
        </p:nvSpPr>
        <p:spPr>
          <a:xfrm>
            <a:off x="612648" y="4279392"/>
            <a:ext cx="50292" cy="435864"/>
          </a:xfrm>
          <a:prstGeom prst="rect">
            <a:avLst/>
          </a:prstGeom>
          <a:solidFill>
            <a:srgbClr val="2A78D6"/>
          </a:solidFill>
          <a:ln w="7620">
            <a:solidFill>
              <a:srgbClr val="2A78D6"/>
            </a:solidFill>
            <a:prstDash val="solid"/>
          </a:ln>
        </p:spPr>
      </p:sp>
      <p:sp>
        <p:nvSpPr>
          <p:cNvPr id="34" name="Text 32"/>
          <p:cNvSpPr/>
          <p:nvPr/>
        </p:nvSpPr>
        <p:spPr>
          <a:xfrm>
            <a:off x="813816" y="4279392"/>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Identity: how alike are aligned positions?</a:t>
            </a:r>
            <a:endParaRPr lang="en-US" sz="2100" dirty="0"/>
          </a:p>
        </p:txBody>
      </p:sp>
      <p:sp>
        <p:nvSpPr>
          <p:cNvPr id="35" name="Shape 33"/>
          <p:cNvSpPr/>
          <p:nvPr/>
        </p:nvSpPr>
        <p:spPr>
          <a:xfrm>
            <a:off x="612648" y="4916424"/>
            <a:ext cx="50292" cy="435864"/>
          </a:xfrm>
          <a:prstGeom prst="rect">
            <a:avLst/>
          </a:prstGeom>
          <a:solidFill>
            <a:srgbClr val="2A78D6"/>
          </a:solidFill>
          <a:ln w="7620">
            <a:solidFill>
              <a:srgbClr val="2A78D6"/>
            </a:solidFill>
            <a:prstDash val="solid"/>
          </a:ln>
        </p:spPr>
      </p:sp>
      <p:sp>
        <p:nvSpPr>
          <p:cNvPr id="36" name="Text 34"/>
          <p:cNvSpPr/>
          <p:nvPr/>
        </p:nvSpPr>
        <p:spPr>
          <a:xfrm>
            <a:off x="813816" y="4916424"/>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Query coverage: how much of the query is represented?</a:t>
            </a:r>
            <a:endParaRPr lang="en-US" sz="2100" dirty="0"/>
          </a:p>
        </p:txBody>
      </p:sp>
      <p:sp>
        <p:nvSpPr>
          <p:cNvPr id="37" name="Shape 35"/>
          <p:cNvSpPr/>
          <p:nvPr/>
        </p:nvSpPr>
        <p:spPr>
          <a:xfrm>
            <a:off x="612648" y="5553456"/>
            <a:ext cx="50292" cy="435864"/>
          </a:xfrm>
          <a:prstGeom prst="rect">
            <a:avLst/>
          </a:prstGeom>
          <a:solidFill>
            <a:srgbClr val="2A78D6"/>
          </a:solidFill>
          <a:ln w="7620">
            <a:solidFill>
              <a:srgbClr val="2A78D6"/>
            </a:solidFill>
            <a:prstDash val="solid"/>
          </a:ln>
        </p:spPr>
      </p:sp>
      <p:sp>
        <p:nvSpPr>
          <p:cNvPr id="38" name="Text 36"/>
          <p:cNvSpPr/>
          <p:nvPr/>
        </p:nvSpPr>
        <p:spPr>
          <a:xfrm>
            <a:off x="813816" y="5553456"/>
            <a:ext cx="10725912" cy="435864"/>
          </a:xfrm>
          <a:prstGeom prst="rect">
            <a:avLst/>
          </a:prstGeom>
          <a:noFill/>
          <a:ln/>
        </p:spPr>
        <p:txBody>
          <a:bodyPr wrap="square" lIns="0" tIns="0" rIns="0" bIns="0" rtlCol="0" anchor="ctr">
            <a:normAutofit/>
          </a:bodyPr>
          <a:lstStyle/>
          <a:p>
            <a:pPr indent="0" marL="0">
              <a:buNone/>
            </a:pPr>
            <a:r>
              <a:rPr lang="en-US" sz="2100" dirty="0">
                <a:solidFill>
                  <a:srgbClr val="232D3B"/>
                </a:solidFill>
                <a:latin typeface="Aptos" pitchFamily="34" charset="0"/>
                <a:ea typeface="Aptos" pitchFamily="34" charset="-122"/>
                <a:cs typeface="Aptos" pitchFamily="34" charset="-120"/>
              </a:rPr>
              <a:t>E-value: expected chance matches at least this strong under the search model.</a:t>
            </a:r>
            <a:endParaRPr lang="en-US" sz="2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The E-value depends on the search space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S06  |  10</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For a comparable alignment score, a larger search space can increase the E-value.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An E-value is not the chance the functional annotation is wrong.</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Also inspect low complexity, domains, identifiers and database provenance.</a:t>
            </a:r>
            <a:endParaRPr lang="en-US" sz="2297"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CORE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Three approaches can be combined</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S11 / S26  |  11</a:t>
            </a:r>
            <a:endParaRPr lang="en-US" sz="800" dirty="0"/>
          </a:p>
        </p:txBody>
      </p:sp>
      <p:sp>
        <p:nvSpPr>
          <p:cNvPr id="9" name="Shape 7"/>
          <p:cNvSpPr/>
          <p:nvPr/>
        </p:nvSpPr>
        <p:spPr>
          <a:xfrm>
            <a:off x="594360" y="1865376"/>
            <a:ext cx="5321808" cy="1024128"/>
          </a:xfrm>
          <a:prstGeom prst="rect">
            <a:avLst/>
          </a:prstGeom>
          <a:solidFill>
            <a:srgbClr val="EAF2FC"/>
          </a:solidFill>
          <a:ln w="7620">
            <a:solidFill>
              <a:srgbClr val="EAF2FC"/>
            </a:solidFill>
            <a:prstDash val="solid"/>
          </a:ln>
        </p:spPr>
      </p:sp>
      <p:sp>
        <p:nvSpPr>
          <p:cNvPr id="10" name="Shape 8"/>
          <p:cNvSpPr/>
          <p:nvPr/>
        </p:nvSpPr>
        <p:spPr>
          <a:xfrm>
            <a:off x="6199632" y="1865376"/>
            <a:ext cx="5321808" cy="1024128"/>
          </a:xfrm>
          <a:prstGeom prst="rect">
            <a:avLst/>
          </a:prstGeom>
          <a:solidFill>
            <a:srgbClr val="FFF0E8"/>
          </a:solidFill>
          <a:ln w="7620">
            <a:solidFill>
              <a:srgbClr val="FFF0E8"/>
            </a:solidFill>
            <a:prstDash val="solid"/>
          </a:ln>
        </p:spPr>
      </p:sp>
      <p:sp>
        <p:nvSpPr>
          <p:cNvPr id="11" name="Text 9"/>
          <p:cNvSpPr/>
          <p:nvPr/>
        </p:nvSpPr>
        <p:spPr>
          <a:xfrm>
            <a:off x="822960"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2A78D6"/>
                </a:solidFill>
                <a:latin typeface="Aptos" pitchFamily="34" charset="0"/>
                <a:ea typeface="Aptos" pitchFamily="34" charset="-122"/>
                <a:cs typeface="Aptos" pitchFamily="34" charset="-120"/>
              </a:rPr>
              <a:t>Algorithmic guarantee</a:t>
            </a:r>
            <a:endParaRPr lang="en-US" sz="2372" dirty="0"/>
          </a:p>
        </p:txBody>
      </p:sp>
      <p:sp>
        <p:nvSpPr>
          <p:cNvPr id="12" name="Text 10"/>
          <p:cNvSpPr/>
          <p:nvPr/>
        </p:nvSpPr>
        <p:spPr>
          <a:xfrm>
            <a:off x="6428232" y="2048256"/>
            <a:ext cx="4846320" cy="640080"/>
          </a:xfrm>
          <a:prstGeom prst="rect">
            <a:avLst/>
          </a:prstGeom>
          <a:noFill/>
          <a:ln/>
        </p:spPr>
        <p:txBody>
          <a:bodyPr wrap="square" lIns="0" tIns="0" rIns="0" bIns="0" rtlCol="0" anchor="ctr">
            <a:normAutofit/>
          </a:bodyPr>
          <a:lstStyle/>
          <a:p>
            <a:pPr indent="0" marL="0">
              <a:buNone/>
            </a:pPr>
            <a:r>
              <a:rPr lang="en-US" sz="2372" b="1" dirty="0">
                <a:solidFill>
                  <a:srgbClr val="EB6834"/>
                </a:solidFill>
                <a:latin typeface="Aptos" pitchFamily="34" charset="0"/>
                <a:ea typeface="Aptos" pitchFamily="34" charset="-122"/>
                <a:cs typeface="Aptos" pitchFamily="34" charset="-120"/>
              </a:rPr>
              <a:t>Empirical performance</a:t>
            </a:r>
            <a:endParaRPr lang="en-US" sz="2372" dirty="0"/>
          </a:p>
        </p:txBody>
      </p:sp>
      <p:sp>
        <p:nvSpPr>
          <p:cNvPr id="13" name="Shape 11"/>
          <p:cNvSpPr/>
          <p:nvPr/>
        </p:nvSpPr>
        <p:spPr>
          <a:xfrm>
            <a:off x="658368" y="3218688"/>
            <a:ext cx="50292" cy="719328"/>
          </a:xfrm>
          <a:prstGeom prst="rect">
            <a:avLst/>
          </a:prstGeom>
          <a:solidFill>
            <a:srgbClr val="2A78D6"/>
          </a:solidFill>
          <a:ln w="7620">
            <a:solidFill>
              <a:srgbClr val="2A78D6"/>
            </a:solidFill>
            <a:prstDash val="solid"/>
          </a:ln>
        </p:spPr>
      </p:sp>
      <p:sp>
        <p:nvSpPr>
          <p:cNvPr id="14" name="Text 12"/>
          <p:cNvSpPr/>
          <p:nvPr/>
        </p:nvSpPr>
        <p:spPr>
          <a:xfrm>
            <a:off x="859536" y="3218688"/>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Exact optimization solves a specified mathematical problem.</a:t>
            </a:r>
            <a:endParaRPr lang="en-US" sz="2297" dirty="0"/>
          </a:p>
        </p:txBody>
      </p:sp>
      <p:sp>
        <p:nvSpPr>
          <p:cNvPr id="15" name="Shape 13"/>
          <p:cNvSpPr/>
          <p:nvPr/>
        </p:nvSpPr>
        <p:spPr>
          <a:xfrm>
            <a:off x="658368" y="4139184"/>
            <a:ext cx="50292" cy="719328"/>
          </a:xfrm>
          <a:prstGeom prst="rect">
            <a:avLst/>
          </a:prstGeom>
          <a:solidFill>
            <a:srgbClr val="2A78D6"/>
          </a:solidFill>
          <a:ln w="7620">
            <a:solidFill>
              <a:srgbClr val="2A78D6"/>
            </a:solidFill>
            <a:prstDash val="solid"/>
          </a:ln>
        </p:spPr>
      </p:sp>
      <p:sp>
        <p:nvSpPr>
          <p:cNvPr id="16" name="Text 14"/>
          <p:cNvSpPr/>
          <p:nvPr/>
        </p:nvSpPr>
        <p:spPr>
          <a:xfrm>
            <a:off x="859536" y="4139184"/>
            <a:ext cx="10552176" cy="71932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Heuristics trade exhaustive search for speed.</a:t>
            </a:r>
            <a:endParaRPr lang="en-US" sz="2297" dirty="0"/>
          </a:p>
        </p:txBody>
      </p:sp>
      <p:sp>
        <p:nvSpPr>
          <p:cNvPr id="17" name="Shape 15"/>
          <p:cNvSpPr/>
          <p:nvPr/>
        </p:nvSpPr>
        <p:spPr>
          <a:xfrm>
            <a:off x="658368" y="5059680"/>
            <a:ext cx="50292" cy="719328"/>
          </a:xfrm>
          <a:prstGeom prst="rect">
            <a:avLst/>
          </a:prstGeom>
          <a:solidFill>
            <a:srgbClr val="2A78D6"/>
          </a:solidFill>
          <a:ln w="7620">
            <a:solidFill>
              <a:srgbClr val="2A78D6"/>
            </a:solidFill>
            <a:prstDash val="solid"/>
          </a:ln>
        </p:spPr>
      </p:sp>
      <p:sp>
        <p:nvSpPr>
          <p:cNvPr id="18" name="Text 16"/>
          <p:cNvSpPr/>
          <p:nvPr/>
        </p:nvSpPr>
        <p:spPr>
          <a:xfrm>
            <a:off x="859536" y="5059680"/>
            <a:ext cx="10552176" cy="719328"/>
          </a:xfrm>
          <a:prstGeom prst="rect">
            <a:avLst/>
          </a:prstGeom>
          <a:noFill/>
          <a:ln/>
        </p:spPr>
        <p:txBody>
          <a:bodyPr wrap="square" lIns="0" tIns="0" rIns="0" bIns="0" rtlCol="0" anchor="ctr">
            <a:normAutofit/>
          </a:bodyPr>
          <a:lstStyle/>
          <a:p>
            <a:pPr indent="0" marL="0">
              <a:buNone/>
            </a:pPr>
            <a:r>
              <a:rPr lang="en-US" sz="2247" dirty="0">
                <a:solidFill>
                  <a:srgbClr val="232D3B"/>
                </a:solidFill>
                <a:latin typeface="Aptos" pitchFamily="34" charset="0"/>
                <a:ea typeface="Aptos" pitchFamily="34" charset="-122"/>
                <a:cs typeface="Aptos" pitchFamily="34" charset="-120"/>
              </a:rPr>
              <a:t>Learned representations depend on training data; a tool can contain all three.</a:t>
            </a:r>
            <a:endParaRPr lang="en-US" sz="2247"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Worked example: score a short alignment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12</a:t>
            </a:r>
            <a:endParaRPr lang="en-US" sz="800" dirty="0"/>
          </a:p>
        </p:txBody>
      </p:sp>
      <p:sp>
        <p:nvSpPr>
          <p:cNvPr id="9" name="Text 7"/>
          <p:cNvSpPr/>
          <p:nvPr/>
        </p:nvSpPr>
        <p:spPr>
          <a:xfrm>
            <a:off x="685800" y="2148840"/>
            <a:ext cx="10881360" cy="1783080"/>
          </a:xfrm>
          <a:prstGeom prst="rect">
            <a:avLst/>
          </a:prstGeom>
          <a:noFill/>
          <a:ln/>
        </p:spPr>
        <p:txBody>
          <a:bodyPr wrap="square" lIns="0" tIns="0" rIns="0" bIns="0" rtlCol="0" anchor="ctr">
            <a:normAutofit/>
          </a:bodyPr>
          <a:lstStyle/>
          <a:p>
            <a:pPr indent="0" marL="0">
              <a:buNone/>
            </a:pPr>
            <a:r>
              <a:rPr lang="en-US" sz="2997" dirty="0">
                <a:solidFill>
                  <a:srgbClr val="232D3B"/>
                </a:solidFill>
                <a:latin typeface="Aptos" pitchFamily="34" charset="0"/>
                <a:ea typeface="Aptos" pitchFamily="34" charset="-122"/>
                <a:cs typeface="Aptos" pitchFamily="34" charset="-120"/>
              </a:rPr>
              <a:t>ACGT aligned to ACCT, with match +2 and mismatch -1.</a:t>
            </a:r>
            <a:endParaRPr lang="en-US" sz="2997" dirty="0"/>
          </a:p>
        </p:txBody>
      </p:sp>
      <p:sp>
        <p:nvSpPr>
          <p:cNvPr id="10" name="Shape 8"/>
          <p:cNvSpPr/>
          <p:nvPr/>
        </p:nvSpPr>
        <p:spPr>
          <a:xfrm>
            <a:off x="685800" y="4572000"/>
            <a:ext cx="10817352" cy="1024128"/>
          </a:xfrm>
          <a:prstGeom prst="rect">
            <a:avLst/>
          </a:prstGeom>
          <a:solidFill>
            <a:srgbClr val="EAF2FC"/>
          </a:solidFill>
          <a:ln w="7620">
            <a:solidFill>
              <a:srgbClr val="EAF2FC"/>
            </a:solidFill>
            <a:prstDash val="solid"/>
          </a:ln>
        </p:spPr>
      </p:sp>
      <p:sp>
        <p:nvSpPr>
          <p:cNvPr id="11" name="Text 9"/>
          <p:cNvSpPr/>
          <p:nvPr/>
        </p:nvSpPr>
        <p:spPr>
          <a:xfrm>
            <a:off x="932688" y="4791456"/>
            <a:ext cx="10287000" cy="576072"/>
          </a:xfrm>
          <a:prstGeom prst="rect">
            <a:avLst/>
          </a:prstGeom>
          <a:noFill/>
          <a:ln/>
        </p:spPr>
        <p:txBody>
          <a:bodyPr wrap="square" lIns="0" tIns="0" rIns="0" bIns="0" rtlCol="0" anchor="ctr">
            <a:normAutofit/>
          </a:bodyPr>
          <a:lstStyle/>
          <a:p>
            <a:pPr indent="0" marL="0">
              <a:buNone/>
            </a:pPr>
            <a:r>
              <a:rPr lang="en-US" sz="2100" b="1" dirty="0">
                <a:solidFill>
                  <a:srgbClr val="2A78D6"/>
                </a:solidFill>
                <a:latin typeface="Aptos" pitchFamily="34" charset="0"/>
                <a:ea typeface="Aptos" pitchFamily="34" charset="-122"/>
                <a:cs typeface="Aptos" pitchFamily="34" charset="-120"/>
              </a:rPr>
              <a:t>Predict the result and one limitation before calculating.</a:t>
            </a:r>
            <a:endParaRPr lang="en-US" sz="2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WORKED EXAMPLE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Work through the reasoning</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13</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Positions 1, 2 and 4 match: 3 x 2 = 6.</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Position 3 mismatches: subtract 1.</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Total score = 5; identity = 3 / 4 = 75%.</a:t>
            </a:r>
            <a:endParaRPr lang="en-US" sz="2297"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PAIR CHECK</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Pause: make a defensible claim</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14</a:t>
            </a:r>
            <a:endParaRPr lang="en-US" sz="800" dirty="0"/>
          </a:p>
        </p:txBody>
      </p:sp>
      <p:sp>
        <p:nvSpPr>
          <p:cNvPr id="9" name="Text 7"/>
          <p:cNvSpPr/>
          <p:nvPr/>
        </p:nvSpPr>
        <p:spPr>
          <a:xfrm>
            <a:off x="713232" y="2130552"/>
            <a:ext cx="10762488" cy="2496312"/>
          </a:xfrm>
          <a:prstGeom prst="rect">
            <a:avLst/>
          </a:prstGeom>
          <a:noFill/>
          <a:ln/>
        </p:spPr>
        <p:txBody>
          <a:bodyPr wrap="square" lIns="0" tIns="0" rIns="0" bIns="0" rtlCol="0" anchor="ctr">
            <a:normAutofit/>
          </a:bodyPr>
          <a:lstStyle/>
          <a:p>
            <a:pPr indent="0" marL="0">
              <a:buNone/>
            </a:pPr>
            <a:r>
              <a:rPr lang="en-US" sz="2897" dirty="0">
                <a:solidFill>
                  <a:srgbClr val="232D3B"/>
                </a:solidFill>
                <a:latin typeface="Aptos" pitchFamily="34" charset="0"/>
                <a:ea typeface="Aptos" pitchFamily="34" charset="-122"/>
                <a:cs typeface="Aptos" pitchFamily="34" charset="-120"/>
              </a:rPr>
              <a:t>Hit A has 95% identity across 10% of a protein; hit B has 70% identity across 90%. Which is the stronger starting point for a full-length relationship, and what still needs checking?</a:t>
            </a:r>
            <a:endParaRPr lang="en-US" sz="2897" dirty="0"/>
          </a:p>
        </p:txBody>
      </p:sp>
      <p:sp>
        <p:nvSpPr>
          <p:cNvPr id="10" name="Text 8"/>
          <p:cNvSpPr/>
          <p:nvPr/>
        </p:nvSpPr>
        <p:spPr>
          <a:xfrm>
            <a:off x="731520" y="5074920"/>
            <a:ext cx="10698480" cy="640080"/>
          </a:xfrm>
          <a:prstGeom prst="rect">
            <a:avLst/>
          </a:prstGeom>
          <a:noFill/>
          <a:ln/>
        </p:spPr>
        <p:txBody>
          <a:bodyPr wrap="square" lIns="0" tIns="0" rIns="0" bIns="0" rtlCol="0" anchor="ctr">
            <a:normAutofit/>
          </a:bodyPr>
          <a:lstStyle/>
          <a:p>
            <a:pPr indent="0" marL="0">
              <a:buNone/>
            </a:pPr>
            <a:r>
              <a:rPr lang="en-US" sz="2197" b="1" dirty="0">
                <a:solidFill>
                  <a:srgbClr val="2A78D6"/>
                </a:solidFill>
                <a:latin typeface="Aptos" pitchFamily="34" charset="0"/>
                <a:ea typeface="Aptos" pitchFamily="34" charset="-122"/>
                <a:cs typeface="Aptos" pitchFamily="34" charset="-120"/>
              </a:rPr>
              <a:t>First answer alone. Then compare the evidence, not just the conclusion.</a:t>
            </a:r>
            <a:endParaRPr lang="en-US" sz="2197"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DEBRIEF</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A defensible response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15</a:t>
            </a:r>
            <a:endParaRPr lang="en-US" sz="800" dirty="0"/>
          </a:p>
        </p:txBody>
      </p:sp>
      <p:sp>
        <p:nvSpPr>
          <p:cNvPr id="9" name="Shape 7"/>
          <p:cNvSpPr/>
          <p:nvPr/>
        </p:nvSpPr>
        <p:spPr>
          <a:xfrm>
            <a:off x="685800" y="2075688"/>
            <a:ext cx="10826496" cy="2816352"/>
          </a:xfrm>
          <a:prstGeom prst="rect">
            <a:avLst/>
          </a:prstGeom>
          <a:solidFill>
            <a:srgbClr val="EAF2FC"/>
          </a:solidFill>
          <a:ln w="7620">
            <a:solidFill>
              <a:srgbClr val="EAF2FC"/>
            </a:solidFill>
            <a:prstDash val="solid"/>
          </a:ln>
        </p:spPr>
      </p:sp>
      <p:sp>
        <p:nvSpPr>
          <p:cNvPr id="10" name="Text 8"/>
          <p:cNvSpPr/>
          <p:nvPr/>
        </p:nvSpPr>
        <p:spPr>
          <a:xfrm>
            <a:off x="941832" y="2331720"/>
            <a:ext cx="10305288" cy="2276856"/>
          </a:xfrm>
          <a:prstGeom prst="rect">
            <a:avLst/>
          </a:prstGeom>
          <a:noFill/>
          <a:ln/>
        </p:spPr>
        <p:txBody>
          <a:bodyPr wrap="square" lIns="0" tIns="0" rIns="0" bIns="0" rtlCol="0" anchor="ctr">
            <a:normAutofit/>
          </a:bodyPr>
          <a:lstStyle/>
          <a:p>
            <a:pPr indent="0" marL="0">
              <a:buNone/>
            </a:pPr>
            <a:r>
              <a:rPr lang="en-US" sz="2597" dirty="0">
                <a:solidFill>
                  <a:srgbClr val="232D3B"/>
                </a:solidFill>
                <a:latin typeface="Aptos" pitchFamily="34" charset="0"/>
                <a:ea typeface="Aptos" pitchFamily="34" charset="-122"/>
                <a:cs typeface="Aptos" pitchFamily="34" charset="-120"/>
              </a:rPr>
              <a:t>B covers far more of the query. Inspect domain architecture, alignment quality and provenance; neither hit alone proves identical function.</a:t>
            </a:r>
            <a:endParaRPr lang="en-US" sz="2597"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45-MINUTE STUDIO</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Today's practical</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16</a:t>
            </a:r>
            <a:endParaRPr lang="en-US" sz="800" dirty="0"/>
          </a:p>
        </p:txBody>
      </p:sp>
      <p:sp>
        <p:nvSpPr>
          <p:cNvPr id="9" name="Text 7"/>
          <p:cNvSpPr/>
          <p:nvPr/>
        </p:nvSpPr>
        <p:spPr>
          <a:xfrm>
            <a:off x="731520" y="1929384"/>
            <a:ext cx="10698480" cy="1508760"/>
          </a:xfrm>
          <a:prstGeom prst="rect">
            <a:avLst/>
          </a:prstGeom>
          <a:noFill/>
          <a:ln/>
        </p:spPr>
        <p:txBody>
          <a:bodyPr wrap="square" lIns="0" tIns="0" rIns="0" bIns="0" rtlCol="0" anchor="ctr">
            <a:normAutofit/>
          </a:bodyPr>
          <a:lstStyle/>
          <a:p>
            <a:pPr indent="0" marL="0">
              <a:buNone/>
            </a:pPr>
            <a:r>
              <a:rPr lang="en-US" sz="2497" dirty="0">
                <a:solidFill>
                  <a:srgbClr val="232D3B"/>
                </a:solidFill>
                <a:latin typeface="Aptos" pitchFamily="34" charset="0"/>
                <a:ea typeface="Aptos" pitchFamily="34" charset="-122"/>
                <a:cs typeface="Aptos" pitchFamily="34" charset="-120"/>
              </a:rPr>
              <a:t>W04: score a fixed alignment, fill a tiny local-alignment table using a supplied function, and audit two hypothetical search hits.</a:t>
            </a:r>
            <a:endParaRPr lang="en-US" sz="2497" dirty="0"/>
          </a:p>
        </p:txBody>
      </p:sp>
      <p:sp>
        <p:nvSpPr>
          <p:cNvPr id="10" name="Shape 8"/>
          <p:cNvSpPr/>
          <p:nvPr/>
        </p:nvSpPr>
        <p:spPr>
          <a:xfrm>
            <a:off x="731520" y="3721608"/>
            <a:ext cx="5317236" cy="395935"/>
          </a:xfrm>
          <a:prstGeom prst="rect">
            <a:avLst/>
          </a:prstGeom>
          <a:solidFill>
            <a:srgbClr val="2A78D6"/>
          </a:solidFill>
          <a:ln w="7620">
            <a:solidFill>
              <a:srgbClr val="2A78D6"/>
            </a:solidFill>
            <a:prstDash val="solid"/>
          </a:ln>
        </p:spPr>
      </p:sp>
      <p:sp>
        <p:nvSpPr>
          <p:cNvPr id="11" name="Text 9"/>
          <p:cNvSpPr/>
          <p:nvPr/>
        </p:nvSpPr>
        <p:spPr>
          <a:xfrm>
            <a:off x="85039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Minutes</a:t>
            </a:r>
            <a:endParaRPr lang="en-US" sz="1600" dirty="0"/>
          </a:p>
        </p:txBody>
      </p:sp>
      <p:sp>
        <p:nvSpPr>
          <p:cNvPr id="12" name="Shape 10"/>
          <p:cNvSpPr/>
          <p:nvPr/>
        </p:nvSpPr>
        <p:spPr>
          <a:xfrm>
            <a:off x="6080760" y="3721608"/>
            <a:ext cx="5317236" cy="395935"/>
          </a:xfrm>
          <a:prstGeom prst="rect">
            <a:avLst/>
          </a:prstGeom>
          <a:solidFill>
            <a:srgbClr val="2A78D6"/>
          </a:solidFill>
          <a:ln w="7620">
            <a:solidFill>
              <a:srgbClr val="2A78D6"/>
            </a:solidFill>
            <a:prstDash val="solid"/>
          </a:ln>
        </p:spPr>
      </p:sp>
      <p:sp>
        <p:nvSpPr>
          <p:cNvPr id="13" name="Text 11"/>
          <p:cNvSpPr/>
          <p:nvPr/>
        </p:nvSpPr>
        <p:spPr>
          <a:xfrm>
            <a:off x="6199632" y="3794760"/>
            <a:ext cx="5074920" cy="254203"/>
          </a:xfrm>
          <a:prstGeom prst="rect">
            <a:avLst/>
          </a:prstGeom>
          <a:noFill/>
          <a:ln/>
        </p:spPr>
        <p:txBody>
          <a:bodyPr wrap="square" lIns="0" tIns="0" rIns="0" bIns="0" rtlCol="0" anchor="ctr">
            <a:normAutofit/>
          </a:bodyPr>
          <a:lstStyle/>
          <a:p>
            <a:pPr indent="0" marL="0">
              <a:buNone/>
            </a:pPr>
            <a:r>
              <a:rPr lang="en-US" sz="1600" b="1" dirty="0">
                <a:solidFill>
                  <a:srgbClr val="FFFFFF"/>
                </a:solidFill>
                <a:latin typeface="Aptos" pitchFamily="34" charset="0"/>
                <a:ea typeface="Aptos" pitchFamily="34" charset="-122"/>
                <a:cs typeface="Aptos" pitchFamily="34" charset="-120"/>
              </a:rPr>
              <a:t>Action</a:t>
            </a:r>
            <a:endParaRPr lang="en-US" sz="1600" dirty="0"/>
          </a:p>
        </p:txBody>
      </p:sp>
      <p:sp>
        <p:nvSpPr>
          <p:cNvPr id="14" name="Shape 12"/>
          <p:cNvSpPr/>
          <p:nvPr/>
        </p:nvSpPr>
        <p:spPr>
          <a:xfrm>
            <a:off x="731520" y="4149547"/>
            <a:ext cx="5317236" cy="395935"/>
          </a:xfrm>
          <a:prstGeom prst="rect">
            <a:avLst/>
          </a:prstGeom>
          <a:solidFill>
            <a:srgbClr val="EAF2FC"/>
          </a:solidFill>
          <a:ln w="7620">
            <a:solidFill>
              <a:srgbClr val="EAF2FC"/>
            </a:solidFill>
            <a:prstDash val="solid"/>
          </a:ln>
        </p:spPr>
      </p:sp>
      <p:sp>
        <p:nvSpPr>
          <p:cNvPr id="15" name="Text 13"/>
          <p:cNvSpPr/>
          <p:nvPr/>
        </p:nvSpPr>
        <p:spPr>
          <a:xfrm>
            <a:off x="85039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0-10</a:t>
            </a:r>
            <a:endParaRPr lang="en-US" sz="1600" dirty="0"/>
          </a:p>
        </p:txBody>
      </p:sp>
      <p:sp>
        <p:nvSpPr>
          <p:cNvPr id="16" name="Shape 14"/>
          <p:cNvSpPr/>
          <p:nvPr/>
        </p:nvSpPr>
        <p:spPr>
          <a:xfrm>
            <a:off x="6080760" y="4149547"/>
            <a:ext cx="5317236" cy="395935"/>
          </a:xfrm>
          <a:prstGeom prst="rect">
            <a:avLst/>
          </a:prstGeom>
          <a:solidFill>
            <a:srgbClr val="EAF2FC"/>
          </a:solidFill>
          <a:ln w="7620">
            <a:solidFill>
              <a:srgbClr val="EAF2FC"/>
            </a:solidFill>
            <a:prstDash val="solid"/>
          </a:ln>
        </p:spPr>
      </p:sp>
      <p:sp>
        <p:nvSpPr>
          <p:cNvPr id="17" name="Text 15"/>
          <p:cNvSpPr/>
          <p:nvPr/>
        </p:nvSpPr>
        <p:spPr>
          <a:xfrm>
            <a:off x="6199632" y="4213555"/>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Predict + set up</a:t>
            </a:r>
            <a:endParaRPr lang="en-US" sz="1600" dirty="0"/>
          </a:p>
        </p:txBody>
      </p:sp>
      <p:sp>
        <p:nvSpPr>
          <p:cNvPr id="18" name="Shape 16"/>
          <p:cNvSpPr/>
          <p:nvPr/>
        </p:nvSpPr>
        <p:spPr>
          <a:xfrm>
            <a:off x="731520" y="4577486"/>
            <a:ext cx="5317236" cy="395935"/>
          </a:xfrm>
          <a:prstGeom prst="rect">
            <a:avLst/>
          </a:prstGeom>
          <a:solidFill>
            <a:srgbClr val="FFFFFF"/>
          </a:solidFill>
          <a:ln w="7620">
            <a:solidFill>
              <a:srgbClr val="FFFFFF"/>
            </a:solidFill>
            <a:prstDash val="solid"/>
          </a:ln>
        </p:spPr>
      </p:sp>
      <p:sp>
        <p:nvSpPr>
          <p:cNvPr id="19" name="Text 17"/>
          <p:cNvSpPr/>
          <p:nvPr/>
        </p:nvSpPr>
        <p:spPr>
          <a:xfrm>
            <a:off x="85039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10-30</a:t>
            </a:r>
            <a:endParaRPr lang="en-US" sz="1600" dirty="0"/>
          </a:p>
        </p:txBody>
      </p:sp>
      <p:sp>
        <p:nvSpPr>
          <p:cNvPr id="20" name="Shape 18"/>
          <p:cNvSpPr/>
          <p:nvPr/>
        </p:nvSpPr>
        <p:spPr>
          <a:xfrm>
            <a:off x="6080760" y="4577486"/>
            <a:ext cx="5317236" cy="395935"/>
          </a:xfrm>
          <a:prstGeom prst="rect">
            <a:avLst/>
          </a:prstGeom>
          <a:solidFill>
            <a:srgbClr val="FFFFFF"/>
          </a:solidFill>
          <a:ln w="7620">
            <a:solidFill>
              <a:srgbClr val="FFFFFF"/>
            </a:solidFill>
            <a:prstDash val="solid"/>
          </a:ln>
        </p:spPr>
      </p:sp>
      <p:sp>
        <p:nvSpPr>
          <p:cNvPr id="21" name="Text 19"/>
          <p:cNvSpPr/>
          <p:nvPr/>
        </p:nvSpPr>
        <p:spPr>
          <a:xfrm>
            <a:off x="6199632" y="464149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Run + inspect + check</a:t>
            </a:r>
            <a:endParaRPr lang="en-US" sz="1600" dirty="0"/>
          </a:p>
        </p:txBody>
      </p:sp>
      <p:sp>
        <p:nvSpPr>
          <p:cNvPr id="22" name="Shape 20"/>
          <p:cNvSpPr/>
          <p:nvPr/>
        </p:nvSpPr>
        <p:spPr>
          <a:xfrm>
            <a:off x="731520" y="5005426"/>
            <a:ext cx="5317236" cy="395935"/>
          </a:xfrm>
          <a:prstGeom prst="rect">
            <a:avLst/>
          </a:prstGeom>
          <a:solidFill>
            <a:srgbClr val="EAF2FC"/>
          </a:solidFill>
          <a:ln w="7620">
            <a:solidFill>
              <a:srgbClr val="EAF2FC"/>
            </a:solidFill>
            <a:prstDash val="solid"/>
          </a:ln>
        </p:spPr>
      </p:sp>
      <p:sp>
        <p:nvSpPr>
          <p:cNvPr id="23" name="Text 21"/>
          <p:cNvSpPr/>
          <p:nvPr/>
        </p:nvSpPr>
        <p:spPr>
          <a:xfrm>
            <a:off x="85039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30-40</a:t>
            </a:r>
            <a:endParaRPr lang="en-US" sz="1600" dirty="0"/>
          </a:p>
        </p:txBody>
      </p:sp>
      <p:sp>
        <p:nvSpPr>
          <p:cNvPr id="24" name="Shape 22"/>
          <p:cNvSpPr/>
          <p:nvPr/>
        </p:nvSpPr>
        <p:spPr>
          <a:xfrm>
            <a:off x="6080760" y="5005426"/>
            <a:ext cx="5317236" cy="395935"/>
          </a:xfrm>
          <a:prstGeom prst="rect">
            <a:avLst/>
          </a:prstGeom>
          <a:solidFill>
            <a:srgbClr val="EAF2FC"/>
          </a:solidFill>
          <a:ln w="7620">
            <a:solidFill>
              <a:srgbClr val="EAF2FC"/>
            </a:solidFill>
            <a:prstDash val="solid"/>
          </a:ln>
        </p:spPr>
      </p:sp>
      <p:sp>
        <p:nvSpPr>
          <p:cNvPr id="25" name="Text 23"/>
          <p:cNvSpPr/>
          <p:nvPr/>
        </p:nvSpPr>
        <p:spPr>
          <a:xfrm>
            <a:off x="6199632" y="5069434"/>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Explain + compare</a:t>
            </a:r>
            <a:endParaRPr lang="en-US" sz="1600" dirty="0"/>
          </a:p>
        </p:txBody>
      </p:sp>
      <p:sp>
        <p:nvSpPr>
          <p:cNvPr id="26" name="Shape 24"/>
          <p:cNvSpPr/>
          <p:nvPr/>
        </p:nvSpPr>
        <p:spPr>
          <a:xfrm>
            <a:off x="731520" y="5433365"/>
            <a:ext cx="5317236" cy="395935"/>
          </a:xfrm>
          <a:prstGeom prst="rect">
            <a:avLst/>
          </a:prstGeom>
          <a:solidFill>
            <a:srgbClr val="FFFFFF"/>
          </a:solidFill>
          <a:ln w="7620">
            <a:solidFill>
              <a:srgbClr val="FFFFFF"/>
            </a:solidFill>
            <a:prstDash val="solid"/>
          </a:ln>
        </p:spPr>
      </p:sp>
      <p:sp>
        <p:nvSpPr>
          <p:cNvPr id="27" name="Text 25"/>
          <p:cNvSpPr/>
          <p:nvPr/>
        </p:nvSpPr>
        <p:spPr>
          <a:xfrm>
            <a:off x="85039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40-45</a:t>
            </a:r>
            <a:endParaRPr lang="en-US" sz="1600" dirty="0"/>
          </a:p>
        </p:txBody>
      </p:sp>
      <p:sp>
        <p:nvSpPr>
          <p:cNvPr id="28" name="Shape 26"/>
          <p:cNvSpPr/>
          <p:nvPr/>
        </p:nvSpPr>
        <p:spPr>
          <a:xfrm>
            <a:off x="6080760" y="5433365"/>
            <a:ext cx="5317236" cy="395935"/>
          </a:xfrm>
          <a:prstGeom prst="rect">
            <a:avLst/>
          </a:prstGeom>
          <a:solidFill>
            <a:srgbClr val="FFFFFF"/>
          </a:solidFill>
          <a:ln w="7620">
            <a:solidFill>
              <a:srgbClr val="FFFFFF"/>
            </a:solidFill>
            <a:prstDash val="solid"/>
          </a:ln>
        </p:spPr>
      </p:sp>
      <p:sp>
        <p:nvSpPr>
          <p:cNvPr id="29" name="Text 27"/>
          <p:cNvSpPr/>
          <p:nvPr/>
        </p:nvSpPr>
        <p:spPr>
          <a:xfrm>
            <a:off x="6199632" y="5497373"/>
            <a:ext cx="5074920" cy="272491"/>
          </a:xfrm>
          <a:prstGeom prst="rect">
            <a:avLst/>
          </a:prstGeom>
          <a:noFill/>
          <a:ln/>
        </p:spPr>
        <p:txBody>
          <a:bodyPr wrap="square" lIns="0" tIns="0" rIns="0" bIns="0" rtlCol="0" anchor="ctr">
            <a:normAutofit/>
          </a:bodyPr>
          <a:lstStyle/>
          <a:p>
            <a:pPr indent="0" marL="0">
              <a:buNone/>
            </a:pPr>
            <a:r>
              <a:rPr lang="en-US" sz="1600" dirty="0">
                <a:solidFill>
                  <a:srgbClr val="232D3B"/>
                </a:solidFill>
                <a:latin typeface="Aptos" pitchFamily="34" charset="0"/>
                <a:ea typeface="Aptos" pitchFamily="34" charset="-122"/>
                <a:cs typeface="Aptos" pitchFamily="34" charset="-120"/>
              </a:rPr>
              <a:t>Save + submit / exit</a:t>
            </a:r>
            <a:endParaRPr lang="en-US" sz="16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CONSOLIDATE</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Five terms to use precisely</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17</a:t>
            </a:r>
            <a:endParaRPr lang="en-US" sz="800" dirty="0"/>
          </a:p>
        </p:txBody>
      </p:sp>
      <p:sp>
        <p:nvSpPr>
          <p:cNvPr id="9" name="Shape 7"/>
          <p:cNvSpPr/>
          <p:nvPr/>
        </p:nvSpPr>
        <p:spPr>
          <a:xfrm>
            <a:off x="713232" y="1984248"/>
            <a:ext cx="475488" cy="457200"/>
          </a:xfrm>
          <a:prstGeom prst="rect">
            <a:avLst/>
          </a:prstGeom>
          <a:solidFill>
            <a:srgbClr val="2A78D6"/>
          </a:solidFill>
          <a:ln w="7620">
            <a:solidFill>
              <a:srgbClr val="2A78D6"/>
            </a:solidFill>
            <a:prstDash val="solid"/>
          </a:ln>
        </p:spPr>
      </p:sp>
      <p:sp>
        <p:nvSpPr>
          <p:cNvPr id="10" name="Text 8"/>
          <p:cNvSpPr/>
          <p:nvPr/>
        </p:nvSpPr>
        <p:spPr>
          <a:xfrm>
            <a:off x="850392" y="2057400"/>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1</a:t>
            </a:r>
            <a:endParaRPr lang="en-US" sz="1500" dirty="0"/>
          </a:p>
        </p:txBody>
      </p:sp>
      <p:sp>
        <p:nvSpPr>
          <p:cNvPr id="11" name="Text 9"/>
          <p:cNvSpPr/>
          <p:nvPr/>
        </p:nvSpPr>
        <p:spPr>
          <a:xfrm>
            <a:off x="1426464" y="2011680"/>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alignment</a:t>
            </a:r>
            <a:endParaRPr lang="en-US" sz="2500" dirty="0"/>
          </a:p>
        </p:txBody>
      </p:sp>
      <p:sp>
        <p:nvSpPr>
          <p:cNvPr id="12" name="Shape 10"/>
          <p:cNvSpPr/>
          <p:nvPr/>
        </p:nvSpPr>
        <p:spPr>
          <a:xfrm>
            <a:off x="713232" y="2752344"/>
            <a:ext cx="475488" cy="457200"/>
          </a:xfrm>
          <a:prstGeom prst="rect">
            <a:avLst/>
          </a:prstGeom>
          <a:solidFill>
            <a:srgbClr val="2A78D6"/>
          </a:solidFill>
          <a:ln w="7620">
            <a:solidFill>
              <a:srgbClr val="2A78D6"/>
            </a:solidFill>
            <a:prstDash val="solid"/>
          </a:ln>
        </p:spPr>
      </p:sp>
      <p:sp>
        <p:nvSpPr>
          <p:cNvPr id="13" name="Text 11"/>
          <p:cNvSpPr/>
          <p:nvPr/>
        </p:nvSpPr>
        <p:spPr>
          <a:xfrm>
            <a:off x="850392" y="2825496"/>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4" name="Text 12"/>
          <p:cNvSpPr/>
          <p:nvPr/>
        </p:nvSpPr>
        <p:spPr>
          <a:xfrm>
            <a:off x="1426464" y="2779776"/>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identity</a:t>
            </a:r>
            <a:endParaRPr lang="en-US" sz="2500" dirty="0"/>
          </a:p>
        </p:txBody>
      </p:sp>
      <p:sp>
        <p:nvSpPr>
          <p:cNvPr id="15" name="Shape 13"/>
          <p:cNvSpPr/>
          <p:nvPr/>
        </p:nvSpPr>
        <p:spPr>
          <a:xfrm>
            <a:off x="713232" y="3520440"/>
            <a:ext cx="475488" cy="457200"/>
          </a:xfrm>
          <a:prstGeom prst="rect">
            <a:avLst/>
          </a:prstGeom>
          <a:solidFill>
            <a:srgbClr val="2A78D6"/>
          </a:solidFill>
          <a:ln w="7620">
            <a:solidFill>
              <a:srgbClr val="2A78D6"/>
            </a:solidFill>
            <a:prstDash val="solid"/>
          </a:ln>
        </p:spPr>
      </p:sp>
      <p:sp>
        <p:nvSpPr>
          <p:cNvPr id="16" name="Text 14"/>
          <p:cNvSpPr/>
          <p:nvPr/>
        </p:nvSpPr>
        <p:spPr>
          <a:xfrm>
            <a:off x="850392" y="3593592"/>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3</a:t>
            </a:r>
            <a:endParaRPr lang="en-US" sz="1500" dirty="0"/>
          </a:p>
        </p:txBody>
      </p:sp>
      <p:sp>
        <p:nvSpPr>
          <p:cNvPr id="17" name="Text 15"/>
          <p:cNvSpPr/>
          <p:nvPr/>
        </p:nvSpPr>
        <p:spPr>
          <a:xfrm>
            <a:off x="1426464" y="3547872"/>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homology</a:t>
            </a:r>
            <a:endParaRPr lang="en-US" sz="2500" dirty="0"/>
          </a:p>
        </p:txBody>
      </p:sp>
      <p:sp>
        <p:nvSpPr>
          <p:cNvPr id="18" name="Shape 16"/>
          <p:cNvSpPr/>
          <p:nvPr/>
        </p:nvSpPr>
        <p:spPr>
          <a:xfrm>
            <a:off x="713232" y="4288536"/>
            <a:ext cx="475488" cy="457200"/>
          </a:xfrm>
          <a:prstGeom prst="rect">
            <a:avLst/>
          </a:prstGeom>
          <a:solidFill>
            <a:srgbClr val="2A78D6"/>
          </a:solidFill>
          <a:ln w="7620">
            <a:solidFill>
              <a:srgbClr val="2A78D6"/>
            </a:solidFill>
            <a:prstDash val="solid"/>
          </a:ln>
        </p:spPr>
      </p:sp>
      <p:sp>
        <p:nvSpPr>
          <p:cNvPr id="19" name="Text 17"/>
          <p:cNvSpPr/>
          <p:nvPr/>
        </p:nvSpPr>
        <p:spPr>
          <a:xfrm>
            <a:off x="850392" y="4361688"/>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20" name="Text 18"/>
          <p:cNvSpPr/>
          <p:nvPr/>
        </p:nvSpPr>
        <p:spPr>
          <a:xfrm>
            <a:off x="1426464" y="4315968"/>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heuristic</a:t>
            </a:r>
            <a:endParaRPr lang="en-US" sz="2500" dirty="0"/>
          </a:p>
        </p:txBody>
      </p:sp>
      <p:sp>
        <p:nvSpPr>
          <p:cNvPr id="21" name="Shape 19"/>
          <p:cNvSpPr/>
          <p:nvPr/>
        </p:nvSpPr>
        <p:spPr>
          <a:xfrm>
            <a:off x="713232" y="5056632"/>
            <a:ext cx="475488" cy="457200"/>
          </a:xfrm>
          <a:prstGeom prst="rect">
            <a:avLst/>
          </a:prstGeom>
          <a:solidFill>
            <a:srgbClr val="2A78D6"/>
          </a:solidFill>
          <a:ln w="7620">
            <a:solidFill>
              <a:srgbClr val="2A78D6"/>
            </a:solidFill>
            <a:prstDash val="solid"/>
          </a:ln>
        </p:spPr>
      </p:sp>
      <p:sp>
        <p:nvSpPr>
          <p:cNvPr id="22" name="Text 20"/>
          <p:cNvSpPr/>
          <p:nvPr/>
        </p:nvSpPr>
        <p:spPr>
          <a:xfrm>
            <a:off x="850392" y="5129784"/>
            <a:ext cx="201168" cy="301752"/>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5</a:t>
            </a:r>
            <a:endParaRPr lang="en-US" sz="1500" dirty="0"/>
          </a:p>
        </p:txBody>
      </p:sp>
      <p:sp>
        <p:nvSpPr>
          <p:cNvPr id="23" name="Text 21"/>
          <p:cNvSpPr/>
          <p:nvPr/>
        </p:nvSpPr>
        <p:spPr>
          <a:xfrm>
            <a:off x="1426464" y="5084064"/>
            <a:ext cx="9756648" cy="448056"/>
          </a:xfrm>
          <a:prstGeom prst="rect">
            <a:avLst/>
          </a:prstGeom>
          <a:noFill/>
          <a:ln/>
        </p:spPr>
        <p:txBody>
          <a:bodyPr wrap="square" lIns="0" tIns="0" rIns="0" bIns="0" rtlCol="0" anchor="ctr">
            <a:normAutofit/>
          </a:bodyPr>
          <a:lstStyle/>
          <a:p>
            <a:pPr indent="0" marL="0">
              <a:buNone/>
            </a:pPr>
            <a:r>
              <a:rPr lang="en-US" sz="2500" dirty="0">
                <a:solidFill>
                  <a:srgbClr val="232D3B"/>
                </a:solidFill>
                <a:latin typeface="Aptos" pitchFamily="34" charset="0"/>
                <a:ea typeface="Aptos" pitchFamily="34" charset="-122"/>
                <a:cs typeface="Aptos" pitchFamily="34" charset="-120"/>
              </a:rPr>
              <a:t>E-value</a:t>
            </a:r>
            <a:endParaRPr lang="en-US" sz="2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2 MINUTES</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Exit ticket</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18</a:t>
            </a:r>
            <a:endParaRPr lang="en-US" sz="800" dirty="0"/>
          </a:p>
        </p:txBody>
      </p:sp>
      <p:sp>
        <p:nvSpPr>
          <p:cNvPr id="9" name="Shape 7"/>
          <p:cNvSpPr/>
          <p:nvPr/>
        </p:nvSpPr>
        <p:spPr>
          <a:xfrm>
            <a:off x="594360" y="1920240"/>
            <a:ext cx="50292" cy="1207008"/>
          </a:xfrm>
          <a:prstGeom prst="rect">
            <a:avLst/>
          </a:prstGeom>
          <a:solidFill>
            <a:srgbClr val="2A78D6"/>
          </a:solidFill>
          <a:ln w="7620">
            <a:solidFill>
              <a:srgbClr val="2A78D6"/>
            </a:solidFill>
            <a:prstDash val="solid"/>
          </a:ln>
        </p:spPr>
      </p:sp>
      <p:sp>
        <p:nvSpPr>
          <p:cNvPr id="10" name="Text 8"/>
          <p:cNvSpPr/>
          <p:nvPr/>
        </p:nvSpPr>
        <p:spPr>
          <a:xfrm>
            <a:off x="795528" y="1920240"/>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did we actually measure or calculate?</a:t>
            </a:r>
            <a:endParaRPr lang="en-US" sz="2297" dirty="0"/>
          </a:p>
        </p:txBody>
      </p:sp>
      <p:sp>
        <p:nvSpPr>
          <p:cNvPr id="11" name="Shape 9"/>
          <p:cNvSpPr/>
          <p:nvPr/>
        </p:nvSpPr>
        <p:spPr>
          <a:xfrm>
            <a:off x="594360" y="3328416"/>
            <a:ext cx="50292" cy="1207008"/>
          </a:xfrm>
          <a:prstGeom prst="rect">
            <a:avLst/>
          </a:prstGeom>
          <a:solidFill>
            <a:srgbClr val="2A78D6"/>
          </a:solidFill>
          <a:ln w="7620">
            <a:solidFill>
              <a:srgbClr val="2A78D6"/>
            </a:solidFill>
            <a:prstDash val="solid"/>
          </a:ln>
        </p:spPr>
      </p:sp>
      <p:sp>
        <p:nvSpPr>
          <p:cNvPr id="12" name="Text 10"/>
          <p:cNvSpPr/>
          <p:nvPr/>
        </p:nvSpPr>
        <p:spPr>
          <a:xfrm>
            <a:off x="795528" y="3328416"/>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is one assumption or limitation of that result?</a:t>
            </a:r>
            <a:endParaRPr lang="en-US" sz="2297" dirty="0"/>
          </a:p>
        </p:txBody>
      </p:sp>
      <p:sp>
        <p:nvSpPr>
          <p:cNvPr id="13" name="Shape 11"/>
          <p:cNvSpPr/>
          <p:nvPr/>
        </p:nvSpPr>
        <p:spPr>
          <a:xfrm>
            <a:off x="594360" y="4736592"/>
            <a:ext cx="50292" cy="1207008"/>
          </a:xfrm>
          <a:prstGeom prst="rect">
            <a:avLst/>
          </a:prstGeom>
          <a:solidFill>
            <a:srgbClr val="2A78D6"/>
          </a:solidFill>
          <a:ln w="7620">
            <a:solidFill>
              <a:srgbClr val="2A78D6"/>
            </a:solidFill>
            <a:prstDash val="solid"/>
          </a:ln>
        </p:spPr>
      </p:sp>
      <p:sp>
        <p:nvSpPr>
          <p:cNvPr id="14" name="Text 12"/>
          <p:cNvSpPr/>
          <p:nvPr/>
        </p:nvSpPr>
        <p:spPr>
          <a:xfrm>
            <a:off x="795528" y="4736592"/>
            <a:ext cx="10771632" cy="1207008"/>
          </a:xfrm>
          <a:prstGeom prst="rect">
            <a:avLst/>
          </a:prstGeom>
          <a:noFill/>
          <a:ln/>
        </p:spPr>
        <p:txBody>
          <a:bodyPr wrap="square" lIns="0" tIns="0" rIns="0" bIns="0" rtlCol="0" anchor="ctr">
            <a:normAutofit/>
          </a:bodyPr>
          <a:lstStyle/>
          <a:p>
            <a:pPr indent="0" marL="0">
              <a:buNone/>
            </a:pPr>
            <a:r>
              <a:rPr lang="en-US" sz="2297" dirty="0">
                <a:solidFill>
                  <a:srgbClr val="232D3B"/>
                </a:solidFill>
                <a:latin typeface="Aptos" pitchFamily="34" charset="0"/>
                <a:ea typeface="Aptos" pitchFamily="34" charset="-122"/>
                <a:cs typeface="Aptos" pitchFamily="34" charset="-120"/>
              </a:rPr>
              <a:t>What check would you perform before sharing it?</a:t>
            </a:r>
            <a:endParaRPr lang="en-US" sz="2297"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OPTIONAL EXTENSION</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Go further only after the core is clear</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19</a:t>
            </a:r>
            <a:endParaRPr lang="en-US" sz="800" dirty="0"/>
          </a:p>
        </p:txBody>
      </p:sp>
      <p:sp>
        <p:nvSpPr>
          <p:cNvPr id="9" name="Text 7"/>
          <p:cNvSpPr/>
          <p:nvPr/>
        </p:nvSpPr>
        <p:spPr>
          <a:xfrm>
            <a:off x="768096" y="2212848"/>
            <a:ext cx="10698480" cy="2057400"/>
          </a:xfrm>
          <a:prstGeom prst="rect">
            <a:avLst/>
          </a:prstGeom>
          <a:noFill/>
          <a:ln/>
        </p:spPr>
        <p:txBody>
          <a:bodyPr wrap="square" lIns="0" tIns="0" rIns="0" bIns="0" rtlCol="0" anchor="ctr">
            <a:normAutofit/>
          </a:bodyPr>
          <a:lstStyle/>
          <a:p>
            <a:pPr indent="0" marL="0">
              <a:buNone/>
            </a:pPr>
            <a:r>
              <a:rPr lang="en-US" sz="2797" dirty="0">
                <a:solidFill>
                  <a:srgbClr val="232D3B"/>
                </a:solidFill>
                <a:latin typeface="Aptos" pitchFamily="34" charset="0"/>
                <a:ea typeface="Aptos" pitchFamily="34" charset="-122"/>
                <a:cs typeface="Aptos" pitchFamily="34" charset="-120"/>
              </a:rPr>
              <a:t>Optional: inspect affine gap penalties and substitution matrices; deriving log-odds is not examined.</a:t>
            </a:r>
            <a:endParaRPr lang="en-US" sz="2797" dirty="0"/>
          </a:p>
        </p:txBody>
      </p:sp>
      <p:sp>
        <p:nvSpPr>
          <p:cNvPr id="10" name="Text 8"/>
          <p:cNvSpPr/>
          <p:nvPr/>
        </p:nvSpPr>
        <p:spPr>
          <a:xfrm>
            <a:off x="786384" y="4828032"/>
            <a:ext cx="10561320" cy="804672"/>
          </a:xfrm>
          <a:prstGeom prst="rect">
            <a:avLst/>
          </a:prstGeom>
          <a:noFill/>
          <a:ln/>
        </p:spPr>
        <p:txBody>
          <a:bodyPr wrap="square" lIns="0" tIns="0" rIns="0" bIns="0" rtlCol="0" anchor="ctr">
            <a:normAutofit/>
          </a:bodyPr>
          <a:lstStyle/>
          <a:p>
            <a:pPr indent="0" marL="0">
              <a:buNone/>
            </a:pPr>
            <a:r>
              <a:rPr lang="en-US" sz="2197" b="1" dirty="0">
                <a:solidFill>
                  <a:srgbClr val="EB6834"/>
                </a:solidFill>
                <a:latin typeface="Aptos" pitchFamily="34" charset="0"/>
                <a:ea typeface="Aptos" pitchFamily="34" charset="-122"/>
                <a:cs typeface="Aptos" pitchFamily="34" charset="-120"/>
              </a:rPr>
              <a:t>Not required for the core grade. No advanced model training is expected.</a:t>
            </a:r>
            <a:endParaRPr lang="en-US" sz="2197"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CFCFB"/>
        </a:solidFill>
      </p:bgPr>
    </p:bg>
    <p:spTree>
      <p:nvGrpSpPr>
        <p:cNvPr id="1" name=""/>
        <p:cNvGrpSpPr/>
        <p:nvPr/>
      </p:nvGrpSpPr>
      <p:grpSpPr>
        <a:xfrm>
          <a:off x="0" y="0"/>
          <a:ext cx="0" cy="0"/>
          <a:chOff x="0" y="0"/>
          <a:chExt cx="0" cy="0"/>
        </a:xfrm>
      </p:grpSpPr>
      <p:sp>
        <p:nvSpPr>
          <p:cNvPr id="2" name="Shape 0"/>
          <p:cNvSpPr/>
          <p:nvPr/>
        </p:nvSpPr>
        <p:spPr>
          <a:xfrm>
            <a:off x="0" y="0"/>
            <a:ext cx="12191695" cy="82296"/>
          </a:xfrm>
          <a:prstGeom prst="rect">
            <a:avLst/>
          </a:prstGeom>
          <a:solidFill>
            <a:srgbClr val="2A78D6"/>
          </a:solidFill>
          <a:ln w="7620">
            <a:solidFill>
              <a:srgbClr val="2A78D6"/>
            </a:solidFill>
            <a:prstDash val="solid"/>
          </a:ln>
        </p:spPr>
      </p:sp>
      <p:sp>
        <p:nvSpPr>
          <p:cNvPr id="3" name="Text 1"/>
          <p:cNvSpPr/>
          <p:nvPr/>
        </p:nvSpPr>
        <p:spPr>
          <a:xfrm>
            <a:off x="502920" y="246888"/>
            <a:ext cx="3657600" cy="292608"/>
          </a:xfrm>
          <a:prstGeom prst="rect">
            <a:avLst/>
          </a:prstGeom>
          <a:noFill/>
          <a:ln/>
        </p:spPr>
        <p:txBody>
          <a:bodyPr wrap="square" lIns="0" tIns="0" rIns="0" bIns="0" rtlCol="0" anchor="ctr">
            <a:normAutofit/>
          </a:bodyPr>
          <a:lstStyle/>
          <a:p>
            <a:pPr indent="0" marL="0">
              <a:buNone/>
            </a:pPr>
            <a:r>
              <a:rPr lang="en-US" sz="1000" b="1" dirty="0">
                <a:solidFill>
                  <a:srgbClr val="526171"/>
                </a:solidFill>
                <a:latin typeface="Aptos" pitchFamily="34" charset="0"/>
                <a:ea typeface="Aptos" pitchFamily="34" charset="-122"/>
                <a:cs typeface="Aptos" pitchFamily="34" charset="-120"/>
              </a:rPr>
              <a:t>BIB / WEEK 04</a:t>
            </a:r>
            <a:endParaRPr lang="en-US" sz="1000" dirty="0"/>
          </a:p>
        </p:txBody>
      </p:sp>
      <p:sp>
        <p:nvSpPr>
          <p:cNvPr id="4" name="Text 2"/>
          <p:cNvSpPr/>
          <p:nvPr/>
        </p:nvSpPr>
        <p:spPr>
          <a:xfrm>
            <a:off x="9281160" y="246888"/>
            <a:ext cx="2377440" cy="292608"/>
          </a:xfrm>
          <a:prstGeom prst="rect">
            <a:avLst/>
          </a:prstGeom>
          <a:noFill/>
          <a:ln/>
        </p:spPr>
        <p:txBody>
          <a:bodyPr wrap="square" lIns="0" tIns="0" rIns="0" bIns="0" rtlCol="0" anchor="ctr">
            <a:normAutofit/>
          </a:bodyPr>
          <a:lstStyle/>
          <a:p>
            <a:pPr algn="r" indent="0" marL="0">
              <a:buNone/>
            </a:pPr>
            <a:r>
              <a:rPr lang="en-US" sz="1000" b="1" dirty="0">
                <a:solidFill>
                  <a:srgbClr val="2A78D6"/>
                </a:solidFill>
                <a:latin typeface="Aptos" pitchFamily="34" charset="0"/>
                <a:ea typeface="Aptos" pitchFamily="34" charset="-122"/>
                <a:cs typeface="Aptos" pitchFamily="34" charset="-120"/>
              </a:rPr>
              <a:t>SOURCE MAP</a:t>
            </a:r>
            <a:endParaRPr lang="en-US" sz="1000" dirty="0"/>
          </a:p>
        </p:txBody>
      </p:sp>
      <p:sp>
        <p:nvSpPr>
          <p:cNvPr id="5" name="Text 3"/>
          <p:cNvSpPr/>
          <p:nvPr/>
        </p:nvSpPr>
        <p:spPr>
          <a:xfrm>
            <a:off x="502920" y="786384"/>
            <a:ext cx="11137392" cy="914400"/>
          </a:xfrm>
          <a:prstGeom prst="rect">
            <a:avLst/>
          </a:prstGeom>
          <a:noFill/>
          <a:ln/>
        </p:spPr>
        <p:txBody>
          <a:bodyPr wrap="square" lIns="0" tIns="0" rIns="0" bIns="0" rtlCol="0" anchor="ctr">
            <a:normAutofit/>
          </a:bodyPr>
          <a:lstStyle/>
          <a:p>
            <a:pPr indent="0" marL="0">
              <a:buNone/>
            </a:pPr>
            <a:r>
              <a:rPr lang="en-US" sz="3197" b="1" dirty="0">
                <a:solidFill>
                  <a:srgbClr val="232D3B"/>
                </a:solidFill>
                <a:latin typeface="Aptos" pitchFamily="34" charset="0"/>
                <a:ea typeface="Aptos" pitchFamily="34" charset="-122"/>
                <a:cs typeface="Aptos" pitchFamily="34" charset="-120"/>
              </a:rPr>
              <a:t>Read the evidence, not only the slide</a:t>
            </a:r>
            <a:endParaRPr lang="en-US" sz="3197" dirty="0"/>
          </a:p>
        </p:txBody>
      </p:sp>
      <p:sp>
        <p:nvSpPr>
          <p:cNvPr id="6" name="Shape 4"/>
          <p:cNvSpPr/>
          <p:nvPr/>
        </p:nvSpPr>
        <p:spPr>
          <a:xfrm>
            <a:off x="502920" y="6355080"/>
            <a:ext cx="11183112" cy="0"/>
          </a:xfrm>
          <a:prstGeom prst="line">
            <a:avLst/>
          </a:prstGeom>
          <a:noFill/>
          <a:ln w="7620">
            <a:solidFill>
              <a:srgbClr val="D8E0E8"/>
            </a:solidFill>
            <a:prstDash val="solid"/>
          </a:ln>
        </p:spPr>
      </p:sp>
      <p:sp>
        <p:nvSpPr>
          <p:cNvPr id="7" name="Text 5"/>
          <p:cNvSpPr/>
          <p:nvPr/>
        </p:nvSpPr>
        <p:spPr>
          <a:xfrm>
            <a:off x="502920" y="6473952"/>
            <a:ext cx="5486400" cy="182880"/>
          </a:xfrm>
          <a:prstGeom prst="rect">
            <a:avLst/>
          </a:prstGeom>
          <a:noFill/>
          <a:ln/>
        </p:spPr>
        <p:txBody>
          <a:bodyPr wrap="square" lIns="0" tIns="0" rIns="0" bIns="0" rtlCol="0" anchor="ctr">
            <a:normAutofit/>
          </a:bodyPr>
          <a:lstStyle/>
          <a:p>
            <a:pPr indent="0" marL="0">
              <a:buNone/>
            </a:pPr>
            <a:r>
              <a:rPr lang="en-US" sz="800" dirty="0">
                <a:solidFill>
                  <a:srgbClr val="526171"/>
                </a:solidFill>
                <a:latin typeface="Aptos" pitchFamily="34" charset="0"/>
                <a:ea typeface="Aptos" pitchFamily="34" charset="-122"/>
                <a:cs typeface="Aptos" pitchFamily="34" charset="-120"/>
              </a:rPr>
              <a:t>BIOINFORMATICS FOR BIOENGINEERING</a:t>
            </a:r>
            <a:endParaRPr lang="en-US" sz="800" dirty="0"/>
          </a:p>
        </p:txBody>
      </p:sp>
      <p:sp>
        <p:nvSpPr>
          <p:cNvPr id="8" name="Text 6"/>
          <p:cNvSpPr/>
          <p:nvPr/>
        </p:nvSpPr>
        <p:spPr>
          <a:xfrm>
            <a:off x="7406640" y="6464808"/>
            <a:ext cx="4251960" cy="210312"/>
          </a:xfrm>
          <a:prstGeom prst="rect">
            <a:avLst/>
          </a:prstGeom>
          <a:noFill/>
          <a:ln/>
        </p:spPr>
        <p:txBody>
          <a:bodyPr wrap="square" lIns="0" tIns="0" rIns="0" bIns="0" rtlCol="0" anchor="ctr">
            <a:normAutofit/>
          </a:bodyPr>
          <a:lstStyle/>
          <a:p>
            <a:pPr algn="r" indent="0" marL="0">
              <a:buNone/>
            </a:pPr>
            <a:r>
              <a:rPr lang="en-US" sz="800" dirty="0">
                <a:solidFill>
                  <a:srgbClr val="526171"/>
                </a:solidFill>
                <a:latin typeface="Aptos" pitchFamily="34" charset="0"/>
                <a:ea typeface="Aptos" pitchFamily="34" charset="-122"/>
                <a:cs typeface="Aptos" pitchFamily="34" charset="-120"/>
              </a:rPr>
              <a:t>S06 / S26 / S28  |  20</a:t>
            </a:r>
            <a:endParaRPr lang="en-US" sz="800" dirty="0"/>
          </a:p>
        </p:txBody>
      </p:sp>
      <p:sp>
        <p:nvSpPr>
          <p:cNvPr id="9" name="Text 7"/>
          <p:cNvSpPr/>
          <p:nvPr/>
        </p:nvSpPr>
        <p:spPr>
          <a:xfrm>
            <a:off x="694944" y="1856232"/>
            <a:ext cx="10881360" cy="4160520"/>
          </a:xfrm>
          <a:prstGeom prst="rect">
            <a:avLst/>
          </a:prstGeom>
          <a:noFill/>
          <a:ln/>
        </p:spPr>
        <p:txBody>
          <a:bodyPr wrap="square" lIns="0" tIns="0" rIns="0" bIns="0" rtlCol="0" anchor="t">
            <a:normAutofit/>
          </a:bodyPr>
          <a:lstStyle/>
          <a:p>
            <a:pPr indent="0" marL="0">
              <a:buNone/>
            </a:pPr>
            <a:r>
              <a:rPr lang="en-US" sz="1997" dirty="0">
                <a:solidFill>
                  <a:srgbClr val="232D3B"/>
                </a:solidFill>
                <a:latin typeface="Aptos" pitchFamily="34" charset="0"/>
                <a:ea typeface="Aptos" pitchFamily="34" charset="-122"/>
                <a:cs typeface="Aptos" pitchFamily="34" charset="-120"/>
              </a:rPr>
              <a:t>S06  NCBI: How BLAST Works and BLAST Statistics: The Expect Value.</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S26  NCBI: How BLAST Works (2022 workshop).</a:t>
            </a:r>
            <a:endParaRPr lang="en-US" sz="1997" dirty="0"/>
          </a:p>
          <a:p>
            <a:pPr indent="0" marL="0">
              <a:buNone/>
            </a:pPr>
            <a:endParaRPr lang="en-US" sz="1997" dirty="0"/>
          </a:p>
          <a:p>
            <a:pPr indent="0" marL="0">
              <a:buNone/>
            </a:pPr>
            <a:r>
              <a:rPr lang="en-US" sz="1997" dirty="0">
                <a:solidFill>
                  <a:srgbClr val="232D3B"/>
                </a:solidFill>
                <a:latin typeface="Aptos" pitchFamily="34" charset="0"/>
                <a:ea typeface="Aptos" pitchFamily="34" charset="-122"/>
                <a:cs typeface="Aptos" pitchFamily="34" charset="-120"/>
              </a:rPr>
              <a:t>S28  Smith and Waterman (1981). Identification of common molecular subsequences. Journal of Molecular Biology 147:195-197.</a:t>
            </a:r>
            <a:endParaRPr lang="en-US" sz="1997"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Ege University | Bioengineering</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Sequence similarity without overclaiming</dc:title>
  <dc:subject>Scaffolded fourth-year bioengineering</dc:subject>
  <dc:creator>BIB course teaching materials</dc:creator>
  <cp:lastModifiedBy>BIB course teaching materials</cp:lastModifiedBy>
  <cp:revision>1</cp:revision>
  <dcterms:created xsi:type="dcterms:W3CDTF">2026-09-14T18:26:55Z</dcterms:created>
  <dcterms:modified xsi:type="dcterms:W3CDTF">2026-09-14T18:26:55Z</dcterms:modified>
</cp:coreProperties>
</file>