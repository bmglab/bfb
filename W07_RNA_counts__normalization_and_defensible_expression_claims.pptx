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When is a bigger count not evidence of higher expression?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Reads are assigned to genes or transcripts using a stated reference and rule.
Rows represent features; columns represent samples in our bulk RNA example.
Sample metadata must match columns by identifier, not accidental order.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Library size changes how many molecules are sampled.
Feature length and composition affect some counting summaries.
Biological differences and technical biases require an explicit model.
Checkpoint: ask a student to state one conclusion the data do NOT support.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Library-size scaling addresses a sampling-depth component.
TPM divides by length and rescales within each sample in our toy example.
For differential expression, use a method with its specified input and assumptions.
Checkpoint: ask a student to state one conclusion the data do NOT support.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Divide each feature count by its length in kilobases.
Sum these length-adjusted rates within the sample.
Divide each rate by that sum and multiply by one million.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TPM should sum to one million within a non-empty sample.
But sum-to-one-million alone does not prove the calculation is correct.
Also compare an equal-abundance, unequal-length control.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count model uses sample-level replication and its own normalization.
Raw count-matrix workflows should not be fed TPM values.
Approved transcript-quantifier import workflows are a separate route; follow their documentation.
Checkpoint: ask a student to state one conclusion the data do NOT support.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log2 fold change describes the estimated direction and magnitude.
Adjusted p-values address a family of tests under assumptions.
Large effects can be uncertain; tiny effects can be statistically supported.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S09: Love, Huber and Anders (2014). Moderated estimation of fold change and dispersion for RNA-seq data with DESeq2.
https://doi.org/10.1186/s13059-014-0550-8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RNA changes can reflect cell composition or regulation.
Enrichment depends on the tested gene universe and annotation choices.
State what additional protein, functional or replication evidence is needed.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S09: Love, Huber and Anders (2014). Moderated estimation of fold change and dispersion for RNA-seq data with DESeq2.
https://doi.org/10.1186/s13059-014-0550-8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S25: Huber and Reyes. pasilla data package; Brooks et al. (2011) experiment.
https://bioconductor.org/packages/release/data/experiment/html/pasilla.html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S25: Huber and Reyes. pasilla data package; Brooks et al. (2011) experiment.
https://bioconductor.org/packages/release/data/experiment/html/pasilla.html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S25: Huber and Reyes. pasilla data package; Brooks et al. (2011) experiment.
https://bioconductor.org/packages/release/data/experiment/html/pasilla.html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S09: Love, Huber and Anders (2014). Moderated estimation of fold change and dispersion for RNA-seq data with DESeq2.
https://doi.org/10.1186/s13059-014-0550-8
S10: DESeq2: Analyzing RNA-seq data with DESeq2, release vignette.
https://bioconductor.org/packages/release/bioc/vignettes/DESeq2/inst/doc/DESeq2.html
S25: Huber and Reyes. pasilla data package; Brooks et al. (2011) experiment.
https://bioconductor.org/packages/release/data/experiment/html/pasilla.html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07</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RNA counts, normalization and defensible expression claims</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When is a bigger count not evidence of higher expression?</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Interpret a genes-by-samples count matrix and sample metadata.</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Calculate a toy TPM correctly and distinguish it from count-model input.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a differential-expression summary without claiming protein function.</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A gene may produce several transcripts; counts depend on what features and assignment rules were used.</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From RNA to a count matrix</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66" dirty="0">
                <a:solidFill>
                  <a:srgbClr val="232D3B"/>
                </a:solidFill>
                <a:latin typeface="Aptos" pitchFamily="34" charset="0"/>
                <a:ea typeface="Aptos" pitchFamily="34" charset="-122"/>
                <a:cs typeface="Aptos" pitchFamily="34" charset="-120"/>
              </a:rPr>
              <a:t>Reads are assigned to genes or transcripts using a stated reference and rule.</a:t>
            </a:r>
            <a:endParaRPr lang="en-US" sz="2266"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172" dirty="0">
                <a:solidFill>
                  <a:srgbClr val="232D3B"/>
                </a:solidFill>
                <a:latin typeface="Aptos" pitchFamily="34" charset="0"/>
                <a:ea typeface="Aptos" pitchFamily="34" charset="-122"/>
                <a:cs typeface="Aptos" pitchFamily="34" charset="-120"/>
              </a:rPr>
              <a:t>Rows represent features; columns represent samples in our bulk RNA example.</a:t>
            </a:r>
            <a:endParaRPr lang="en-US" sz="2172"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Sample metadata must match columns by identifier, not accidental order.</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Counts depend on more than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S10  |  5</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Library size changes how many molecules are sampled.</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Feature length and composition affect some counting summaries.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Biological differences and technical biases require an explicit model.</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Normalization is not one universal operation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S10  |  6</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Relative abundance display</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Count-based inference</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Library-size scaling addresses a sampling-depth component.</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TPM divides by length and rescales within each sample in our toy example.</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116" dirty="0">
                <a:solidFill>
                  <a:srgbClr val="232D3B"/>
                </a:solidFill>
                <a:latin typeface="Aptos" pitchFamily="34" charset="0"/>
                <a:ea typeface="Aptos" pitchFamily="34" charset="-122"/>
                <a:cs typeface="Aptos" pitchFamily="34" charset="-120"/>
              </a:rPr>
              <a:t>For differential expression, use a method with its specified input and assumptions.</a:t>
            </a:r>
            <a:endParaRPr lang="en-US" sz="211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Toy TPM: length first, sum second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Divide each feature count by its length in kilobases.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Sum these length-adjusted rates within the sample.</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Divide each rate by that sum and multiply by one million.</a:t>
            </a:r>
            <a:endParaRPr lang="en-US" sz="2297" dirty="0"/>
          </a:p>
        </p:txBody>
      </p:sp>
      <p:sp>
        <p:nvSpPr>
          <p:cNvPr id="16" name="Text 14"/>
          <p:cNvSpPr/>
          <p:nvPr/>
        </p:nvSpPr>
        <p:spPr>
          <a:xfrm>
            <a:off x="841248" y="2889504"/>
            <a:ext cx="4471416" cy="1828800"/>
          </a:xfrm>
          <a:prstGeom prst="rect">
            <a:avLst/>
          </a:prstGeom>
          <a:noFill/>
          <a:ln/>
        </p:spPr>
        <p:txBody>
          <a:bodyPr wrap="square" lIns="0" tIns="0" rIns="0" bIns="0" rtlCol="0" anchor="ctr">
            <a:normAutofit/>
          </a:bodyPr>
          <a:lstStyle/>
          <a:p>
            <a:pPr algn="ctr" indent="0" marL="0">
              <a:buNone/>
            </a:pPr>
            <a:r>
              <a:rPr lang="en-US" sz="2797" b="1" dirty="0">
                <a:solidFill>
                  <a:srgbClr val="2A78D6"/>
                </a:solidFill>
                <a:latin typeface="Aptos" pitchFamily="34" charset="0"/>
                <a:ea typeface="Aptos" pitchFamily="34" charset="-122"/>
                <a:cs typeface="Aptos" pitchFamily="34" charset="-120"/>
              </a:rPr>
              <a:t>TPM_i = (count_i / length_kb_i) / sum(rates) x 1,000,000</a:t>
            </a:r>
            <a:endParaRPr lang="en-US" sz="2797" dirty="0"/>
          </a:p>
        </p:txBody>
      </p:sp>
      <p:sp>
        <p:nvSpPr>
          <p:cNvPr id="17" name="Text 15"/>
          <p:cNvSpPr/>
          <p:nvPr/>
        </p:nvSpPr>
        <p:spPr>
          <a:xfrm>
            <a:off x="841248" y="4992624"/>
            <a:ext cx="4471416" cy="548640"/>
          </a:xfrm>
          <a:prstGeom prst="rect">
            <a:avLst/>
          </a:prstGeom>
          <a:noFill/>
          <a:ln/>
        </p:spPr>
        <p:txBody>
          <a:bodyPr wrap="square" lIns="0" tIns="0" rIns="0" bIns="0" rtlCol="0" anchor="ctr">
            <a:normAutofit/>
          </a:bodyPr>
          <a:lstStyle/>
          <a:p>
            <a:pPr algn="ctr" indent="0" marL="0">
              <a:buNone/>
            </a:pPr>
            <a:r>
              <a:rPr lang="en-US" sz="1763" dirty="0">
                <a:solidFill>
                  <a:srgbClr val="526171"/>
                </a:solidFill>
                <a:latin typeface="Aptos" pitchFamily="34" charset="0"/>
                <a:ea typeface="Aptos" pitchFamily="34" charset="-122"/>
                <a:cs typeface="Aptos" pitchFamily="34" charset="-120"/>
              </a:rPr>
              <a:t>State the units and the assumptions.</a:t>
            </a:r>
            <a:endParaRPr lang="en-US" sz="176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An invariant can catch the wrong calculation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8</a:t>
            </a:r>
            <a:endParaRPr lang="en-US" sz="800" dirty="0"/>
          </a:p>
        </p:txBody>
      </p:sp>
      <p:sp>
        <p:nvSpPr>
          <p:cNvPr id="9" name="Shape 7"/>
          <p:cNvSpPr/>
          <p:nvPr/>
        </p:nvSpPr>
        <p:spPr>
          <a:xfrm>
            <a:off x="594360" y="1828800"/>
            <a:ext cx="2715768" cy="699516"/>
          </a:xfrm>
          <a:prstGeom prst="rect">
            <a:avLst/>
          </a:prstGeom>
          <a:solidFill>
            <a:srgbClr val="2A78D6"/>
          </a:solidFill>
          <a:ln w="7620">
            <a:solidFill>
              <a:srgbClr val="2A78D6"/>
            </a:solidFill>
            <a:prstDash val="solid"/>
          </a:ln>
        </p:spPr>
      </p:sp>
      <p:sp>
        <p:nvSpPr>
          <p:cNvPr id="10" name="Text 8"/>
          <p:cNvSpPr/>
          <p:nvPr/>
        </p:nvSpPr>
        <p:spPr>
          <a:xfrm>
            <a:off x="713232"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Feature</a:t>
            </a:r>
            <a:endParaRPr lang="en-US" sz="1797" dirty="0"/>
          </a:p>
        </p:txBody>
      </p:sp>
      <p:sp>
        <p:nvSpPr>
          <p:cNvPr id="11" name="Shape 9"/>
          <p:cNvSpPr/>
          <p:nvPr/>
        </p:nvSpPr>
        <p:spPr>
          <a:xfrm>
            <a:off x="3342132" y="1828800"/>
            <a:ext cx="2715768" cy="699516"/>
          </a:xfrm>
          <a:prstGeom prst="rect">
            <a:avLst/>
          </a:prstGeom>
          <a:solidFill>
            <a:srgbClr val="2A78D6"/>
          </a:solidFill>
          <a:ln w="7620">
            <a:solidFill>
              <a:srgbClr val="2A78D6"/>
            </a:solidFill>
            <a:prstDash val="solid"/>
          </a:ln>
        </p:spPr>
      </p:sp>
      <p:sp>
        <p:nvSpPr>
          <p:cNvPr id="12" name="Text 10"/>
          <p:cNvSpPr/>
          <p:nvPr/>
        </p:nvSpPr>
        <p:spPr>
          <a:xfrm>
            <a:off x="3461004"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Count</a:t>
            </a:r>
            <a:endParaRPr lang="en-US" sz="1797" dirty="0"/>
          </a:p>
        </p:txBody>
      </p:sp>
      <p:sp>
        <p:nvSpPr>
          <p:cNvPr id="13" name="Shape 11"/>
          <p:cNvSpPr/>
          <p:nvPr/>
        </p:nvSpPr>
        <p:spPr>
          <a:xfrm>
            <a:off x="6089904" y="1828800"/>
            <a:ext cx="2715768" cy="699516"/>
          </a:xfrm>
          <a:prstGeom prst="rect">
            <a:avLst/>
          </a:prstGeom>
          <a:solidFill>
            <a:srgbClr val="2A78D6"/>
          </a:solidFill>
          <a:ln w="7620">
            <a:solidFill>
              <a:srgbClr val="2A78D6"/>
            </a:solidFill>
            <a:prstDash val="solid"/>
          </a:ln>
        </p:spPr>
      </p:sp>
      <p:sp>
        <p:nvSpPr>
          <p:cNvPr id="14" name="Text 12"/>
          <p:cNvSpPr/>
          <p:nvPr/>
        </p:nvSpPr>
        <p:spPr>
          <a:xfrm>
            <a:off x="6208776"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Length kb</a:t>
            </a:r>
            <a:endParaRPr lang="en-US" sz="1797" dirty="0"/>
          </a:p>
        </p:txBody>
      </p:sp>
      <p:sp>
        <p:nvSpPr>
          <p:cNvPr id="15" name="Shape 13"/>
          <p:cNvSpPr/>
          <p:nvPr/>
        </p:nvSpPr>
        <p:spPr>
          <a:xfrm>
            <a:off x="8837676" y="1828800"/>
            <a:ext cx="2715768" cy="699516"/>
          </a:xfrm>
          <a:prstGeom prst="rect">
            <a:avLst/>
          </a:prstGeom>
          <a:solidFill>
            <a:srgbClr val="2A78D6"/>
          </a:solidFill>
          <a:ln w="7620">
            <a:solidFill>
              <a:srgbClr val="2A78D6"/>
            </a:solidFill>
            <a:prstDash val="solid"/>
          </a:ln>
        </p:spPr>
      </p:sp>
      <p:sp>
        <p:nvSpPr>
          <p:cNvPr id="16" name="Text 14"/>
          <p:cNvSpPr/>
          <p:nvPr/>
        </p:nvSpPr>
        <p:spPr>
          <a:xfrm>
            <a:off x="8956548"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Rate</a:t>
            </a:r>
            <a:endParaRPr lang="en-US" sz="1797" dirty="0"/>
          </a:p>
        </p:txBody>
      </p:sp>
      <p:sp>
        <p:nvSpPr>
          <p:cNvPr id="17" name="Shape 15"/>
          <p:cNvSpPr/>
          <p:nvPr/>
        </p:nvSpPr>
        <p:spPr>
          <a:xfrm>
            <a:off x="594360" y="2560320"/>
            <a:ext cx="2715768" cy="699516"/>
          </a:xfrm>
          <a:prstGeom prst="rect">
            <a:avLst/>
          </a:prstGeom>
          <a:solidFill>
            <a:srgbClr val="EAF2FC"/>
          </a:solidFill>
          <a:ln w="7620">
            <a:solidFill>
              <a:srgbClr val="EAF2FC"/>
            </a:solidFill>
            <a:prstDash val="solid"/>
          </a:ln>
        </p:spPr>
      </p:sp>
      <p:sp>
        <p:nvSpPr>
          <p:cNvPr id="18" name="Text 16"/>
          <p:cNvSpPr/>
          <p:nvPr/>
        </p:nvSpPr>
        <p:spPr>
          <a:xfrm>
            <a:off x="713232"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A</a:t>
            </a:r>
            <a:endParaRPr lang="en-US" sz="1797" dirty="0"/>
          </a:p>
        </p:txBody>
      </p:sp>
      <p:sp>
        <p:nvSpPr>
          <p:cNvPr id="19" name="Shape 17"/>
          <p:cNvSpPr/>
          <p:nvPr/>
        </p:nvSpPr>
        <p:spPr>
          <a:xfrm>
            <a:off x="3342132" y="2560320"/>
            <a:ext cx="2715768" cy="699516"/>
          </a:xfrm>
          <a:prstGeom prst="rect">
            <a:avLst/>
          </a:prstGeom>
          <a:solidFill>
            <a:srgbClr val="EAF2FC"/>
          </a:solidFill>
          <a:ln w="7620">
            <a:solidFill>
              <a:srgbClr val="EAF2FC"/>
            </a:solidFill>
            <a:prstDash val="solid"/>
          </a:ln>
        </p:spPr>
      </p:sp>
      <p:sp>
        <p:nvSpPr>
          <p:cNvPr id="20" name="Text 18"/>
          <p:cNvSpPr/>
          <p:nvPr/>
        </p:nvSpPr>
        <p:spPr>
          <a:xfrm>
            <a:off x="3461004"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100</a:t>
            </a:r>
            <a:endParaRPr lang="en-US" sz="1797" dirty="0"/>
          </a:p>
        </p:txBody>
      </p:sp>
      <p:sp>
        <p:nvSpPr>
          <p:cNvPr id="21" name="Shape 19"/>
          <p:cNvSpPr/>
          <p:nvPr/>
        </p:nvSpPr>
        <p:spPr>
          <a:xfrm>
            <a:off x="6089904" y="2560320"/>
            <a:ext cx="2715768" cy="699516"/>
          </a:xfrm>
          <a:prstGeom prst="rect">
            <a:avLst/>
          </a:prstGeom>
          <a:solidFill>
            <a:srgbClr val="EAF2FC"/>
          </a:solidFill>
          <a:ln w="7620">
            <a:solidFill>
              <a:srgbClr val="EAF2FC"/>
            </a:solidFill>
            <a:prstDash val="solid"/>
          </a:ln>
        </p:spPr>
      </p:sp>
      <p:sp>
        <p:nvSpPr>
          <p:cNvPr id="22" name="Text 20"/>
          <p:cNvSpPr/>
          <p:nvPr/>
        </p:nvSpPr>
        <p:spPr>
          <a:xfrm>
            <a:off x="6208776"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a:t>
            </a:r>
            <a:endParaRPr lang="en-US" sz="1797" dirty="0"/>
          </a:p>
        </p:txBody>
      </p:sp>
      <p:sp>
        <p:nvSpPr>
          <p:cNvPr id="23" name="Shape 21"/>
          <p:cNvSpPr/>
          <p:nvPr/>
        </p:nvSpPr>
        <p:spPr>
          <a:xfrm>
            <a:off x="8837676" y="2560320"/>
            <a:ext cx="2715768" cy="699516"/>
          </a:xfrm>
          <a:prstGeom prst="rect">
            <a:avLst/>
          </a:prstGeom>
          <a:solidFill>
            <a:srgbClr val="EAF2FC"/>
          </a:solidFill>
          <a:ln w="7620">
            <a:solidFill>
              <a:srgbClr val="EAF2FC"/>
            </a:solidFill>
            <a:prstDash val="solid"/>
          </a:ln>
        </p:spPr>
      </p:sp>
      <p:sp>
        <p:nvSpPr>
          <p:cNvPr id="24" name="Text 22"/>
          <p:cNvSpPr/>
          <p:nvPr/>
        </p:nvSpPr>
        <p:spPr>
          <a:xfrm>
            <a:off x="8956548"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100</a:t>
            </a:r>
            <a:endParaRPr lang="en-US" sz="1797" dirty="0"/>
          </a:p>
        </p:txBody>
      </p:sp>
      <p:sp>
        <p:nvSpPr>
          <p:cNvPr id="25" name="Shape 23"/>
          <p:cNvSpPr/>
          <p:nvPr/>
        </p:nvSpPr>
        <p:spPr>
          <a:xfrm>
            <a:off x="594360" y="3291840"/>
            <a:ext cx="2715768" cy="699516"/>
          </a:xfrm>
          <a:prstGeom prst="rect">
            <a:avLst/>
          </a:prstGeom>
          <a:solidFill>
            <a:srgbClr val="FFFFFF"/>
          </a:solidFill>
          <a:ln w="7620">
            <a:solidFill>
              <a:srgbClr val="FFFFFF"/>
            </a:solidFill>
            <a:prstDash val="solid"/>
          </a:ln>
        </p:spPr>
      </p:sp>
      <p:sp>
        <p:nvSpPr>
          <p:cNvPr id="26" name="Text 24"/>
          <p:cNvSpPr/>
          <p:nvPr/>
        </p:nvSpPr>
        <p:spPr>
          <a:xfrm>
            <a:off x="713232"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
            </a:r>
            <a:endParaRPr lang="en-US" sz="1797" dirty="0"/>
          </a:p>
        </p:txBody>
      </p:sp>
      <p:sp>
        <p:nvSpPr>
          <p:cNvPr id="27" name="Shape 25"/>
          <p:cNvSpPr/>
          <p:nvPr/>
        </p:nvSpPr>
        <p:spPr>
          <a:xfrm>
            <a:off x="3342132" y="3291840"/>
            <a:ext cx="2715768" cy="699516"/>
          </a:xfrm>
          <a:prstGeom prst="rect">
            <a:avLst/>
          </a:prstGeom>
          <a:solidFill>
            <a:srgbClr val="FFFFFF"/>
          </a:solidFill>
          <a:ln w="7620">
            <a:solidFill>
              <a:srgbClr val="FFFFFF"/>
            </a:solidFill>
            <a:prstDash val="solid"/>
          </a:ln>
        </p:spPr>
      </p:sp>
      <p:sp>
        <p:nvSpPr>
          <p:cNvPr id="28" name="Text 26"/>
          <p:cNvSpPr/>
          <p:nvPr/>
        </p:nvSpPr>
        <p:spPr>
          <a:xfrm>
            <a:off x="3461004"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200</a:t>
            </a:r>
            <a:endParaRPr lang="en-US" sz="1797" dirty="0"/>
          </a:p>
        </p:txBody>
      </p:sp>
      <p:sp>
        <p:nvSpPr>
          <p:cNvPr id="29" name="Shape 27"/>
          <p:cNvSpPr/>
          <p:nvPr/>
        </p:nvSpPr>
        <p:spPr>
          <a:xfrm>
            <a:off x="6089904" y="3291840"/>
            <a:ext cx="2715768" cy="699516"/>
          </a:xfrm>
          <a:prstGeom prst="rect">
            <a:avLst/>
          </a:prstGeom>
          <a:solidFill>
            <a:srgbClr val="FFFFFF"/>
          </a:solidFill>
          <a:ln w="7620">
            <a:solidFill>
              <a:srgbClr val="FFFFFF"/>
            </a:solidFill>
            <a:prstDash val="solid"/>
          </a:ln>
        </p:spPr>
      </p:sp>
      <p:sp>
        <p:nvSpPr>
          <p:cNvPr id="30" name="Text 28"/>
          <p:cNvSpPr/>
          <p:nvPr/>
        </p:nvSpPr>
        <p:spPr>
          <a:xfrm>
            <a:off x="6208776"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2</a:t>
            </a:r>
            <a:endParaRPr lang="en-US" sz="1797" dirty="0"/>
          </a:p>
        </p:txBody>
      </p:sp>
      <p:sp>
        <p:nvSpPr>
          <p:cNvPr id="31" name="Shape 29"/>
          <p:cNvSpPr/>
          <p:nvPr/>
        </p:nvSpPr>
        <p:spPr>
          <a:xfrm>
            <a:off x="8837676" y="3291840"/>
            <a:ext cx="2715768" cy="699516"/>
          </a:xfrm>
          <a:prstGeom prst="rect">
            <a:avLst/>
          </a:prstGeom>
          <a:solidFill>
            <a:srgbClr val="FFFFFF"/>
          </a:solidFill>
          <a:ln w="7620">
            <a:solidFill>
              <a:srgbClr val="FFFFFF"/>
            </a:solidFill>
            <a:prstDash val="solid"/>
          </a:ln>
        </p:spPr>
      </p:sp>
      <p:sp>
        <p:nvSpPr>
          <p:cNvPr id="32" name="Text 30"/>
          <p:cNvSpPr/>
          <p:nvPr/>
        </p:nvSpPr>
        <p:spPr>
          <a:xfrm>
            <a:off x="8956548"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100</a:t>
            </a:r>
            <a:endParaRPr lang="en-US" sz="1797" dirty="0"/>
          </a:p>
        </p:txBody>
      </p:sp>
      <p:sp>
        <p:nvSpPr>
          <p:cNvPr id="33" name="Shape 31"/>
          <p:cNvSpPr/>
          <p:nvPr/>
        </p:nvSpPr>
        <p:spPr>
          <a:xfrm>
            <a:off x="612648" y="4279392"/>
            <a:ext cx="50292" cy="435864"/>
          </a:xfrm>
          <a:prstGeom prst="rect">
            <a:avLst/>
          </a:prstGeom>
          <a:solidFill>
            <a:srgbClr val="2A78D6"/>
          </a:solidFill>
          <a:ln w="7620">
            <a:solidFill>
              <a:srgbClr val="2A78D6"/>
            </a:solidFill>
            <a:prstDash val="solid"/>
          </a:ln>
        </p:spPr>
      </p:sp>
      <p:sp>
        <p:nvSpPr>
          <p:cNvPr id="34" name="Text 32"/>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TPM should sum to one million within a non-empty sample.</a:t>
            </a:r>
            <a:endParaRPr lang="en-US" sz="2100" dirty="0"/>
          </a:p>
        </p:txBody>
      </p:sp>
      <p:sp>
        <p:nvSpPr>
          <p:cNvPr id="35" name="Shape 33"/>
          <p:cNvSpPr/>
          <p:nvPr/>
        </p:nvSpPr>
        <p:spPr>
          <a:xfrm>
            <a:off x="612648" y="4916424"/>
            <a:ext cx="50292" cy="435864"/>
          </a:xfrm>
          <a:prstGeom prst="rect">
            <a:avLst/>
          </a:prstGeom>
          <a:solidFill>
            <a:srgbClr val="2A78D6"/>
          </a:solidFill>
          <a:ln w="7620">
            <a:solidFill>
              <a:srgbClr val="2A78D6"/>
            </a:solidFill>
            <a:prstDash val="solid"/>
          </a:ln>
        </p:spPr>
      </p:sp>
      <p:sp>
        <p:nvSpPr>
          <p:cNvPr id="36" name="Text 34"/>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But sum-to-one-million alone does not prove the calculation is correct.</a:t>
            </a:r>
            <a:endParaRPr lang="en-US" sz="2100" dirty="0"/>
          </a:p>
        </p:txBody>
      </p:sp>
      <p:sp>
        <p:nvSpPr>
          <p:cNvPr id="37" name="Shape 35"/>
          <p:cNvSpPr/>
          <p:nvPr/>
        </p:nvSpPr>
        <p:spPr>
          <a:xfrm>
            <a:off x="612648" y="5553456"/>
            <a:ext cx="50292" cy="435864"/>
          </a:xfrm>
          <a:prstGeom prst="rect">
            <a:avLst/>
          </a:prstGeom>
          <a:solidFill>
            <a:srgbClr val="2A78D6"/>
          </a:solidFill>
          <a:ln w="7620">
            <a:solidFill>
              <a:srgbClr val="2A78D6"/>
            </a:solidFill>
            <a:prstDash val="solid"/>
          </a:ln>
        </p:spPr>
      </p:sp>
      <p:sp>
        <p:nvSpPr>
          <p:cNvPr id="38" name="Text 36"/>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Also compare an equal-abundance, unequal-length control.</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DESeq2 is not a t-test on TPM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S10  |  9</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count model uses sample-level replication and its own normalization.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Raw count-matrix workflows should not be fed TPM values.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Approved transcript-quantifier import workflows are a separate route; follow their documentation.</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Fold change and evidence are separate axes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S09  |  10</a:t>
            </a:r>
            <a:endParaRPr lang="en-US" sz="800" dirty="0"/>
          </a:p>
        </p:txBody>
      </p:sp>
      <p:sp>
        <p:nvSpPr>
          <p:cNvPr id="9" name="Shape 7"/>
          <p:cNvSpPr/>
          <p:nvPr/>
        </p:nvSpPr>
        <p:spPr>
          <a:xfrm>
            <a:off x="594360" y="1828800"/>
            <a:ext cx="3631692" cy="699516"/>
          </a:xfrm>
          <a:prstGeom prst="rect">
            <a:avLst/>
          </a:prstGeom>
          <a:solidFill>
            <a:srgbClr val="2A78D6"/>
          </a:solidFill>
          <a:ln w="7620">
            <a:solidFill>
              <a:srgbClr val="2A78D6"/>
            </a:solidFill>
            <a:prstDash val="solid"/>
          </a:ln>
        </p:spPr>
      </p:sp>
      <p:sp>
        <p:nvSpPr>
          <p:cNvPr id="10" name="Text 8"/>
          <p:cNvSpPr/>
          <p:nvPr/>
        </p:nvSpPr>
        <p:spPr>
          <a:xfrm>
            <a:off x="713232" y="1901952"/>
            <a:ext cx="3389376"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Gene</a:t>
            </a:r>
            <a:endParaRPr lang="en-US" sz="1797" dirty="0"/>
          </a:p>
        </p:txBody>
      </p:sp>
      <p:sp>
        <p:nvSpPr>
          <p:cNvPr id="11" name="Shape 9"/>
          <p:cNvSpPr/>
          <p:nvPr/>
        </p:nvSpPr>
        <p:spPr>
          <a:xfrm>
            <a:off x="4258056" y="1828800"/>
            <a:ext cx="3631692" cy="699516"/>
          </a:xfrm>
          <a:prstGeom prst="rect">
            <a:avLst/>
          </a:prstGeom>
          <a:solidFill>
            <a:srgbClr val="2A78D6"/>
          </a:solidFill>
          <a:ln w="7620">
            <a:solidFill>
              <a:srgbClr val="2A78D6"/>
            </a:solidFill>
            <a:prstDash val="solid"/>
          </a:ln>
        </p:spPr>
      </p:sp>
      <p:sp>
        <p:nvSpPr>
          <p:cNvPr id="12" name="Text 10"/>
          <p:cNvSpPr/>
          <p:nvPr/>
        </p:nvSpPr>
        <p:spPr>
          <a:xfrm>
            <a:off x="4376928" y="1901952"/>
            <a:ext cx="3389376"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log2 change</a:t>
            </a:r>
            <a:endParaRPr lang="en-US" sz="1797" dirty="0"/>
          </a:p>
        </p:txBody>
      </p:sp>
      <p:sp>
        <p:nvSpPr>
          <p:cNvPr id="13" name="Shape 11"/>
          <p:cNvSpPr/>
          <p:nvPr/>
        </p:nvSpPr>
        <p:spPr>
          <a:xfrm>
            <a:off x="7921752" y="1828800"/>
            <a:ext cx="3631692" cy="699516"/>
          </a:xfrm>
          <a:prstGeom prst="rect">
            <a:avLst/>
          </a:prstGeom>
          <a:solidFill>
            <a:srgbClr val="2A78D6"/>
          </a:solidFill>
          <a:ln w="7620">
            <a:solidFill>
              <a:srgbClr val="2A78D6"/>
            </a:solidFill>
            <a:prstDash val="solid"/>
          </a:ln>
        </p:spPr>
      </p:sp>
      <p:sp>
        <p:nvSpPr>
          <p:cNvPr id="14" name="Text 12"/>
          <p:cNvSpPr/>
          <p:nvPr/>
        </p:nvSpPr>
        <p:spPr>
          <a:xfrm>
            <a:off x="8040624" y="1901952"/>
            <a:ext cx="3389376"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Adjusted p</a:t>
            </a:r>
            <a:endParaRPr lang="en-US" sz="1797" dirty="0"/>
          </a:p>
        </p:txBody>
      </p:sp>
      <p:sp>
        <p:nvSpPr>
          <p:cNvPr id="15" name="Shape 13"/>
          <p:cNvSpPr/>
          <p:nvPr/>
        </p:nvSpPr>
        <p:spPr>
          <a:xfrm>
            <a:off x="594360" y="2560320"/>
            <a:ext cx="3631692" cy="699516"/>
          </a:xfrm>
          <a:prstGeom prst="rect">
            <a:avLst/>
          </a:prstGeom>
          <a:solidFill>
            <a:srgbClr val="EAF2FC"/>
          </a:solidFill>
          <a:ln w="7620">
            <a:solidFill>
              <a:srgbClr val="EAF2FC"/>
            </a:solidFill>
            <a:prstDash val="solid"/>
          </a:ln>
        </p:spPr>
      </p:sp>
      <p:sp>
        <p:nvSpPr>
          <p:cNvPr id="16" name="Text 14"/>
          <p:cNvSpPr/>
          <p:nvPr/>
        </p:nvSpPr>
        <p:spPr>
          <a:xfrm>
            <a:off x="713232" y="262432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Toy A</a:t>
            </a:r>
            <a:endParaRPr lang="en-US" sz="1797" dirty="0"/>
          </a:p>
        </p:txBody>
      </p:sp>
      <p:sp>
        <p:nvSpPr>
          <p:cNvPr id="17" name="Shape 15"/>
          <p:cNvSpPr/>
          <p:nvPr/>
        </p:nvSpPr>
        <p:spPr>
          <a:xfrm>
            <a:off x="4258056" y="2560320"/>
            <a:ext cx="3631692" cy="699516"/>
          </a:xfrm>
          <a:prstGeom prst="rect">
            <a:avLst/>
          </a:prstGeom>
          <a:solidFill>
            <a:srgbClr val="EAF2FC"/>
          </a:solidFill>
          <a:ln w="7620">
            <a:solidFill>
              <a:srgbClr val="EAF2FC"/>
            </a:solidFill>
            <a:prstDash val="solid"/>
          </a:ln>
        </p:spPr>
      </p:sp>
      <p:sp>
        <p:nvSpPr>
          <p:cNvPr id="18" name="Text 16"/>
          <p:cNvSpPr/>
          <p:nvPr/>
        </p:nvSpPr>
        <p:spPr>
          <a:xfrm>
            <a:off x="4376928" y="262432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2.0</a:t>
            </a:r>
            <a:endParaRPr lang="en-US" sz="1797" dirty="0"/>
          </a:p>
        </p:txBody>
      </p:sp>
      <p:sp>
        <p:nvSpPr>
          <p:cNvPr id="19" name="Shape 17"/>
          <p:cNvSpPr/>
          <p:nvPr/>
        </p:nvSpPr>
        <p:spPr>
          <a:xfrm>
            <a:off x="7921752" y="2560320"/>
            <a:ext cx="3631692" cy="699516"/>
          </a:xfrm>
          <a:prstGeom prst="rect">
            <a:avLst/>
          </a:prstGeom>
          <a:solidFill>
            <a:srgbClr val="EAF2FC"/>
          </a:solidFill>
          <a:ln w="7620">
            <a:solidFill>
              <a:srgbClr val="EAF2FC"/>
            </a:solidFill>
            <a:prstDash val="solid"/>
          </a:ln>
        </p:spPr>
      </p:sp>
      <p:sp>
        <p:nvSpPr>
          <p:cNvPr id="20" name="Text 18"/>
          <p:cNvSpPr/>
          <p:nvPr/>
        </p:nvSpPr>
        <p:spPr>
          <a:xfrm>
            <a:off x="8040624" y="262432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0.30</a:t>
            </a:r>
            <a:endParaRPr lang="en-US" sz="1797" dirty="0"/>
          </a:p>
        </p:txBody>
      </p:sp>
      <p:sp>
        <p:nvSpPr>
          <p:cNvPr id="21" name="Shape 19"/>
          <p:cNvSpPr/>
          <p:nvPr/>
        </p:nvSpPr>
        <p:spPr>
          <a:xfrm>
            <a:off x="594360" y="3291840"/>
            <a:ext cx="3631692" cy="699516"/>
          </a:xfrm>
          <a:prstGeom prst="rect">
            <a:avLst/>
          </a:prstGeom>
          <a:solidFill>
            <a:srgbClr val="FFFFFF"/>
          </a:solidFill>
          <a:ln w="7620">
            <a:solidFill>
              <a:srgbClr val="FFFFFF"/>
            </a:solidFill>
            <a:prstDash val="solid"/>
          </a:ln>
        </p:spPr>
      </p:sp>
      <p:sp>
        <p:nvSpPr>
          <p:cNvPr id="22" name="Text 20"/>
          <p:cNvSpPr/>
          <p:nvPr/>
        </p:nvSpPr>
        <p:spPr>
          <a:xfrm>
            <a:off x="713232" y="335584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Toy B</a:t>
            </a:r>
            <a:endParaRPr lang="en-US" sz="1797" dirty="0"/>
          </a:p>
        </p:txBody>
      </p:sp>
      <p:sp>
        <p:nvSpPr>
          <p:cNvPr id="23" name="Shape 21"/>
          <p:cNvSpPr/>
          <p:nvPr/>
        </p:nvSpPr>
        <p:spPr>
          <a:xfrm>
            <a:off x="4258056" y="3291840"/>
            <a:ext cx="3631692" cy="699516"/>
          </a:xfrm>
          <a:prstGeom prst="rect">
            <a:avLst/>
          </a:prstGeom>
          <a:solidFill>
            <a:srgbClr val="FFFFFF"/>
          </a:solidFill>
          <a:ln w="7620">
            <a:solidFill>
              <a:srgbClr val="FFFFFF"/>
            </a:solidFill>
            <a:prstDash val="solid"/>
          </a:ln>
        </p:spPr>
      </p:sp>
      <p:sp>
        <p:nvSpPr>
          <p:cNvPr id="24" name="Text 22"/>
          <p:cNvSpPr/>
          <p:nvPr/>
        </p:nvSpPr>
        <p:spPr>
          <a:xfrm>
            <a:off x="4376928" y="335584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0.2</a:t>
            </a:r>
            <a:endParaRPr lang="en-US" sz="1797" dirty="0"/>
          </a:p>
        </p:txBody>
      </p:sp>
      <p:sp>
        <p:nvSpPr>
          <p:cNvPr id="25" name="Shape 23"/>
          <p:cNvSpPr/>
          <p:nvPr/>
        </p:nvSpPr>
        <p:spPr>
          <a:xfrm>
            <a:off x="7921752" y="3291840"/>
            <a:ext cx="3631692" cy="699516"/>
          </a:xfrm>
          <a:prstGeom prst="rect">
            <a:avLst/>
          </a:prstGeom>
          <a:solidFill>
            <a:srgbClr val="FFFFFF"/>
          </a:solidFill>
          <a:ln w="7620">
            <a:solidFill>
              <a:srgbClr val="FFFFFF"/>
            </a:solidFill>
            <a:prstDash val="solid"/>
          </a:ln>
        </p:spPr>
      </p:sp>
      <p:sp>
        <p:nvSpPr>
          <p:cNvPr id="26" name="Text 24"/>
          <p:cNvSpPr/>
          <p:nvPr/>
        </p:nvSpPr>
        <p:spPr>
          <a:xfrm>
            <a:off x="8040624" y="3355848"/>
            <a:ext cx="3389376"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0.001</a:t>
            </a:r>
            <a:endParaRPr lang="en-US" sz="1797" dirty="0"/>
          </a:p>
        </p:txBody>
      </p:sp>
      <p:sp>
        <p:nvSpPr>
          <p:cNvPr id="27" name="Shape 25"/>
          <p:cNvSpPr/>
          <p:nvPr/>
        </p:nvSpPr>
        <p:spPr>
          <a:xfrm>
            <a:off x="612648" y="4279392"/>
            <a:ext cx="50292" cy="435864"/>
          </a:xfrm>
          <a:prstGeom prst="rect">
            <a:avLst/>
          </a:prstGeom>
          <a:solidFill>
            <a:srgbClr val="2A78D6"/>
          </a:solidFill>
          <a:ln w="7620">
            <a:solidFill>
              <a:srgbClr val="2A78D6"/>
            </a:solidFill>
            <a:prstDash val="solid"/>
          </a:ln>
        </p:spPr>
      </p:sp>
      <p:sp>
        <p:nvSpPr>
          <p:cNvPr id="28" name="Text 26"/>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log2 fold change describes the estimated direction and magnitude.</a:t>
            </a:r>
            <a:endParaRPr lang="en-US" sz="2100" dirty="0"/>
          </a:p>
        </p:txBody>
      </p:sp>
      <p:sp>
        <p:nvSpPr>
          <p:cNvPr id="29" name="Shape 27"/>
          <p:cNvSpPr/>
          <p:nvPr/>
        </p:nvSpPr>
        <p:spPr>
          <a:xfrm>
            <a:off x="612648" y="4916424"/>
            <a:ext cx="50292" cy="435864"/>
          </a:xfrm>
          <a:prstGeom prst="rect">
            <a:avLst/>
          </a:prstGeom>
          <a:solidFill>
            <a:srgbClr val="2A78D6"/>
          </a:solidFill>
          <a:ln w="7620">
            <a:solidFill>
              <a:srgbClr val="2A78D6"/>
            </a:solidFill>
            <a:prstDash val="solid"/>
          </a:ln>
        </p:spPr>
      </p:sp>
      <p:sp>
        <p:nvSpPr>
          <p:cNvPr id="30" name="Text 28"/>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Adjusted p-values address a family of tests under assumptions.</a:t>
            </a:r>
            <a:endParaRPr lang="en-US" sz="2100" dirty="0"/>
          </a:p>
        </p:txBody>
      </p:sp>
      <p:sp>
        <p:nvSpPr>
          <p:cNvPr id="31" name="Shape 29"/>
          <p:cNvSpPr/>
          <p:nvPr/>
        </p:nvSpPr>
        <p:spPr>
          <a:xfrm>
            <a:off x="612648" y="5553456"/>
            <a:ext cx="50292" cy="435864"/>
          </a:xfrm>
          <a:prstGeom prst="rect">
            <a:avLst/>
          </a:prstGeom>
          <a:solidFill>
            <a:srgbClr val="2A78D6"/>
          </a:solidFill>
          <a:ln w="7620">
            <a:solidFill>
              <a:srgbClr val="2A78D6"/>
            </a:solidFill>
            <a:prstDash val="solid"/>
          </a:ln>
        </p:spPr>
      </p:sp>
      <p:sp>
        <p:nvSpPr>
          <p:cNvPr id="32" name="Text 30"/>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Large effects can be uncertain; tiny effects can be statistically supported.</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result table is not a mechanism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S09 / S10  |  11</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RNA changes can reflect cell composition or regulation.</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Enrichment depends on the tested gene universe and annotation choices.</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State what additional protein, functional or replication evidence is needed.</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equal rates, unequal counts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Two toy features: A has 100 counts and length 1 kb; B has 200 counts and length 2 kb.</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Rates are 100 / 1 = 100 and 200 / 2 = 100.</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Their rate sum is 200.</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TPM values are 500,000 each; raw counts differ while length-adjusted rates are equal.</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An analyst rounds TPM and passes it to a raw-count DESeq2 workflow. Why is this not repaired by rounding?</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Rounding cannot reconstruct the original count sampling information or the intended count model. Use the documented raw-count or supported import workflow.</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W07: repair the TPM order-of-operations bug; then align sample metadata in a real two-gene pasilla excerpt. Do not perform DE on that excerpt.</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count matrix</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metadata</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normalization</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TPM</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fold change</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inspect median-of-ratios normalization and effective lengths; no dispersion derivation is assessed.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07</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S10 / S25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S09  Love, Huber and Anders (2014). Moderated estimation of fold change and dispersion for RNA-seq data with DESeq2.</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S10  DESeq2: Analyzing RNA-seq data with DESeq2, release vignette.</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S25  Huber and Reyes. pasilla data package; Brooks et al. (2011) experiment.</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RNA counts, normalization and defensible expression claims</dc:title>
  <dc:subject>Scaffolded fourth-year bioengineering</dc:subject>
  <dc:creator>BIB course teaching materials</dc:creator>
  <cp:lastModifiedBy>BIB course teaching materials</cp:lastModifiedBy>
  <cp:revision>1</cp:revision>
  <dcterms:created xsi:type="dcterms:W3CDTF">2026-09-14T18:26:56Z</dcterms:created>
  <dcterms:modified xsi:type="dcterms:W3CDTF">2026-09-14T18:26:56Z</dcterms:modified>
</cp:coreProperties>
</file>