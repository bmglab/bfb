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2 minutes
Audience: fourth-year bioengineering with limited prior genetics and coding.
Opening question: Can we explain where every number came from?
Do not require students to know all terms yet. Elicit a prediction.
Read technical terms aloud; ask students to explain the measurement before interpreting the model. Accept justified uncertainty.
[Sources]
Original teaching design / explicitly synthetic classroom example. No external asset used.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Use these observable outcomes for feedback. Core assessment requires interpretation and short arithmetic, not reproducing a full specialist pipeline.
Read technical terms aloud; ask students to explain the measurement before interpreting the model. Accept justified uncertainty.
[Sources]
Original teaching design / explicitly synthetic classroom example. No external asset used.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Ask students to draw or name the biological experimental unit. Revisit the Week 00 bridge if terminology is unclear.
Read technical terms aloud; ask students to explain the measurement before interpreting the model. Accept justified uncertainty.
[Sources]
S01: Alberts et al. Molecular Biology of the Cell, 4th ed. Foundational cell biology chapters.
https://www.ncbi.nlm.nih.gov/books/NBK21054/
S02: GENCODE Human Release 50 and release-specific statistics.
https://www.gencodegenes.org/human/stats_50.html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Explain the slide using one concrete example.
Question: does a treatment change the RNA abundance of selected genes?
Measurement: RNA sequencing of independent biological samples.
Claim limit: this experiment does not directly measure protein activity.
Checkpoint: ask a student to state one conclusion the data do NOT support.
Read technical terms aloud; ask students to explain the measurement before interpreting the model. Accept justified uncertainty.
[Sources]
S01: Alberts et al. Molecular Biology of the Cell, 4th ed. Foundational cell biology chapters.
https://www.ncbi.nlm.nih.gov/books/NBK21054/
S10: DESeq2: Analyzing RNA-seq data with DESeq2, release vignette.
https://bioconductor.org/packages/release/bioc/vignettes/DESeq2/inst/doc/DESeq2.html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Explain the slide using one concrete example.
We study a fictional cell-culture response to a treatment.
Tutorial data are synthetic unless the file says REAL EXCERPT.
Known simulation truth lets us test an analysis; it is not a research discovery.
Checkpoint: ask a student to state one conclusion the data do NOT support.
Read technical terms aloud; ask students to explain the measurement before interpreting the model. Accept justified uncertainty.
[Sources]
Original teaching design / explicitly synthetic classroom example. No external asset used.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Explain the slide using one concrete example.
Biological sample -&gt; laboratory assay -&gt; raw file.
Raw file -&gt; processing steps -&gt; table / figure.
Table / figure -&gt; interpretation, with limitations.
Checkpoint: ask a student to state one conclusion the data do NOT support.
Read technical terms aloud; ask students to explain the measurement before interpreting the model. Accept justified uncertainty.
[Sources]
S10: DESeq2: Analyzing RNA-seq data with DESeq2, release vignette.
https://bioconductor.org/packages/release/bioc/vignettes/DESeq2/inst/doc/DESeq2.html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Explain the slide using one concrete example.
GENCODE release 50 reports 19,442 protein-coding genes under its stated main-chromosome counting rule.
Changing the annotation release or counting definition can change the answer.
Record the release and definition; do not memorize one eternal total.
Checkpoint: ask a student to state one conclusion the data do NOT support.
Read technical terms aloud; ask students to explain the measurement before interpreting the model. Accept justified uncertainty.
[Sources]
S02: GENCODE Human Release 50 and release-specific statistics.
https://www.gencodegenes.org/human/stats_50.html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Explain the slide using one concrete example.
Text cells explain; code cells calculate.
The runtime remembers variables in execution order.
Restart and run all checks whether the notebook works from a clean start.
Checkpoint: ask a student to state one conclusion the data do NOT support.
Read technical terms aloud; ask students to explain the measurement before interpreting the model. Accept justified uncertainty.
[Sources]
S05: Python 3 tutorial: introduction and control flow.
https://docs.python.org/3/tutorial/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Explain the slide using one concrete example.
Predict what you expect before running the example.
Run, compare with a control, and inspect a possible defect.
Explain one result and one thing the result cannot establish.
Checkpoint: ask a student to state one conclusion the data do NOT support.
Read technical terms aloud; ask students to explain the measurement before interpreting the model. Accept justified uncertainty.
[Sources]
Original teaching design / explicitly synthetic classroom example. No external asset used.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Explain the slide using one concrete example.
A fixed seed can reproduce a synthetic dataset.
The same wrong method can reproduce the same wrong answer.
A receipt or checksum checks consistency, not honesty or scientific truth.
Checkpoint: ask a student to state one conclusion the data do NOT support.
Read technical terms aloud; ask students to explain the measurement before interpreting the model. Accept justified uncertainty.
[Sources]
S05: Python 3 tutorial: introduction and control flow.
https://docs.python.org/3/tutorial/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Explain the slide using one concrete example.
You may ask for explanations or help reading an error where the task permits it.
Record the tool, use and checks; no AI use is also a valid disclosure.
Never paste patient data or classmates' submissions into a public service.
Checkpoint: ask a student to state one conclusion the data do NOT support.
Read technical terms aloud; ask students to explain the measurement before interpreting the model. Accept justified uncertainty.
[Sources]
S20: Turkish Personal Data Protection Law No. 6698, official English translation with 2024 amendments.
https://www.kvkk.gov.tr/Icerik/6649/Personal-Data-Protection-Law
S23: ICMJE recommendations: use of AI by authors.
https://www.icmje.org/recommendations/browse/artificial-intelligence/ai-use-by-authors.html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Allow 60-90 seconds for a prediction. Do not rush to the numerical answer. The following slide shows the reasoning.
Read technical terms aloud; ask students to explain the measurement before interpreting the model. Accept justified uncertainty.
[Sources]
S01: Alberts et al. Molecular Biology of the Cell, 4th ed. Foundational cell biology chapters.
https://www.ncbi.nlm.nih.gov/books/NBK21054/
S02: GENCODE Human Release 50 and release-specific statistics.
https://www.gencodegenes.org/human/stats_50.html
S05: Python 3 tutorial: introduction and control flow.
https://docs.python.org/3/tutorial/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Show the arithmetic or logical steps one at a time orally. Ask which assumption is necessary at each step.
Read technical terms aloud; ask students to explain the measurement before interpreting the model. Accept justified uncertainty.
[Sources]
S01: Alberts et al. Molecular Biology of the Cell, 4th ed. Foundational cell biology chapters.
https://www.ncbi.nlm.nih.gov/books/NBK21054/
S02: GENCODE Human Release 50 and release-specific statistics.
https://www.gencodegenes.org/human/stats_50.html
S05: Python 3 tutorial: introduction and control flow.
https://docs.python.org/3/tutorial/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Collect two contrasting answers before advancing. Give one minute solo and two minutes in pairs. This is formative, not an exam item.
Read technical terms aloud; ask students to explain the measurement before interpreting the model. Accept justified uncertainty.
[Sources]
Original teaching design / explicitly synthetic classroom example. No external asset used.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Accept other scientifically justified responses. Probe the boundary between measured result, model assumption and biological conclusion.
Read technical terms aloud; ask students to explain the measurement before interpreting the model. Accept justified uncertainty.
[Sources]
S01: Alberts et al. Molecular Biology of the Cell, 4th ed. Foundational cell biology chapters.
https://www.ncbi.nlm.nih.gov/books/NBK21054/
S02: GENCODE Human Release 50 and release-specific statistics.
https://www.gencodegenes.org/human/stats_50.html
S05: Python 3 tutorial: introduction and control flow.
https://docs.python.org/3/tutorial/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45-minute studio; not part of 90-minute lecture
Audience: fourth-year bioengineering with limited prior genetics and coding.
Use the matching standalone notebook and Lab Workbook. Students may work in pairs while discussing, but submit their own reasoning. Paper fallback carries no penalty. Plotting and extensions are optional.
Read technical terms aloud; ask students to explain the measurement before interpreting the model. Accept justified uncertainty.
[Sources]
Original teaching design / explicitly synthetic classroom example. No external asset used.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Ask for a plain-language definition and one example per term. Students may use the glossary. Definitions are not a substitute for interpreting an example.
Read technical terms aloud; ask students to explain the measurement before interpreting the model. Accept justified uncertainty.
[Sources]
Original teaching design / explicitly synthetic classroom example. No external asset used.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Use a quick handwritten or LMS response. Do not add new weighted grading; this is formative feedback. Use common mistakes to plan a short retrieval exercise next week.
Read technical terms aloud; ask students to explain the measurement before interpreting the model. Accept justified uncertainty.
[Sources]
Original teaching design / explicitly synthetic classroom example. No external asset used.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Do not use optional extension achievement to disadvantage students with limited computing access. Direct interested students to the primary sources.
Read technical terms aloud; ask students to explain the measurement before interpreting the model. Accept justified uncertainty.
[Sources]
Original teaching design / explicitly synthetic classroom example. No external asset used.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Reference slide; do not lecture through every citation
Audience: fourth-year bioengineering with limited prior genetics and coding.
Full links are in the Course Source Register and these speaker notes. Source selection checked September 14, 2026. Older sources support stable foundational ideas, not unverified current clinical policy.
Read technical terms aloud; ask students to explain the measurement before interpreting the model. Accept justified uncertainty.
[Sources]
S01: Alberts et al. Molecular Biology of the Cell, 4th ed. Foundational cell biology chapters.
https://www.ncbi.nlm.nih.gov/books/NBK21054/
S02: GENCODE Human Release 50 and release-specific statistics.
https://www.gencodegenes.org/human/stats_50.html
S05: Python 3 tutorial: introduction and control flow.
https://docs.python.org/3/tutorial/
S10: DESeq2: Analyzing RNA-seq data with DESeq2, release vignette.
https://bioconductor.org/packages/release/bioc/vignettes/DESeq2/inst/doc/DESeq2.html
S20: Turkish Personal Data Protection Law No. 6698, official English translation with 2024 amendments.
https://www.kvkk.gov.tr/Icerik/6649/Personal-Data-Protection-Law
S23: ICMJE recommendations: use of AI by authors.
https://www.icmje.org/recommendations/browse/artificial-intelligence/ai-use-by-authors.html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32D3B"/>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EB6834"/>
          </a:solidFill>
          <a:ln w="7620">
            <a:solidFill>
              <a:srgbClr val="EB6834"/>
            </a:solidFill>
            <a:prstDash val="solid"/>
          </a:ln>
        </p:spPr>
      </p:sp>
      <p:sp>
        <p:nvSpPr>
          <p:cNvPr id="3" name="Text 1"/>
          <p:cNvSpPr/>
          <p:nvPr/>
        </p:nvSpPr>
        <p:spPr>
          <a:xfrm>
            <a:off x="640080" y="530352"/>
            <a:ext cx="10789920" cy="438912"/>
          </a:xfrm>
          <a:prstGeom prst="rect">
            <a:avLst/>
          </a:prstGeom>
          <a:noFill/>
          <a:ln/>
        </p:spPr>
        <p:txBody>
          <a:bodyPr wrap="square" lIns="0" tIns="0" rIns="0" bIns="0" rtlCol="0" anchor="ctr">
            <a:normAutofit/>
          </a:bodyPr>
          <a:lstStyle/>
          <a:p>
            <a:pPr indent="0" marL="0">
              <a:buNone/>
            </a:pPr>
            <a:r>
              <a:rPr lang="en-US" sz="1300" b="1" dirty="0">
                <a:solidFill>
                  <a:srgbClr val="D1DCE9"/>
                </a:solidFill>
                <a:latin typeface="Aptos" pitchFamily="34" charset="0"/>
                <a:ea typeface="Aptos" pitchFamily="34" charset="-122"/>
                <a:cs typeface="Aptos" pitchFamily="34" charset="-120"/>
              </a:rPr>
              <a:t>BIOINFORMATICS FOR BIOENGINEERING</a:t>
            </a:r>
            <a:endParaRPr lang="en-US" sz="1300" dirty="0"/>
          </a:p>
        </p:txBody>
      </p:sp>
      <p:sp>
        <p:nvSpPr>
          <p:cNvPr id="4" name="Text 2"/>
          <p:cNvSpPr/>
          <p:nvPr/>
        </p:nvSpPr>
        <p:spPr>
          <a:xfrm>
            <a:off x="685800" y="1380744"/>
            <a:ext cx="9144000" cy="548640"/>
          </a:xfrm>
          <a:prstGeom prst="rect">
            <a:avLst/>
          </a:prstGeom>
          <a:noFill/>
          <a:ln/>
        </p:spPr>
        <p:txBody>
          <a:bodyPr wrap="square" lIns="0" tIns="0" rIns="0" bIns="0" rtlCol="0" anchor="ctr">
            <a:normAutofit/>
          </a:bodyPr>
          <a:lstStyle/>
          <a:p>
            <a:pPr indent="0" marL="0">
              <a:buNone/>
            </a:pPr>
            <a:r>
              <a:rPr lang="en-US" sz="2000" b="1" dirty="0">
                <a:solidFill>
                  <a:srgbClr val="7EB5F1"/>
                </a:solidFill>
                <a:latin typeface="Aptos" pitchFamily="34" charset="0"/>
                <a:ea typeface="Aptos" pitchFamily="34" charset="-122"/>
                <a:cs typeface="Aptos" pitchFamily="34" charset="-120"/>
              </a:rPr>
              <a:t>WEEK 01</a:t>
            </a:r>
            <a:endParaRPr lang="en-US" sz="2000" dirty="0"/>
          </a:p>
        </p:txBody>
      </p:sp>
      <p:sp>
        <p:nvSpPr>
          <p:cNvPr id="5" name="Text 3"/>
          <p:cNvSpPr/>
          <p:nvPr/>
        </p:nvSpPr>
        <p:spPr>
          <a:xfrm>
            <a:off x="685800" y="2157984"/>
            <a:ext cx="10744200" cy="1783080"/>
          </a:xfrm>
          <a:prstGeom prst="rect">
            <a:avLst/>
          </a:prstGeom>
          <a:noFill/>
          <a:ln/>
        </p:spPr>
        <p:txBody>
          <a:bodyPr wrap="square" lIns="0" tIns="0" rIns="0" bIns="0" rtlCol="0" anchor="ctr">
            <a:normAutofit/>
          </a:bodyPr>
          <a:lstStyle/>
          <a:p>
            <a:pPr indent="0" marL="0">
              <a:buNone/>
            </a:pPr>
            <a:r>
              <a:rPr lang="en-US" sz="3897" b="1" dirty="0">
                <a:solidFill>
                  <a:srgbClr val="FFFFFF"/>
                </a:solidFill>
                <a:latin typeface="Aptos" pitchFamily="34" charset="0"/>
                <a:ea typeface="Aptos" pitchFamily="34" charset="-122"/>
                <a:cs typeface="Aptos" pitchFamily="34" charset="-120"/>
              </a:rPr>
              <a:t>From a biological question to defensible evidence</a:t>
            </a:r>
            <a:endParaRPr lang="en-US" sz="3897" dirty="0"/>
          </a:p>
        </p:txBody>
      </p:sp>
      <p:sp>
        <p:nvSpPr>
          <p:cNvPr id="6" name="Text 4"/>
          <p:cNvSpPr/>
          <p:nvPr/>
        </p:nvSpPr>
        <p:spPr>
          <a:xfrm>
            <a:off x="731520" y="4599432"/>
            <a:ext cx="10561320" cy="923544"/>
          </a:xfrm>
          <a:prstGeom prst="rect">
            <a:avLst/>
          </a:prstGeom>
          <a:noFill/>
          <a:ln/>
        </p:spPr>
        <p:txBody>
          <a:bodyPr wrap="square" lIns="0" tIns="0" rIns="0" bIns="0" rtlCol="0" anchor="ctr">
            <a:normAutofit/>
          </a:bodyPr>
          <a:lstStyle/>
          <a:p>
            <a:pPr indent="0" marL="0">
              <a:buNone/>
            </a:pPr>
            <a:r>
              <a:rPr lang="en-US" sz="2497" dirty="0">
                <a:solidFill>
                  <a:srgbClr val="D1DCE9"/>
                </a:solidFill>
                <a:latin typeface="Aptos" pitchFamily="34" charset="0"/>
                <a:ea typeface="Aptos" pitchFamily="34" charset="-122"/>
                <a:cs typeface="Aptos" pitchFamily="34" charset="-120"/>
              </a:rPr>
              <a:t>Can we explain where every number came from?</a:t>
            </a:r>
            <a:endParaRPr lang="en-US" sz="2497" dirty="0"/>
          </a:p>
        </p:txBody>
      </p:sp>
      <p:sp>
        <p:nvSpPr>
          <p:cNvPr id="7" name="Text 5"/>
          <p:cNvSpPr/>
          <p:nvPr/>
        </p:nvSpPr>
        <p:spPr>
          <a:xfrm>
            <a:off x="731520" y="6199632"/>
            <a:ext cx="10607040" cy="274320"/>
          </a:xfrm>
          <a:prstGeom prst="rect">
            <a:avLst/>
          </a:prstGeom>
          <a:noFill/>
          <a:ln/>
        </p:spPr>
        <p:txBody>
          <a:bodyPr wrap="square" lIns="0" tIns="0" rIns="0" bIns="0" rtlCol="0" anchor="ctr">
            <a:normAutofit/>
          </a:bodyPr>
          <a:lstStyle/>
          <a:p>
            <a:pPr indent="0" marL="0">
              <a:buNone/>
            </a:pPr>
            <a:r>
              <a:rPr lang="en-US" sz="1100" dirty="0">
                <a:solidFill>
                  <a:srgbClr val="D1DCE9"/>
                </a:solidFill>
                <a:latin typeface="Aptos" pitchFamily="34" charset="0"/>
                <a:ea typeface="Aptos" pitchFamily="34" charset="-122"/>
                <a:cs typeface="Aptos" pitchFamily="34" charset="-120"/>
              </a:rPr>
              <a:t>Yasin Kaymaz, PhD  |  Ege University  |  Teaching edition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01</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LEARNING TARGETS</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By the end, you should be able to...</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2</a:t>
            </a:r>
            <a:endParaRPr lang="en-US" sz="800" dirty="0"/>
          </a:p>
        </p:txBody>
      </p:sp>
      <p:sp>
        <p:nvSpPr>
          <p:cNvPr id="9" name="Shape 7"/>
          <p:cNvSpPr/>
          <p:nvPr/>
        </p:nvSpPr>
        <p:spPr>
          <a:xfrm>
            <a:off x="594360" y="1920240"/>
            <a:ext cx="50292" cy="1207008"/>
          </a:xfrm>
          <a:prstGeom prst="rect">
            <a:avLst/>
          </a:prstGeom>
          <a:solidFill>
            <a:srgbClr val="2A78D6"/>
          </a:solidFill>
          <a:ln w="7620">
            <a:solidFill>
              <a:srgbClr val="2A78D6"/>
            </a:solidFill>
            <a:prstDash val="solid"/>
          </a:ln>
        </p:spPr>
      </p:sp>
      <p:sp>
        <p:nvSpPr>
          <p:cNvPr id="10" name="Text 8"/>
          <p:cNvSpPr/>
          <p:nvPr/>
        </p:nvSpPr>
        <p:spPr>
          <a:xfrm>
            <a:off x="795528" y="1920240"/>
            <a:ext cx="10771632" cy="120700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Match a biological question to an assay and a data type.</a:t>
            </a:r>
            <a:endParaRPr lang="en-US" sz="2297" dirty="0"/>
          </a:p>
        </p:txBody>
      </p:sp>
      <p:sp>
        <p:nvSpPr>
          <p:cNvPr id="11" name="Shape 9"/>
          <p:cNvSpPr/>
          <p:nvPr/>
        </p:nvSpPr>
        <p:spPr>
          <a:xfrm>
            <a:off x="594360" y="3328416"/>
            <a:ext cx="50292" cy="1207008"/>
          </a:xfrm>
          <a:prstGeom prst="rect">
            <a:avLst/>
          </a:prstGeom>
          <a:solidFill>
            <a:srgbClr val="2A78D6"/>
          </a:solidFill>
          <a:ln w="7620">
            <a:solidFill>
              <a:srgbClr val="2A78D6"/>
            </a:solidFill>
            <a:prstDash val="solid"/>
          </a:ln>
        </p:spPr>
      </p:sp>
      <p:sp>
        <p:nvSpPr>
          <p:cNvPr id="12" name="Text 10"/>
          <p:cNvSpPr/>
          <p:nvPr/>
        </p:nvSpPr>
        <p:spPr>
          <a:xfrm>
            <a:off x="795528" y="3328416"/>
            <a:ext cx="10771632" cy="120700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Run and save a small notebook without installing software.</a:t>
            </a:r>
            <a:endParaRPr lang="en-US" sz="2297" dirty="0"/>
          </a:p>
        </p:txBody>
      </p:sp>
      <p:sp>
        <p:nvSpPr>
          <p:cNvPr id="13" name="Shape 11"/>
          <p:cNvSpPr/>
          <p:nvPr/>
        </p:nvSpPr>
        <p:spPr>
          <a:xfrm>
            <a:off x="594360" y="4736592"/>
            <a:ext cx="50292" cy="1207008"/>
          </a:xfrm>
          <a:prstGeom prst="rect">
            <a:avLst/>
          </a:prstGeom>
          <a:solidFill>
            <a:srgbClr val="2A78D6"/>
          </a:solidFill>
          <a:ln w="7620">
            <a:solidFill>
              <a:srgbClr val="2A78D6"/>
            </a:solidFill>
            <a:prstDash val="solid"/>
          </a:ln>
        </p:spPr>
      </p:sp>
      <p:sp>
        <p:nvSpPr>
          <p:cNvPr id="14" name="Text 12"/>
          <p:cNvSpPr/>
          <p:nvPr/>
        </p:nvSpPr>
        <p:spPr>
          <a:xfrm>
            <a:off x="795528" y="4736592"/>
            <a:ext cx="10771632" cy="120700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Distinguish a prediction, an observation and a justified claim.</a:t>
            </a:r>
            <a:endParaRPr lang="en-US" sz="2297"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01</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RETRIEVAL</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Reconnect with the biology</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3</a:t>
            </a:r>
            <a:endParaRPr lang="en-US" sz="800" dirty="0"/>
          </a:p>
        </p:txBody>
      </p:sp>
      <p:sp>
        <p:nvSpPr>
          <p:cNvPr id="9" name="Shape 7"/>
          <p:cNvSpPr/>
          <p:nvPr/>
        </p:nvSpPr>
        <p:spPr>
          <a:xfrm>
            <a:off x="612648" y="1984248"/>
            <a:ext cx="10972800" cy="1828800"/>
          </a:xfrm>
          <a:prstGeom prst="rect">
            <a:avLst/>
          </a:prstGeom>
          <a:solidFill>
            <a:srgbClr val="EAF2FC"/>
          </a:solidFill>
          <a:ln w="7620">
            <a:solidFill>
              <a:srgbClr val="EAF2FC"/>
            </a:solidFill>
            <a:prstDash val="solid"/>
          </a:ln>
        </p:spPr>
      </p:sp>
      <p:sp>
        <p:nvSpPr>
          <p:cNvPr id="10" name="Text 8"/>
          <p:cNvSpPr/>
          <p:nvPr/>
        </p:nvSpPr>
        <p:spPr>
          <a:xfrm>
            <a:off x="850392" y="2258568"/>
            <a:ext cx="10497312" cy="1280160"/>
          </a:xfrm>
          <a:prstGeom prst="rect">
            <a:avLst/>
          </a:prstGeom>
          <a:noFill/>
          <a:ln/>
        </p:spPr>
        <p:txBody>
          <a:bodyPr wrap="square" lIns="0" tIns="0" rIns="0" bIns="0" rtlCol="0" anchor="ctr">
            <a:normAutofit/>
          </a:bodyPr>
          <a:lstStyle/>
          <a:p>
            <a:pPr indent="0" marL="0">
              <a:buNone/>
            </a:pPr>
            <a:r>
              <a:rPr lang="en-US" sz="2697" dirty="0">
                <a:solidFill>
                  <a:srgbClr val="232D3B"/>
                </a:solidFill>
                <a:latin typeface="Aptos" pitchFamily="34" charset="0"/>
                <a:ea typeface="Aptos" pitchFamily="34" charset="-122"/>
                <a:cs typeface="Aptos" pitchFamily="34" charset="-120"/>
              </a:rPr>
              <a:t>Recall: genes can produce RNA or protein products; RNA counts are not direct protein measurements.</a:t>
            </a:r>
            <a:endParaRPr lang="en-US" sz="2697" dirty="0"/>
          </a:p>
        </p:txBody>
      </p:sp>
      <p:sp>
        <p:nvSpPr>
          <p:cNvPr id="11" name="Text 9"/>
          <p:cNvSpPr/>
          <p:nvPr/>
        </p:nvSpPr>
        <p:spPr>
          <a:xfrm>
            <a:off x="859536" y="4370832"/>
            <a:ext cx="10424160" cy="914400"/>
          </a:xfrm>
          <a:prstGeom prst="rect">
            <a:avLst/>
          </a:prstGeom>
          <a:noFill/>
          <a:ln/>
        </p:spPr>
        <p:txBody>
          <a:bodyPr wrap="square" lIns="0" tIns="0" rIns="0" bIns="0" rtlCol="0" anchor="ctr">
            <a:normAutofit/>
          </a:bodyPr>
          <a:lstStyle/>
          <a:p>
            <a:pPr indent="0" marL="0">
              <a:buNone/>
            </a:pPr>
            <a:r>
              <a:rPr lang="en-US" sz="2497" b="1" dirty="0">
                <a:solidFill>
                  <a:srgbClr val="2A78D6"/>
                </a:solidFill>
                <a:latin typeface="Aptos" pitchFamily="34" charset="0"/>
                <a:ea typeface="Aptos" pitchFamily="34" charset="-122"/>
                <a:cs typeface="Aptos" pitchFamily="34" charset="-120"/>
              </a:rPr>
              <a:t>Think silently -&gt; explain to a neighbour -&gt; check the measurement.</a:t>
            </a:r>
            <a:endParaRPr lang="en-US" sz="2497"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01</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CORE</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Start with the question, not the software</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S01 / S10  |  4</a:t>
            </a:r>
            <a:endParaRPr lang="en-US" sz="800" dirty="0"/>
          </a:p>
        </p:txBody>
      </p:sp>
      <p:sp>
        <p:nvSpPr>
          <p:cNvPr id="9" name="Shape 7"/>
          <p:cNvSpPr/>
          <p:nvPr/>
        </p:nvSpPr>
        <p:spPr>
          <a:xfrm>
            <a:off x="594360" y="2148840"/>
            <a:ext cx="3429000" cy="3136392"/>
          </a:xfrm>
          <a:prstGeom prst="rect">
            <a:avLst/>
          </a:prstGeom>
          <a:solidFill>
            <a:srgbClr val="EAF2FC"/>
          </a:solidFill>
          <a:ln w="7620">
            <a:solidFill>
              <a:srgbClr val="EAF2FC"/>
            </a:solidFill>
            <a:prstDash val="solid"/>
          </a:ln>
        </p:spPr>
      </p:sp>
      <p:sp>
        <p:nvSpPr>
          <p:cNvPr id="10" name="Text 8"/>
          <p:cNvSpPr/>
          <p:nvPr/>
        </p:nvSpPr>
        <p:spPr>
          <a:xfrm>
            <a:off x="795528" y="2404872"/>
            <a:ext cx="914400" cy="502920"/>
          </a:xfrm>
          <a:prstGeom prst="rect">
            <a:avLst/>
          </a:prstGeom>
          <a:noFill/>
          <a:ln/>
        </p:spPr>
        <p:txBody>
          <a:bodyPr wrap="square" lIns="0" tIns="0" rIns="0" bIns="0" rtlCol="0" anchor="ctr">
            <a:normAutofit/>
          </a:bodyPr>
          <a:lstStyle/>
          <a:p>
            <a:pPr indent="0" marL="0">
              <a:buNone/>
            </a:pPr>
            <a:r>
              <a:rPr lang="en-US" sz="2900" b="1" dirty="0">
                <a:solidFill>
                  <a:srgbClr val="2A78D6"/>
                </a:solidFill>
                <a:latin typeface="Aptos" pitchFamily="34" charset="0"/>
                <a:ea typeface="Aptos" pitchFamily="34" charset="-122"/>
                <a:cs typeface="Aptos" pitchFamily="34" charset="-120"/>
              </a:rPr>
              <a:t>01</a:t>
            </a:r>
            <a:endParaRPr lang="en-US" sz="2900" dirty="0"/>
          </a:p>
        </p:txBody>
      </p:sp>
      <p:sp>
        <p:nvSpPr>
          <p:cNvPr id="11" name="Text 9"/>
          <p:cNvSpPr/>
          <p:nvPr/>
        </p:nvSpPr>
        <p:spPr>
          <a:xfrm>
            <a:off x="804672" y="3127248"/>
            <a:ext cx="3008376" cy="180136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Question: does a treatment change the RNA abundance of selected genes?</a:t>
            </a:r>
            <a:endParaRPr lang="en-US" sz="2297" dirty="0"/>
          </a:p>
        </p:txBody>
      </p:sp>
      <p:sp>
        <p:nvSpPr>
          <p:cNvPr id="12" name="Text 10"/>
          <p:cNvSpPr/>
          <p:nvPr/>
        </p:nvSpPr>
        <p:spPr>
          <a:xfrm>
            <a:off x="4087368" y="3355848"/>
            <a:ext cx="219456" cy="457200"/>
          </a:xfrm>
          <a:prstGeom prst="rect">
            <a:avLst/>
          </a:prstGeom>
          <a:noFill/>
          <a:ln/>
        </p:spPr>
        <p:txBody>
          <a:bodyPr wrap="square" lIns="0" tIns="0" rIns="0" bIns="0" rtlCol="0" anchor="ctr">
            <a:normAutofit/>
          </a:bodyPr>
          <a:lstStyle/>
          <a:p>
            <a:pPr indent="0" marL="0">
              <a:buNone/>
            </a:pPr>
            <a:r>
              <a:rPr lang="en-US" sz="2300" b="1" dirty="0">
                <a:solidFill>
                  <a:srgbClr val="EB6834"/>
                </a:solidFill>
                <a:latin typeface="Aptos" pitchFamily="34" charset="0"/>
                <a:ea typeface="Aptos" pitchFamily="34" charset="-122"/>
                <a:cs typeface="Aptos" pitchFamily="34" charset="-120"/>
              </a:rPr>
              <a:t>&gt;</a:t>
            </a:r>
            <a:endParaRPr lang="en-US" sz="2300" dirty="0"/>
          </a:p>
        </p:txBody>
      </p:sp>
      <p:sp>
        <p:nvSpPr>
          <p:cNvPr id="13" name="Shape 11"/>
          <p:cNvSpPr/>
          <p:nvPr/>
        </p:nvSpPr>
        <p:spPr>
          <a:xfrm>
            <a:off x="4389120" y="2148840"/>
            <a:ext cx="3429000" cy="3136392"/>
          </a:xfrm>
          <a:prstGeom prst="rect">
            <a:avLst/>
          </a:prstGeom>
          <a:solidFill>
            <a:srgbClr val="EAF2FC"/>
          </a:solidFill>
          <a:ln w="7620">
            <a:solidFill>
              <a:srgbClr val="EAF2FC"/>
            </a:solidFill>
            <a:prstDash val="solid"/>
          </a:ln>
        </p:spPr>
      </p:sp>
      <p:sp>
        <p:nvSpPr>
          <p:cNvPr id="14" name="Text 12"/>
          <p:cNvSpPr/>
          <p:nvPr/>
        </p:nvSpPr>
        <p:spPr>
          <a:xfrm>
            <a:off x="4590288" y="2404872"/>
            <a:ext cx="914400" cy="502920"/>
          </a:xfrm>
          <a:prstGeom prst="rect">
            <a:avLst/>
          </a:prstGeom>
          <a:noFill/>
          <a:ln/>
        </p:spPr>
        <p:txBody>
          <a:bodyPr wrap="square" lIns="0" tIns="0" rIns="0" bIns="0" rtlCol="0" anchor="ctr">
            <a:normAutofit/>
          </a:bodyPr>
          <a:lstStyle/>
          <a:p>
            <a:pPr indent="0" marL="0">
              <a:buNone/>
            </a:pPr>
            <a:r>
              <a:rPr lang="en-US" sz="2900" b="1" dirty="0">
                <a:solidFill>
                  <a:srgbClr val="2A78D6"/>
                </a:solidFill>
                <a:latin typeface="Aptos" pitchFamily="34" charset="0"/>
                <a:ea typeface="Aptos" pitchFamily="34" charset="-122"/>
                <a:cs typeface="Aptos" pitchFamily="34" charset="-120"/>
              </a:rPr>
              <a:t>02</a:t>
            </a:r>
            <a:endParaRPr lang="en-US" sz="2900" dirty="0"/>
          </a:p>
        </p:txBody>
      </p:sp>
      <p:sp>
        <p:nvSpPr>
          <p:cNvPr id="15" name="Text 13"/>
          <p:cNvSpPr/>
          <p:nvPr/>
        </p:nvSpPr>
        <p:spPr>
          <a:xfrm>
            <a:off x="4599432" y="3127248"/>
            <a:ext cx="3008376" cy="180136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Measurement: RNA sequencing of independent biological samples.</a:t>
            </a:r>
            <a:endParaRPr lang="en-US" sz="2297" dirty="0"/>
          </a:p>
        </p:txBody>
      </p:sp>
      <p:sp>
        <p:nvSpPr>
          <p:cNvPr id="16" name="Text 14"/>
          <p:cNvSpPr/>
          <p:nvPr/>
        </p:nvSpPr>
        <p:spPr>
          <a:xfrm>
            <a:off x="7882128" y="3355848"/>
            <a:ext cx="219456" cy="457200"/>
          </a:xfrm>
          <a:prstGeom prst="rect">
            <a:avLst/>
          </a:prstGeom>
          <a:noFill/>
          <a:ln/>
        </p:spPr>
        <p:txBody>
          <a:bodyPr wrap="square" lIns="0" tIns="0" rIns="0" bIns="0" rtlCol="0" anchor="ctr">
            <a:normAutofit/>
          </a:bodyPr>
          <a:lstStyle/>
          <a:p>
            <a:pPr indent="0" marL="0">
              <a:buNone/>
            </a:pPr>
            <a:r>
              <a:rPr lang="en-US" sz="2300" b="1" dirty="0">
                <a:solidFill>
                  <a:srgbClr val="EB6834"/>
                </a:solidFill>
                <a:latin typeface="Aptos" pitchFamily="34" charset="0"/>
                <a:ea typeface="Aptos" pitchFamily="34" charset="-122"/>
                <a:cs typeface="Aptos" pitchFamily="34" charset="-120"/>
              </a:rPr>
              <a:t>&gt;</a:t>
            </a:r>
            <a:endParaRPr lang="en-US" sz="2300" dirty="0"/>
          </a:p>
        </p:txBody>
      </p:sp>
      <p:sp>
        <p:nvSpPr>
          <p:cNvPr id="17" name="Shape 15"/>
          <p:cNvSpPr/>
          <p:nvPr/>
        </p:nvSpPr>
        <p:spPr>
          <a:xfrm>
            <a:off x="8183880" y="2148840"/>
            <a:ext cx="3429000" cy="3136392"/>
          </a:xfrm>
          <a:prstGeom prst="rect">
            <a:avLst/>
          </a:prstGeom>
          <a:solidFill>
            <a:srgbClr val="EAF2FC"/>
          </a:solidFill>
          <a:ln w="7620">
            <a:solidFill>
              <a:srgbClr val="EAF2FC"/>
            </a:solidFill>
            <a:prstDash val="solid"/>
          </a:ln>
        </p:spPr>
      </p:sp>
      <p:sp>
        <p:nvSpPr>
          <p:cNvPr id="18" name="Text 16"/>
          <p:cNvSpPr/>
          <p:nvPr/>
        </p:nvSpPr>
        <p:spPr>
          <a:xfrm>
            <a:off x="8385048" y="2404872"/>
            <a:ext cx="914400" cy="502920"/>
          </a:xfrm>
          <a:prstGeom prst="rect">
            <a:avLst/>
          </a:prstGeom>
          <a:noFill/>
          <a:ln/>
        </p:spPr>
        <p:txBody>
          <a:bodyPr wrap="square" lIns="0" tIns="0" rIns="0" bIns="0" rtlCol="0" anchor="ctr">
            <a:normAutofit/>
          </a:bodyPr>
          <a:lstStyle/>
          <a:p>
            <a:pPr indent="0" marL="0">
              <a:buNone/>
            </a:pPr>
            <a:r>
              <a:rPr lang="en-US" sz="2900" b="1" dirty="0">
                <a:solidFill>
                  <a:srgbClr val="2A78D6"/>
                </a:solidFill>
                <a:latin typeface="Aptos" pitchFamily="34" charset="0"/>
                <a:ea typeface="Aptos" pitchFamily="34" charset="-122"/>
                <a:cs typeface="Aptos" pitchFamily="34" charset="-120"/>
              </a:rPr>
              <a:t>03</a:t>
            </a:r>
            <a:endParaRPr lang="en-US" sz="2900" dirty="0"/>
          </a:p>
        </p:txBody>
      </p:sp>
      <p:sp>
        <p:nvSpPr>
          <p:cNvPr id="19" name="Text 17"/>
          <p:cNvSpPr/>
          <p:nvPr/>
        </p:nvSpPr>
        <p:spPr>
          <a:xfrm>
            <a:off x="8394192" y="3127248"/>
            <a:ext cx="3008376" cy="180136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Claim limit: this experiment does not directly measure protein activity.</a:t>
            </a:r>
            <a:endParaRPr lang="en-US" sz="2297"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01</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CORE</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One case will return all semester</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5</a:t>
            </a:r>
            <a:endParaRPr lang="en-US" sz="800" dirty="0"/>
          </a:p>
        </p:txBody>
      </p:sp>
      <p:sp>
        <p:nvSpPr>
          <p:cNvPr id="9" name="Shape 7"/>
          <p:cNvSpPr/>
          <p:nvPr/>
        </p:nvSpPr>
        <p:spPr>
          <a:xfrm>
            <a:off x="594360" y="1920240"/>
            <a:ext cx="50292" cy="1207008"/>
          </a:xfrm>
          <a:prstGeom prst="rect">
            <a:avLst/>
          </a:prstGeom>
          <a:solidFill>
            <a:srgbClr val="2A78D6"/>
          </a:solidFill>
          <a:ln w="7620">
            <a:solidFill>
              <a:srgbClr val="2A78D6"/>
            </a:solidFill>
            <a:prstDash val="solid"/>
          </a:ln>
        </p:spPr>
      </p:sp>
      <p:sp>
        <p:nvSpPr>
          <p:cNvPr id="10" name="Text 8"/>
          <p:cNvSpPr/>
          <p:nvPr/>
        </p:nvSpPr>
        <p:spPr>
          <a:xfrm>
            <a:off x="795528" y="1920240"/>
            <a:ext cx="10771632" cy="120700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We study a fictional cell-culture response to a treatment.</a:t>
            </a:r>
            <a:endParaRPr lang="en-US" sz="2297" dirty="0"/>
          </a:p>
        </p:txBody>
      </p:sp>
      <p:sp>
        <p:nvSpPr>
          <p:cNvPr id="11" name="Shape 9"/>
          <p:cNvSpPr/>
          <p:nvPr/>
        </p:nvSpPr>
        <p:spPr>
          <a:xfrm>
            <a:off x="594360" y="3328416"/>
            <a:ext cx="50292" cy="1207008"/>
          </a:xfrm>
          <a:prstGeom prst="rect">
            <a:avLst/>
          </a:prstGeom>
          <a:solidFill>
            <a:srgbClr val="2A78D6"/>
          </a:solidFill>
          <a:ln w="7620">
            <a:solidFill>
              <a:srgbClr val="2A78D6"/>
            </a:solidFill>
            <a:prstDash val="solid"/>
          </a:ln>
        </p:spPr>
      </p:sp>
      <p:sp>
        <p:nvSpPr>
          <p:cNvPr id="12" name="Text 10"/>
          <p:cNvSpPr/>
          <p:nvPr/>
        </p:nvSpPr>
        <p:spPr>
          <a:xfrm>
            <a:off x="795528" y="3328416"/>
            <a:ext cx="10771632" cy="120700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Tutorial data are synthetic unless the file says REAL EXCERPT.</a:t>
            </a:r>
            <a:endParaRPr lang="en-US" sz="2297" dirty="0"/>
          </a:p>
        </p:txBody>
      </p:sp>
      <p:sp>
        <p:nvSpPr>
          <p:cNvPr id="13" name="Shape 11"/>
          <p:cNvSpPr/>
          <p:nvPr/>
        </p:nvSpPr>
        <p:spPr>
          <a:xfrm>
            <a:off x="594360" y="4736592"/>
            <a:ext cx="50292" cy="1207008"/>
          </a:xfrm>
          <a:prstGeom prst="rect">
            <a:avLst/>
          </a:prstGeom>
          <a:solidFill>
            <a:srgbClr val="2A78D6"/>
          </a:solidFill>
          <a:ln w="7620">
            <a:solidFill>
              <a:srgbClr val="2A78D6"/>
            </a:solidFill>
            <a:prstDash val="solid"/>
          </a:ln>
        </p:spPr>
      </p:sp>
      <p:sp>
        <p:nvSpPr>
          <p:cNvPr id="14" name="Text 12"/>
          <p:cNvSpPr/>
          <p:nvPr/>
        </p:nvSpPr>
        <p:spPr>
          <a:xfrm>
            <a:off x="795528" y="4736592"/>
            <a:ext cx="10771632" cy="120700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Known simulation truth lets us test an analysis; it is not a research discovery.</a:t>
            </a:r>
            <a:endParaRPr lang="en-US" sz="2297"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01</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CORE</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Evidence has a chain of custody</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S10  |  6</a:t>
            </a:r>
            <a:endParaRPr lang="en-US" sz="800" dirty="0"/>
          </a:p>
        </p:txBody>
      </p:sp>
      <p:sp>
        <p:nvSpPr>
          <p:cNvPr id="9" name="Shape 7"/>
          <p:cNvSpPr/>
          <p:nvPr/>
        </p:nvSpPr>
        <p:spPr>
          <a:xfrm>
            <a:off x="594360" y="2148840"/>
            <a:ext cx="3429000" cy="3136392"/>
          </a:xfrm>
          <a:prstGeom prst="rect">
            <a:avLst/>
          </a:prstGeom>
          <a:solidFill>
            <a:srgbClr val="EAF2FC"/>
          </a:solidFill>
          <a:ln w="7620">
            <a:solidFill>
              <a:srgbClr val="EAF2FC"/>
            </a:solidFill>
            <a:prstDash val="solid"/>
          </a:ln>
        </p:spPr>
      </p:sp>
      <p:sp>
        <p:nvSpPr>
          <p:cNvPr id="10" name="Text 8"/>
          <p:cNvSpPr/>
          <p:nvPr/>
        </p:nvSpPr>
        <p:spPr>
          <a:xfrm>
            <a:off x="795528" y="2404872"/>
            <a:ext cx="914400" cy="502920"/>
          </a:xfrm>
          <a:prstGeom prst="rect">
            <a:avLst/>
          </a:prstGeom>
          <a:noFill/>
          <a:ln/>
        </p:spPr>
        <p:txBody>
          <a:bodyPr wrap="square" lIns="0" tIns="0" rIns="0" bIns="0" rtlCol="0" anchor="ctr">
            <a:normAutofit/>
          </a:bodyPr>
          <a:lstStyle/>
          <a:p>
            <a:pPr indent="0" marL="0">
              <a:buNone/>
            </a:pPr>
            <a:r>
              <a:rPr lang="en-US" sz="2900" b="1" dirty="0">
                <a:solidFill>
                  <a:srgbClr val="2A78D6"/>
                </a:solidFill>
                <a:latin typeface="Aptos" pitchFamily="34" charset="0"/>
                <a:ea typeface="Aptos" pitchFamily="34" charset="-122"/>
                <a:cs typeface="Aptos" pitchFamily="34" charset="-120"/>
              </a:rPr>
              <a:t>01</a:t>
            </a:r>
            <a:endParaRPr lang="en-US" sz="2900" dirty="0"/>
          </a:p>
        </p:txBody>
      </p:sp>
      <p:sp>
        <p:nvSpPr>
          <p:cNvPr id="11" name="Text 9"/>
          <p:cNvSpPr/>
          <p:nvPr/>
        </p:nvSpPr>
        <p:spPr>
          <a:xfrm>
            <a:off x="804672" y="3127248"/>
            <a:ext cx="3008376" cy="180136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Biological sample -&gt; laboratory assay -&gt; raw file.</a:t>
            </a:r>
            <a:endParaRPr lang="en-US" sz="2297" dirty="0"/>
          </a:p>
        </p:txBody>
      </p:sp>
      <p:sp>
        <p:nvSpPr>
          <p:cNvPr id="12" name="Text 10"/>
          <p:cNvSpPr/>
          <p:nvPr/>
        </p:nvSpPr>
        <p:spPr>
          <a:xfrm>
            <a:off x="4087368" y="3355848"/>
            <a:ext cx="219456" cy="457200"/>
          </a:xfrm>
          <a:prstGeom prst="rect">
            <a:avLst/>
          </a:prstGeom>
          <a:noFill/>
          <a:ln/>
        </p:spPr>
        <p:txBody>
          <a:bodyPr wrap="square" lIns="0" tIns="0" rIns="0" bIns="0" rtlCol="0" anchor="ctr">
            <a:normAutofit/>
          </a:bodyPr>
          <a:lstStyle/>
          <a:p>
            <a:pPr indent="0" marL="0">
              <a:buNone/>
            </a:pPr>
            <a:r>
              <a:rPr lang="en-US" sz="2300" b="1" dirty="0">
                <a:solidFill>
                  <a:srgbClr val="EB6834"/>
                </a:solidFill>
                <a:latin typeface="Aptos" pitchFamily="34" charset="0"/>
                <a:ea typeface="Aptos" pitchFamily="34" charset="-122"/>
                <a:cs typeface="Aptos" pitchFamily="34" charset="-120"/>
              </a:rPr>
              <a:t>&gt;</a:t>
            </a:r>
            <a:endParaRPr lang="en-US" sz="2300" dirty="0"/>
          </a:p>
        </p:txBody>
      </p:sp>
      <p:sp>
        <p:nvSpPr>
          <p:cNvPr id="13" name="Shape 11"/>
          <p:cNvSpPr/>
          <p:nvPr/>
        </p:nvSpPr>
        <p:spPr>
          <a:xfrm>
            <a:off x="4389120" y="2148840"/>
            <a:ext cx="3429000" cy="3136392"/>
          </a:xfrm>
          <a:prstGeom prst="rect">
            <a:avLst/>
          </a:prstGeom>
          <a:solidFill>
            <a:srgbClr val="EAF2FC"/>
          </a:solidFill>
          <a:ln w="7620">
            <a:solidFill>
              <a:srgbClr val="EAF2FC"/>
            </a:solidFill>
            <a:prstDash val="solid"/>
          </a:ln>
        </p:spPr>
      </p:sp>
      <p:sp>
        <p:nvSpPr>
          <p:cNvPr id="14" name="Text 12"/>
          <p:cNvSpPr/>
          <p:nvPr/>
        </p:nvSpPr>
        <p:spPr>
          <a:xfrm>
            <a:off x="4590288" y="2404872"/>
            <a:ext cx="914400" cy="502920"/>
          </a:xfrm>
          <a:prstGeom prst="rect">
            <a:avLst/>
          </a:prstGeom>
          <a:noFill/>
          <a:ln/>
        </p:spPr>
        <p:txBody>
          <a:bodyPr wrap="square" lIns="0" tIns="0" rIns="0" bIns="0" rtlCol="0" anchor="ctr">
            <a:normAutofit/>
          </a:bodyPr>
          <a:lstStyle/>
          <a:p>
            <a:pPr indent="0" marL="0">
              <a:buNone/>
            </a:pPr>
            <a:r>
              <a:rPr lang="en-US" sz="2900" b="1" dirty="0">
                <a:solidFill>
                  <a:srgbClr val="2A78D6"/>
                </a:solidFill>
                <a:latin typeface="Aptos" pitchFamily="34" charset="0"/>
                <a:ea typeface="Aptos" pitchFamily="34" charset="-122"/>
                <a:cs typeface="Aptos" pitchFamily="34" charset="-120"/>
              </a:rPr>
              <a:t>02</a:t>
            </a:r>
            <a:endParaRPr lang="en-US" sz="2900" dirty="0"/>
          </a:p>
        </p:txBody>
      </p:sp>
      <p:sp>
        <p:nvSpPr>
          <p:cNvPr id="15" name="Text 13"/>
          <p:cNvSpPr/>
          <p:nvPr/>
        </p:nvSpPr>
        <p:spPr>
          <a:xfrm>
            <a:off x="4599432" y="3127248"/>
            <a:ext cx="3008376" cy="180136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Raw file -&gt; processing steps -&gt; table / figure.</a:t>
            </a:r>
            <a:endParaRPr lang="en-US" sz="2297" dirty="0"/>
          </a:p>
        </p:txBody>
      </p:sp>
      <p:sp>
        <p:nvSpPr>
          <p:cNvPr id="16" name="Text 14"/>
          <p:cNvSpPr/>
          <p:nvPr/>
        </p:nvSpPr>
        <p:spPr>
          <a:xfrm>
            <a:off x="7882128" y="3355848"/>
            <a:ext cx="219456" cy="457200"/>
          </a:xfrm>
          <a:prstGeom prst="rect">
            <a:avLst/>
          </a:prstGeom>
          <a:noFill/>
          <a:ln/>
        </p:spPr>
        <p:txBody>
          <a:bodyPr wrap="square" lIns="0" tIns="0" rIns="0" bIns="0" rtlCol="0" anchor="ctr">
            <a:normAutofit/>
          </a:bodyPr>
          <a:lstStyle/>
          <a:p>
            <a:pPr indent="0" marL="0">
              <a:buNone/>
            </a:pPr>
            <a:r>
              <a:rPr lang="en-US" sz="2300" b="1" dirty="0">
                <a:solidFill>
                  <a:srgbClr val="EB6834"/>
                </a:solidFill>
                <a:latin typeface="Aptos" pitchFamily="34" charset="0"/>
                <a:ea typeface="Aptos" pitchFamily="34" charset="-122"/>
                <a:cs typeface="Aptos" pitchFamily="34" charset="-120"/>
              </a:rPr>
              <a:t>&gt;</a:t>
            </a:r>
            <a:endParaRPr lang="en-US" sz="2300" dirty="0"/>
          </a:p>
        </p:txBody>
      </p:sp>
      <p:sp>
        <p:nvSpPr>
          <p:cNvPr id="17" name="Shape 15"/>
          <p:cNvSpPr/>
          <p:nvPr/>
        </p:nvSpPr>
        <p:spPr>
          <a:xfrm>
            <a:off x="8183880" y="2148840"/>
            <a:ext cx="3429000" cy="3136392"/>
          </a:xfrm>
          <a:prstGeom prst="rect">
            <a:avLst/>
          </a:prstGeom>
          <a:solidFill>
            <a:srgbClr val="EAF2FC"/>
          </a:solidFill>
          <a:ln w="7620">
            <a:solidFill>
              <a:srgbClr val="EAF2FC"/>
            </a:solidFill>
            <a:prstDash val="solid"/>
          </a:ln>
        </p:spPr>
      </p:sp>
      <p:sp>
        <p:nvSpPr>
          <p:cNvPr id="18" name="Text 16"/>
          <p:cNvSpPr/>
          <p:nvPr/>
        </p:nvSpPr>
        <p:spPr>
          <a:xfrm>
            <a:off x="8385048" y="2404872"/>
            <a:ext cx="914400" cy="502920"/>
          </a:xfrm>
          <a:prstGeom prst="rect">
            <a:avLst/>
          </a:prstGeom>
          <a:noFill/>
          <a:ln/>
        </p:spPr>
        <p:txBody>
          <a:bodyPr wrap="square" lIns="0" tIns="0" rIns="0" bIns="0" rtlCol="0" anchor="ctr">
            <a:normAutofit/>
          </a:bodyPr>
          <a:lstStyle/>
          <a:p>
            <a:pPr indent="0" marL="0">
              <a:buNone/>
            </a:pPr>
            <a:r>
              <a:rPr lang="en-US" sz="2900" b="1" dirty="0">
                <a:solidFill>
                  <a:srgbClr val="2A78D6"/>
                </a:solidFill>
                <a:latin typeface="Aptos" pitchFamily="34" charset="0"/>
                <a:ea typeface="Aptos" pitchFamily="34" charset="-122"/>
                <a:cs typeface="Aptos" pitchFamily="34" charset="-120"/>
              </a:rPr>
              <a:t>03</a:t>
            </a:r>
            <a:endParaRPr lang="en-US" sz="2900" dirty="0"/>
          </a:p>
        </p:txBody>
      </p:sp>
      <p:sp>
        <p:nvSpPr>
          <p:cNvPr id="19" name="Text 17"/>
          <p:cNvSpPr/>
          <p:nvPr/>
        </p:nvSpPr>
        <p:spPr>
          <a:xfrm>
            <a:off x="8394192" y="3127248"/>
            <a:ext cx="3008376" cy="180136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Table / figure -&gt; interpretation, with limitations.</a:t>
            </a:r>
            <a:endParaRPr lang="en-US" sz="2297"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01</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CORE</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Gene counts are versioned answers</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S02  |  7</a:t>
            </a:r>
            <a:endParaRPr lang="en-US" sz="800" dirty="0"/>
          </a:p>
        </p:txBody>
      </p:sp>
      <p:sp>
        <p:nvSpPr>
          <p:cNvPr id="9" name="Shape 7"/>
          <p:cNvSpPr/>
          <p:nvPr/>
        </p:nvSpPr>
        <p:spPr>
          <a:xfrm>
            <a:off x="594360" y="1828800"/>
            <a:ext cx="4965192" cy="4224528"/>
          </a:xfrm>
          <a:prstGeom prst="rect">
            <a:avLst/>
          </a:prstGeom>
          <a:solidFill>
            <a:srgbClr val="EAF2FC"/>
          </a:solidFill>
          <a:ln w="7620">
            <a:solidFill>
              <a:srgbClr val="EAF2FC"/>
            </a:solidFill>
            <a:prstDash val="solid"/>
          </a:ln>
        </p:spPr>
      </p:sp>
      <p:sp>
        <p:nvSpPr>
          <p:cNvPr id="10" name="Shape 8"/>
          <p:cNvSpPr/>
          <p:nvPr/>
        </p:nvSpPr>
        <p:spPr>
          <a:xfrm>
            <a:off x="5943600" y="1901952"/>
            <a:ext cx="50292" cy="1216152"/>
          </a:xfrm>
          <a:prstGeom prst="rect">
            <a:avLst/>
          </a:prstGeom>
          <a:solidFill>
            <a:srgbClr val="2A78D6"/>
          </a:solidFill>
          <a:ln w="7620">
            <a:solidFill>
              <a:srgbClr val="2A78D6"/>
            </a:solidFill>
            <a:prstDash val="solid"/>
          </a:ln>
        </p:spPr>
      </p:sp>
      <p:sp>
        <p:nvSpPr>
          <p:cNvPr id="11" name="Text 9"/>
          <p:cNvSpPr/>
          <p:nvPr/>
        </p:nvSpPr>
        <p:spPr>
          <a:xfrm>
            <a:off x="6144768" y="1901952"/>
            <a:ext cx="5367528" cy="1216152"/>
          </a:xfrm>
          <a:prstGeom prst="rect">
            <a:avLst/>
          </a:prstGeom>
          <a:noFill/>
          <a:ln/>
        </p:spPr>
        <p:txBody>
          <a:bodyPr wrap="square" lIns="0" tIns="0" rIns="0" bIns="0" rtlCol="0" anchor="ctr">
            <a:normAutofit/>
          </a:bodyPr>
          <a:lstStyle/>
          <a:p>
            <a:pPr indent="0" marL="0">
              <a:buNone/>
            </a:pPr>
            <a:r>
              <a:rPr lang="en-US" sz="2100" dirty="0">
                <a:solidFill>
                  <a:srgbClr val="232D3B"/>
                </a:solidFill>
                <a:latin typeface="Aptos" pitchFamily="34" charset="0"/>
                <a:ea typeface="Aptos" pitchFamily="34" charset="-122"/>
                <a:cs typeface="Aptos" pitchFamily="34" charset="-120"/>
              </a:rPr>
              <a:t>GENCODE release 50 reports 19,442 protein-coding genes under its stated main-chromosome counting rule.</a:t>
            </a:r>
            <a:endParaRPr lang="en-US" sz="2100" dirty="0"/>
          </a:p>
        </p:txBody>
      </p:sp>
      <p:sp>
        <p:nvSpPr>
          <p:cNvPr id="12" name="Shape 10"/>
          <p:cNvSpPr/>
          <p:nvPr/>
        </p:nvSpPr>
        <p:spPr>
          <a:xfrm>
            <a:off x="5943600" y="3319272"/>
            <a:ext cx="50292" cy="1216152"/>
          </a:xfrm>
          <a:prstGeom prst="rect">
            <a:avLst/>
          </a:prstGeom>
          <a:solidFill>
            <a:srgbClr val="2A78D6"/>
          </a:solidFill>
          <a:ln w="7620">
            <a:solidFill>
              <a:srgbClr val="2A78D6"/>
            </a:solidFill>
            <a:prstDash val="solid"/>
          </a:ln>
        </p:spPr>
      </p:sp>
      <p:sp>
        <p:nvSpPr>
          <p:cNvPr id="13" name="Text 11"/>
          <p:cNvSpPr/>
          <p:nvPr/>
        </p:nvSpPr>
        <p:spPr>
          <a:xfrm>
            <a:off x="6144768" y="3319272"/>
            <a:ext cx="5367528" cy="1216152"/>
          </a:xfrm>
          <a:prstGeom prst="rect">
            <a:avLst/>
          </a:prstGeom>
          <a:noFill/>
          <a:ln/>
        </p:spPr>
        <p:txBody>
          <a:bodyPr wrap="square" lIns="0" tIns="0" rIns="0" bIns="0" rtlCol="0" anchor="ctr">
            <a:normAutofit/>
          </a:bodyPr>
          <a:lstStyle/>
          <a:p>
            <a:pPr indent="0" marL="0">
              <a:buNone/>
            </a:pPr>
            <a:r>
              <a:rPr lang="en-US" sz="2100" dirty="0">
                <a:solidFill>
                  <a:srgbClr val="232D3B"/>
                </a:solidFill>
                <a:latin typeface="Aptos" pitchFamily="34" charset="0"/>
                <a:ea typeface="Aptos" pitchFamily="34" charset="-122"/>
                <a:cs typeface="Aptos" pitchFamily="34" charset="-120"/>
              </a:rPr>
              <a:t>Changing the annotation release or counting definition can change the answer.</a:t>
            </a:r>
            <a:endParaRPr lang="en-US" sz="2100" dirty="0"/>
          </a:p>
        </p:txBody>
      </p:sp>
      <p:sp>
        <p:nvSpPr>
          <p:cNvPr id="14" name="Shape 12"/>
          <p:cNvSpPr/>
          <p:nvPr/>
        </p:nvSpPr>
        <p:spPr>
          <a:xfrm>
            <a:off x="5943600" y="4736592"/>
            <a:ext cx="50292" cy="1216152"/>
          </a:xfrm>
          <a:prstGeom prst="rect">
            <a:avLst/>
          </a:prstGeom>
          <a:solidFill>
            <a:srgbClr val="2A78D6"/>
          </a:solidFill>
          <a:ln w="7620">
            <a:solidFill>
              <a:srgbClr val="2A78D6"/>
            </a:solidFill>
            <a:prstDash val="solid"/>
          </a:ln>
        </p:spPr>
      </p:sp>
      <p:sp>
        <p:nvSpPr>
          <p:cNvPr id="15" name="Text 13"/>
          <p:cNvSpPr/>
          <p:nvPr/>
        </p:nvSpPr>
        <p:spPr>
          <a:xfrm>
            <a:off x="6144768" y="4736592"/>
            <a:ext cx="5367528" cy="1216152"/>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Record the release and definition; do not memorize one eternal total.</a:t>
            </a:r>
            <a:endParaRPr lang="en-US" sz="2297" dirty="0"/>
          </a:p>
        </p:txBody>
      </p:sp>
      <p:sp>
        <p:nvSpPr>
          <p:cNvPr id="16" name="Text 14"/>
          <p:cNvSpPr/>
          <p:nvPr/>
        </p:nvSpPr>
        <p:spPr>
          <a:xfrm>
            <a:off x="841248" y="2478024"/>
            <a:ext cx="4471416" cy="1508760"/>
          </a:xfrm>
          <a:prstGeom prst="rect">
            <a:avLst/>
          </a:prstGeom>
          <a:noFill/>
          <a:ln/>
        </p:spPr>
        <p:txBody>
          <a:bodyPr wrap="square" lIns="0" tIns="0" rIns="0" bIns="0" rtlCol="0" anchor="ctr">
            <a:normAutofit/>
          </a:bodyPr>
          <a:lstStyle/>
          <a:p>
            <a:pPr algn="ctr" indent="0" marL="0">
              <a:buNone/>
            </a:pPr>
            <a:r>
              <a:rPr lang="en-US" sz="4397" b="1" dirty="0">
                <a:solidFill>
                  <a:srgbClr val="2A78D6"/>
                </a:solidFill>
                <a:latin typeface="Aptos" pitchFamily="34" charset="0"/>
                <a:ea typeface="Aptos" pitchFamily="34" charset="-122"/>
                <a:cs typeface="Aptos" pitchFamily="34" charset="-120"/>
              </a:rPr>
              <a:t>19,442</a:t>
            </a:r>
            <a:endParaRPr lang="en-US" sz="4397" dirty="0"/>
          </a:p>
        </p:txBody>
      </p:sp>
      <p:sp>
        <p:nvSpPr>
          <p:cNvPr id="17" name="Text 15"/>
          <p:cNvSpPr/>
          <p:nvPr/>
        </p:nvSpPr>
        <p:spPr>
          <a:xfrm>
            <a:off x="841248" y="4489704"/>
            <a:ext cx="4471416" cy="960120"/>
          </a:xfrm>
          <a:prstGeom prst="rect">
            <a:avLst/>
          </a:prstGeom>
          <a:noFill/>
          <a:ln/>
        </p:spPr>
        <p:txBody>
          <a:bodyPr wrap="square" lIns="0" tIns="0" rIns="0" bIns="0" rtlCol="0" anchor="ctr">
            <a:normAutofit/>
          </a:bodyPr>
          <a:lstStyle/>
          <a:p>
            <a:pPr algn="ctr" indent="0" marL="0">
              <a:buNone/>
            </a:pPr>
            <a:r>
              <a:rPr lang="en-US" sz="1997" dirty="0">
                <a:solidFill>
                  <a:srgbClr val="526171"/>
                </a:solidFill>
                <a:latin typeface="Aptos" pitchFamily="34" charset="0"/>
                <a:ea typeface="Aptos" pitchFamily="34" charset="-122"/>
                <a:cs typeface="Aptos" pitchFamily="34" charset="-120"/>
              </a:rPr>
              <a:t>Release 50; stated counting rule</a:t>
            </a:r>
            <a:endParaRPr lang="en-US" sz="1997"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01</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CORE</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Notebook = cells + a running memory</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S05  |  8</a:t>
            </a:r>
            <a:endParaRPr lang="en-US" sz="800" dirty="0"/>
          </a:p>
        </p:txBody>
      </p:sp>
      <p:sp>
        <p:nvSpPr>
          <p:cNvPr id="9" name="Shape 7"/>
          <p:cNvSpPr/>
          <p:nvPr/>
        </p:nvSpPr>
        <p:spPr>
          <a:xfrm>
            <a:off x="594360" y="2148840"/>
            <a:ext cx="3429000" cy="3136392"/>
          </a:xfrm>
          <a:prstGeom prst="rect">
            <a:avLst/>
          </a:prstGeom>
          <a:solidFill>
            <a:srgbClr val="EAF2FC"/>
          </a:solidFill>
          <a:ln w="7620">
            <a:solidFill>
              <a:srgbClr val="EAF2FC"/>
            </a:solidFill>
            <a:prstDash val="solid"/>
          </a:ln>
        </p:spPr>
      </p:sp>
      <p:sp>
        <p:nvSpPr>
          <p:cNvPr id="10" name="Text 8"/>
          <p:cNvSpPr/>
          <p:nvPr/>
        </p:nvSpPr>
        <p:spPr>
          <a:xfrm>
            <a:off x="795528" y="2404872"/>
            <a:ext cx="914400" cy="502920"/>
          </a:xfrm>
          <a:prstGeom prst="rect">
            <a:avLst/>
          </a:prstGeom>
          <a:noFill/>
          <a:ln/>
        </p:spPr>
        <p:txBody>
          <a:bodyPr wrap="square" lIns="0" tIns="0" rIns="0" bIns="0" rtlCol="0" anchor="ctr">
            <a:normAutofit/>
          </a:bodyPr>
          <a:lstStyle/>
          <a:p>
            <a:pPr indent="0" marL="0">
              <a:buNone/>
            </a:pPr>
            <a:r>
              <a:rPr lang="en-US" sz="2900" b="1" dirty="0">
                <a:solidFill>
                  <a:srgbClr val="2A78D6"/>
                </a:solidFill>
                <a:latin typeface="Aptos" pitchFamily="34" charset="0"/>
                <a:ea typeface="Aptos" pitchFamily="34" charset="-122"/>
                <a:cs typeface="Aptos" pitchFamily="34" charset="-120"/>
              </a:rPr>
              <a:t>01</a:t>
            </a:r>
            <a:endParaRPr lang="en-US" sz="2900" dirty="0"/>
          </a:p>
        </p:txBody>
      </p:sp>
      <p:sp>
        <p:nvSpPr>
          <p:cNvPr id="11" name="Text 9"/>
          <p:cNvSpPr/>
          <p:nvPr/>
        </p:nvSpPr>
        <p:spPr>
          <a:xfrm>
            <a:off x="804672" y="3127248"/>
            <a:ext cx="3008376" cy="180136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Text cells explain; code cells calculate.</a:t>
            </a:r>
            <a:endParaRPr lang="en-US" sz="2297" dirty="0"/>
          </a:p>
        </p:txBody>
      </p:sp>
      <p:sp>
        <p:nvSpPr>
          <p:cNvPr id="12" name="Text 10"/>
          <p:cNvSpPr/>
          <p:nvPr/>
        </p:nvSpPr>
        <p:spPr>
          <a:xfrm>
            <a:off x="4087368" y="3355848"/>
            <a:ext cx="219456" cy="457200"/>
          </a:xfrm>
          <a:prstGeom prst="rect">
            <a:avLst/>
          </a:prstGeom>
          <a:noFill/>
          <a:ln/>
        </p:spPr>
        <p:txBody>
          <a:bodyPr wrap="square" lIns="0" tIns="0" rIns="0" bIns="0" rtlCol="0" anchor="ctr">
            <a:normAutofit/>
          </a:bodyPr>
          <a:lstStyle/>
          <a:p>
            <a:pPr indent="0" marL="0">
              <a:buNone/>
            </a:pPr>
            <a:r>
              <a:rPr lang="en-US" sz="2300" b="1" dirty="0">
                <a:solidFill>
                  <a:srgbClr val="EB6834"/>
                </a:solidFill>
                <a:latin typeface="Aptos" pitchFamily="34" charset="0"/>
                <a:ea typeface="Aptos" pitchFamily="34" charset="-122"/>
                <a:cs typeface="Aptos" pitchFamily="34" charset="-120"/>
              </a:rPr>
              <a:t>&gt;</a:t>
            </a:r>
            <a:endParaRPr lang="en-US" sz="2300" dirty="0"/>
          </a:p>
        </p:txBody>
      </p:sp>
      <p:sp>
        <p:nvSpPr>
          <p:cNvPr id="13" name="Shape 11"/>
          <p:cNvSpPr/>
          <p:nvPr/>
        </p:nvSpPr>
        <p:spPr>
          <a:xfrm>
            <a:off x="4389120" y="2148840"/>
            <a:ext cx="3429000" cy="3136392"/>
          </a:xfrm>
          <a:prstGeom prst="rect">
            <a:avLst/>
          </a:prstGeom>
          <a:solidFill>
            <a:srgbClr val="EAF2FC"/>
          </a:solidFill>
          <a:ln w="7620">
            <a:solidFill>
              <a:srgbClr val="EAF2FC"/>
            </a:solidFill>
            <a:prstDash val="solid"/>
          </a:ln>
        </p:spPr>
      </p:sp>
      <p:sp>
        <p:nvSpPr>
          <p:cNvPr id="14" name="Text 12"/>
          <p:cNvSpPr/>
          <p:nvPr/>
        </p:nvSpPr>
        <p:spPr>
          <a:xfrm>
            <a:off x="4590288" y="2404872"/>
            <a:ext cx="914400" cy="502920"/>
          </a:xfrm>
          <a:prstGeom prst="rect">
            <a:avLst/>
          </a:prstGeom>
          <a:noFill/>
          <a:ln/>
        </p:spPr>
        <p:txBody>
          <a:bodyPr wrap="square" lIns="0" tIns="0" rIns="0" bIns="0" rtlCol="0" anchor="ctr">
            <a:normAutofit/>
          </a:bodyPr>
          <a:lstStyle/>
          <a:p>
            <a:pPr indent="0" marL="0">
              <a:buNone/>
            </a:pPr>
            <a:r>
              <a:rPr lang="en-US" sz="2900" b="1" dirty="0">
                <a:solidFill>
                  <a:srgbClr val="2A78D6"/>
                </a:solidFill>
                <a:latin typeface="Aptos" pitchFamily="34" charset="0"/>
                <a:ea typeface="Aptos" pitchFamily="34" charset="-122"/>
                <a:cs typeface="Aptos" pitchFamily="34" charset="-120"/>
              </a:rPr>
              <a:t>02</a:t>
            </a:r>
            <a:endParaRPr lang="en-US" sz="2900" dirty="0"/>
          </a:p>
        </p:txBody>
      </p:sp>
      <p:sp>
        <p:nvSpPr>
          <p:cNvPr id="15" name="Text 13"/>
          <p:cNvSpPr/>
          <p:nvPr/>
        </p:nvSpPr>
        <p:spPr>
          <a:xfrm>
            <a:off x="4599432" y="3127248"/>
            <a:ext cx="3008376" cy="180136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The runtime remembers variables in execution order.</a:t>
            </a:r>
            <a:endParaRPr lang="en-US" sz="2297" dirty="0"/>
          </a:p>
        </p:txBody>
      </p:sp>
      <p:sp>
        <p:nvSpPr>
          <p:cNvPr id="16" name="Text 14"/>
          <p:cNvSpPr/>
          <p:nvPr/>
        </p:nvSpPr>
        <p:spPr>
          <a:xfrm>
            <a:off x="7882128" y="3355848"/>
            <a:ext cx="219456" cy="457200"/>
          </a:xfrm>
          <a:prstGeom prst="rect">
            <a:avLst/>
          </a:prstGeom>
          <a:noFill/>
          <a:ln/>
        </p:spPr>
        <p:txBody>
          <a:bodyPr wrap="square" lIns="0" tIns="0" rIns="0" bIns="0" rtlCol="0" anchor="ctr">
            <a:normAutofit/>
          </a:bodyPr>
          <a:lstStyle/>
          <a:p>
            <a:pPr indent="0" marL="0">
              <a:buNone/>
            </a:pPr>
            <a:r>
              <a:rPr lang="en-US" sz="2300" b="1" dirty="0">
                <a:solidFill>
                  <a:srgbClr val="EB6834"/>
                </a:solidFill>
                <a:latin typeface="Aptos" pitchFamily="34" charset="0"/>
                <a:ea typeface="Aptos" pitchFamily="34" charset="-122"/>
                <a:cs typeface="Aptos" pitchFamily="34" charset="-120"/>
              </a:rPr>
              <a:t>&gt;</a:t>
            </a:r>
            <a:endParaRPr lang="en-US" sz="2300" dirty="0"/>
          </a:p>
        </p:txBody>
      </p:sp>
      <p:sp>
        <p:nvSpPr>
          <p:cNvPr id="17" name="Shape 15"/>
          <p:cNvSpPr/>
          <p:nvPr/>
        </p:nvSpPr>
        <p:spPr>
          <a:xfrm>
            <a:off x="8183880" y="2148840"/>
            <a:ext cx="3429000" cy="3136392"/>
          </a:xfrm>
          <a:prstGeom prst="rect">
            <a:avLst/>
          </a:prstGeom>
          <a:solidFill>
            <a:srgbClr val="EAF2FC"/>
          </a:solidFill>
          <a:ln w="7620">
            <a:solidFill>
              <a:srgbClr val="EAF2FC"/>
            </a:solidFill>
            <a:prstDash val="solid"/>
          </a:ln>
        </p:spPr>
      </p:sp>
      <p:sp>
        <p:nvSpPr>
          <p:cNvPr id="18" name="Text 16"/>
          <p:cNvSpPr/>
          <p:nvPr/>
        </p:nvSpPr>
        <p:spPr>
          <a:xfrm>
            <a:off x="8385048" y="2404872"/>
            <a:ext cx="914400" cy="502920"/>
          </a:xfrm>
          <a:prstGeom prst="rect">
            <a:avLst/>
          </a:prstGeom>
          <a:noFill/>
          <a:ln/>
        </p:spPr>
        <p:txBody>
          <a:bodyPr wrap="square" lIns="0" tIns="0" rIns="0" bIns="0" rtlCol="0" anchor="ctr">
            <a:normAutofit/>
          </a:bodyPr>
          <a:lstStyle/>
          <a:p>
            <a:pPr indent="0" marL="0">
              <a:buNone/>
            </a:pPr>
            <a:r>
              <a:rPr lang="en-US" sz="2900" b="1" dirty="0">
                <a:solidFill>
                  <a:srgbClr val="2A78D6"/>
                </a:solidFill>
                <a:latin typeface="Aptos" pitchFamily="34" charset="0"/>
                <a:ea typeface="Aptos" pitchFamily="34" charset="-122"/>
                <a:cs typeface="Aptos" pitchFamily="34" charset="-120"/>
              </a:rPr>
              <a:t>03</a:t>
            </a:r>
            <a:endParaRPr lang="en-US" sz="2900" dirty="0"/>
          </a:p>
        </p:txBody>
      </p:sp>
      <p:sp>
        <p:nvSpPr>
          <p:cNvPr id="19" name="Text 17"/>
          <p:cNvSpPr/>
          <p:nvPr/>
        </p:nvSpPr>
        <p:spPr>
          <a:xfrm>
            <a:off x="8394192" y="3127248"/>
            <a:ext cx="3008376" cy="180136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Restart and run all checks whether the notebook works from a clean start.</a:t>
            </a:r>
            <a:endParaRPr lang="en-US" sz="2297"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01</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CORE</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Our scientific loop</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9</a:t>
            </a:r>
            <a:endParaRPr lang="en-US" sz="800" dirty="0"/>
          </a:p>
        </p:txBody>
      </p:sp>
      <p:sp>
        <p:nvSpPr>
          <p:cNvPr id="9" name="Shape 7"/>
          <p:cNvSpPr/>
          <p:nvPr/>
        </p:nvSpPr>
        <p:spPr>
          <a:xfrm>
            <a:off x="594360" y="2148840"/>
            <a:ext cx="3429000" cy="3136392"/>
          </a:xfrm>
          <a:prstGeom prst="rect">
            <a:avLst/>
          </a:prstGeom>
          <a:solidFill>
            <a:srgbClr val="EAF2FC"/>
          </a:solidFill>
          <a:ln w="7620">
            <a:solidFill>
              <a:srgbClr val="EAF2FC"/>
            </a:solidFill>
            <a:prstDash val="solid"/>
          </a:ln>
        </p:spPr>
      </p:sp>
      <p:sp>
        <p:nvSpPr>
          <p:cNvPr id="10" name="Text 8"/>
          <p:cNvSpPr/>
          <p:nvPr/>
        </p:nvSpPr>
        <p:spPr>
          <a:xfrm>
            <a:off x="795528" y="2404872"/>
            <a:ext cx="914400" cy="502920"/>
          </a:xfrm>
          <a:prstGeom prst="rect">
            <a:avLst/>
          </a:prstGeom>
          <a:noFill/>
          <a:ln/>
        </p:spPr>
        <p:txBody>
          <a:bodyPr wrap="square" lIns="0" tIns="0" rIns="0" bIns="0" rtlCol="0" anchor="ctr">
            <a:normAutofit/>
          </a:bodyPr>
          <a:lstStyle/>
          <a:p>
            <a:pPr indent="0" marL="0">
              <a:buNone/>
            </a:pPr>
            <a:r>
              <a:rPr lang="en-US" sz="2900" b="1" dirty="0">
                <a:solidFill>
                  <a:srgbClr val="2A78D6"/>
                </a:solidFill>
                <a:latin typeface="Aptos" pitchFamily="34" charset="0"/>
                <a:ea typeface="Aptos" pitchFamily="34" charset="-122"/>
                <a:cs typeface="Aptos" pitchFamily="34" charset="-120"/>
              </a:rPr>
              <a:t>01</a:t>
            </a:r>
            <a:endParaRPr lang="en-US" sz="2900" dirty="0"/>
          </a:p>
        </p:txBody>
      </p:sp>
      <p:sp>
        <p:nvSpPr>
          <p:cNvPr id="11" name="Text 9"/>
          <p:cNvSpPr/>
          <p:nvPr/>
        </p:nvSpPr>
        <p:spPr>
          <a:xfrm>
            <a:off x="804672" y="3127248"/>
            <a:ext cx="3008376" cy="180136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Predict what you expect before running the example.</a:t>
            </a:r>
            <a:endParaRPr lang="en-US" sz="2297" dirty="0"/>
          </a:p>
        </p:txBody>
      </p:sp>
      <p:sp>
        <p:nvSpPr>
          <p:cNvPr id="12" name="Text 10"/>
          <p:cNvSpPr/>
          <p:nvPr/>
        </p:nvSpPr>
        <p:spPr>
          <a:xfrm>
            <a:off x="4087368" y="3355848"/>
            <a:ext cx="219456" cy="457200"/>
          </a:xfrm>
          <a:prstGeom prst="rect">
            <a:avLst/>
          </a:prstGeom>
          <a:noFill/>
          <a:ln/>
        </p:spPr>
        <p:txBody>
          <a:bodyPr wrap="square" lIns="0" tIns="0" rIns="0" bIns="0" rtlCol="0" anchor="ctr">
            <a:normAutofit/>
          </a:bodyPr>
          <a:lstStyle/>
          <a:p>
            <a:pPr indent="0" marL="0">
              <a:buNone/>
            </a:pPr>
            <a:r>
              <a:rPr lang="en-US" sz="2300" b="1" dirty="0">
                <a:solidFill>
                  <a:srgbClr val="EB6834"/>
                </a:solidFill>
                <a:latin typeface="Aptos" pitchFamily="34" charset="0"/>
                <a:ea typeface="Aptos" pitchFamily="34" charset="-122"/>
                <a:cs typeface="Aptos" pitchFamily="34" charset="-120"/>
              </a:rPr>
              <a:t>&gt;</a:t>
            </a:r>
            <a:endParaRPr lang="en-US" sz="2300" dirty="0"/>
          </a:p>
        </p:txBody>
      </p:sp>
      <p:sp>
        <p:nvSpPr>
          <p:cNvPr id="13" name="Shape 11"/>
          <p:cNvSpPr/>
          <p:nvPr/>
        </p:nvSpPr>
        <p:spPr>
          <a:xfrm>
            <a:off x="4389120" y="2148840"/>
            <a:ext cx="3429000" cy="3136392"/>
          </a:xfrm>
          <a:prstGeom prst="rect">
            <a:avLst/>
          </a:prstGeom>
          <a:solidFill>
            <a:srgbClr val="EAF2FC"/>
          </a:solidFill>
          <a:ln w="7620">
            <a:solidFill>
              <a:srgbClr val="EAF2FC"/>
            </a:solidFill>
            <a:prstDash val="solid"/>
          </a:ln>
        </p:spPr>
      </p:sp>
      <p:sp>
        <p:nvSpPr>
          <p:cNvPr id="14" name="Text 12"/>
          <p:cNvSpPr/>
          <p:nvPr/>
        </p:nvSpPr>
        <p:spPr>
          <a:xfrm>
            <a:off x="4590288" y="2404872"/>
            <a:ext cx="914400" cy="502920"/>
          </a:xfrm>
          <a:prstGeom prst="rect">
            <a:avLst/>
          </a:prstGeom>
          <a:noFill/>
          <a:ln/>
        </p:spPr>
        <p:txBody>
          <a:bodyPr wrap="square" lIns="0" tIns="0" rIns="0" bIns="0" rtlCol="0" anchor="ctr">
            <a:normAutofit/>
          </a:bodyPr>
          <a:lstStyle/>
          <a:p>
            <a:pPr indent="0" marL="0">
              <a:buNone/>
            </a:pPr>
            <a:r>
              <a:rPr lang="en-US" sz="2900" b="1" dirty="0">
                <a:solidFill>
                  <a:srgbClr val="2A78D6"/>
                </a:solidFill>
                <a:latin typeface="Aptos" pitchFamily="34" charset="0"/>
                <a:ea typeface="Aptos" pitchFamily="34" charset="-122"/>
                <a:cs typeface="Aptos" pitchFamily="34" charset="-120"/>
              </a:rPr>
              <a:t>02</a:t>
            </a:r>
            <a:endParaRPr lang="en-US" sz="2900" dirty="0"/>
          </a:p>
        </p:txBody>
      </p:sp>
      <p:sp>
        <p:nvSpPr>
          <p:cNvPr id="15" name="Text 13"/>
          <p:cNvSpPr/>
          <p:nvPr/>
        </p:nvSpPr>
        <p:spPr>
          <a:xfrm>
            <a:off x="4599432" y="3127248"/>
            <a:ext cx="3008376" cy="180136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Run, compare with a control, and inspect a possible defect.</a:t>
            </a:r>
            <a:endParaRPr lang="en-US" sz="2297" dirty="0"/>
          </a:p>
        </p:txBody>
      </p:sp>
      <p:sp>
        <p:nvSpPr>
          <p:cNvPr id="16" name="Text 14"/>
          <p:cNvSpPr/>
          <p:nvPr/>
        </p:nvSpPr>
        <p:spPr>
          <a:xfrm>
            <a:off x="7882128" y="3355848"/>
            <a:ext cx="219456" cy="457200"/>
          </a:xfrm>
          <a:prstGeom prst="rect">
            <a:avLst/>
          </a:prstGeom>
          <a:noFill/>
          <a:ln/>
        </p:spPr>
        <p:txBody>
          <a:bodyPr wrap="square" lIns="0" tIns="0" rIns="0" bIns="0" rtlCol="0" anchor="ctr">
            <a:normAutofit/>
          </a:bodyPr>
          <a:lstStyle/>
          <a:p>
            <a:pPr indent="0" marL="0">
              <a:buNone/>
            </a:pPr>
            <a:r>
              <a:rPr lang="en-US" sz="2300" b="1" dirty="0">
                <a:solidFill>
                  <a:srgbClr val="EB6834"/>
                </a:solidFill>
                <a:latin typeface="Aptos" pitchFamily="34" charset="0"/>
                <a:ea typeface="Aptos" pitchFamily="34" charset="-122"/>
                <a:cs typeface="Aptos" pitchFamily="34" charset="-120"/>
              </a:rPr>
              <a:t>&gt;</a:t>
            </a:r>
            <a:endParaRPr lang="en-US" sz="2300" dirty="0"/>
          </a:p>
        </p:txBody>
      </p:sp>
      <p:sp>
        <p:nvSpPr>
          <p:cNvPr id="17" name="Shape 15"/>
          <p:cNvSpPr/>
          <p:nvPr/>
        </p:nvSpPr>
        <p:spPr>
          <a:xfrm>
            <a:off x="8183880" y="2148840"/>
            <a:ext cx="3429000" cy="3136392"/>
          </a:xfrm>
          <a:prstGeom prst="rect">
            <a:avLst/>
          </a:prstGeom>
          <a:solidFill>
            <a:srgbClr val="EAF2FC"/>
          </a:solidFill>
          <a:ln w="7620">
            <a:solidFill>
              <a:srgbClr val="EAF2FC"/>
            </a:solidFill>
            <a:prstDash val="solid"/>
          </a:ln>
        </p:spPr>
      </p:sp>
      <p:sp>
        <p:nvSpPr>
          <p:cNvPr id="18" name="Text 16"/>
          <p:cNvSpPr/>
          <p:nvPr/>
        </p:nvSpPr>
        <p:spPr>
          <a:xfrm>
            <a:off x="8385048" y="2404872"/>
            <a:ext cx="914400" cy="502920"/>
          </a:xfrm>
          <a:prstGeom prst="rect">
            <a:avLst/>
          </a:prstGeom>
          <a:noFill/>
          <a:ln/>
        </p:spPr>
        <p:txBody>
          <a:bodyPr wrap="square" lIns="0" tIns="0" rIns="0" bIns="0" rtlCol="0" anchor="ctr">
            <a:normAutofit/>
          </a:bodyPr>
          <a:lstStyle/>
          <a:p>
            <a:pPr indent="0" marL="0">
              <a:buNone/>
            </a:pPr>
            <a:r>
              <a:rPr lang="en-US" sz="2900" b="1" dirty="0">
                <a:solidFill>
                  <a:srgbClr val="2A78D6"/>
                </a:solidFill>
                <a:latin typeface="Aptos" pitchFamily="34" charset="0"/>
                <a:ea typeface="Aptos" pitchFamily="34" charset="-122"/>
                <a:cs typeface="Aptos" pitchFamily="34" charset="-120"/>
              </a:rPr>
              <a:t>03</a:t>
            </a:r>
            <a:endParaRPr lang="en-US" sz="2900" dirty="0"/>
          </a:p>
        </p:txBody>
      </p:sp>
      <p:sp>
        <p:nvSpPr>
          <p:cNvPr id="19" name="Text 17"/>
          <p:cNvSpPr/>
          <p:nvPr/>
        </p:nvSpPr>
        <p:spPr>
          <a:xfrm>
            <a:off x="8394192" y="3127248"/>
            <a:ext cx="3008376" cy="180136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Explain one result and one thing the result cannot establish.</a:t>
            </a:r>
            <a:endParaRPr lang="en-US" sz="2297"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01</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CORE</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Reproducible is not automatically correct</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S05  |  10</a:t>
            </a:r>
            <a:endParaRPr lang="en-US" sz="800" dirty="0"/>
          </a:p>
        </p:txBody>
      </p:sp>
      <p:sp>
        <p:nvSpPr>
          <p:cNvPr id="9" name="Shape 7"/>
          <p:cNvSpPr/>
          <p:nvPr/>
        </p:nvSpPr>
        <p:spPr>
          <a:xfrm>
            <a:off x="594360" y="1865376"/>
            <a:ext cx="5321808" cy="1024128"/>
          </a:xfrm>
          <a:prstGeom prst="rect">
            <a:avLst/>
          </a:prstGeom>
          <a:solidFill>
            <a:srgbClr val="EAF2FC"/>
          </a:solidFill>
          <a:ln w="7620">
            <a:solidFill>
              <a:srgbClr val="EAF2FC"/>
            </a:solidFill>
            <a:prstDash val="solid"/>
          </a:ln>
        </p:spPr>
      </p:sp>
      <p:sp>
        <p:nvSpPr>
          <p:cNvPr id="10" name="Shape 8"/>
          <p:cNvSpPr/>
          <p:nvPr/>
        </p:nvSpPr>
        <p:spPr>
          <a:xfrm>
            <a:off x="6199632" y="1865376"/>
            <a:ext cx="5321808" cy="1024128"/>
          </a:xfrm>
          <a:prstGeom prst="rect">
            <a:avLst/>
          </a:prstGeom>
          <a:solidFill>
            <a:srgbClr val="FFF0E8"/>
          </a:solidFill>
          <a:ln w="7620">
            <a:solidFill>
              <a:srgbClr val="FFF0E8"/>
            </a:solidFill>
            <a:prstDash val="solid"/>
          </a:ln>
        </p:spPr>
      </p:sp>
      <p:sp>
        <p:nvSpPr>
          <p:cNvPr id="11" name="Text 9"/>
          <p:cNvSpPr/>
          <p:nvPr/>
        </p:nvSpPr>
        <p:spPr>
          <a:xfrm>
            <a:off x="822960" y="2048256"/>
            <a:ext cx="4846320" cy="640080"/>
          </a:xfrm>
          <a:prstGeom prst="rect">
            <a:avLst/>
          </a:prstGeom>
          <a:noFill/>
          <a:ln/>
        </p:spPr>
        <p:txBody>
          <a:bodyPr wrap="square" lIns="0" tIns="0" rIns="0" bIns="0" rtlCol="0" anchor="ctr">
            <a:normAutofit/>
          </a:bodyPr>
          <a:lstStyle/>
          <a:p>
            <a:pPr indent="0" marL="0">
              <a:buNone/>
            </a:pPr>
            <a:r>
              <a:rPr lang="en-US" sz="2372" b="1" dirty="0">
                <a:solidFill>
                  <a:srgbClr val="2A78D6"/>
                </a:solidFill>
                <a:latin typeface="Aptos" pitchFamily="34" charset="0"/>
                <a:ea typeface="Aptos" pitchFamily="34" charset="-122"/>
                <a:cs typeface="Aptos" pitchFamily="34" charset="-120"/>
              </a:rPr>
              <a:t>Reproducible</a:t>
            </a:r>
            <a:endParaRPr lang="en-US" sz="2372" dirty="0"/>
          </a:p>
        </p:txBody>
      </p:sp>
      <p:sp>
        <p:nvSpPr>
          <p:cNvPr id="12" name="Text 10"/>
          <p:cNvSpPr/>
          <p:nvPr/>
        </p:nvSpPr>
        <p:spPr>
          <a:xfrm>
            <a:off x="6428232" y="2048256"/>
            <a:ext cx="4846320" cy="640080"/>
          </a:xfrm>
          <a:prstGeom prst="rect">
            <a:avLst/>
          </a:prstGeom>
          <a:noFill/>
          <a:ln/>
        </p:spPr>
        <p:txBody>
          <a:bodyPr wrap="square" lIns="0" tIns="0" rIns="0" bIns="0" rtlCol="0" anchor="ctr">
            <a:normAutofit/>
          </a:bodyPr>
          <a:lstStyle/>
          <a:p>
            <a:pPr indent="0" marL="0">
              <a:buNone/>
            </a:pPr>
            <a:r>
              <a:rPr lang="en-US" sz="2372" b="1" dirty="0">
                <a:solidFill>
                  <a:srgbClr val="EB6834"/>
                </a:solidFill>
                <a:latin typeface="Aptos" pitchFamily="34" charset="0"/>
                <a:ea typeface="Aptos" pitchFamily="34" charset="-122"/>
                <a:cs typeface="Aptos" pitchFamily="34" charset="-120"/>
              </a:rPr>
              <a:t>Scientifically justified</a:t>
            </a:r>
            <a:endParaRPr lang="en-US" sz="2372" dirty="0"/>
          </a:p>
        </p:txBody>
      </p:sp>
      <p:sp>
        <p:nvSpPr>
          <p:cNvPr id="13" name="Shape 11"/>
          <p:cNvSpPr/>
          <p:nvPr/>
        </p:nvSpPr>
        <p:spPr>
          <a:xfrm>
            <a:off x="658368" y="3218688"/>
            <a:ext cx="50292" cy="719328"/>
          </a:xfrm>
          <a:prstGeom prst="rect">
            <a:avLst/>
          </a:prstGeom>
          <a:solidFill>
            <a:srgbClr val="2A78D6"/>
          </a:solidFill>
          <a:ln w="7620">
            <a:solidFill>
              <a:srgbClr val="2A78D6"/>
            </a:solidFill>
            <a:prstDash val="solid"/>
          </a:ln>
        </p:spPr>
      </p:sp>
      <p:sp>
        <p:nvSpPr>
          <p:cNvPr id="14" name="Text 12"/>
          <p:cNvSpPr/>
          <p:nvPr/>
        </p:nvSpPr>
        <p:spPr>
          <a:xfrm>
            <a:off x="859536" y="3218688"/>
            <a:ext cx="10552176" cy="71932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A fixed seed can reproduce a synthetic dataset.</a:t>
            </a:r>
            <a:endParaRPr lang="en-US" sz="2297" dirty="0"/>
          </a:p>
        </p:txBody>
      </p:sp>
      <p:sp>
        <p:nvSpPr>
          <p:cNvPr id="15" name="Shape 13"/>
          <p:cNvSpPr/>
          <p:nvPr/>
        </p:nvSpPr>
        <p:spPr>
          <a:xfrm>
            <a:off x="658368" y="4139184"/>
            <a:ext cx="50292" cy="719328"/>
          </a:xfrm>
          <a:prstGeom prst="rect">
            <a:avLst/>
          </a:prstGeom>
          <a:solidFill>
            <a:srgbClr val="2A78D6"/>
          </a:solidFill>
          <a:ln w="7620">
            <a:solidFill>
              <a:srgbClr val="2A78D6"/>
            </a:solidFill>
            <a:prstDash val="solid"/>
          </a:ln>
        </p:spPr>
      </p:sp>
      <p:sp>
        <p:nvSpPr>
          <p:cNvPr id="16" name="Text 14"/>
          <p:cNvSpPr/>
          <p:nvPr/>
        </p:nvSpPr>
        <p:spPr>
          <a:xfrm>
            <a:off x="859536" y="4139184"/>
            <a:ext cx="10552176" cy="71932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The same wrong method can reproduce the same wrong answer.</a:t>
            </a:r>
            <a:endParaRPr lang="en-US" sz="2297" dirty="0"/>
          </a:p>
        </p:txBody>
      </p:sp>
      <p:sp>
        <p:nvSpPr>
          <p:cNvPr id="17" name="Shape 15"/>
          <p:cNvSpPr/>
          <p:nvPr/>
        </p:nvSpPr>
        <p:spPr>
          <a:xfrm>
            <a:off x="658368" y="5059680"/>
            <a:ext cx="50292" cy="719328"/>
          </a:xfrm>
          <a:prstGeom prst="rect">
            <a:avLst/>
          </a:prstGeom>
          <a:solidFill>
            <a:srgbClr val="2A78D6"/>
          </a:solidFill>
          <a:ln w="7620">
            <a:solidFill>
              <a:srgbClr val="2A78D6"/>
            </a:solidFill>
            <a:prstDash val="solid"/>
          </a:ln>
        </p:spPr>
      </p:sp>
      <p:sp>
        <p:nvSpPr>
          <p:cNvPr id="18" name="Text 16"/>
          <p:cNvSpPr/>
          <p:nvPr/>
        </p:nvSpPr>
        <p:spPr>
          <a:xfrm>
            <a:off x="859536" y="5059680"/>
            <a:ext cx="10552176" cy="71932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A receipt or checksum checks consistency, not honesty or scientific truth.</a:t>
            </a:r>
            <a:endParaRPr lang="en-US" sz="2297"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01</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CORE</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AI is optional; responsibility is not</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S20 / S23  |  11</a:t>
            </a:r>
            <a:endParaRPr lang="en-US" sz="800" dirty="0"/>
          </a:p>
        </p:txBody>
      </p:sp>
      <p:sp>
        <p:nvSpPr>
          <p:cNvPr id="9" name="Shape 7"/>
          <p:cNvSpPr/>
          <p:nvPr/>
        </p:nvSpPr>
        <p:spPr>
          <a:xfrm>
            <a:off x="594360" y="1920240"/>
            <a:ext cx="50292" cy="1207008"/>
          </a:xfrm>
          <a:prstGeom prst="rect">
            <a:avLst/>
          </a:prstGeom>
          <a:solidFill>
            <a:srgbClr val="2A78D6"/>
          </a:solidFill>
          <a:ln w="7620">
            <a:solidFill>
              <a:srgbClr val="2A78D6"/>
            </a:solidFill>
            <a:prstDash val="solid"/>
          </a:ln>
        </p:spPr>
      </p:sp>
      <p:sp>
        <p:nvSpPr>
          <p:cNvPr id="10" name="Text 8"/>
          <p:cNvSpPr/>
          <p:nvPr/>
        </p:nvSpPr>
        <p:spPr>
          <a:xfrm>
            <a:off x="795528" y="1920240"/>
            <a:ext cx="10771632" cy="120700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You may ask for explanations or help reading an error where the task permits it.</a:t>
            </a:r>
            <a:endParaRPr lang="en-US" sz="2297" dirty="0"/>
          </a:p>
        </p:txBody>
      </p:sp>
      <p:sp>
        <p:nvSpPr>
          <p:cNvPr id="11" name="Shape 9"/>
          <p:cNvSpPr/>
          <p:nvPr/>
        </p:nvSpPr>
        <p:spPr>
          <a:xfrm>
            <a:off x="594360" y="3328416"/>
            <a:ext cx="50292" cy="1207008"/>
          </a:xfrm>
          <a:prstGeom prst="rect">
            <a:avLst/>
          </a:prstGeom>
          <a:solidFill>
            <a:srgbClr val="2A78D6"/>
          </a:solidFill>
          <a:ln w="7620">
            <a:solidFill>
              <a:srgbClr val="2A78D6"/>
            </a:solidFill>
            <a:prstDash val="solid"/>
          </a:ln>
        </p:spPr>
      </p:sp>
      <p:sp>
        <p:nvSpPr>
          <p:cNvPr id="12" name="Text 10"/>
          <p:cNvSpPr/>
          <p:nvPr/>
        </p:nvSpPr>
        <p:spPr>
          <a:xfrm>
            <a:off x="795528" y="3328416"/>
            <a:ext cx="10771632" cy="120700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Record the tool, use and checks; no AI use is also a valid disclosure.</a:t>
            </a:r>
            <a:endParaRPr lang="en-US" sz="2297" dirty="0"/>
          </a:p>
        </p:txBody>
      </p:sp>
      <p:sp>
        <p:nvSpPr>
          <p:cNvPr id="13" name="Shape 11"/>
          <p:cNvSpPr/>
          <p:nvPr/>
        </p:nvSpPr>
        <p:spPr>
          <a:xfrm>
            <a:off x="594360" y="4736592"/>
            <a:ext cx="50292" cy="1207008"/>
          </a:xfrm>
          <a:prstGeom prst="rect">
            <a:avLst/>
          </a:prstGeom>
          <a:solidFill>
            <a:srgbClr val="2A78D6"/>
          </a:solidFill>
          <a:ln w="7620">
            <a:solidFill>
              <a:srgbClr val="2A78D6"/>
            </a:solidFill>
            <a:prstDash val="solid"/>
          </a:ln>
        </p:spPr>
      </p:sp>
      <p:sp>
        <p:nvSpPr>
          <p:cNvPr id="14" name="Text 12"/>
          <p:cNvSpPr/>
          <p:nvPr/>
        </p:nvSpPr>
        <p:spPr>
          <a:xfrm>
            <a:off x="795528" y="4736592"/>
            <a:ext cx="10771632" cy="120700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Never paste patient data or classmates' submissions into a public service.</a:t>
            </a:r>
            <a:endParaRPr lang="en-US" sz="2297"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01</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WORKED EXAMPLE</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Worked example: a traceable GC fraction</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12</a:t>
            </a:r>
            <a:endParaRPr lang="en-US" sz="800" dirty="0"/>
          </a:p>
        </p:txBody>
      </p:sp>
      <p:sp>
        <p:nvSpPr>
          <p:cNvPr id="9" name="Text 7"/>
          <p:cNvSpPr/>
          <p:nvPr/>
        </p:nvSpPr>
        <p:spPr>
          <a:xfrm>
            <a:off x="685800" y="2148840"/>
            <a:ext cx="10881360" cy="1783080"/>
          </a:xfrm>
          <a:prstGeom prst="rect">
            <a:avLst/>
          </a:prstGeom>
          <a:noFill/>
          <a:ln/>
        </p:spPr>
        <p:txBody>
          <a:bodyPr wrap="square" lIns="0" tIns="0" rIns="0" bIns="0" rtlCol="0" anchor="ctr">
            <a:normAutofit/>
          </a:bodyPr>
          <a:lstStyle/>
          <a:p>
            <a:pPr indent="0" marL="0">
              <a:buNone/>
            </a:pPr>
            <a:r>
              <a:rPr lang="en-US" sz="2997" dirty="0">
                <a:solidFill>
                  <a:srgbClr val="232D3B"/>
                </a:solidFill>
                <a:latin typeface="Aptos" pitchFamily="34" charset="0"/>
                <a:ea typeface="Aptos" pitchFamily="34" charset="-122"/>
                <a:cs typeface="Aptos" pitchFamily="34" charset="-120"/>
              </a:rPr>
              <a:t>Toy DNA sequence: ACGTGC. Ignore no positions because all six bases are known.</a:t>
            </a:r>
            <a:endParaRPr lang="en-US" sz="2997" dirty="0"/>
          </a:p>
        </p:txBody>
      </p:sp>
      <p:sp>
        <p:nvSpPr>
          <p:cNvPr id="10" name="Shape 8"/>
          <p:cNvSpPr/>
          <p:nvPr/>
        </p:nvSpPr>
        <p:spPr>
          <a:xfrm>
            <a:off x="685800" y="4572000"/>
            <a:ext cx="10817352" cy="1024128"/>
          </a:xfrm>
          <a:prstGeom prst="rect">
            <a:avLst/>
          </a:prstGeom>
          <a:solidFill>
            <a:srgbClr val="EAF2FC"/>
          </a:solidFill>
          <a:ln w="7620">
            <a:solidFill>
              <a:srgbClr val="EAF2FC"/>
            </a:solidFill>
            <a:prstDash val="solid"/>
          </a:ln>
        </p:spPr>
      </p:sp>
      <p:sp>
        <p:nvSpPr>
          <p:cNvPr id="11" name="Text 9"/>
          <p:cNvSpPr/>
          <p:nvPr/>
        </p:nvSpPr>
        <p:spPr>
          <a:xfrm>
            <a:off x="932688" y="4791456"/>
            <a:ext cx="10287000" cy="576072"/>
          </a:xfrm>
          <a:prstGeom prst="rect">
            <a:avLst/>
          </a:prstGeom>
          <a:noFill/>
          <a:ln/>
        </p:spPr>
        <p:txBody>
          <a:bodyPr wrap="square" lIns="0" tIns="0" rIns="0" bIns="0" rtlCol="0" anchor="ctr">
            <a:normAutofit/>
          </a:bodyPr>
          <a:lstStyle/>
          <a:p>
            <a:pPr indent="0" marL="0">
              <a:buNone/>
            </a:pPr>
            <a:r>
              <a:rPr lang="en-US" sz="2100" b="1" dirty="0">
                <a:solidFill>
                  <a:srgbClr val="2A78D6"/>
                </a:solidFill>
                <a:latin typeface="Aptos" pitchFamily="34" charset="0"/>
                <a:ea typeface="Aptos" pitchFamily="34" charset="-122"/>
                <a:cs typeface="Aptos" pitchFamily="34" charset="-120"/>
              </a:rPr>
              <a:t>Predict the result and one limitation before calculating.</a:t>
            </a:r>
            <a:endParaRPr lang="en-US" sz="2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01</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WORKED EXAMPLE</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Work through the reasoning</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13</a:t>
            </a:r>
            <a:endParaRPr lang="en-US" sz="800" dirty="0"/>
          </a:p>
        </p:txBody>
      </p:sp>
      <p:sp>
        <p:nvSpPr>
          <p:cNvPr id="9" name="Shape 7"/>
          <p:cNvSpPr/>
          <p:nvPr/>
        </p:nvSpPr>
        <p:spPr>
          <a:xfrm>
            <a:off x="594360" y="1920240"/>
            <a:ext cx="50292" cy="1207008"/>
          </a:xfrm>
          <a:prstGeom prst="rect">
            <a:avLst/>
          </a:prstGeom>
          <a:solidFill>
            <a:srgbClr val="2A78D6"/>
          </a:solidFill>
          <a:ln w="7620">
            <a:solidFill>
              <a:srgbClr val="2A78D6"/>
            </a:solidFill>
            <a:prstDash val="solid"/>
          </a:ln>
        </p:spPr>
      </p:sp>
      <p:sp>
        <p:nvSpPr>
          <p:cNvPr id="10" name="Text 8"/>
          <p:cNvSpPr/>
          <p:nvPr/>
        </p:nvSpPr>
        <p:spPr>
          <a:xfrm>
            <a:off x="795528" y="1920240"/>
            <a:ext cx="10771632" cy="120700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There are four G or C bases in six positions.</a:t>
            </a:r>
            <a:endParaRPr lang="en-US" sz="2297" dirty="0"/>
          </a:p>
        </p:txBody>
      </p:sp>
      <p:sp>
        <p:nvSpPr>
          <p:cNvPr id="11" name="Shape 9"/>
          <p:cNvSpPr/>
          <p:nvPr/>
        </p:nvSpPr>
        <p:spPr>
          <a:xfrm>
            <a:off x="594360" y="3328416"/>
            <a:ext cx="50292" cy="1207008"/>
          </a:xfrm>
          <a:prstGeom prst="rect">
            <a:avLst/>
          </a:prstGeom>
          <a:solidFill>
            <a:srgbClr val="2A78D6"/>
          </a:solidFill>
          <a:ln w="7620">
            <a:solidFill>
              <a:srgbClr val="2A78D6"/>
            </a:solidFill>
            <a:prstDash val="solid"/>
          </a:ln>
        </p:spPr>
      </p:sp>
      <p:sp>
        <p:nvSpPr>
          <p:cNvPr id="12" name="Text 10"/>
          <p:cNvSpPr/>
          <p:nvPr/>
        </p:nvSpPr>
        <p:spPr>
          <a:xfrm>
            <a:off x="795528" y="3328416"/>
            <a:ext cx="10771632" cy="120700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GC fraction = 4 / 6 = 0.667, approximately 66.7%.</a:t>
            </a:r>
            <a:endParaRPr lang="en-US" sz="2297" dirty="0"/>
          </a:p>
        </p:txBody>
      </p:sp>
      <p:sp>
        <p:nvSpPr>
          <p:cNvPr id="13" name="Shape 11"/>
          <p:cNvSpPr/>
          <p:nvPr/>
        </p:nvSpPr>
        <p:spPr>
          <a:xfrm>
            <a:off x="594360" y="4736592"/>
            <a:ext cx="50292" cy="1207008"/>
          </a:xfrm>
          <a:prstGeom prst="rect">
            <a:avLst/>
          </a:prstGeom>
          <a:solidFill>
            <a:srgbClr val="2A78D6"/>
          </a:solidFill>
          <a:ln w="7620">
            <a:solidFill>
              <a:srgbClr val="2A78D6"/>
            </a:solidFill>
            <a:prstDash val="solid"/>
          </a:ln>
        </p:spPr>
      </p:sp>
      <p:sp>
        <p:nvSpPr>
          <p:cNvPr id="14" name="Text 12"/>
          <p:cNvSpPr/>
          <p:nvPr/>
        </p:nvSpPr>
        <p:spPr>
          <a:xfrm>
            <a:off x="795528" y="4736592"/>
            <a:ext cx="10771632" cy="120700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The sequence is synthetic; GC content alone does not identify a species.</a:t>
            </a:r>
            <a:endParaRPr lang="en-US" sz="2297"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01</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PAIR CHECK</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Pause: make a defensible claim</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14</a:t>
            </a:r>
            <a:endParaRPr lang="en-US" sz="800" dirty="0"/>
          </a:p>
        </p:txBody>
      </p:sp>
      <p:sp>
        <p:nvSpPr>
          <p:cNvPr id="9" name="Text 7"/>
          <p:cNvSpPr/>
          <p:nvPr/>
        </p:nvSpPr>
        <p:spPr>
          <a:xfrm>
            <a:off x="713232" y="2130552"/>
            <a:ext cx="10762488" cy="2496312"/>
          </a:xfrm>
          <a:prstGeom prst="rect">
            <a:avLst/>
          </a:prstGeom>
          <a:noFill/>
          <a:ln/>
        </p:spPr>
        <p:txBody>
          <a:bodyPr wrap="square" lIns="0" tIns="0" rIns="0" bIns="0" rtlCol="0" anchor="ctr">
            <a:normAutofit/>
          </a:bodyPr>
          <a:lstStyle/>
          <a:p>
            <a:pPr indent="0" marL="0">
              <a:buNone/>
            </a:pPr>
            <a:r>
              <a:rPr lang="en-US" sz="2897" dirty="0">
                <a:solidFill>
                  <a:srgbClr val="232D3B"/>
                </a:solidFill>
                <a:latin typeface="Aptos" pitchFamily="34" charset="0"/>
                <a:ea typeface="Aptos" pitchFamily="34" charset="-122"/>
                <a:cs typeface="Aptos" pitchFamily="34" charset="-120"/>
              </a:rPr>
              <a:t>The same notebook gives 66.7% to two students. Is that proof they copied? What evidence would you inspect instead?</a:t>
            </a:r>
            <a:endParaRPr lang="en-US" sz="2897" dirty="0"/>
          </a:p>
        </p:txBody>
      </p:sp>
      <p:sp>
        <p:nvSpPr>
          <p:cNvPr id="10" name="Text 8"/>
          <p:cNvSpPr/>
          <p:nvPr/>
        </p:nvSpPr>
        <p:spPr>
          <a:xfrm>
            <a:off x="731520" y="5074920"/>
            <a:ext cx="10698480" cy="640080"/>
          </a:xfrm>
          <a:prstGeom prst="rect">
            <a:avLst/>
          </a:prstGeom>
          <a:noFill/>
          <a:ln/>
        </p:spPr>
        <p:txBody>
          <a:bodyPr wrap="square" lIns="0" tIns="0" rIns="0" bIns="0" rtlCol="0" anchor="ctr">
            <a:normAutofit/>
          </a:bodyPr>
          <a:lstStyle/>
          <a:p>
            <a:pPr indent="0" marL="0">
              <a:buNone/>
            </a:pPr>
            <a:r>
              <a:rPr lang="en-US" sz="2197" b="1" dirty="0">
                <a:solidFill>
                  <a:srgbClr val="2A78D6"/>
                </a:solidFill>
                <a:latin typeface="Aptos" pitchFamily="34" charset="0"/>
                <a:ea typeface="Aptos" pitchFamily="34" charset="-122"/>
                <a:cs typeface="Aptos" pitchFamily="34" charset="-120"/>
              </a:rPr>
              <a:t>First answer alone. Then compare the evidence, not just the conclusion.</a:t>
            </a:r>
            <a:endParaRPr lang="en-US" sz="2197"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01</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DEBRIEF</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A defensible response</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15</a:t>
            </a:r>
            <a:endParaRPr lang="en-US" sz="800" dirty="0"/>
          </a:p>
        </p:txBody>
      </p:sp>
      <p:sp>
        <p:nvSpPr>
          <p:cNvPr id="9" name="Shape 7"/>
          <p:cNvSpPr/>
          <p:nvPr/>
        </p:nvSpPr>
        <p:spPr>
          <a:xfrm>
            <a:off x="685800" y="2075688"/>
            <a:ext cx="10826496" cy="2816352"/>
          </a:xfrm>
          <a:prstGeom prst="rect">
            <a:avLst/>
          </a:prstGeom>
          <a:solidFill>
            <a:srgbClr val="EAF2FC"/>
          </a:solidFill>
          <a:ln w="7620">
            <a:solidFill>
              <a:srgbClr val="EAF2FC"/>
            </a:solidFill>
            <a:prstDash val="solid"/>
          </a:ln>
        </p:spPr>
      </p:sp>
      <p:sp>
        <p:nvSpPr>
          <p:cNvPr id="10" name="Text 8"/>
          <p:cNvSpPr/>
          <p:nvPr/>
        </p:nvSpPr>
        <p:spPr>
          <a:xfrm>
            <a:off x="941832" y="2331720"/>
            <a:ext cx="10305288" cy="2276856"/>
          </a:xfrm>
          <a:prstGeom prst="rect">
            <a:avLst/>
          </a:prstGeom>
          <a:noFill/>
          <a:ln/>
        </p:spPr>
        <p:txBody>
          <a:bodyPr wrap="square" lIns="0" tIns="0" rIns="0" bIns="0" rtlCol="0" anchor="ctr">
            <a:normAutofit/>
          </a:bodyPr>
          <a:lstStyle/>
          <a:p>
            <a:pPr indent="0" marL="0">
              <a:buNone/>
            </a:pPr>
            <a:r>
              <a:rPr lang="en-US" sz="2597" dirty="0">
                <a:solidFill>
                  <a:srgbClr val="232D3B"/>
                </a:solidFill>
                <a:latin typeface="Aptos" pitchFamily="34" charset="0"/>
                <a:ea typeface="Aptos" pitchFamily="34" charset="-122"/>
                <a:cs typeface="Aptos" pitchFamily="34" charset="-120"/>
              </a:rPr>
              <a:t>No. Identical answers can be correct, and small datasets can collide. Inspect the submitted work and reasoning; discuss concerns fairly rather than infer misconduct from a number.</a:t>
            </a:r>
            <a:endParaRPr lang="en-US" sz="2597"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01</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45-MINUTE STUDIO</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Today's practical</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16</a:t>
            </a:r>
            <a:endParaRPr lang="en-US" sz="800" dirty="0"/>
          </a:p>
        </p:txBody>
      </p:sp>
      <p:sp>
        <p:nvSpPr>
          <p:cNvPr id="9" name="Text 7"/>
          <p:cNvSpPr/>
          <p:nvPr/>
        </p:nvSpPr>
        <p:spPr>
          <a:xfrm>
            <a:off x="731520" y="1929384"/>
            <a:ext cx="10698480" cy="1508760"/>
          </a:xfrm>
          <a:prstGeom prst="rect">
            <a:avLst/>
          </a:prstGeom>
          <a:noFill/>
          <a:ln/>
        </p:spPr>
        <p:txBody>
          <a:bodyPr wrap="square" lIns="0" tIns="0" rIns="0" bIns="0" rtlCol="0" anchor="ctr">
            <a:normAutofit/>
          </a:bodyPr>
          <a:lstStyle/>
          <a:p>
            <a:pPr indent="0" marL="0">
              <a:buNone/>
            </a:pPr>
            <a:r>
              <a:rPr lang="en-US" sz="2497" dirty="0">
                <a:solidFill>
                  <a:srgbClr val="232D3B"/>
                </a:solidFill>
                <a:latin typeface="Aptos" pitchFamily="34" charset="0"/>
                <a:ea typeface="Aptos" pitchFamily="34" charset="-122"/>
                <a:cs typeface="Aptos" pitchFamily="34" charset="-120"/>
              </a:rPr>
              <a:t>W01: run the setup, calculate GC on your assigned toy sequence, record a prediction and save a notebook plus a summary JSON.</a:t>
            </a:r>
            <a:endParaRPr lang="en-US" sz="2497" dirty="0"/>
          </a:p>
        </p:txBody>
      </p:sp>
      <p:sp>
        <p:nvSpPr>
          <p:cNvPr id="10" name="Shape 8"/>
          <p:cNvSpPr/>
          <p:nvPr/>
        </p:nvSpPr>
        <p:spPr>
          <a:xfrm>
            <a:off x="731520" y="3721608"/>
            <a:ext cx="5317236" cy="395935"/>
          </a:xfrm>
          <a:prstGeom prst="rect">
            <a:avLst/>
          </a:prstGeom>
          <a:solidFill>
            <a:srgbClr val="2A78D6"/>
          </a:solidFill>
          <a:ln w="7620">
            <a:solidFill>
              <a:srgbClr val="2A78D6"/>
            </a:solidFill>
            <a:prstDash val="solid"/>
          </a:ln>
        </p:spPr>
      </p:sp>
      <p:sp>
        <p:nvSpPr>
          <p:cNvPr id="11" name="Text 9"/>
          <p:cNvSpPr/>
          <p:nvPr/>
        </p:nvSpPr>
        <p:spPr>
          <a:xfrm>
            <a:off x="850392" y="3794760"/>
            <a:ext cx="5074920" cy="254203"/>
          </a:xfrm>
          <a:prstGeom prst="rect">
            <a:avLst/>
          </a:prstGeom>
          <a:noFill/>
          <a:ln/>
        </p:spPr>
        <p:txBody>
          <a:bodyPr wrap="square" lIns="0" tIns="0" rIns="0" bIns="0" rtlCol="0" anchor="ctr">
            <a:normAutofit/>
          </a:bodyPr>
          <a:lstStyle/>
          <a:p>
            <a:pPr indent="0" marL="0">
              <a:buNone/>
            </a:pPr>
            <a:r>
              <a:rPr lang="en-US" sz="1600" b="1" dirty="0">
                <a:solidFill>
                  <a:srgbClr val="FFFFFF"/>
                </a:solidFill>
                <a:latin typeface="Aptos" pitchFamily="34" charset="0"/>
                <a:ea typeface="Aptos" pitchFamily="34" charset="-122"/>
                <a:cs typeface="Aptos" pitchFamily="34" charset="-120"/>
              </a:rPr>
              <a:t>Minutes</a:t>
            </a:r>
            <a:endParaRPr lang="en-US" sz="1600" dirty="0"/>
          </a:p>
        </p:txBody>
      </p:sp>
      <p:sp>
        <p:nvSpPr>
          <p:cNvPr id="12" name="Shape 10"/>
          <p:cNvSpPr/>
          <p:nvPr/>
        </p:nvSpPr>
        <p:spPr>
          <a:xfrm>
            <a:off x="6080760" y="3721608"/>
            <a:ext cx="5317236" cy="395935"/>
          </a:xfrm>
          <a:prstGeom prst="rect">
            <a:avLst/>
          </a:prstGeom>
          <a:solidFill>
            <a:srgbClr val="2A78D6"/>
          </a:solidFill>
          <a:ln w="7620">
            <a:solidFill>
              <a:srgbClr val="2A78D6"/>
            </a:solidFill>
            <a:prstDash val="solid"/>
          </a:ln>
        </p:spPr>
      </p:sp>
      <p:sp>
        <p:nvSpPr>
          <p:cNvPr id="13" name="Text 11"/>
          <p:cNvSpPr/>
          <p:nvPr/>
        </p:nvSpPr>
        <p:spPr>
          <a:xfrm>
            <a:off x="6199632" y="3794760"/>
            <a:ext cx="5074920" cy="254203"/>
          </a:xfrm>
          <a:prstGeom prst="rect">
            <a:avLst/>
          </a:prstGeom>
          <a:noFill/>
          <a:ln/>
        </p:spPr>
        <p:txBody>
          <a:bodyPr wrap="square" lIns="0" tIns="0" rIns="0" bIns="0" rtlCol="0" anchor="ctr">
            <a:normAutofit/>
          </a:bodyPr>
          <a:lstStyle/>
          <a:p>
            <a:pPr indent="0" marL="0">
              <a:buNone/>
            </a:pPr>
            <a:r>
              <a:rPr lang="en-US" sz="1600" b="1" dirty="0">
                <a:solidFill>
                  <a:srgbClr val="FFFFFF"/>
                </a:solidFill>
                <a:latin typeface="Aptos" pitchFamily="34" charset="0"/>
                <a:ea typeface="Aptos" pitchFamily="34" charset="-122"/>
                <a:cs typeface="Aptos" pitchFamily="34" charset="-120"/>
              </a:rPr>
              <a:t>Action</a:t>
            </a:r>
            <a:endParaRPr lang="en-US" sz="1600" dirty="0"/>
          </a:p>
        </p:txBody>
      </p:sp>
      <p:sp>
        <p:nvSpPr>
          <p:cNvPr id="14" name="Shape 12"/>
          <p:cNvSpPr/>
          <p:nvPr/>
        </p:nvSpPr>
        <p:spPr>
          <a:xfrm>
            <a:off x="731520" y="4149547"/>
            <a:ext cx="5317236" cy="395935"/>
          </a:xfrm>
          <a:prstGeom prst="rect">
            <a:avLst/>
          </a:prstGeom>
          <a:solidFill>
            <a:srgbClr val="EAF2FC"/>
          </a:solidFill>
          <a:ln w="7620">
            <a:solidFill>
              <a:srgbClr val="EAF2FC"/>
            </a:solidFill>
            <a:prstDash val="solid"/>
          </a:ln>
        </p:spPr>
      </p:sp>
      <p:sp>
        <p:nvSpPr>
          <p:cNvPr id="15" name="Text 13"/>
          <p:cNvSpPr/>
          <p:nvPr/>
        </p:nvSpPr>
        <p:spPr>
          <a:xfrm>
            <a:off x="850392" y="4213555"/>
            <a:ext cx="5074920" cy="272491"/>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0-10</a:t>
            </a:r>
            <a:endParaRPr lang="en-US" sz="1600" dirty="0"/>
          </a:p>
        </p:txBody>
      </p:sp>
      <p:sp>
        <p:nvSpPr>
          <p:cNvPr id="16" name="Shape 14"/>
          <p:cNvSpPr/>
          <p:nvPr/>
        </p:nvSpPr>
        <p:spPr>
          <a:xfrm>
            <a:off x="6080760" y="4149547"/>
            <a:ext cx="5317236" cy="395935"/>
          </a:xfrm>
          <a:prstGeom prst="rect">
            <a:avLst/>
          </a:prstGeom>
          <a:solidFill>
            <a:srgbClr val="EAF2FC"/>
          </a:solidFill>
          <a:ln w="7620">
            <a:solidFill>
              <a:srgbClr val="EAF2FC"/>
            </a:solidFill>
            <a:prstDash val="solid"/>
          </a:ln>
        </p:spPr>
      </p:sp>
      <p:sp>
        <p:nvSpPr>
          <p:cNvPr id="17" name="Text 15"/>
          <p:cNvSpPr/>
          <p:nvPr/>
        </p:nvSpPr>
        <p:spPr>
          <a:xfrm>
            <a:off x="6199632" y="4213555"/>
            <a:ext cx="5074920" cy="272491"/>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Predict + set up</a:t>
            </a:r>
            <a:endParaRPr lang="en-US" sz="1600" dirty="0"/>
          </a:p>
        </p:txBody>
      </p:sp>
      <p:sp>
        <p:nvSpPr>
          <p:cNvPr id="18" name="Shape 16"/>
          <p:cNvSpPr/>
          <p:nvPr/>
        </p:nvSpPr>
        <p:spPr>
          <a:xfrm>
            <a:off x="731520" y="4577486"/>
            <a:ext cx="5317236" cy="395935"/>
          </a:xfrm>
          <a:prstGeom prst="rect">
            <a:avLst/>
          </a:prstGeom>
          <a:solidFill>
            <a:srgbClr val="FFFFFF"/>
          </a:solidFill>
          <a:ln w="7620">
            <a:solidFill>
              <a:srgbClr val="FFFFFF"/>
            </a:solidFill>
            <a:prstDash val="solid"/>
          </a:ln>
        </p:spPr>
      </p:sp>
      <p:sp>
        <p:nvSpPr>
          <p:cNvPr id="19" name="Text 17"/>
          <p:cNvSpPr/>
          <p:nvPr/>
        </p:nvSpPr>
        <p:spPr>
          <a:xfrm>
            <a:off x="850392" y="4641494"/>
            <a:ext cx="5074920" cy="272491"/>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10-30</a:t>
            </a:r>
            <a:endParaRPr lang="en-US" sz="1600" dirty="0"/>
          </a:p>
        </p:txBody>
      </p:sp>
      <p:sp>
        <p:nvSpPr>
          <p:cNvPr id="20" name="Shape 18"/>
          <p:cNvSpPr/>
          <p:nvPr/>
        </p:nvSpPr>
        <p:spPr>
          <a:xfrm>
            <a:off x="6080760" y="4577486"/>
            <a:ext cx="5317236" cy="395935"/>
          </a:xfrm>
          <a:prstGeom prst="rect">
            <a:avLst/>
          </a:prstGeom>
          <a:solidFill>
            <a:srgbClr val="FFFFFF"/>
          </a:solidFill>
          <a:ln w="7620">
            <a:solidFill>
              <a:srgbClr val="FFFFFF"/>
            </a:solidFill>
            <a:prstDash val="solid"/>
          </a:ln>
        </p:spPr>
      </p:sp>
      <p:sp>
        <p:nvSpPr>
          <p:cNvPr id="21" name="Text 19"/>
          <p:cNvSpPr/>
          <p:nvPr/>
        </p:nvSpPr>
        <p:spPr>
          <a:xfrm>
            <a:off x="6199632" y="4641494"/>
            <a:ext cx="5074920" cy="272491"/>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Run + inspect + check</a:t>
            </a:r>
            <a:endParaRPr lang="en-US" sz="1600" dirty="0"/>
          </a:p>
        </p:txBody>
      </p:sp>
      <p:sp>
        <p:nvSpPr>
          <p:cNvPr id="22" name="Shape 20"/>
          <p:cNvSpPr/>
          <p:nvPr/>
        </p:nvSpPr>
        <p:spPr>
          <a:xfrm>
            <a:off x="731520" y="5005426"/>
            <a:ext cx="5317236" cy="395935"/>
          </a:xfrm>
          <a:prstGeom prst="rect">
            <a:avLst/>
          </a:prstGeom>
          <a:solidFill>
            <a:srgbClr val="EAF2FC"/>
          </a:solidFill>
          <a:ln w="7620">
            <a:solidFill>
              <a:srgbClr val="EAF2FC"/>
            </a:solidFill>
            <a:prstDash val="solid"/>
          </a:ln>
        </p:spPr>
      </p:sp>
      <p:sp>
        <p:nvSpPr>
          <p:cNvPr id="23" name="Text 21"/>
          <p:cNvSpPr/>
          <p:nvPr/>
        </p:nvSpPr>
        <p:spPr>
          <a:xfrm>
            <a:off x="850392" y="5069434"/>
            <a:ext cx="5074920" cy="272491"/>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30-40</a:t>
            </a:r>
            <a:endParaRPr lang="en-US" sz="1600" dirty="0"/>
          </a:p>
        </p:txBody>
      </p:sp>
      <p:sp>
        <p:nvSpPr>
          <p:cNvPr id="24" name="Shape 22"/>
          <p:cNvSpPr/>
          <p:nvPr/>
        </p:nvSpPr>
        <p:spPr>
          <a:xfrm>
            <a:off x="6080760" y="5005426"/>
            <a:ext cx="5317236" cy="395935"/>
          </a:xfrm>
          <a:prstGeom prst="rect">
            <a:avLst/>
          </a:prstGeom>
          <a:solidFill>
            <a:srgbClr val="EAF2FC"/>
          </a:solidFill>
          <a:ln w="7620">
            <a:solidFill>
              <a:srgbClr val="EAF2FC"/>
            </a:solidFill>
            <a:prstDash val="solid"/>
          </a:ln>
        </p:spPr>
      </p:sp>
      <p:sp>
        <p:nvSpPr>
          <p:cNvPr id="25" name="Text 23"/>
          <p:cNvSpPr/>
          <p:nvPr/>
        </p:nvSpPr>
        <p:spPr>
          <a:xfrm>
            <a:off x="6199632" y="5069434"/>
            <a:ext cx="5074920" cy="272491"/>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Explain + compare</a:t>
            </a:r>
            <a:endParaRPr lang="en-US" sz="1600" dirty="0"/>
          </a:p>
        </p:txBody>
      </p:sp>
      <p:sp>
        <p:nvSpPr>
          <p:cNvPr id="26" name="Shape 24"/>
          <p:cNvSpPr/>
          <p:nvPr/>
        </p:nvSpPr>
        <p:spPr>
          <a:xfrm>
            <a:off x="731520" y="5433365"/>
            <a:ext cx="5317236" cy="395935"/>
          </a:xfrm>
          <a:prstGeom prst="rect">
            <a:avLst/>
          </a:prstGeom>
          <a:solidFill>
            <a:srgbClr val="FFFFFF"/>
          </a:solidFill>
          <a:ln w="7620">
            <a:solidFill>
              <a:srgbClr val="FFFFFF"/>
            </a:solidFill>
            <a:prstDash val="solid"/>
          </a:ln>
        </p:spPr>
      </p:sp>
      <p:sp>
        <p:nvSpPr>
          <p:cNvPr id="27" name="Text 25"/>
          <p:cNvSpPr/>
          <p:nvPr/>
        </p:nvSpPr>
        <p:spPr>
          <a:xfrm>
            <a:off x="850392" y="5497373"/>
            <a:ext cx="5074920" cy="272491"/>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40-45</a:t>
            </a:r>
            <a:endParaRPr lang="en-US" sz="1600" dirty="0"/>
          </a:p>
        </p:txBody>
      </p:sp>
      <p:sp>
        <p:nvSpPr>
          <p:cNvPr id="28" name="Shape 26"/>
          <p:cNvSpPr/>
          <p:nvPr/>
        </p:nvSpPr>
        <p:spPr>
          <a:xfrm>
            <a:off x="6080760" y="5433365"/>
            <a:ext cx="5317236" cy="395935"/>
          </a:xfrm>
          <a:prstGeom prst="rect">
            <a:avLst/>
          </a:prstGeom>
          <a:solidFill>
            <a:srgbClr val="FFFFFF"/>
          </a:solidFill>
          <a:ln w="7620">
            <a:solidFill>
              <a:srgbClr val="FFFFFF"/>
            </a:solidFill>
            <a:prstDash val="solid"/>
          </a:ln>
        </p:spPr>
      </p:sp>
      <p:sp>
        <p:nvSpPr>
          <p:cNvPr id="29" name="Text 27"/>
          <p:cNvSpPr/>
          <p:nvPr/>
        </p:nvSpPr>
        <p:spPr>
          <a:xfrm>
            <a:off x="6199632" y="5497373"/>
            <a:ext cx="5074920" cy="272491"/>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Save + submit / exit</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01</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CONSOLIDATE</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Five terms to use precisely</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17</a:t>
            </a:r>
            <a:endParaRPr lang="en-US" sz="800" dirty="0"/>
          </a:p>
        </p:txBody>
      </p:sp>
      <p:sp>
        <p:nvSpPr>
          <p:cNvPr id="9" name="Shape 7"/>
          <p:cNvSpPr/>
          <p:nvPr/>
        </p:nvSpPr>
        <p:spPr>
          <a:xfrm>
            <a:off x="713232" y="1984248"/>
            <a:ext cx="475488" cy="457200"/>
          </a:xfrm>
          <a:prstGeom prst="rect">
            <a:avLst/>
          </a:prstGeom>
          <a:solidFill>
            <a:srgbClr val="2A78D6"/>
          </a:solidFill>
          <a:ln w="7620">
            <a:solidFill>
              <a:srgbClr val="2A78D6"/>
            </a:solidFill>
            <a:prstDash val="solid"/>
          </a:ln>
        </p:spPr>
      </p:sp>
      <p:sp>
        <p:nvSpPr>
          <p:cNvPr id="10" name="Text 8"/>
          <p:cNvSpPr/>
          <p:nvPr/>
        </p:nvSpPr>
        <p:spPr>
          <a:xfrm>
            <a:off x="850392" y="2057400"/>
            <a:ext cx="201168" cy="301752"/>
          </a:xfrm>
          <a:prstGeom prst="rect">
            <a:avLst/>
          </a:prstGeom>
          <a:noFill/>
          <a:ln/>
        </p:spPr>
        <p:txBody>
          <a:bodyPr wrap="square" lIns="0" tIns="0" rIns="0" bIns="0" rtlCol="0" anchor="ctr">
            <a:normAutofit/>
          </a:bodyPr>
          <a:lstStyle/>
          <a:p>
            <a:pPr indent="0" marL="0">
              <a:buNone/>
            </a:pPr>
            <a:r>
              <a:rPr lang="en-US" sz="1500" b="1" dirty="0">
                <a:solidFill>
                  <a:srgbClr val="FFFFFF"/>
                </a:solidFill>
                <a:latin typeface="Aptos" pitchFamily="34" charset="0"/>
                <a:ea typeface="Aptos" pitchFamily="34" charset="-122"/>
                <a:cs typeface="Aptos" pitchFamily="34" charset="-120"/>
              </a:rPr>
              <a:t>1</a:t>
            </a:r>
            <a:endParaRPr lang="en-US" sz="1500" dirty="0"/>
          </a:p>
        </p:txBody>
      </p:sp>
      <p:sp>
        <p:nvSpPr>
          <p:cNvPr id="11" name="Text 9"/>
          <p:cNvSpPr/>
          <p:nvPr/>
        </p:nvSpPr>
        <p:spPr>
          <a:xfrm>
            <a:off x="1426464" y="2011680"/>
            <a:ext cx="9756648" cy="448056"/>
          </a:xfrm>
          <a:prstGeom prst="rect">
            <a:avLst/>
          </a:prstGeom>
          <a:noFill/>
          <a:ln/>
        </p:spPr>
        <p:txBody>
          <a:bodyPr wrap="square" lIns="0" tIns="0" rIns="0" bIns="0" rtlCol="0" anchor="ctr">
            <a:normAutofit/>
          </a:bodyPr>
          <a:lstStyle/>
          <a:p>
            <a:pPr indent="0" marL="0">
              <a:buNone/>
            </a:pPr>
            <a:r>
              <a:rPr lang="en-US" sz="2500" dirty="0">
                <a:solidFill>
                  <a:srgbClr val="232D3B"/>
                </a:solidFill>
                <a:latin typeface="Aptos" pitchFamily="34" charset="0"/>
                <a:ea typeface="Aptos" pitchFamily="34" charset="-122"/>
                <a:cs typeface="Aptos" pitchFamily="34" charset="-120"/>
              </a:rPr>
              <a:t>assay</a:t>
            </a:r>
            <a:endParaRPr lang="en-US" sz="2500" dirty="0"/>
          </a:p>
        </p:txBody>
      </p:sp>
      <p:sp>
        <p:nvSpPr>
          <p:cNvPr id="12" name="Shape 10"/>
          <p:cNvSpPr/>
          <p:nvPr/>
        </p:nvSpPr>
        <p:spPr>
          <a:xfrm>
            <a:off x="713232" y="2752344"/>
            <a:ext cx="475488" cy="457200"/>
          </a:xfrm>
          <a:prstGeom prst="rect">
            <a:avLst/>
          </a:prstGeom>
          <a:solidFill>
            <a:srgbClr val="2A78D6"/>
          </a:solidFill>
          <a:ln w="7620">
            <a:solidFill>
              <a:srgbClr val="2A78D6"/>
            </a:solidFill>
            <a:prstDash val="solid"/>
          </a:ln>
        </p:spPr>
      </p:sp>
      <p:sp>
        <p:nvSpPr>
          <p:cNvPr id="13" name="Text 11"/>
          <p:cNvSpPr/>
          <p:nvPr/>
        </p:nvSpPr>
        <p:spPr>
          <a:xfrm>
            <a:off x="850392" y="2825496"/>
            <a:ext cx="201168" cy="301752"/>
          </a:xfrm>
          <a:prstGeom prst="rect">
            <a:avLst/>
          </a:prstGeom>
          <a:noFill/>
          <a:ln/>
        </p:spPr>
        <p:txBody>
          <a:bodyPr wrap="square" lIns="0" tIns="0" rIns="0" bIns="0" rtlCol="0" anchor="ctr">
            <a:normAutofit/>
          </a:bodyPr>
          <a:lstStyle/>
          <a:p>
            <a:pPr indent="0" marL="0">
              <a:buNone/>
            </a:pPr>
            <a:r>
              <a:rPr lang="en-US" sz="1500" b="1" dirty="0">
                <a:solidFill>
                  <a:srgbClr val="FFFFFF"/>
                </a:solidFill>
                <a:latin typeface="Aptos" pitchFamily="34" charset="0"/>
                <a:ea typeface="Aptos" pitchFamily="34" charset="-122"/>
                <a:cs typeface="Aptos" pitchFamily="34" charset="-120"/>
              </a:rPr>
              <a:t>2</a:t>
            </a:r>
            <a:endParaRPr lang="en-US" sz="1500" dirty="0"/>
          </a:p>
        </p:txBody>
      </p:sp>
      <p:sp>
        <p:nvSpPr>
          <p:cNvPr id="14" name="Text 12"/>
          <p:cNvSpPr/>
          <p:nvPr/>
        </p:nvSpPr>
        <p:spPr>
          <a:xfrm>
            <a:off x="1426464" y="2779776"/>
            <a:ext cx="9756648" cy="448056"/>
          </a:xfrm>
          <a:prstGeom prst="rect">
            <a:avLst/>
          </a:prstGeom>
          <a:noFill/>
          <a:ln/>
        </p:spPr>
        <p:txBody>
          <a:bodyPr wrap="square" lIns="0" tIns="0" rIns="0" bIns="0" rtlCol="0" anchor="ctr">
            <a:normAutofit/>
          </a:bodyPr>
          <a:lstStyle/>
          <a:p>
            <a:pPr indent="0" marL="0">
              <a:buNone/>
            </a:pPr>
            <a:r>
              <a:rPr lang="en-US" sz="2500" dirty="0">
                <a:solidFill>
                  <a:srgbClr val="232D3B"/>
                </a:solidFill>
                <a:latin typeface="Aptos" pitchFamily="34" charset="0"/>
                <a:ea typeface="Aptos" pitchFamily="34" charset="-122"/>
                <a:cs typeface="Aptos" pitchFamily="34" charset="-120"/>
              </a:rPr>
              <a:t>raw data</a:t>
            </a:r>
            <a:endParaRPr lang="en-US" sz="2500" dirty="0"/>
          </a:p>
        </p:txBody>
      </p:sp>
      <p:sp>
        <p:nvSpPr>
          <p:cNvPr id="15" name="Shape 13"/>
          <p:cNvSpPr/>
          <p:nvPr/>
        </p:nvSpPr>
        <p:spPr>
          <a:xfrm>
            <a:off x="713232" y="3520440"/>
            <a:ext cx="475488" cy="457200"/>
          </a:xfrm>
          <a:prstGeom prst="rect">
            <a:avLst/>
          </a:prstGeom>
          <a:solidFill>
            <a:srgbClr val="2A78D6"/>
          </a:solidFill>
          <a:ln w="7620">
            <a:solidFill>
              <a:srgbClr val="2A78D6"/>
            </a:solidFill>
            <a:prstDash val="solid"/>
          </a:ln>
        </p:spPr>
      </p:sp>
      <p:sp>
        <p:nvSpPr>
          <p:cNvPr id="16" name="Text 14"/>
          <p:cNvSpPr/>
          <p:nvPr/>
        </p:nvSpPr>
        <p:spPr>
          <a:xfrm>
            <a:off x="850392" y="3593592"/>
            <a:ext cx="201168" cy="301752"/>
          </a:xfrm>
          <a:prstGeom prst="rect">
            <a:avLst/>
          </a:prstGeom>
          <a:noFill/>
          <a:ln/>
        </p:spPr>
        <p:txBody>
          <a:bodyPr wrap="square" lIns="0" tIns="0" rIns="0" bIns="0" rtlCol="0" anchor="ctr">
            <a:normAutofit/>
          </a:bodyPr>
          <a:lstStyle/>
          <a:p>
            <a:pPr indent="0" marL="0">
              <a:buNone/>
            </a:pPr>
            <a:r>
              <a:rPr lang="en-US" sz="1500" b="1" dirty="0">
                <a:solidFill>
                  <a:srgbClr val="FFFFFF"/>
                </a:solidFill>
                <a:latin typeface="Aptos" pitchFamily="34" charset="0"/>
                <a:ea typeface="Aptos" pitchFamily="34" charset="-122"/>
                <a:cs typeface="Aptos" pitchFamily="34" charset="-120"/>
              </a:rPr>
              <a:t>3</a:t>
            </a:r>
            <a:endParaRPr lang="en-US" sz="1500" dirty="0"/>
          </a:p>
        </p:txBody>
      </p:sp>
      <p:sp>
        <p:nvSpPr>
          <p:cNvPr id="17" name="Text 15"/>
          <p:cNvSpPr/>
          <p:nvPr/>
        </p:nvSpPr>
        <p:spPr>
          <a:xfrm>
            <a:off x="1426464" y="3547872"/>
            <a:ext cx="9756648" cy="448056"/>
          </a:xfrm>
          <a:prstGeom prst="rect">
            <a:avLst/>
          </a:prstGeom>
          <a:noFill/>
          <a:ln/>
        </p:spPr>
        <p:txBody>
          <a:bodyPr wrap="square" lIns="0" tIns="0" rIns="0" bIns="0" rtlCol="0" anchor="ctr">
            <a:normAutofit/>
          </a:bodyPr>
          <a:lstStyle/>
          <a:p>
            <a:pPr indent="0" marL="0">
              <a:buNone/>
            </a:pPr>
            <a:r>
              <a:rPr lang="en-US" sz="2500" dirty="0">
                <a:solidFill>
                  <a:srgbClr val="232D3B"/>
                </a:solidFill>
                <a:latin typeface="Aptos" pitchFamily="34" charset="0"/>
                <a:ea typeface="Aptos" pitchFamily="34" charset="-122"/>
                <a:cs typeface="Aptos" pitchFamily="34" charset="-120"/>
              </a:rPr>
              <a:t>notebook</a:t>
            </a:r>
            <a:endParaRPr lang="en-US" sz="2500" dirty="0"/>
          </a:p>
        </p:txBody>
      </p:sp>
      <p:sp>
        <p:nvSpPr>
          <p:cNvPr id="18" name="Shape 16"/>
          <p:cNvSpPr/>
          <p:nvPr/>
        </p:nvSpPr>
        <p:spPr>
          <a:xfrm>
            <a:off x="713232" y="4288536"/>
            <a:ext cx="475488" cy="457200"/>
          </a:xfrm>
          <a:prstGeom prst="rect">
            <a:avLst/>
          </a:prstGeom>
          <a:solidFill>
            <a:srgbClr val="2A78D6"/>
          </a:solidFill>
          <a:ln w="7620">
            <a:solidFill>
              <a:srgbClr val="2A78D6"/>
            </a:solidFill>
            <a:prstDash val="solid"/>
          </a:ln>
        </p:spPr>
      </p:sp>
      <p:sp>
        <p:nvSpPr>
          <p:cNvPr id="19" name="Text 17"/>
          <p:cNvSpPr/>
          <p:nvPr/>
        </p:nvSpPr>
        <p:spPr>
          <a:xfrm>
            <a:off x="850392" y="4361688"/>
            <a:ext cx="201168" cy="301752"/>
          </a:xfrm>
          <a:prstGeom prst="rect">
            <a:avLst/>
          </a:prstGeom>
          <a:noFill/>
          <a:ln/>
        </p:spPr>
        <p:txBody>
          <a:bodyPr wrap="square" lIns="0" tIns="0" rIns="0" bIns="0" rtlCol="0" anchor="ctr">
            <a:normAutofit/>
          </a:bodyPr>
          <a:lstStyle/>
          <a:p>
            <a:pPr indent="0" marL="0">
              <a:buNone/>
            </a:pPr>
            <a:r>
              <a:rPr lang="en-US" sz="1500" b="1" dirty="0">
                <a:solidFill>
                  <a:srgbClr val="FFFFFF"/>
                </a:solidFill>
                <a:latin typeface="Aptos" pitchFamily="34" charset="0"/>
                <a:ea typeface="Aptos" pitchFamily="34" charset="-122"/>
                <a:cs typeface="Aptos" pitchFamily="34" charset="-120"/>
              </a:rPr>
              <a:t>4</a:t>
            </a:r>
            <a:endParaRPr lang="en-US" sz="1500" dirty="0"/>
          </a:p>
        </p:txBody>
      </p:sp>
      <p:sp>
        <p:nvSpPr>
          <p:cNvPr id="20" name="Text 18"/>
          <p:cNvSpPr/>
          <p:nvPr/>
        </p:nvSpPr>
        <p:spPr>
          <a:xfrm>
            <a:off x="1426464" y="4315968"/>
            <a:ext cx="9756648" cy="448056"/>
          </a:xfrm>
          <a:prstGeom prst="rect">
            <a:avLst/>
          </a:prstGeom>
          <a:noFill/>
          <a:ln/>
        </p:spPr>
        <p:txBody>
          <a:bodyPr wrap="square" lIns="0" tIns="0" rIns="0" bIns="0" rtlCol="0" anchor="ctr">
            <a:normAutofit/>
          </a:bodyPr>
          <a:lstStyle/>
          <a:p>
            <a:pPr indent="0" marL="0">
              <a:buNone/>
            </a:pPr>
            <a:r>
              <a:rPr lang="en-US" sz="2500" dirty="0">
                <a:solidFill>
                  <a:srgbClr val="232D3B"/>
                </a:solidFill>
                <a:latin typeface="Aptos" pitchFamily="34" charset="0"/>
                <a:ea typeface="Aptos" pitchFamily="34" charset="-122"/>
                <a:cs typeface="Aptos" pitchFamily="34" charset="-120"/>
              </a:rPr>
              <a:t>runtime</a:t>
            </a:r>
            <a:endParaRPr lang="en-US" sz="2500" dirty="0"/>
          </a:p>
        </p:txBody>
      </p:sp>
      <p:sp>
        <p:nvSpPr>
          <p:cNvPr id="21" name="Shape 19"/>
          <p:cNvSpPr/>
          <p:nvPr/>
        </p:nvSpPr>
        <p:spPr>
          <a:xfrm>
            <a:off x="713232" y="5056632"/>
            <a:ext cx="475488" cy="457200"/>
          </a:xfrm>
          <a:prstGeom prst="rect">
            <a:avLst/>
          </a:prstGeom>
          <a:solidFill>
            <a:srgbClr val="2A78D6"/>
          </a:solidFill>
          <a:ln w="7620">
            <a:solidFill>
              <a:srgbClr val="2A78D6"/>
            </a:solidFill>
            <a:prstDash val="solid"/>
          </a:ln>
        </p:spPr>
      </p:sp>
      <p:sp>
        <p:nvSpPr>
          <p:cNvPr id="22" name="Text 20"/>
          <p:cNvSpPr/>
          <p:nvPr/>
        </p:nvSpPr>
        <p:spPr>
          <a:xfrm>
            <a:off x="850392" y="5129784"/>
            <a:ext cx="201168" cy="301752"/>
          </a:xfrm>
          <a:prstGeom prst="rect">
            <a:avLst/>
          </a:prstGeom>
          <a:noFill/>
          <a:ln/>
        </p:spPr>
        <p:txBody>
          <a:bodyPr wrap="square" lIns="0" tIns="0" rIns="0" bIns="0" rtlCol="0" anchor="ctr">
            <a:normAutofit/>
          </a:bodyPr>
          <a:lstStyle/>
          <a:p>
            <a:pPr indent="0" marL="0">
              <a:buNone/>
            </a:pPr>
            <a:r>
              <a:rPr lang="en-US" sz="1500" b="1" dirty="0">
                <a:solidFill>
                  <a:srgbClr val="FFFFFF"/>
                </a:solidFill>
                <a:latin typeface="Aptos" pitchFamily="34" charset="0"/>
                <a:ea typeface="Aptos" pitchFamily="34" charset="-122"/>
                <a:cs typeface="Aptos" pitchFamily="34" charset="-120"/>
              </a:rPr>
              <a:t>5</a:t>
            </a:r>
            <a:endParaRPr lang="en-US" sz="1500" dirty="0"/>
          </a:p>
        </p:txBody>
      </p:sp>
      <p:sp>
        <p:nvSpPr>
          <p:cNvPr id="23" name="Text 21"/>
          <p:cNvSpPr/>
          <p:nvPr/>
        </p:nvSpPr>
        <p:spPr>
          <a:xfrm>
            <a:off x="1426464" y="5084064"/>
            <a:ext cx="9756648" cy="448056"/>
          </a:xfrm>
          <a:prstGeom prst="rect">
            <a:avLst/>
          </a:prstGeom>
          <a:noFill/>
          <a:ln/>
        </p:spPr>
        <p:txBody>
          <a:bodyPr wrap="square" lIns="0" tIns="0" rIns="0" bIns="0" rtlCol="0" anchor="ctr">
            <a:normAutofit/>
          </a:bodyPr>
          <a:lstStyle/>
          <a:p>
            <a:pPr indent="0" marL="0">
              <a:buNone/>
            </a:pPr>
            <a:r>
              <a:rPr lang="en-US" sz="2500" dirty="0">
                <a:solidFill>
                  <a:srgbClr val="232D3B"/>
                </a:solidFill>
                <a:latin typeface="Aptos" pitchFamily="34" charset="0"/>
                <a:ea typeface="Aptos" pitchFamily="34" charset="-122"/>
                <a:cs typeface="Aptos" pitchFamily="34" charset="-120"/>
              </a:rPr>
              <a:t>seed</a:t>
            </a:r>
            <a:endParaRPr lang="en-US" sz="2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01</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2 MINUTES</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Exit ticket</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18</a:t>
            </a:r>
            <a:endParaRPr lang="en-US" sz="800" dirty="0"/>
          </a:p>
        </p:txBody>
      </p:sp>
      <p:sp>
        <p:nvSpPr>
          <p:cNvPr id="9" name="Shape 7"/>
          <p:cNvSpPr/>
          <p:nvPr/>
        </p:nvSpPr>
        <p:spPr>
          <a:xfrm>
            <a:off x="594360" y="1920240"/>
            <a:ext cx="50292" cy="1207008"/>
          </a:xfrm>
          <a:prstGeom prst="rect">
            <a:avLst/>
          </a:prstGeom>
          <a:solidFill>
            <a:srgbClr val="2A78D6"/>
          </a:solidFill>
          <a:ln w="7620">
            <a:solidFill>
              <a:srgbClr val="2A78D6"/>
            </a:solidFill>
            <a:prstDash val="solid"/>
          </a:ln>
        </p:spPr>
      </p:sp>
      <p:sp>
        <p:nvSpPr>
          <p:cNvPr id="10" name="Text 8"/>
          <p:cNvSpPr/>
          <p:nvPr/>
        </p:nvSpPr>
        <p:spPr>
          <a:xfrm>
            <a:off x="795528" y="1920240"/>
            <a:ext cx="10771632" cy="120700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What did we actually measure or calculate?</a:t>
            </a:r>
            <a:endParaRPr lang="en-US" sz="2297" dirty="0"/>
          </a:p>
        </p:txBody>
      </p:sp>
      <p:sp>
        <p:nvSpPr>
          <p:cNvPr id="11" name="Shape 9"/>
          <p:cNvSpPr/>
          <p:nvPr/>
        </p:nvSpPr>
        <p:spPr>
          <a:xfrm>
            <a:off x="594360" y="3328416"/>
            <a:ext cx="50292" cy="1207008"/>
          </a:xfrm>
          <a:prstGeom prst="rect">
            <a:avLst/>
          </a:prstGeom>
          <a:solidFill>
            <a:srgbClr val="2A78D6"/>
          </a:solidFill>
          <a:ln w="7620">
            <a:solidFill>
              <a:srgbClr val="2A78D6"/>
            </a:solidFill>
            <a:prstDash val="solid"/>
          </a:ln>
        </p:spPr>
      </p:sp>
      <p:sp>
        <p:nvSpPr>
          <p:cNvPr id="12" name="Text 10"/>
          <p:cNvSpPr/>
          <p:nvPr/>
        </p:nvSpPr>
        <p:spPr>
          <a:xfrm>
            <a:off x="795528" y="3328416"/>
            <a:ext cx="10771632" cy="120700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What is one assumption or limitation of that result?</a:t>
            </a:r>
            <a:endParaRPr lang="en-US" sz="2297" dirty="0"/>
          </a:p>
        </p:txBody>
      </p:sp>
      <p:sp>
        <p:nvSpPr>
          <p:cNvPr id="13" name="Shape 11"/>
          <p:cNvSpPr/>
          <p:nvPr/>
        </p:nvSpPr>
        <p:spPr>
          <a:xfrm>
            <a:off x="594360" y="4736592"/>
            <a:ext cx="50292" cy="1207008"/>
          </a:xfrm>
          <a:prstGeom prst="rect">
            <a:avLst/>
          </a:prstGeom>
          <a:solidFill>
            <a:srgbClr val="2A78D6"/>
          </a:solidFill>
          <a:ln w="7620">
            <a:solidFill>
              <a:srgbClr val="2A78D6"/>
            </a:solidFill>
            <a:prstDash val="solid"/>
          </a:ln>
        </p:spPr>
      </p:sp>
      <p:sp>
        <p:nvSpPr>
          <p:cNvPr id="14" name="Text 12"/>
          <p:cNvSpPr/>
          <p:nvPr/>
        </p:nvSpPr>
        <p:spPr>
          <a:xfrm>
            <a:off x="795528" y="4736592"/>
            <a:ext cx="10771632" cy="120700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What check would you perform before sharing it?</a:t>
            </a:r>
            <a:endParaRPr lang="en-US" sz="2297"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01</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OPTIONAL EXTENSION</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Go further only after the core is clear</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19</a:t>
            </a:r>
            <a:endParaRPr lang="en-US" sz="800" dirty="0"/>
          </a:p>
        </p:txBody>
      </p:sp>
      <p:sp>
        <p:nvSpPr>
          <p:cNvPr id="9" name="Text 7"/>
          <p:cNvSpPr/>
          <p:nvPr/>
        </p:nvSpPr>
        <p:spPr>
          <a:xfrm>
            <a:off x="768096" y="2212848"/>
            <a:ext cx="10698480" cy="2057400"/>
          </a:xfrm>
          <a:prstGeom prst="rect">
            <a:avLst/>
          </a:prstGeom>
          <a:noFill/>
          <a:ln/>
        </p:spPr>
        <p:txBody>
          <a:bodyPr wrap="square" lIns="0" tIns="0" rIns="0" bIns="0" rtlCol="0" anchor="ctr">
            <a:normAutofit/>
          </a:bodyPr>
          <a:lstStyle/>
          <a:p>
            <a:pPr indent="0" marL="0">
              <a:buNone/>
            </a:pPr>
            <a:r>
              <a:rPr lang="en-US" sz="2797" dirty="0">
                <a:solidFill>
                  <a:srgbClr val="232D3B"/>
                </a:solidFill>
                <a:latin typeface="Aptos" pitchFamily="34" charset="0"/>
                <a:ea typeface="Aptos" pitchFamily="34" charset="-122"/>
                <a:cs typeface="Aptos" pitchFamily="34" charset="-120"/>
              </a:rPr>
              <a:t>Optional: change the sequence by one base and predict how GC changes before running it.</a:t>
            </a:r>
            <a:endParaRPr lang="en-US" sz="2797" dirty="0"/>
          </a:p>
        </p:txBody>
      </p:sp>
      <p:sp>
        <p:nvSpPr>
          <p:cNvPr id="10" name="Text 8"/>
          <p:cNvSpPr/>
          <p:nvPr/>
        </p:nvSpPr>
        <p:spPr>
          <a:xfrm>
            <a:off x="786384" y="4828032"/>
            <a:ext cx="10561320" cy="804672"/>
          </a:xfrm>
          <a:prstGeom prst="rect">
            <a:avLst/>
          </a:prstGeom>
          <a:noFill/>
          <a:ln/>
        </p:spPr>
        <p:txBody>
          <a:bodyPr wrap="square" lIns="0" tIns="0" rIns="0" bIns="0" rtlCol="0" anchor="ctr">
            <a:normAutofit/>
          </a:bodyPr>
          <a:lstStyle/>
          <a:p>
            <a:pPr indent="0" marL="0">
              <a:buNone/>
            </a:pPr>
            <a:r>
              <a:rPr lang="en-US" sz="2197" b="1" dirty="0">
                <a:solidFill>
                  <a:srgbClr val="EB6834"/>
                </a:solidFill>
                <a:latin typeface="Aptos" pitchFamily="34" charset="0"/>
                <a:ea typeface="Aptos" pitchFamily="34" charset="-122"/>
                <a:cs typeface="Aptos" pitchFamily="34" charset="-120"/>
              </a:rPr>
              <a:t>Not required for the core grade. No advanced model training is expected.</a:t>
            </a:r>
            <a:endParaRPr lang="en-US" sz="2197"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01</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SOURCE MAP</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Read the evidence, not only the slide</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S01 / S02 / S05 / S10 / S20 / S23  |  20</a:t>
            </a:r>
            <a:endParaRPr lang="en-US" sz="800" dirty="0"/>
          </a:p>
        </p:txBody>
      </p:sp>
      <p:sp>
        <p:nvSpPr>
          <p:cNvPr id="9" name="Text 7"/>
          <p:cNvSpPr/>
          <p:nvPr/>
        </p:nvSpPr>
        <p:spPr>
          <a:xfrm>
            <a:off x="694944" y="1856232"/>
            <a:ext cx="10881360" cy="4160520"/>
          </a:xfrm>
          <a:prstGeom prst="rect">
            <a:avLst/>
          </a:prstGeom>
          <a:noFill/>
          <a:ln/>
        </p:spPr>
        <p:txBody>
          <a:bodyPr wrap="square" lIns="0" tIns="0" rIns="0" bIns="0" rtlCol="0" anchor="t">
            <a:normAutofit/>
          </a:bodyPr>
          <a:lstStyle/>
          <a:p>
            <a:pPr indent="0" marL="0">
              <a:buNone/>
            </a:pPr>
            <a:r>
              <a:rPr lang="en-US" sz="1797" dirty="0">
                <a:solidFill>
                  <a:srgbClr val="232D3B"/>
                </a:solidFill>
                <a:latin typeface="Aptos" pitchFamily="34" charset="0"/>
                <a:ea typeface="Aptos" pitchFamily="34" charset="-122"/>
                <a:cs typeface="Aptos" pitchFamily="34" charset="-120"/>
              </a:rPr>
              <a:t>S01  Alberts et al. Molecular Biology of the Cell, 4th ed. Foundational cell biology chapters.</a:t>
            </a:r>
            <a:endParaRPr lang="en-US" sz="1797" dirty="0"/>
          </a:p>
          <a:p>
            <a:pPr indent="0" marL="0">
              <a:buNone/>
            </a:pPr>
            <a:endParaRPr lang="en-US" sz="1797" dirty="0"/>
          </a:p>
          <a:p>
            <a:pPr indent="0" marL="0">
              <a:buNone/>
            </a:pPr>
            <a:r>
              <a:rPr lang="en-US" sz="1797" dirty="0">
                <a:solidFill>
                  <a:srgbClr val="232D3B"/>
                </a:solidFill>
                <a:latin typeface="Aptos" pitchFamily="34" charset="0"/>
                <a:ea typeface="Aptos" pitchFamily="34" charset="-122"/>
                <a:cs typeface="Aptos" pitchFamily="34" charset="-120"/>
              </a:rPr>
              <a:t>S02  GENCODE Human Release 50 and release-specific statistics.</a:t>
            </a:r>
            <a:endParaRPr lang="en-US" sz="1797" dirty="0"/>
          </a:p>
          <a:p>
            <a:pPr indent="0" marL="0">
              <a:buNone/>
            </a:pPr>
            <a:endParaRPr lang="en-US" sz="1797" dirty="0"/>
          </a:p>
          <a:p>
            <a:pPr indent="0" marL="0">
              <a:buNone/>
            </a:pPr>
            <a:r>
              <a:rPr lang="en-US" sz="1797" dirty="0">
                <a:solidFill>
                  <a:srgbClr val="232D3B"/>
                </a:solidFill>
                <a:latin typeface="Aptos" pitchFamily="34" charset="0"/>
                <a:ea typeface="Aptos" pitchFamily="34" charset="-122"/>
                <a:cs typeface="Aptos" pitchFamily="34" charset="-120"/>
              </a:rPr>
              <a:t>S05  Python 3 tutorial: introduction and control flow.</a:t>
            </a:r>
            <a:endParaRPr lang="en-US" sz="1797" dirty="0"/>
          </a:p>
          <a:p>
            <a:pPr indent="0" marL="0">
              <a:buNone/>
            </a:pPr>
            <a:endParaRPr lang="en-US" sz="1797" dirty="0"/>
          </a:p>
          <a:p>
            <a:pPr indent="0" marL="0">
              <a:buNone/>
            </a:pPr>
            <a:r>
              <a:rPr lang="en-US" sz="1797" dirty="0">
                <a:solidFill>
                  <a:srgbClr val="232D3B"/>
                </a:solidFill>
                <a:latin typeface="Aptos" pitchFamily="34" charset="0"/>
                <a:ea typeface="Aptos" pitchFamily="34" charset="-122"/>
                <a:cs typeface="Aptos" pitchFamily="34" charset="-120"/>
              </a:rPr>
              <a:t>S10  DESeq2: Analyzing RNA-seq data with DESeq2, release vignette.</a:t>
            </a:r>
            <a:endParaRPr lang="en-US" sz="1797" dirty="0"/>
          </a:p>
          <a:p>
            <a:pPr indent="0" marL="0">
              <a:buNone/>
            </a:pPr>
            <a:endParaRPr lang="en-US" sz="1797" dirty="0"/>
          </a:p>
          <a:p>
            <a:pPr indent="0" marL="0">
              <a:buNone/>
            </a:pPr>
            <a:r>
              <a:rPr lang="en-US" sz="1797" dirty="0">
                <a:solidFill>
                  <a:srgbClr val="232D3B"/>
                </a:solidFill>
                <a:latin typeface="Aptos" pitchFamily="34" charset="0"/>
                <a:ea typeface="Aptos" pitchFamily="34" charset="-122"/>
                <a:cs typeface="Aptos" pitchFamily="34" charset="-120"/>
              </a:rPr>
              <a:t>S20  Turkish Personal Data Protection Law No. 6698, official English translation with 2024 amendments.</a:t>
            </a:r>
            <a:endParaRPr lang="en-US" sz="1797" dirty="0"/>
          </a:p>
          <a:p>
            <a:pPr indent="0" marL="0">
              <a:buNone/>
            </a:pPr>
            <a:endParaRPr lang="en-US" sz="1797" dirty="0"/>
          </a:p>
          <a:p>
            <a:pPr indent="0" marL="0">
              <a:buNone/>
            </a:pPr>
            <a:r>
              <a:rPr lang="en-US" sz="1797" dirty="0">
                <a:solidFill>
                  <a:srgbClr val="232D3B"/>
                </a:solidFill>
                <a:latin typeface="Aptos" pitchFamily="34" charset="0"/>
                <a:ea typeface="Aptos" pitchFamily="34" charset="-122"/>
                <a:cs typeface="Aptos" pitchFamily="34" charset="-120"/>
              </a:rPr>
              <a:t>S23  ICMJE recommendations: use of AI by authors.</a:t>
            </a:r>
            <a:endParaRPr lang="en-US" sz="1797"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Ege University | Bioengineering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From a biological question to defensible evidence</dc:title>
  <dc:subject>Scaffolded fourth-year bioengineering</dc:subject>
  <dc:creator>BIB course teaching materials</dc:creator>
  <cp:lastModifiedBy>BIB course teaching materials</cp:lastModifiedBy>
  <cp:revision>1</cp:revision>
  <dcterms:created xsi:type="dcterms:W3CDTF">2026-09-14T18:26:53Z</dcterms:created>
  <dcterms:modified xsi:type="dcterms:W3CDTF">2026-09-14T18:26:53Z</dcterms:modified>
</cp:coreProperties>
</file>