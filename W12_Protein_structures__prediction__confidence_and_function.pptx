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2 minutes
Audience: fourth-year bioengineering with limited prior genetics and coding.
Opening question: What does a confident structure still fail to prove?
Do not require students to know all terms yet. Elicit a prediction.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these observable outcomes for feedback. Core assessment requires interpretation and short arithmetic, not reproducing a full specialist pipeline.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students to draw or name the biological experimental unit. Revisit the Week 00 bridge if terminology is unclear.
Read technical terms aloud; ask students to explain the measurement before interpreting the model. Accept justified uncertainty.
[Sources]
S01: Alberts et al. Molecular Biology of the Cell, 4th ed. Foundational cell biology chapters.
https://www.ncbi.nlm.nih.gov/books/NBK21054/
S16: EMBL-EBI AlphaFold training: evaluating predicted structures using confidence scores.
https://www.ebi.ac.uk/training/online/courses/alphafold/inputs-and-outputs/evaluating-alphafolds-predicted-structures-using-confidence-scores/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 sequence specifies an amino-acid chain.
An experimental structure and a computational prediction have different provenance.
Neither a picture nor a confidence score is itself a functional assay.
Checkpoint: ask a student to state one conclusion the data do NOT support.
Read technical terms aloud; ask students to explain the measurement before interpreting the model. Accept justified uncertainty.
[Sources]
S01: Alberts et al. Molecular Biology of the Cell, 4th ed. Foundational cell biology chapters.
https://www.ncbi.nlm.nih.gov/books/NBK21054/
S16: EMBL-EBI AlphaFold training: evaluating predicted structures using confidence scores.
https://www.ebi.ac.uk/training/online/courses/alphafold/inputs-and-outputs/evaluating-alphafolds-predicted-structures-using-confidence-scores/
S17: Jumper et al. (2021). Highly accurate protein structure prediction with AlphaFold.
https://doi.org/10.1038/s41586-021-03819-2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 domain is a structurally or functionally meaningful region.
Flexible linkers may allow different arrangements.
A single structure does not capture every state or partner.
Checkpoint: ask a student to state one conclusion the data do NOT support.
Read technical terms aloud; ask students to explain the measurement before interpreting the model. Accept justified uncertainty.
[Sources]
S01: Alberts et al. Molecular Biology of the Cell, 4th ed. Foundational cell biology chapters.
https://www.ncbi.nlm.nih.gov/books/NBK21054/
S16: EMBL-EBI AlphaFold training: evaluating predicted structures using confidence scores.
https://www.ebi.ac.uk/training/online/courses/alphafold/inputs-and-outputs/evaluating-alphafolds-predicted-structures-using-confidence-scores/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AlphaFold pLDDT is a per-residue score on a 0-100 scale.
Higher values generally indicate greater confidence in local structure.
It is not the percent probability that a protein binds its target.
Checkpoint: ask a student to state one conclusion the data do NOT support.
Read technical terms aloud; ask students to explain the measurement before interpreting the model. Accept justified uncertainty.
[Sources]
S16: EMBL-EBI AlphaFold training: evaluating predicted structures using confidence scores.
https://www.ebi.ac.uk/training/online/courses/alphafold/inputs-and-outputs/evaluating-alphafolds-predicted-structures-using-confidence-scores/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Predicted aligned error estimates positional error relative to an alignment reference.
Low within-domain PAE and high between-domain PAE can indicate uncertain domain arrangement.
Check units and the matrix axes.
Checkpoint: ask a student to state one conclusion the data do NOT support.
Read technical terms aloud; ask students to explain the measurement before interpreting the model. Accept justified uncertainty.
[Sources]
S16: EMBL-EBI AlphaFold training: evaluating predicted structures using confidence scores.
https://www.ebi.ac.uk/training/online/courses/alphafold/inputs-and-outputs/evaluating-alphafolds-predicted-structures-using-confidence-scores/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It may reflect disorder, flexibility, missing context or a prediction error.
Do not automatically label every low-score region disordered.
Use complementary evidence and state alternatives.
Checkpoint: ask a student to state one conclusion the data do NOT support.
Read technical terms aloud; ask students to explain the measurement before interpreting the model. Accept justified uncertainty.
[Sources]
S16: EMBL-EBI AlphaFold training: evaluating predicted structures using confidence scores.
https://www.ebi.ac.uk/training/online/courses/alphafold/inputs-and-outputs/evaluating-alphafolds-predicted-structures-using-confidence-scores/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AF_AFP69905F1 is a computed hemoglobin alpha model.
The RCSB record displayed 142 modeled residues and global pLDDT 98.06 when checked.
The record explicitly distinguishes this model from experimental validation.
Checkpoint: ask a student to state one conclusion the data do NOT support.
Read technical terms aloud; ask students to explain the measurement before interpreting the model. Accept justified uncertainty.
[Sources]
S24: RCSB PDB computed model AF_AFP69905F1 / AlphaFold DB P69905.
https://www.rcsb.org/structure/AF_AFP69905F1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Model confidence, geometric plausibility and binding affinity are different quantities.
A predicted complex can motivate testing, not replace it.
Binding and specificity need appropriate positive and negative experimental controls.
Checkpoint: ask a student to state one conclusion the data do NOT support.
Read technical terms aloud; ask students to explain the measurement before interpreting the model. Accept justified uncertainty.
[Sources]
S16: EMBL-EBI AlphaFold training: evaluating predicted structures using confidence scores.
https://www.ebi.ac.uk/training/online/courses/alphafold/inputs-and-outputs/evaluating-alphafolds-predicted-structures-using-confidence-scores/
S17: Jumper et al. (2021). Highly accurate protein structure prediction with AlphaFold.
https://doi.org/10.1038/s41586-021-03819-2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Record sequence / accession and the model source.
Describe local confidence and uncertain relative placement.
Name the proposed use, a limitation and a validation experiment.
Checkpoint: ask a student to state one conclusion the data do NOT support.
Read technical terms aloud; ask students to explain the measurement before interpreting the model. Accept justified uncertainty.
[Sources]
S16: EMBL-EBI AlphaFold training: evaluating predicted structures using confidence scores.
https://www.ebi.ac.uk/training/online/courses/alphafold/inputs-and-outputs/evaluating-alphafolds-predicted-structures-using-confidence-scores/
S17: Jumper et al. (2021). Highly accurate protein structure prediction with AlphaFold.
https://doi.org/10.1038/s41586-021-03819-2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Allow 60-90 seconds for a prediction. Do not rush to the numerical answer. The following slide shows the reasoning.
Read technical terms aloud; ask students to explain the measurement before interpreting the model. Accept justified uncertainty.
[Sources]
S01: Alberts et al. Molecular Biology of the Cell, 4th ed. Foundational cell biology chapters.
https://www.ncbi.nlm.nih.gov/books/NBK21054/
S16: EMBL-EBI AlphaFold training: evaluating predicted structures using confidence scores.
https://www.ebi.ac.uk/training/online/courses/alphafold/inputs-and-outputs/evaluating-alphafolds-predicted-structures-using-confidence-scores/
S17: Jumper et al. (2021). Highly accurate protein structure prediction with AlphaFold.
https://doi.org/10.1038/s41586-021-03819-2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Show the arithmetic or logical steps one at a time orally. Ask which assumption is necessary at each step.
Read technical terms aloud; ask students to explain the measurement before interpreting the model. Accept justified uncertainty.
[Sources]
S01: Alberts et al. Molecular Biology of the Cell, 4th ed. Foundational cell biology chapters.
https://www.ncbi.nlm.nih.gov/books/NBK21054/
S16: EMBL-EBI AlphaFold training: evaluating predicted structures using confidence scores.
https://www.ebi.ac.uk/training/online/courses/alphafold/inputs-and-outputs/evaluating-alphafolds-predicted-structures-using-confidence-scores/
S17: Jumper et al. (2021). Highly accurate protein structure prediction with AlphaFold.
https://doi.org/10.1038/s41586-021-03819-2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Collect two contrasting answers before advancing. Give one minute solo and two minutes in pairs. This is formative, not an exam item.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Accept other scientifically justified responses. Probe the boundary between measured result, model assumption and biological conclusion.
Read technical terms aloud; ask students to explain the measurement before interpreting the model. Accept justified uncertainty.
[Sources]
S01: Alberts et al. Molecular Biology of the Cell, 4th ed. Foundational cell biology chapters.
https://www.ncbi.nlm.nih.gov/books/NBK21054/
S16: EMBL-EBI AlphaFold training: evaluating predicted structures using confidence scores.
https://www.ebi.ac.uk/training/online/courses/alphafold/inputs-and-outputs/evaluating-alphafolds-predicted-structures-using-confidence-scores/
S17: Jumper et al. (2021). Highly accurate protein structure prediction with AlphaFold.
https://doi.org/10.1038/s41586-021-03819-2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45-minute studio; not part of 90-minute lecture
Audience: fourth-year bioengineering with limited prior genetics and coding.
Use the matching standalone notebook and Lab Workbook. Students may work in pairs while discussing, but submit their own reasoning. Paper fallback carries no penalty. Plotting and extensions are optional.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for a plain-language definition and one example per term. Students may use the glossary. Definitions are not a substitute for interpreting an example.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a quick handwritten or LMS response. Do not add new weighted grading; this is formative feedback. Use common mistakes to plan a short retrieval exercise next week.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Do not use optional extension achievement to disadvantage students with limited computing access. Direct interested students to the primary sources.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Reference slide; do not lecture through every citation
Audience: fourth-year bioengineering with limited prior genetics and coding.
Full links are in the Course Source Register and these speaker notes. Source selection checked September 14, 2026. Older sources support stable foundational ideas, not unverified current clinical policy.
Read technical terms aloud; ask students to explain the measurement before interpreting the model. Accept justified uncertainty.
[Sources]
S01: Alberts et al. Molecular Biology of the Cell, 4th ed. Foundational cell biology chapters.
https://www.ncbi.nlm.nih.gov/books/NBK21054/
S16: EMBL-EBI AlphaFold training: evaluating predicted structures using confidence scores.
https://www.ebi.ac.uk/training/online/courses/alphafold/inputs-and-outputs/evaluating-alphafolds-predicted-structures-using-confidence-scores/
S17: Jumper et al. (2021). Highly accurate protein structure prediction with AlphaFold.
https://doi.org/10.1038/s41586-021-03819-2
S24: RCSB PDB computed model AF_AFP69905F1 / AlphaFold DB P69905.
https://www.rcsb.org/structure/AF_AFP69905F1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D3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B6834"/>
          </a:solidFill>
          <a:ln w="7620">
            <a:solidFill>
              <a:srgbClr val="EB6834"/>
            </a:solidFill>
            <a:prstDash val="solid"/>
          </a:ln>
        </p:spPr>
      </p:sp>
      <p:sp>
        <p:nvSpPr>
          <p:cNvPr id="3" name="Text 1"/>
          <p:cNvSpPr/>
          <p:nvPr/>
        </p:nvSpPr>
        <p:spPr>
          <a:xfrm>
            <a:off x="640080" y="530352"/>
            <a:ext cx="10789920" cy="438912"/>
          </a:xfrm>
          <a:prstGeom prst="rect">
            <a:avLst/>
          </a:prstGeom>
          <a:noFill/>
          <a:ln/>
        </p:spPr>
        <p:txBody>
          <a:bodyPr wrap="square" lIns="0" tIns="0" rIns="0" bIns="0" rtlCol="0" anchor="ctr">
            <a:normAutofit/>
          </a:bodyPr>
          <a:lstStyle/>
          <a:p>
            <a:pPr indent="0" marL="0">
              <a:buNone/>
            </a:pPr>
            <a:r>
              <a:rPr lang="en-US" sz="1300" b="1" dirty="0">
                <a:solidFill>
                  <a:srgbClr val="D1DCE9"/>
                </a:solidFill>
                <a:latin typeface="Aptos" pitchFamily="34" charset="0"/>
                <a:ea typeface="Aptos" pitchFamily="34" charset="-122"/>
                <a:cs typeface="Aptos" pitchFamily="34" charset="-120"/>
              </a:rPr>
              <a:t>BIOINFORMATICS FOR BIOENGINEERING</a:t>
            </a:r>
            <a:endParaRPr lang="en-US" sz="1300" dirty="0"/>
          </a:p>
        </p:txBody>
      </p:sp>
      <p:sp>
        <p:nvSpPr>
          <p:cNvPr id="4" name="Text 2"/>
          <p:cNvSpPr/>
          <p:nvPr/>
        </p:nvSpPr>
        <p:spPr>
          <a:xfrm>
            <a:off x="685800" y="1380744"/>
            <a:ext cx="9144000" cy="548640"/>
          </a:xfrm>
          <a:prstGeom prst="rect">
            <a:avLst/>
          </a:prstGeom>
          <a:noFill/>
          <a:ln/>
        </p:spPr>
        <p:txBody>
          <a:bodyPr wrap="square" lIns="0" tIns="0" rIns="0" bIns="0" rtlCol="0" anchor="ctr">
            <a:normAutofit/>
          </a:bodyPr>
          <a:lstStyle/>
          <a:p>
            <a:pPr indent="0" marL="0">
              <a:buNone/>
            </a:pPr>
            <a:r>
              <a:rPr lang="en-US" sz="2000" b="1" dirty="0">
                <a:solidFill>
                  <a:srgbClr val="7EB5F1"/>
                </a:solidFill>
                <a:latin typeface="Aptos" pitchFamily="34" charset="0"/>
                <a:ea typeface="Aptos" pitchFamily="34" charset="-122"/>
                <a:cs typeface="Aptos" pitchFamily="34" charset="-120"/>
              </a:rPr>
              <a:t>WEEK 12</a:t>
            </a:r>
            <a:endParaRPr lang="en-US" sz="2000" dirty="0"/>
          </a:p>
        </p:txBody>
      </p:sp>
      <p:sp>
        <p:nvSpPr>
          <p:cNvPr id="5" name="Text 3"/>
          <p:cNvSpPr/>
          <p:nvPr/>
        </p:nvSpPr>
        <p:spPr>
          <a:xfrm>
            <a:off x="685800" y="2157984"/>
            <a:ext cx="10744200" cy="1783080"/>
          </a:xfrm>
          <a:prstGeom prst="rect">
            <a:avLst/>
          </a:prstGeom>
          <a:noFill/>
          <a:ln/>
        </p:spPr>
        <p:txBody>
          <a:bodyPr wrap="square" lIns="0" tIns="0" rIns="0" bIns="0" rtlCol="0" anchor="ctr">
            <a:normAutofit/>
          </a:bodyPr>
          <a:lstStyle/>
          <a:p>
            <a:pPr indent="0" marL="0">
              <a:buNone/>
            </a:pPr>
            <a:r>
              <a:rPr lang="en-US" sz="3897" b="1" dirty="0">
                <a:solidFill>
                  <a:srgbClr val="FFFFFF"/>
                </a:solidFill>
                <a:latin typeface="Aptos" pitchFamily="34" charset="0"/>
                <a:ea typeface="Aptos" pitchFamily="34" charset="-122"/>
                <a:cs typeface="Aptos" pitchFamily="34" charset="-120"/>
              </a:rPr>
              <a:t>Protein structures: prediction, confidence and function</a:t>
            </a:r>
            <a:endParaRPr lang="en-US" sz="3897" dirty="0"/>
          </a:p>
        </p:txBody>
      </p:sp>
      <p:sp>
        <p:nvSpPr>
          <p:cNvPr id="6" name="Text 4"/>
          <p:cNvSpPr/>
          <p:nvPr/>
        </p:nvSpPr>
        <p:spPr>
          <a:xfrm>
            <a:off x="731520" y="4599432"/>
            <a:ext cx="10561320" cy="923544"/>
          </a:xfrm>
          <a:prstGeom prst="rect">
            <a:avLst/>
          </a:prstGeom>
          <a:noFill/>
          <a:ln/>
        </p:spPr>
        <p:txBody>
          <a:bodyPr wrap="square" lIns="0" tIns="0" rIns="0" bIns="0" rtlCol="0" anchor="ctr">
            <a:normAutofit/>
          </a:bodyPr>
          <a:lstStyle/>
          <a:p>
            <a:pPr indent="0" marL="0">
              <a:buNone/>
            </a:pPr>
            <a:r>
              <a:rPr lang="en-US" sz="2497" dirty="0">
                <a:solidFill>
                  <a:srgbClr val="D1DCE9"/>
                </a:solidFill>
                <a:latin typeface="Aptos" pitchFamily="34" charset="0"/>
                <a:ea typeface="Aptos" pitchFamily="34" charset="-122"/>
                <a:cs typeface="Aptos" pitchFamily="34" charset="-120"/>
              </a:rPr>
              <a:t>What does a confident structure still fail to prove?</a:t>
            </a:r>
            <a:endParaRPr lang="en-US" sz="2497" dirty="0"/>
          </a:p>
        </p:txBody>
      </p:sp>
      <p:sp>
        <p:nvSpPr>
          <p:cNvPr id="7" name="Text 5"/>
          <p:cNvSpPr/>
          <p:nvPr/>
        </p:nvSpPr>
        <p:spPr>
          <a:xfrm>
            <a:off x="731520" y="6199632"/>
            <a:ext cx="10607040" cy="274320"/>
          </a:xfrm>
          <a:prstGeom prst="rect">
            <a:avLst/>
          </a:prstGeom>
          <a:noFill/>
          <a:ln/>
        </p:spPr>
        <p:txBody>
          <a:bodyPr wrap="square" lIns="0" tIns="0" rIns="0" bIns="0" rtlCol="0" anchor="ctr">
            <a:normAutofit/>
          </a:bodyPr>
          <a:lstStyle/>
          <a:p>
            <a:pPr indent="0" marL="0">
              <a:buNone/>
            </a:pPr>
            <a:r>
              <a:rPr lang="en-US" sz="1100" dirty="0">
                <a:solidFill>
                  <a:srgbClr val="D1DCE9"/>
                </a:solidFill>
                <a:latin typeface="Aptos" pitchFamily="34" charset="0"/>
                <a:ea typeface="Aptos" pitchFamily="34" charset="-122"/>
                <a:cs typeface="Aptos" pitchFamily="34" charset="-120"/>
              </a:rPr>
              <a:t>Yasin Kaymaz, PhD  |  Ege University  |  Teaching edition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LEARNING TARGETS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By the end, you should be able to...</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2</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Distinguish sequence, structure and function.</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Interpret pLDDT and PAE without turning them into binding probabilities.</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Propose an experimental test for a structure-based hypothesis.</a:t>
            </a:r>
            <a:endParaRPr lang="en-US" sz="229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RETRIEVAL</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Reconnect with the biology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3</a:t>
            </a:r>
            <a:endParaRPr lang="en-US" sz="800" dirty="0"/>
          </a:p>
        </p:txBody>
      </p:sp>
      <p:sp>
        <p:nvSpPr>
          <p:cNvPr id="9" name="Shape 7"/>
          <p:cNvSpPr/>
          <p:nvPr/>
        </p:nvSpPr>
        <p:spPr>
          <a:xfrm>
            <a:off x="612648" y="1984248"/>
            <a:ext cx="10972800" cy="1828800"/>
          </a:xfrm>
          <a:prstGeom prst="rect">
            <a:avLst/>
          </a:prstGeom>
          <a:solidFill>
            <a:srgbClr val="EAF2FC"/>
          </a:solidFill>
          <a:ln w="7620">
            <a:solidFill>
              <a:srgbClr val="EAF2FC"/>
            </a:solidFill>
            <a:prstDash val="solid"/>
          </a:ln>
        </p:spPr>
      </p:sp>
      <p:sp>
        <p:nvSpPr>
          <p:cNvPr id="10" name="Text 8"/>
          <p:cNvSpPr/>
          <p:nvPr/>
        </p:nvSpPr>
        <p:spPr>
          <a:xfrm>
            <a:off x="850392" y="2258568"/>
            <a:ext cx="10497312" cy="1280160"/>
          </a:xfrm>
          <a:prstGeom prst="rect">
            <a:avLst/>
          </a:prstGeom>
          <a:noFill/>
          <a:ln/>
        </p:spPr>
        <p:txBody>
          <a:bodyPr wrap="square" lIns="0" tIns="0" rIns="0" bIns="0" rtlCol="0" anchor="ctr">
            <a:normAutofit/>
          </a:bodyPr>
          <a:lstStyle/>
          <a:p>
            <a:pPr indent="0" marL="0">
              <a:buNone/>
            </a:pPr>
            <a:r>
              <a:rPr lang="en-US" sz="2697" dirty="0">
                <a:solidFill>
                  <a:srgbClr val="232D3B"/>
                </a:solidFill>
                <a:latin typeface="Aptos" pitchFamily="34" charset="0"/>
                <a:ea typeface="Aptos" pitchFamily="34" charset="-122"/>
                <a:cs typeface="Aptos" pitchFamily="34" charset="-120"/>
              </a:rPr>
              <a:t>A protein is an amino-acid chain; its structure and interactions depend on sequence and biological context.</a:t>
            </a:r>
            <a:endParaRPr lang="en-US" sz="2697" dirty="0"/>
          </a:p>
        </p:txBody>
      </p:sp>
      <p:sp>
        <p:nvSpPr>
          <p:cNvPr id="11" name="Text 9"/>
          <p:cNvSpPr/>
          <p:nvPr/>
        </p:nvSpPr>
        <p:spPr>
          <a:xfrm>
            <a:off x="859536" y="4370832"/>
            <a:ext cx="10424160" cy="914400"/>
          </a:xfrm>
          <a:prstGeom prst="rect">
            <a:avLst/>
          </a:prstGeom>
          <a:noFill/>
          <a:ln/>
        </p:spPr>
        <p:txBody>
          <a:bodyPr wrap="square" lIns="0" tIns="0" rIns="0" bIns="0" rtlCol="0" anchor="ctr">
            <a:normAutofit/>
          </a:bodyPr>
          <a:lstStyle/>
          <a:p>
            <a:pPr indent="0" marL="0">
              <a:buNone/>
            </a:pPr>
            <a:r>
              <a:rPr lang="en-US" sz="2497" b="1" dirty="0">
                <a:solidFill>
                  <a:srgbClr val="2A78D6"/>
                </a:solidFill>
                <a:latin typeface="Aptos" pitchFamily="34" charset="0"/>
                <a:ea typeface="Aptos" pitchFamily="34" charset="-122"/>
                <a:cs typeface="Aptos" pitchFamily="34" charset="-120"/>
              </a:rPr>
              <a:t>Think silently -&gt; explain to a neighbour -&gt; check the measurement.</a:t>
            </a:r>
            <a:endParaRPr lang="en-US" sz="249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Structure is one layer of evidence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S01 / S16 / S17  |  4</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sequence specifies an amino-acid chain.</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An experimental structure and a computational prediction have different provenance.</a:t>
            </a:r>
            <a:endParaRPr lang="en-US" sz="2100"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Neither a picture nor a confidence score is itself a functional assay.</a:t>
            </a:r>
            <a:endParaRPr lang="en-US" sz="229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Proteins can have domains and flexible regions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S01 / S16  |  5</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domain is a structurally or functionally meaningful region.</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Flexible linkers may allow different arrangements.</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single structure does not capture every state or partner.</a:t>
            </a:r>
            <a:endParaRPr lang="en-US" sz="2297" dirty="0"/>
          </a:p>
        </p:txBody>
      </p:sp>
      <p:sp>
        <p:nvSpPr>
          <p:cNvPr id="16" name="Shape 14"/>
          <p:cNvSpPr/>
          <p:nvPr/>
        </p:nvSpPr>
        <p:spPr>
          <a:xfrm>
            <a:off x="1115568" y="3255264"/>
            <a:ext cx="1325880" cy="1325880"/>
          </a:xfrm>
          <a:prstGeom prst="ellipse">
            <a:avLst/>
          </a:prstGeom>
          <a:solidFill>
            <a:srgbClr val="2A78D6"/>
          </a:solidFill>
          <a:ln w="12700">
            <a:solidFill>
              <a:srgbClr val="2A78D6"/>
            </a:solidFill>
            <a:prstDash val="solid"/>
          </a:ln>
        </p:spPr>
      </p:sp>
      <p:sp>
        <p:nvSpPr>
          <p:cNvPr id="17" name="Shape 15"/>
          <p:cNvSpPr/>
          <p:nvPr/>
        </p:nvSpPr>
        <p:spPr>
          <a:xfrm>
            <a:off x="3749040" y="3255264"/>
            <a:ext cx="1325880" cy="1325880"/>
          </a:xfrm>
          <a:prstGeom prst="ellipse">
            <a:avLst/>
          </a:prstGeom>
          <a:solidFill>
            <a:srgbClr val="EB6834"/>
          </a:solidFill>
          <a:ln w="12700">
            <a:solidFill>
              <a:srgbClr val="EB6834"/>
            </a:solidFill>
            <a:prstDash val="solid"/>
          </a:ln>
        </p:spPr>
      </p:sp>
      <p:sp>
        <p:nvSpPr>
          <p:cNvPr id="18" name="Shape 16"/>
          <p:cNvSpPr/>
          <p:nvPr/>
        </p:nvSpPr>
        <p:spPr>
          <a:xfrm>
            <a:off x="2441448" y="3913632"/>
            <a:ext cx="1307592" cy="0"/>
          </a:xfrm>
          <a:prstGeom prst="line">
            <a:avLst/>
          </a:prstGeom>
          <a:noFill/>
          <a:ln w="25400">
            <a:solidFill>
              <a:srgbClr val="526171"/>
            </a:solidFill>
            <a:prstDash val="solid"/>
          </a:ln>
        </p:spPr>
      </p:sp>
      <p:sp>
        <p:nvSpPr>
          <p:cNvPr id="19" name="Text 17"/>
          <p:cNvSpPr/>
          <p:nvPr/>
        </p:nvSpPr>
        <p:spPr>
          <a:xfrm>
            <a:off x="1527048" y="3639312"/>
            <a:ext cx="502920" cy="457200"/>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Aptos" pitchFamily="34" charset="0"/>
                <a:ea typeface="Aptos" pitchFamily="34" charset="-122"/>
                <a:cs typeface="Aptos" pitchFamily="34" charset="-120"/>
              </a:rPr>
              <a:t>A</a:t>
            </a:r>
            <a:endParaRPr lang="en-US" sz="2500" dirty="0"/>
          </a:p>
        </p:txBody>
      </p:sp>
      <p:sp>
        <p:nvSpPr>
          <p:cNvPr id="20" name="Text 18"/>
          <p:cNvSpPr/>
          <p:nvPr/>
        </p:nvSpPr>
        <p:spPr>
          <a:xfrm>
            <a:off x="4160520" y="3639312"/>
            <a:ext cx="502920" cy="457200"/>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Aptos" pitchFamily="34" charset="0"/>
                <a:ea typeface="Aptos" pitchFamily="34" charset="-122"/>
                <a:cs typeface="Aptos" pitchFamily="34" charset="-120"/>
              </a:rPr>
              <a:t>B</a:t>
            </a:r>
            <a:endParaRPr lang="en-US" sz="2500" dirty="0"/>
          </a:p>
        </p:txBody>
      </p:sp>
      <p:sp>
        <p:nvSpPr>
          <p:cNvPr id="21" name="Text 19"/>
          <p:cNvSpPr/>
          <p:nvPr/>
        </p:nvSpPr>
        <p:spPr>
          <a:xfrm>
            <a:off x="841248" y="5056632"/>
            <a:ext cx="4471416" cy="868680"/>
          </a:xfrm>
          <a:prstGeom prst="rect">
            <a:avLst/>
          </a:prstGeom>
          <a:noFill/>
          <a:ln/>
        </p:spPr>
        <p:txBody>
          <a:bodyPr wrap="square" lIns="0" tIns="0" rIns="0" bIns="0" rtlCol="0" anchor="ctr">
            <a:normAutofit/>
          </a:bodyPr>
          <a:lstStyle/>
          <a:p>
            <a:pPr algn="ctr" indent="0" marL="0">
              <a:buNone/>
            </a:pPr>
            <a:r>
              <a:rPr lang="en-US" sz="1897" dirty="0">
                <a:solidFill>
                  <a:srgbClr val="526171"/>
                </a:solidFill>
                <a:latin typeface="Aptos" pitchFamily="34" charset="0"/>
                <a:ea typeface="Aptos" pitchFamily="34" charset="-122"/>
                <a:cs typeface="Aptos" pitchFamily="34" charset="-120"/>
              </a:rPr>
              <a:t>Schematic domains + flexible linker</a:t>
            </a:r>
            <a:endParaRPr lang="en-US" sz="1897" dirty="0"/>
          </a:p>
          <a:p>
            <a:pPr algn="ctr" indent="0" marL="0">
              <a:buNone/>
            </a:pPr>
            <a:r>
              <a:rPr lang="en-US" sz="1897" dirty="0">
                <a:solidFill>
                  <a:srgbClr val="526171"/>
                </a:solidFill>
                <a:latin typeface="Aptos" pitchFamily="34" charset="0"/>
                <a:ea typeface="Aptos" pitchFamily="34" charset="-122"/>
                <a:cs typeface="Aptos" pitchFamily="34" charset="-120"/>
              </a:rPr>
              <a:t>Not a molecular structure</a:t>
            </a:r>
            <a:endParaRPr lang="en-US" sz="189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pLDDT is local model confidence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S16  |  6</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AlphaFold pLDDT is a per-residue score on a 0-100 scale.</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Higher values generally indicate greater confidence in local structure.</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It is not the percent probability that a protein binds its target.</a:t>
            </a:r>
            <a:endParaRPr lang="en-US" sz="2297" dirty="0"/>
          </a:p>
        </p:txBody>
      </p:sp>
      <p:sp>
        <p:nvSpPr>
          <p:cNvPr id="16" name="Shape 14"/>
          <p:cNvSpPr/>
          <p:nvPr/>
        </p:nvSpPr>
        <p:spPr>
          <a:xfrm>
            <a:off x="841248" y="2249424"/>
            <a:ext cx="4471416" cy="548640"/>
          </a:xfrm>
          <a:prstGeom prst="rect">
            <a:avLst/>
          </a:prstGeom>
          <a:solidFill>
            <a:srgbClr val="FFFFFF"/>
          </a:solidFill>
          <a:ln w="7620">
            <a:solidFill>
              <a:srgbClr val="FFFFFF"/>
            </a:solidFill>
            <a:prstDash val="solid"/>
          </a:ln>
        </p:spPr>
      </p:sp>
      <p:sp>
        <p:nvSpPr>
          <p:cNvPr id="17" name="Text 15"/>
          <p:cNvSpPr/>
          <p:nvPr/>
        </p:nvSpPr>
        <p:spPr>
          <a:xfrm>
            <a:off x="987552" y="2340864"/>
            <a:ext cx="4178808" cy="347472"/>
          </a:xfrm>
          <a:prstGeom prst="rect">
            <a:avLst/>
          </a:prstGeom>
          <a:noFill/>
          <a:ln/>
        </p:spPr>
        <p:txBody>
          <a:bodyPr wrap="square" lIns="0" tIns="0" rIns="0" bIns="0" rtlCol="0" anchor="ctr">
            <a:normAutofit/>
          </a:bodyPr>
          <a:lstStyle/>
          <a:p>
            <a:pPr indent="0" marL="0">
              <a:buNone/>
            </a:pPr>
            <a:r>
              <a:rPr lang="en-US" sz="1800" b="1" dirty="0">
                <a:solidFill>
                  <a:srgbClr val="232D3B"/>
                </a:solidFill>
                <a:latin typeface="Aptos" pitchFamily="34" charset="0"/>
                <a:ea typeface="Aptos" pitchFamily="34" charset="-122"/>
                <a:cs typeface="Aptos" pitchFamily="34" charset="-120"/>
              </a:rPr>
              <a:t>&lt;50 very low</a:t>
            </a:r>
            <a:endParaRPr lang="en-US" sz="1800" dirty="0"/>
          </a:p>
        </p:txBody>
      </p:sp>
      <p:sp>
        <p:nvSpPr>
          <p:cNvPr id="18" name="Shape 16"/>
          <p:cNvSpPr/>
          <p:nvPr/>
        </p:nvSpPr>
        <p:spPr>
          <a:xfrm>
            <a:off x="841248" y="2926080"/>
            <a:ext cx="4471416" cy="548640"/>
          </a:xfrm>
          <a:prstGeom prst="rect">
            <a:avLst/>
          </a:prstGeom>
          <a:solidFill>
            <a:srgbClr val="FFFFFF"/>
          </a:solidFill>
          <a:ln w="7620">
            <a:solidFill>
              <a:srgbClr val="FFFFFF"/>
            </a:solidFill>
            <a:prstDash val="solid"/>
          </a:ln>
        </p:spPr>
      </p:sp>
      <p:sp>
        <p:nvSpPr>
          <p:cNvPr id="19" name="Text 17"/>
          <p:cNvSpPr/>
          <p:nvPr/>
        </p:nvSpPr>
        <p:spPr>
          <a:xfrm>
            <a:off x="987552" y="3017520"/>
            <a:ext cx="4178808" cy="347472"/>
          </a:xfrm>
          <a:prstGeom prst="rect">
            <a:avLst/>
          </a:prstGeom>
          <a:noFill/>
          <a:ln/>
        </p:spPr>
        <p:txBody>
          <a:bodyPr wrap="square" lIns="0" tIns="0" rIns="0" bIns="0" rtlCol="0" anchor="ctr">
            <a:normAutofit/>
          </a:bodyPr>
          <a:lstStyle/>
          <a:p>
            <a:pPr indent="0" marL="0">
              <a:buNone/>
            </a:pPr>
            <a:r>
              <a:rPr lang="en-US" sz="1800" b="1" dirty="0">
                <a:solidFill>
                  <a:srgbClr val="232D3B"/>
                </a:solidFill>
                <a:latin typeface="Aptos" pitchFamily="34" charset="0"/>
                <a:ea typeface="Aptos" pitchFamily="34" charset="-122"/>
                <a:cs typeface="Aptos" pitchFamily="34" charset="-120"/>
              </a:rPr>
              <a:t>50-70 low</a:t>
            </a:r>
            <a:endParaRPr lang="en-US" sz="1800" dirty="0"/>
          </a:p>
        </p:txBody>
      </p:sp>
      <p:sp>
        <p:nvSpPr>
          <p:cNvPr id="20" name="Shape 18"/>
          <p:cNvSpPr/>
          <p:nvPr/>
        </p:nvSpPr>
        <p:spPr>
          <a:xfrm>
            <a:off x="841248" y="3602736"/>
            <a:ext cx="4471416" cy="548640"/>
          </a:xfrm>
          <a:prstGeom prst="rect">
            <a:avLst/>
          </a:prstGeom>
          <a:solidFill>
            <a:srgbClr val="FFFFFF"/>
          </a:solidFill>
          <a:ln w="7620">
            <a:solidFill>
              <a:srgbClr val="FFFFFF"/>
            </a:solidFill>
            <a:prstDash val="solid"/>
          </a:ln>
        </p:spPr>
      </p:sp>
      <p:sp>
        <p:nvSpPr>
          <p:cNvPr id="21" name="Text 19"/>
          <p:cNvSpPr/>
          <p:nvPr/>
        </p:nvSpPr>
        <p:spPr>
          <a:xfrm>
            <a:off x="987552" y="3694176"/>
            <a:ext cx="4178808" cy="347472"/>
          </a:xfrm>
          <a:prstGeom prst="rect">
            <a:avLst/>
          </a:prstGeom>
          <a:noFill/>
          <a:ln/>
        </p:spPr>
        <p:txBody>
          <a:bodyPr wrap="square" lIns="0" tIns="0" rIns="0" bIns="0" rtlCol="0" anchor="ctr">
            <a:normAutofit/>
          </a:bodyPr>
          <a:lstStyle/>
          <a:p>
            <a:pPr indent="0" marL="0">
              <a:buNone/>
            </a:pPr>
            <a:r>
              <a:rPr lang="en-US" sz="1800" b="1" dirty="0">
                <a:solidFill>
                  <a:srgbClr val="232D3B"/>
                </a:solidFill>
                <a:latin typeface="Aptos" pitchFamily="34" charset="0"/>
                <a:ea typeface="Aptos" pitchFamily="34" charset="-122"/>
                <a:cs typeface="Aptos" pitchFamily="34" charset="-120"/>
              </a:rPr>
              <a:t>70-90 confident</a:t>
            </a:r>
            <a:endParaRPr lang="en-US" sz="1800" dirty="0"/>
          </a:p>
        </p:txBody>
      </p:sp>
      <p:sp>
        <p:nvSpPr>
          <p:cNvPr id="22" name="Shape 20"/>
          <p:cNvSpPr/>
          <p:nvPr/>
        </p:nvSpPr>
        <p:spPr>
          <a:xfrm>
            <a:off x="841248" y="4279392"/>
            <a:ext cx="4471416" cy="548640"/>
          </a:xfrm>
          <a:prstGeom prst="rect">
            <a:avLst/>
          </a:prstGeom>
          <a:solidFill>
            <a:srgbClr val="FFFFFF"/>
          </a:solidFill>
          <a:ln w="7620">
            <a:solidFill>
              <a:srgbClr val="FFFFFF"/>
            </a:solidFill>
            <a:prstDash val="solid"/>
          </a:ln>
        </p:spPr>
      </p:sp>
      <p:sp>
        <p:nvSpPr>
          <p:cNvPr id="23" name="Text 21"/>
          <p:cNvSpPr/>
          <p:nvPr/>
        </p:nvSpPr>
        <p:spPr>
          <a:xfrm>
            <a:off x="987552" y="4370832"/>
            <a:ext cx="4178808" cy="347472"/>
          </a:xfrm>
          <a:prstGeom prst="rect">
            <a:avLst/>
          </a:prstGeom>
          <a:noFill/>
          <a:ln/>
        </p:spPr>
        <p:txBody>
          <a:bodyPr wrap="square" lIns="0" tIns="0" rIns="0" bIns="0" rtlCol="0" anchor="ctr">
            <a:normAutofit/>
          </a:bodyPr>
          <a:lstStyle/>
          <a:p>
            <a:pPr indent="0" marL="0">
              <a:buNone/>
            </a:pPr>
            <a:r>
              <a:rPr lang="en-US" sz="1800" b="1" dirty="0">
                <a:solidFill>
                  <a:srgbClr val="232D3B"/>
                </a:solidFill>
                <a:latin typeface="Aptos" pitchFamily="34" charset="0"/>
                <a:ea typeface="Aptos" pitchFamily="34" charset="-122"/>
                <a:cs typeface="Aptos" pitchFamily="34" charset="-120"/>
              </a:rPr>
              <a:t>&gt;90 very high</a:t>
            </a:r>
            <a:endParaRPr lang="en-US" sz="1800" dirty="0"/>
          </a:p>
        </p:txBody>
      </p:sp>
      <p:sp>
        <p:nvSpPr>
          <p:cNvPr id="24" name="Text 22"/>
          <p:cNvSpPr/>
          <p:nvPr/>
        </p:nvSpPr>
        <p:spPr>
          <a:xfrm>
            <a:off x="841248" y="5285232"/>
            <a:ext cx="4471416" cy="658368"/>
          </a:xfrm>
          <a:prstGeom prst="rect">
            <a:avLst/>
          </a:prstGeom>
          <a:noFill/>
          <a:ln/>
        </p:spPr>
        <p:txBody>
          <a:bodyPr wrap="square" lIns="0" tIns="0" rIns="0" bIns="0" rtlCol="0" anchor="ctr">
            <a:normAutofit/>
          </a:bodyPr>
          <a:lstStyle/>
          <a:p>
            <a:pPr algn="ctr" indent="0" marL="0">
              <a:buNone/>
            </a:pPr>
            <a:r>
              <a:rPr lang="en-US" sz="1797" dirty="0">
                <a:solidFill>
                  <a:srgbClr val="526171"/>
                </a:solidFill>
                <a:latin typeface="Aptos" pitchFamily="34" charset="0"/>
                <a:ea typeface="Aptos" pitchFamily="34" charset="-122"/>
                <a:cs typeface="Aptos" pitchFamily="34" charset="-120"/>
              </a:rPr>
              <a:t>Guidance bands, not functional certainty.</a:t>
            </a:r>
            <a:endParaRPr lang="en-US" sz="179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PAE asks about relative placement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S16  |  7</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Predicted aligned error estimates positional error relative to an alignment reference.</a:t>
            </a:r>
            <a:endParaRPr lang="en-US" sz="2100"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Low within-domain PAE and high between-domain PAE can indicate uncertain domain arrangement.</a:t>
            </a:r>
            <a:endParaRPr lang="en-US" sz="2100"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Check units and the matrix axes.</a:t>
            </a:r>
            <a:endParaRPr lang="en-US" sz="2297" dirty="0"/>
          </a:p>
        </p:txBody>
      </p:sp>
      <p:sp>
        <p:nvSpPr>
          <p:cNvPr id="16" name="Text 14"/>
          <p:cNvSpPr/>
          <p:nvPr/>
        </p:nvSpPr>
        <p:spPr>
          <a:xfrm>
            <a:off x="841248" y="2157984"/>
            <a:ext cx="4471416" cy="548640"/>
          </a:xfrm>
          <a:prstGeom prst="rect">
            <a:avLst/>
          </a:prstGeom>
          <a:noFill/>
          <a:ln/>
        </p:spPr>
        <p:txBody>
          <a:bodyPr wrap="square" lIns="0" tIns="0" rIns="0" bIns="0" rtlCol="0" anchor="ctr">
            <a:normAutofit/>
          </a:bodyPr>
          <a:lstStyle/>
          <a:p>
            <a:pPr indent="0" marL="0">
              <a:buNone/>
            </a:pPr>
            <a:r>
              <a:rPr lang="en-US" sz="1800" b="1" dirty="0">
                <a:solidFill>
                  <a:srgbClr val="2A78D6"/>
                </a:solidFill>
                <a:latin typeface="Aptos" pitchFamily="34" charset="0"/>
                <a:ea typeface="Aptos" pitchFamily="34" charset="-122"/>
                <a:cs typeface="Aptos" pitchFamily="34" charset="-120"/>
              </a:rPr>
              <a:t>Synthetic block PAE (Angstrom)</a:t>
            </a:r>
            <a:endParaRPr lang="en-US" sz="1800" dirty="0"/>
          </a:p>
        </p:txBody>
      </p:sp>
      <p:sp>
        <p:nvSpPr>
          <p:cNvPr id="17" name="Shape 15"/>
          <p:cNvSpPr/>
          <p:nvPr/>
        </p:nvSpPr>
        <p:spPr>
          <a:xfrm>
            <a:off x="841248" y="3099816"/>
            <a:ext cx="1458468" cy="586740"/>
          </a:xfrm>
          <a:prstGeom prst="rect">
            <a:avLst/>
          </a:prstGeom>
          <a:solidFill>
            <a:srgbClr val="2A78D6"/>
          </a:solidFill>
          <a:ln w="7620">
            <a:solidFill>
              <a:srgbClr val="2A78D6"/>
            </a:solidFill>
            <a:prstDash val="solid"/>
          </a:ln>
        </p:spPr>
      </p:sp>
      <p:sp>
        <p:nvSpPr>
          <p:cNvPr id="18" name="Text 16"/>
          <p:cNvSpPr/>
          <p:nvPr/>
        </p:nvSpPr>
        <p:spPr>
          <a:xfrm>
            <a:off x="960120" y="3172968"/>
            <a:ext cx="1216152" cy="445008"/>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Aligned on</a:t>
            </a:r>
            <a:endParaRPr lang="en-US" sz="1600" dirty="0"/>
          </a:p>
        </p:txBody>
      </p:sp>
      <p:sp>
        <p:nvSpPr>
          <p:cNvPr id="19" name="Shape 17"/>
          <p:cNvSpPr/>
          <p:nvPr/>
        </p:nvSpPr>
        <p:spPr>
          <a:xfrm>
            <a:off x="2331720" y="3099816"/>
            <a:ext cx="1458468" cy="586740"/>
          </a:xfrm>
          <a:prstGeom prst="rect">
            <a:avLst/>
          </a:prstGeom>
          <a:solidFill>
            <a:srgbClr val="2A78D6"/>
          </a:solidFill>
          <a:ln w="7620">
            <a:solidFill>
              <a:srgbClr val="2A78D6"/>
            </a:solidFill>
            <a:prstDash val="solid"/>
          </a:ln>
        </p:spPr>
      </p:sp>
      <p:sp>
        <p:nvSpPr>
          <p:cNvPr id="20" name="Text 18"/>
          <p:cNvSpPr/>
          <p:nvPr/>
        </p:nvSpPr>
        <p:spPr>
          <a:xfrm>
            <a:off x="2450592" y="3172968"/>
            <a:ext cx="1216152" cy="445008"/>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Domain A</a:t>
            </a:r>
            <a:endParaRPr lang="en-US" sz="1600" dirty="0"/>
          </a:p>
        </p:txBody>
      </p:sp>
      <p:sp>
        <p:nvSpPr>
          <p:cNvPr id="21" name="Shape 19"/>
          <p:cNvSpPr/>
          <p:nvPr/>
        </p:nvSpPr>
        <p:spPr>
          <a:xfrm>
            <a:off x="3822192" y="3099816"/>
            <a:ext cx="1458468" cy="586740"/>
          </a:xfrm>
          <a:prstGeom prst="rect">
            <a:avLst/>
          </a:prstGeom>
          <a:solidFill>
            <a:srgbClr val="2A78D6"/>
          </a:solidFill>
          <a:ln w="7620">
            <a:solidFill>
              <a:srgbClr val="2A78D6"/>
            </a:solidFill>
            <a:prstDash val="solid"/>
          </a:ln>
        </p:spPr>
      </p:sp>
      <p:sp>
        <p:nvSpPr>
          <p:cNvPr id="22" name="Text 20"/>
          <p:cNvSpPr/>
          <p:nvPr/>
        </p:nvSpPr>
        <p:spPr>
          <a:xfrm>
            <a:off x="3941064" y="3172968"/>
            <a:ext cx="1216152" cy="445008"/>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Domain B</a:t>
            </a:r>
            <a:endParaRPr lang="en-US" sz="1600" dirty="0"/>
          </a:p>
        </p:txBody>
      </p:sp>
      <p:sp>
        <p:nvSpPr>
          <p:cNvPr id="23" name="Shape 21"/>
          <p:cNvSpPr/>
          <p:nvPr/>
        </p:nvSpPr>
        <p:spPr>
          <a:xfrm>
            <a:off x="841248" y="3718560"/>
            <a:ext cx="1458468" cy="586740"/>
          </a:xfrm>
          <a:prstGeom prst="rect">
            <a:avLst/>
          </a:prstGeom>
          <a:solidFill>
            <a:srgbClr val="EAF2FC"/>
          </a:solidFill>
          <a:ln w="7620">
            <a:solidFill>
              <a:srgbClr val="EAF2FC"/>
            </a:solidFill>
            <a:prstDash val="solid"/>
          </a:ln>
        </p:spPr>
      </p:sp>
      <p:sp>
        <p:nvSpPr>
          <p:cNvPr id="24" name="Text 22"/>
          <p:cNvSpPr/>
          <p:nvPr/>
        </p:nvSpPr>
        <p:spPr>
          <a:xfrm>
            <a:off x="960120" y="3782568"/>
            <a:ext cx="1216152" cy="463296"/>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Domain A</a:t>
            </a:r>
            <a:endParaRPr lang="en-US" sz="1600" dirty="0"/>
          </a:p>
        </p:txBody>
      </p:sp>
      <p:sp>
        <p:nvSpPr>
          <p:cNvPr id="25" name="Shape 23"/>
          <p:cNvSpPr/>
          <p:nvPr/>
        </p:nvSpPr>
        <p:spPr>
          <a:xfrm>
            <a:off x="2331720" y="3718560"/>
            <a:ext cx="1458468" cy="586740"/>
          </a:xfrm>
          <a:prstGeom prst="rect">
            <a:avLst/>
          </a:prstGeom>
          <a:solidFill>
            <a:srgbClr val="EAF2FC"/>
          </a:solidFill>
          <a:ln w="7620">
            <a:solidFill>
              <a:srgbClr val="EAF2FC"/>
            </a:solidFill>
            <a:prstDash val="solid"/>
          </a:ln>
        </p:spPr>
      </p:sp>
      <p:sp>
        <p:nvSpPr>
          <p:cNvPr id="26" name="Text 24"/>
          <p:cNvSpPr/>
          <p:nvPr/>
        </p:nvSpPr>
        <p:spPr>
          <a:xfrm>
            <a:off x="2450592" y="3782568"/>
            <a:ext cx="1216152" cy="463296"/>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2</a:t>
            </a:r>
            <a:endParaRPr lang="en-US" sz="1600" dirty="0"/>
          </a:p>
        </p:txBody>
      </p:sp>
      <p:sp>
        <p:nvSpPr>
          <p:cNvPr id="27" name="Shape 25"/>
          <p:cNvSpPr/>
          <p:nvPr/>
        </p:nvSpPr>
        <p:spPr>
          <a:xfrm>
            <a:off x="3822192" y="3718560"/>
            <a:ext cx="1458468" cy="586740"/>
          </a:xfrm>
          <a:prstGeom prst="rect">
            <a:avLst/>
          </a:prstGeom>
          <a:solidFill>
            <a:srgbClr val="EAF2FC"/>
          </a:solidFill>
          <a:ln w="7620">
            <a:solidFill>
              <a:srgbClr val="EAF2FC"/>
            </a:solidFill>
            <a:prstDash val="solid"/>
          </a:ln>
        </p:spPr>
      </p:sp>
      <p:sp>
        <p:nvSpPr>
          <p:cNvPr id="28" name="Text 26"/>
          <p:cNvSpPr/>
          <p:nvPr/>
        </p:nvSpPr>
        <p:spPr>
          <a:xfrm>
            <a:off x="3941064" y="3782568"/>
            <a:ext cx="1216152" cy="463296"/>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18</a:t>
            </a:r>
            <a:endParaRPr lang="en-US" sz="1600" dirty="0"/>
          </a:p>
        </p:txBody>
      </p:sp>
      <p:sp>
        <p:nvSpPr>
          <p:cNvPr id="29" name="Shape 27"/>
          <p:cNvSpPr/>
          <p:nvPr/>
        </p:nvSpPr>
        <p:spPr>
          <a:xfrm>
            <a:off x="841248" y="4337304"/>
            <a:ext cx="1458468" cy="586740"/>
          </a:xfrm>
          <a:prstGeom prst="rect">
            <a:avLst/>
          </a:prstGeom>
          <a:solidFill>
            <a:srgbClr val="FFFFFF"/>
          </a:solidFill>
          <a:ln w="7620">
            <a:solidFill>
              <a:srgbClr val="FFFFFF"/>
            </a:solidFill>
            <a:prstDash val="solid"/>
          </a:ln>
        </p:spPr>
      </p:sp>
      <p:sp>
        <p:nvSpPr>
          <p:cNvPr id="30" name="Text 28"/>
          <p:cNvSpPr/>
          <p:nvPr/>
        </p:nvSpPr>
        <p:spPr>
          <a:xfrm>
            <a:off x="960120" y="4401312"/>
            <a:ext cx="1216152" cy="463296"/>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Domain B</a:t>
            </a:r>
            <a:endParaRPr lang="en-US" sz="1600" dirty="0"/>
          </a:p>
        </p:txBody>
      </p:sp>
      <p:sp>
        <p:nvSpPr>
          <p:cNvPr id="31" name="Shape 29"/>
          <p:cNvSpPr/>
          <p:nvPr/>
        </p:nvSpPr>
        <p:spPr>
          <a:xfrm>
            <a:off x="2331720" y="4337304"/>
            <a:ext cx="1458468" cy="586740"/>
          </a:xfrm>
          <a:prstGeom prst="rect">
            <a:avLst/>
          </a:prstGeom>
          <a:solidFill>
            <a:srgbClr val="FFFFFF"/>
          </a:solidFill>
          <a:ln w="7620">
            <a:solidFill>
              <a:srgbClr val="FFFFFF"/>
            </a:solidFill>
            <a:prstDash val="solid"/>
          </a:ln>
        </p:spPr>
      </p:sp>
      <p:sp>
        <p:nvSpPr>
          <p:cNvPr id="32" name="Text 30"/>
          <p:cNvSpPr/>
          <p:nvPr/>
        </p:nvSpPr>
        <p:spPr>
          <a:xfrm>
            <a:off x="2450592" y="4401312"/>
            <a:ext cx="1216152" cy="463296"/>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20</a:t>
            </a:r>
            <a:endParaRPr lang="en-US" sz="1600" dirty="0"/>
          </a:p>
        </p:txBody>
      </p:sp>
      <p:sp>
        <p:nvSpPr>
          <p:cNvPr id="33" name="Shape 31"/>
          <p:cNvSpPr/>
          <p:nvPr/>
        </p:nvSpPr>
        <p:spPr>
          <a:xfrm>
            <a:off x="3822192" y="4337304"/>
            <a:ext cx="1458468" cy="586740"/>
          </a:xfrm>
          <a:prstGeom prst="rect">
            <a:avLst/>
          </a:prstGeom>
          <a:solidFill>
            <a:srgbClr val="FFFFFF"/>
          </a:solidFill>
          <a:ln w="7620">
            <a:solidFill>
              <a:srgbClr val="FFFFFF"/>
            </a:solidFill>
            <a:prstDash val="solid"/>
          </a:ln>
        </p:spPr>
      </p:sp>
      <p:sp>
        <p:nvSpPr>
          <p:cNvPr id="34" name="Text 32"/>
          <p:cNvSpPr/>
          <p:nvPr/>
        </p:nvSpPr>
        <p:spPr>
          <a:xfrm>
            <a:off x="3941064" y="4401312"/>
            <a:ext cx="1216152" cy="463296"/>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3</a:t>
            </a:r>
            <a:endParaRPr lang="en-US" sz="1600" dirty="0"/>
          </a:p>
        </p:txBody>
      </p:sp>
      <p:sp>
        <p:nvSpPr>
          <p:cNvPr id="35" name="Text 33"/>
          <p:cNvSpPr/>
          <p:nvPr/>
        </p:nvSpPr>
        <p:spPr>
          <a:xfrm>
            <a:off x="841248" y="5248656"/>
            <a:ext cx="4471416" cy="731520"/>
          </a:xfrm>
          <a:prstGeom prst="rect">
            <a:avLst/>
          </a:prstGeom>
          <a:noFill/>
          <a:ln/>
        </p:spPr>
        <p:txBody>
          <a:bodyPr wrap="square" lIns="0" tIns="0" rIns="0" bIns="0" rtlCol="0" anchor="ctr">
            <a:normAutofit/>
          </a:bodyPr>
          <a:lstStyle/>
          <a:p>
            <a:pPr algn="ctr" indent="0" marL="0">
              <a:buNone/>
            </a:pPr>
            <a:r>
              <a:rPr lang="en-US" sz="1600" dirty="0">
                <a:solidFill>
                  <a:srgbClr val="526171"/>
                </a:solidFill>
                <a:latin typeface="Aptos" pitchFamily="34" charset="0"/>
                <a:ea typeface="Aptos" pitchFamily="34" charset="-122"/>
                <a:cs typeface="Aptos" pitchFamily="34" charset="-120"/>
              </a:rPr>
              <a:t>Low diagonal; high off-diagonal</a:t>
            </a:r>
            <a:endParaRPr lang="en-US" sz="1600" dirty="0"/>
          </a:p>
          <a:p>
            <a:pPr algn="ctr" indent="0" marL="0">
              <a:buNone/>
            </a:pPr>
            <a:r>
              <a:rPr lang="en-US" sz="1600" dirty="0">
                <a:solidFill>
                  <a:srgbClr val="526171"/>
                </a:solidFill>
                <a:latin typeface="Aptos" pitchFamily="34" charset="0"/>
                <a:ea typeface="Aptos" pitchFamily="34" charset="-122"/>
                <a:cs typeface="Aptos" pitchFamily="34" charset="-120"/>
              </a:rPr>
              <a:t>Domain orientation remains uncertain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Low confidence has several explanations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S16  |  8</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It may reflect disorder, flexibility, missing context or a prediction error.</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Do not automatically label every low-score region disordered.</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Use complementary evidence and state alternatives.</a:t>
            </a:r>
            <a:endParaRPr lang="en-US" sz="229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real database card, not a new experiment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S24  |  9</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AF_AFP69905F1 is a computed hemoglobin alpha model.</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The RCSB record displayed 142 modeled residues and global pLDDT 98.06 when checked.</a:t>
            </a:r>
            <a:endParaRPr lang="en-US" sz="2100"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record explicitly distinguishes this model from experimental validation.</a:t>
            </a:r>
            <a:endParaRPr lang="en-US" sz="2297" dirty="0"/>
          </a:p>
        </p:txBody>
      </p:sp>
      <p:sp>
        <p:nvSpPr>
          <p:cNvPr id="16" name="Text 14"/>
          <p:cNvSpPr/>
          <p:nvPr/>
        </p:nvSpPr>
        <p:spPr>
          <a:xfrm>
            <a:off x="841248" y="2478024"/>
            <a:ext cx="4471416" cy="1508760"/>
          </a:xfrm>
          <a:prstGeom prst="rect">
            <a:avLst/>
          </a:prstGeom>
          <a:noFill/>
          <a:ln/>
        </p:spPr>
        <p:txBody>
          <a:bodyPr wrap="square" lIns="0" tIns="0" rIns="0" bIns="0" rtlCol="0" anchor="ctr">
            <a:normAutofit/>
          </a:bodyPr>
          <a:lstStyle/>
          <a:p>
            <a:pPr algn="ctr" indent="0" marL="0">
              <a:buNone/>
            </a:pPr>
            <a:r>
              <a:rPr lang="en-US" sz="4397" b="1" dirty="0">
                <a:solidFill>
                  <a:srgbClr val="2A78D6"/>
                </a:solidFill>
                <a:latin typeface="Aptos" pitchFamily="34" charset="0"/>
                <a:ea typeface="Aptos" pitchFamily="34" charset="-122"/>
                <a:cs typeface="Aptos" pitchFamily="34" charset="-120"/>
              </a:rPr>
              <a:t>98.06</a:t>
            </a:r>
            <a:endParaRPr lang="en-US" sz="4397" dirty="0"/>
          </a:p>
        </p:txBody>
      </p:sp>
      <p:sp>
        <p:nvSpPr>
          <p:cNvPr id="17" name="Text 15"/>
          <p:cNvSpPr/>
          <p:nvPr/>
        </p:nvSpPr>
        <p:spPr>
          <a:xfrm>
            <a:off x="841248" y="4489704"/>
            <a:ext cx="4471416" cy="960120"/>
          </a:xfrm>
          <a:prstGeom prst="rect">
            <a:avLst/>
          </a:prstGeom>
          <a:noFill/>
          <a:ln/>
        </p:spPr>
        <p:txBody>
          <a:bodyPr wrap="square" lIns="0" tIns="0" rIns="0" bIns="0" rtlCol="0" anchor="ctr">
            <a:normAutofit/>
          </a:bodyPr>
          <a:lstStyle/>
          <a:p>
            <a:pPr algn="ctr" indent="0" marL="0">
              <a:buNone/>
            </a:pPr>
            <a:r>
              <a:rPr lang="en-US" sz="1997" dirty="0">
                <a:solidFill>
                  <a:srgbClr val="526171"/>
                </a:solidFill>
                <a:latin typeface="Aptos" pitchFamily="34" charset="0"/>
                <a:ea typeface="Aptos" pitchFamily="34" charset="-122"/>
                <a:cs typeface="Aptos" pitchFamily="34" charset="-120"/>
              </a:rPr>
              <a:t>Displayed global pLDDT; record snapshot</a:t>
            </a:r>
            <a:endParaRPr lang="en-US" sz="199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An interaction score is not an affinity measurement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S16 / S17  |  10</a:t>
            </a:r>
            <a:endParaRPr lang="en-US" sz="800" dirty="0"/>
          </a:p>
        </p:txBody>
      </p:sp>
      <p:sp>
        <p:nvSpPr>
          <p:cNvPr id="9" name="Shape 7"/>
          <p:cNvSpPr/>
          <p:nvPr/>
        </p:nvSpPr>
        <p:spPr>
          <a:xfrm>
            <a:off x="594360" y="1865376"/>
            <a:ext cx="5321808" cy="1024128"/>
          </a:xfrm>
          <a:prstGeom prst="rect">
            <a:avLst/>
          </a:prstGeom>
          <a:solidFill>
            <a:srgbClr val="EAF2FC"/>
          </a:solidFill>
          <a:ln w="7620">
            <a:solidFill>
              <a:srgbClr val="EAF2FC"/>
            </a:solidFill>
            <a:prstDash val="solid"/>
          </a:ln>
        </p:spPr>
      </p:sp>
      <p:sp>
        <p:nvSpPr>
          <p:cNvPr id="10" name="Shape 8"/>
          <p:cNvSpPr/>
          <p:nvPr/>
        </p:nvSpPr>
        <p:spPr>
          <a:xfrm>
            <a:off x="6199632" y="1865376"/>
            <a:ext cx="5321808" cy="1024128"/>
          </a:xfrm>
          <a:prstGeom prst="rect">
            <a:avLst/>
          </a:prstGeom>
          <a:solidFill>
            <a:srgbClr val="FFF0E8"/>
          </a:solidFill>
          <a:ln w="7620">
            <a:solidFill>
              <a:srgbClr val="FFF0E8"/>
            </a:solidFill>
            <a:prstDash val="solid"/>
          </a:ln>
        </p:spPr>
      </p:sp>
      <p:sp>
        <p:nvSpPr>
          <p:cNvPr id="11" name="Text 9"/>
          <p:cNvSpPr/>
          <p:nvPr/>
        </p:nvSpPr>
        <p:spPr>
          <a:xfrm>
            <a:off x="822960"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2A78D6"/>
                </a:solidFill>
                <a:latin typeface="Aptos" pitchFamily="34" charset="0"/>
                <a:ea typeface="Aptos" pitchFamily="34" charset="-122"/>
                <a:cs typeface="Aptos" pitchFamily="34" charset="-120"/>
              </a:rPr>
              <a:t>Model confidence</a:t>
            </a:r>
            <a:endParaRPr lang="en-US" sz="2372" dirty="0"/>
          </a:p>
        </p:txBody>
      </p:sp>
      <p:sp>
        <p:nvSpPr>
          <p:cNvPr id="12" name="Text 10"/>
          <p:cNvSpPr/>
          <p:nvPr/>
        </p:nvSpPr>
        <p:spPr>
          <a:xfrm>
            <a:off x="6428232"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EB6834"/>
                </a:solidFill>
                <a:latin typeface="Aptos" pitchFamily="34" charset="0"/>
                <a:ea typeface="Aptos" pitchFamily="34" charset="-122"/>
                <a:cs typeface="Aptos" pitchFamily="34" charset="-120"/>
              </a:rPr>
              <a:t>Measured function</a:t>
            </a:r>
            <a:endParaRPr lang="en-US" sz="2372" dirty="0"/>
          </a:p>
        </p:txBody>
      </p:sp>
      <p:sp>
        <p:nvSpPr>
          <p:cNvPr id="13" name="Shape 11"/>
          <p:cNvSpPr/>
          <p:nvPr/>
        </p:nvSpPr>
        <p:spPr>
          <a:xfrm>
            <a:off x="658368" y="3218688"/>
            <a:ext cx="50292" cy="719328"/>
          </a:xfrm>
          <a:prstGeom prst="rect">
            <a:avLst/>
          </a:prstGeom>
          <a:solidFill>
            <a:srgbClr val="2A78D6"/>
          </a:solidFill>
          <a:ln w="7620">
            <a:solidFill>
              <a:srgbClr val="2A78D6"/>
            </a:solidFill>
            <a:prstDash val="solid"/>
          </a:ln>
        </p:spPr>
      </p:sp>
      <p:sp>
        <p:nvSpPr>
          <p:cNvPr id="14" name="Text 12"/>
          <p:cNvSpPr/>
          <p:nvPr/>
        </p:nvSpPr>
        <p:spPr>
          <a:xfrm>
            <a:off x="859536" y="3218688"/>
            <a:ext cx="10552176" cy="719328"/>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Model confidence, geometric plausibility and binding affinity are different quantities.</a:t>
            </a:r>
            <a:endParaRPr lang="en-US" sz="2100" dirty="0"/>
          </a:p>
        </p:txBody>
      </p:sp>
      <p:sp>
        <p:nvSpPr>
          <p:cNvPr id="15" name="Shape 13"/>
          <p:cNvSpPr/>
          <p:nvPr/>
        </p:nvSpPr>
        <p:spPr>
          <a:xfrm>
            <a:off x="658368" y="4139184"/>
            <a:ext cx="50292" cy="719328"/>
          </a:xfrm>
          <a:prstGeom prst="rect">
            <a:avLst/>
          </a:prstGeom>
          <a:solidFill>
            <a:srgbClr val="2A78D6"/>
          </a:solidFill>
          <a:ln w="7620">
            <a:solidFill>
              <a:srgbClr val="2A78D6"/>
            </a:solidFill>
            <a:prstDash val="solid"/>
          </a:ln>
        </p:spPr>
      </p:sp>
      <p:sp>
        <p:nvSpPr>
          <p:cNvPr id="16" name="Text 14"/>
          <p:cNvSpPr/>
          <p:nvPr/>
        </p:nvSpPr>
        <p:spPr>
          <a:xfrm>
            <a:off x="859536" y="4139184"/>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predicted complex can motivate testing, not replace it.</a:t>
            </a:r>
            <a:endParaRPr lang="en-US" sz="2297" dirty="0"/>
          </a:p>
        </p:txBody>
      </p:sp>
      <p:sp>
        <p:nvSpPr>
          <p:cNvPr id="17" name="Shape 15"/>
          <p:cNvSpPr/>
          <p:nvPr/>
        </p:nvSpPr>
        <p:spPr>
          <a:xfrm>
            <a:off x="658368" y="5059680"/>
            <a:ext cx="50292" cy="719328"/>
          </a:xfrm>
          <a:prstGeom prst="rect">
            <a:avLst/>
          </a:prstGeom>
          <a:solidFill>
            <a:srgbClr val="2A78D6"/>
          </a:solidFill>
          <a:ln w="7620">
            <a:solidFill>
              <a:srgbClr val="2A78D6"/>
            </a:solidFill>
            <a:prstDash val="solid"/>
          </a:ln>
        </p:spPr>
      </p:sp>
      <p:sp>
        <p:nvSpPr>
          <p:cNvPr id="18" name="Text 16"/>
          <p:cNvSpPr/>
          <p:nvPr/>
        </p:nvSpPr>
        <p:spPr>
          <a:xfrm>
            <a:off x="859536" y="5059680"/>
            <a:ext cx="10552176" cy="719328"/>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Binding and specificity need appropriate positive and negative experimental controls.</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The Structure Report Card</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S16 / S17  |  11</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Record sequence / accession and the model source.</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Describe local confidence and uncertain relative placement.</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Name the proposed use, a limitation and a validation experiment.</a:t>
            </a:r>
            <a:endParaRPr lang="en-US" sz="2297" dirty="0"/>
          </a:p>
        </p:txBody>
      </p:sp>
      <p:sp>
        <p:nvSpPr>
          <p:cNvPr id="16" name="Shape 14"/>
          <p:cNvSpPr/>
          <p:nvPr/>
        </p:nvSpPr>
        <p:spPr>
          <a:xfrm>
            <a:off x="841248" y="2304288"/>
            <a:ext cx="4471416" cy="658368"/>
          </a:xfrm>
          <a:prstGeom prst="rect">
            <a:avLst/>
          </a:prstGeom>
          <a:solidFill>
            <a:srgbClr val="FFFFFF"/>
          </a:solidFill>
          <a:ln w="7620">
            <a:solidFill>
              <a:srgbClr val="FFFFFF"/>
            </a:solidFill>
            <a:prstDash val="solid"/>
          </a:ln>
        </p:spPr>
      </p:sp>
      <p:sp>
        <p:nvSpPr>
          <p:cNvPr id="17" name="Text 15"/>
          <p:cNvSpPr/>
          <p:nvPr/>
        </p:nvSpPr>
        <p:spPr>
          <a:xfrm>
            <a:off x="1005840" y="2450592"/>
            <a:ext cx="4142232" cy="384048"/>
          </a:xfrm>
          <a:prstGeom prst="rect">
            <a:avLst/>
          </a:prstGeom>
          <a:noFill/>
          <a:ln/>
        </p:spPr>
        <p:txBody>
          <a:bodyPr wrap="square" lIns="0" tIns="0" rIns="0" bIns="0" rtlCol="0" anchor="ctr">
            <a:normAutofit/>
          </a:bodyPr>
          <a:lstStyle/>
          <a:p>
            <a:pPr indent="0" marL="0">
              <a:buNone/>
            </a:pPr>
            <a:r>
              <a:rPr lang="en-US" sz="1900" b="1" dirty="0">
                <a:solidFill>
                  <a:srgbClr val="2A78D6"/>
                </a:solidFill>
                <a:latin typeface="Aptos" pitchFamily="34" charset="0"/>
                <a:ea typeface="Aptos" pitchFamily="34" charset="-122"/>
                <a:cs typeface="Aptos" pitchFamily="34" charset="-120"/>
              </a:rPr>
              <a:t>Sequence / model</a:t>
            </a:r>
            <a:endParaRPr lang="en-US" sz="1900" dirty="0"/>
          </a:p>
        </p:txBody>
      </p:sp>
      <p:sp>
        <p:nvSpPr>
          <p:cNvPr id="18" name="Shape 16"/>
          <p:cNvSpPr/>
          <p:nvPr/>
        </p:nvSpPr>
        <p:spPr>
          <a:xfrm>
            <a:off x="841248" y="3163824"/>
            <a:ext cx="4471416" cy="658368"/>
          </a:xfrm>
          <a:prstGeom prst="rect">
            <a:avLst/>
          </a:prstGeom>
          <a:solidFill>
            <a:srgbClr val="FFFFFF"/>
          </a:solidFill>
          <a:ln w="7620">
            <a:solidFill>
              <a:srgbClr val="FFFFFF"/>
            </a:solidFill>
            <a:prstDash val="solid"/>
          </a:ln>
        </p:spPr>
      </p:sp>
      <p:sp>
        <p:nvSpPr>
          <p:cNvPr id="19" name="Text 17"/>
          <p:cNvSpPr/>
          <p:nvPr/>
        </p:nvSpPr>
        <p:spPr>
          <a:xfrm>
            <a:off x="1005840" y="3310128"/>
            <a:ext cx="4142232" cy="384048"/>
          </a:xfrm>
          <a:prstGeom prst="rect">
            <a:avLst/>
          </a:prstGeom>
          <a:noFill/>
          <a:ln/>
        </p:spPr>
        <p:txBody>
          <a:bodyPr wrap="square" lIns="0" tIns="0" rIns="0" bIns="0" rtlCol="0" anchor="ctr">
            <a:normAutofit/>
          </a:bodyPr>
          <a:lstStyle/>
          <a:p>
            <a:pPr indent="0" marL="0">
              <a:buNone/>
            </a:pPr>
            <a:r>
              <a:rPr lang="en-US" sz="1900" b="1" dirty="0">
                <a:solidFill>
                  <a:srgbClr val="2A78D6"/>
                </a:solidFill>
                <a:latin typeface="Aptos" pitchFamily="34" charset="0"/>
                <a:ea typeface="Aptos" pitchFamily="34" charset="-122"/>
                <a:cs typeface="Aptos" pitchFamily="34" charset="-120"/>
              </a:rPr>
              <a:t>Local confidence</a:t>
            </a:r>
            <a:endParaRPr lang="en-US" sz="1900" dirty="0"/>
          </a:p>
        </p:txBody>
      </p:sp>
      <p:sp>
        <p:nvSpPr>
          <p:cNvPr id="20" name="Shape 18"/>
          <p:cNvSpPr/>
          <p:nvPr/>
        </p:nvSpPr>
        <p:spPr>
          <a:xfrm>
            <a:off x="841248" y="4023360"/>
            <a:ext cx="4471416" cy="658368"/>
          </a:xfrm>
          <a:prstGeom prst="rect">
            <a:avLst/>
          </a:prstGeom>
          <a:solidFill>
            <a:srgbClr val="FFFFFF"/>
          </a:solidFill>
          <a:ln w="7620">
            <a:solidFill>
              <a:srgbClr val="FFFFFF"/>
            </a:solidFill>
            <a:prstDash val="solid"/>
          </a:ln>
        </p:spPr>
      </p:sp>
      <p:sp>
        <p:nvSpPr>
          <p:cNvPr id="21" name="Text 19"/>
          <p:cNvSpPr/>
          <p:nvPr/>
        </p:nvSpPr>
        <p:spPr>
          <a:xfrm>
            <a:off x="1005840" y="4169664"/>
            <a:ext cx="4142232" cy="384048"/>
          </a:xfrm>
          <a:prstGeom prst="rect">
            <a:avLst/>
          </a:prstGeom>
          <a:noFill/>
          <a:ln/>
        </p:spPr>
        <p:txBody>
          <a:bodyPr wrap="square" lIns="0" tIns="0" rIns="0" bIns="0" rtlCol="0" anchor="ctr">
            <a:normAutofit/>
          </a:bodyPr>
          <a:lstStyle/>
          <a:p>
            <a:pPr indent="0" marL="0">
              <a:buNone/>
            </a:pPr>
            <a:r>
              <a:rPr lang="en-US" sz="1900" b="1" dirty="0">
                <a:solidFill>
                  <a:srgbClr val="2A78D6"/>
                </a:solidFill>
                <a:latin typeface="Aptos" pitchFamily="34" charset="0"/>
                <a:ea typeface="Aptos" pitchFamily="34" charset="-122"/>
                <a:cs typeface="Aptos" pitchFamily="34" charset="-120"/>
              </a:rPr>
              <a:t>Relative placement</a:t>
            </a:r>
            <a:endParaRPr lang="en-US" sz="1900" dirty="0"/>
          </a:p>
        </p:txBody>
      </p:sp>
      <p:sp>
        <p:nvSpPr>
          <p:cNvPr id="22" name="Shape 20"/>
          <p:cNvSpPr/>
          <p:nvPr/>
        </p:nvSpPr>
        <p:spPr>
          <a:xfrm>
            <a:off x="841248" y="4882896"/>
            <a:ext cx="4471416" cy="658368"/>
          </a:xfrm>
          <a:prstGeom prst="rect">
            <a:avLst/>
          </a:prstGeom>
          <a:solidFill>
            <a:srgbClr val="FFFFFF"/>
          </a:solidFill>
          <a:ln w="7620">
            <a:solidFill>
              <a:srgbClr val="FFFFFF"/>
            </a:solidFill>
            <a:prstDash val="solid"/>
          </a:ln>
        </p:spPr>
      </p:sp>
      <p:sp>
        <p:nvSpPr>
          <p:cNvPr id="23" name="Text 21"/>
          <p:cNvSpPr/>
          <p:nvPr/>
        </p:nvSpPr>
        <p:spPr>
          <a:xfrm>
            <a:off x="1005840" y="5029200"/>
            <a:ext cx="4142232" cy="384048"/>
          </a:xfrm>
          <a:prstGeom prst="rect">
            <a:avLst/>
          </a:prstGeom>
          <a:noFill/>
          <a:ln/>
        </p:spPr>
        <p:txBody>
          <a:bodyPr wrap="square" lIns="0" tIns="0" rIns="0" bIns="0" rtlCol="0" anchor="ctr">
            <a:normAutofit/>
          </a:bodyPr>
          <a:lstStyle/>
          <a:p>
            <a:pPr indent="0" marL="0">
              <a:buNone/>
            </a:pPr>
            <a:r>
              <a:rPr lang="en-US" sz="1900" b="1" dirty="0">
                <a:solidFill>
                  <a:srgbClr val="2A78D6"/>
                </a:solidFill>
                <a:latin typeface="Aptos" pitchFamily="34" charset="0"/>
                <a:ea typeface="Aptos" pitchFamily="34" charset="-122"/>
                <a:cs typeface="Aptos" pitchFamily="34" charset="-120"/>
              </a:rPr>
              <a:t>Claim + validation</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Worked example: two confident domains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12</a:t>
            </a:r>
            <a:endParaRPr lang="en-US" sz="800" dirty="0"/>
          </a:p>
        </p:txBody>
      </p:sp>
      <p:sp>
        <p:nvSpPr>
          <p:cNvPr id="9" name="Text 7"/>
          <p:cNvSpPr/>
          <p:nvPr/>
        </p:nvSpPr>
        <p:spPr>
          <a:xfrm>
            <a:off x="685800" y="2148840"/>
            <a:ext cx="10881360" cy="1783080"/>
          </a:xfrm>
          <a:prstGeom prst="rect">
            <a:avLst/>
          </a:prstGeom>
          <a:noFill/>
          <a:ln/>
        </p:spPr>
        <p:txBody>
          <a:bodyPr wrap="square" lIns="0" tIns="0" rIns="0" bIns="0" rtlCol="0" anchor="ctr">
            <a:normAutofit/>
          </a:bodyPr>
          <a:lstStyle/>
          <a:p>
            <a:pPr indent="0" marL="0">
              <a:buNone/>
            </a:pPr>
            <a:r>
              <a:rPr lang="en-US" sz="2997" dirty="0">
                <a:solidFill>
                  <a:srgbClr val="232D3B"/>
                </a:solidFill>
                <a:latin typeface="Aptos" pitchFamily="34" charset="0"/>
                <a:ea typeface="Aptos" pitchFamily="34" charset="-122"/>
                <a:cs typeface="Aptos" pitchFamily="34" charset="-120"/>
              </a:rPr>
              <a:t>A toy protein has two domains with pLDDT near 90, a linker near 45 and between-domain PAE near 20 angstroms.</a:t>
            </a:r>
            <a:endParaRPr lang="en-US" sz="2997" dirty="0"/>
          </a:p>
        </p:txBody>
      </p:sp>
      <p:sp>
        <p:nvSpPr>
          <p:cNvPr id="10" name="Shape 8"/>
          <p:cNvSpPr/>
          <p:nvPr/>
        </p:nvSpPr>
        <p:spPr>
          <a:xfrm>
            <a:off x="685800" y="4572000"/>
            <a:ext cx="10817352" cy="1024128"/>
          </a:xfrm>
          <a:prstGeom prst="rect">
            <a:avLst/>
          </a:prstGeom>
          <a:solidFill>
            <a:srgbClr val="EAF2FC"/>
          </a:solidFill>
          <a:ln w="7620">
            <a:solidFill>
              <a:srgbClr val="EAF2FC"/>
            </a:solidFill>
            <a:prstDash val="solid"/>
          </a:ln>
        </p:spPr>
      </p:sp>
      <p:sp>
        <p:nvSpPr>
          <p:cNvPr id="11" name="Text 9"/>
          <p:cNvSpPr/>
          <p:nvPr/>
        </p:nvSpPr>
        <p:spPr>
          <a:xfrm>
            <a:off x="932688" y="4791456"/>
            <a:ext cx="10287000" cy="576072"/>
          </a:xfrm>
          <a:prstGeom prst="rect">
            <a:avLst/>
          </a:prstGeom>
          <a:noFill/>
          <a:ln/>
        </p:spPr>
        <p:txBody>
          <a:bodyPr wrap="square" lIns="0" tIns="0" rIns="0" bIns="0" rtlCol="0" anchor="ctr">
            <a:normAutofit/>
          </a:bodyPr>
          <a:lstStyle/>
          <a:p>
            <a:pPr indent="0" marL="0">
              <a:buNone/>
            </a:pPr>
            <a:r>
              <a:rPr lang="en-US" sz="2100" b="1" dirty="0">
                <a:solidFill>
                  <a:srgbClr val="2A78D6"/>
                </a:solidFill>
                <a:latin typeface="Aptos" pitchFamily="34" charset="0"/>
                <a:ea typeface="Aptos" pitchFamily="34" charset="-122"/>
                <a:cs typeface="Aptos" pitchFamily="34" charset="-120"/>
              </a:rPr>
              <a:t>Predict the result and one limitation before calculating.</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 through the reasoning</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13</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Local domain geometry may be more reliable than the linker.</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Relative domain orientation is uncertain in this example.</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Do not design an interface hypothesis that assumes one exact orientation without further evidence.</a:t>
            </a:r>
            <a:endParaRPr lang="en-US" sz="229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PAIR CHECK</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Pause: make a defensible claim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14</a:t>
            </a:r>
            <a:endParaRPr lang="en-US" sz="800" dirty="0"/>
          </a:p>
        </p:txBody>
      </p:sp>
      <p:sp>
        <p:nvSpPr>
          <p:cNvPr id="9" name="Text 7"/>
          <p:cNvSpPr/>
          <p:nvPr/>
        </p:nvSpPr>
        <p:spPr>
          <a:xfrm>
            <a:off x="713232" y="2130552"/>
            <a:ext cx="10762488" cy="2496312"/>
          </a:xfrm>
          <a:prstGeom prst="rect">
            <a:avLst/>
          </a:prstGeom>
          <a:noFill/>
          <a:ln/>
        </p:spPr>
        <p:txBody>
          <a:bodyPr wrap="square" lIns="0" tIns="0" rIns="0" bIns="0" rtlCol="0" anchor="ctr">
            <a:normAutofit/>
          </a:bodyPr>
          <a:lstStyle/>
          <a:p>
            <a:pPr indent="0" marL="0">
              <a:buNone/>
            </a:pPr>
            <a:r>
              <a:rPr lang="en-US" sz="2897" dirty="0">
                <a:solidFill>
                  <a:srgbClr val="232D3B"/>
                </a:solidFill>
                <a:latin typeface="Aptos" pitchFamily="34" charset="0"/>
                <a:ea typeface="Aptos" pitchFamily="34" charset="-122"/>
                <a:cs typeface="Aptos" pitchFamily="34" charset="-120"/>
              </a:rPr>
              <a:t>A model has pLDDT 95. A report says there is a 95% chance that the protein binds a proposed target. What is wrong?</a:t>
            </a:r>
            <a:endParaRPr lang="en-US" sz="2897" dirty="0"/>
          </a:p>
        </p:txBody>
      </p:sp>
      <p:sp>
        <p:nvSpPr>
          <p:cNvPr id="10" name="Text 8"/>
          <p:cNvSpPr/>
          <p:nvPr/>
        </p:nvSpPr>
        <p:spPr>
          <a:xfrm>
            <a:off x="731520" y="5074920"/>
            <a:ext cx="10698480" cy="640080"/>
          </a:xfrm>
          <a:prstGeom prst="rect">
            <a:avLst/>
          </a:prstGeom>
          <a:noFill/>
          <a:ln/>
        </p:spPr>
        <p:txBody>
          <a:bodyPr wrap="square" lIns="0" tIns="0" rIns="0" bIns="0" rtlCol="0" anchor="ctr">
            <a:normAutofit/>
          </a:bodyPr>
          <a:lstStyle/>
          <a:p>
            <a:pPr indent="0" marL="0">
              <a:buNone/>
            </a:pPr>
            <a:r>
              <a:rPr lang="en-US" sz="2197" b="1" dirty="0">
                <a:solidFill>
                  <a:srgbClr val="2A78D6"/>
                </a:solidFill>
                <a:latin typeface="Aptos" pitchFamily="34" charset="0"/>
                <a:ea typeface="Aptos" pitchFamily="34" charset="-122"/>
                <a:cs typeface="Aptos" pitchFamily="34" charset="-120"/>
              </a:rPr>
              <a:t>First answer alone. Then compare the evidence, not just the conclusion.</a:t>
            </a:r>
            <a:endParaRPr lang="en-US" sz="219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DEBRIEF</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defensible response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15</a:t>
            </a:r>
            <a:endParaRPr lang="en-US" sz="800" dirty="0"/>
          </a:p>
        </p:txBody>
      </p:sp>
      <p:sp>
        <p:nvSpPr>
          <p:cNvPr id="9" name="Shape 7"/>
          <p:cNvSpPr/>
          <p:nvPr/>
        </p:nvSpPr>
        <p:spPr>
          <a:xfrm>
            <a:off x="685800" y="2075688"/>
            <a:ext cx="10826496" cy="2816352"/>
          </a:xfrm>
          <a:prstGeom prst="rect">
            <a:avLst/>
          </a:prstGeom>
          <a:solidFill>
            <a:srgbClr val="EAF2FC"/>
          </a:solidFill>
          <a:ln w="7620">
            <a:solidFill>
              <a:srgbClr val="EAF2FC"/>
            </a:solidFill>
            <a:prstDash val="solid"/>
          </a:ln>
        </p:spPr>
      </p:sp>
      <p:sp>
        <p:nvSpPr>
          <p:cNvPr id="10" name="Text 8"/>
          <p:cNvSpPr/>
          <p:nvPr/>
        </p:nvSpPr>
        <p:spPr>
          <a:xfrm>
            <a:off x="941832" y="2331720"/>
            <a:ext cx="10305288" cy="2276856"/>
          </a:xfrm>
          <a:prstGeom prst="rect">
            <a:avLst/>
          </a:prstGeom>
          <a:noFill/>
          <a:ln/>
        </p:spPr>
        <p:txBody>
          <a:bodyPr wrap="square" lIns="0" tIns="0" rIns="0" bIns="0" rtlCol="0" anchor="ctr">
            <a:normAutofit/>
          </a:bodyPr>
          <a:lstStyle/>
          <a:p>
            <a:pPr indent="0" marL="0">
              <a:buNone/>
            </a:pPr>
            <a:r>
              <a:rPr lang="en-US" sz="2597" dirty="0">
                <a:solidFill>
                  <a:srgbClr val="232D3B"/>
                </a:solidFill>
                <a:latin typeface="Aptos" pitchFamily="34" charset="0"/>
                <a:ea typeface="Aptos" pitchFamily="34" charset="-122"/>
                <a:cs typeface="Aptos" pitchFamily="34" charset="-120"/>
              </a:rPr>
              <a:t>pLDDT is not a binding probability. The claim confuses local structural confidence with interaction evidence.</a:t>
            </a:r>
            <a:endParaRPr lang="en-US" sz="259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45-MINUTE STUDIO</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Today's practical</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16</a:t>
            </a:r>
            <a:endParaRPr lang="en-US" sz="800" dirty="0"/>
          </a:p>
        </p:txBody>
      </p:sp>
      <p:sp>
        <p:nvSpPr>
          <p:cNvPr id="9" name="Text 7"/>
          <p:cNvSpPr/>
          <p:nvPr/>
        </p:nvSpPr>
        <p:spPr>
          <a:xfrm>
            <a:off x="731520" y="1929384"/>
            <a:ext cx="10698480" cy="1508760"/>
          </a:xfrm>
          <a:prstGeom prst="rect">
            <a:avLst/>
          </a:prstGeom>
          <a:noFill/>
          <a:ln/>
        </p:spPr>
        <p:txBody>
          <a:bodyPr wrap="square" lIns="0" tIns="0" rIns="0" bIns="0" rtlCol="0" anchor="ctr">
            <a:normAutofit/>
          </a:bodyPr>
          <a:lstStyle/>
          <a:p>
            <a:pPr indent="0" marL="0">
              <a:buNone/>
            </a:pPr>
            <a:r>
              <a:rPr lang="en-US" sz="2497" dirty="0">
                <a:solidFill>
                  <a:srgbClr val="232D3B"/>
                </a:solidFill>
                <a:latin typeface="Aptos" pitchFamily="34" charset="0"/>
                <a:ea typeface="Aptos" pitchFamily="34" charset="-122"/>
                <a:cs typeface="Aptos" pitchFamily="34" charset="-120"/>
              </a:rPr>
              <a:t>W12 studio: inspect supplied synthetic confidence values and the real hemoglobin database evidence card; write a bounded structure interpretation.</a:t>
            </a:r>
            <a:endParaRPr lang="en-US" sz="2497" dirty="0"/>
          </a:p>
        </p:txBody>
      </p:sp>
      <p:sp>
        <p:nvSpPr>
          <p:cNvPr id="10" name="Shape 8"/>
          <p:cNvSpPr/>
          <p:nvPr/>
        </p:nvSpPr>
        <p:spPr>
          <a:xfrm>
            <a:off x="731520" y="3721608"/>
            <a:ext cx="5317236" cy="395935"/>
          </a:xfrm>
          <a:prstGeom prst="rect">
            <a:avLst/>
          </a:prstGeom>
          <a:solidFill>
            <a:srgbClr val="2A78D6"/>
          </a:solidFill>
          <a:ln w="7620">
            <a:solidFill>
              <a:srgbClr val="2A78D6"/>
            </a:solidFill>
            <a:prstDash val="solid"/>
          </a:ln>
        </p:spPr>
      </p:sp>
      <p:sp>
        <p:nvSpPr>
          <p:cNvPr id="11" name="Text 9"/>
          <p:cNvSpPr/>
          <p:nvPr/>
        </p:nvSpPr>
        <p:spPr>
          <a:xfrm>
            <a:off x="85039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Minutes</a:t>
            </a:r>
            <a:endParaRPr lang="en-US" sz="1600" dirty="0"/>
          </a:p>
        </p:txBody>
      </p:sp>
      <p:sp>
        <p:nvSpPr>
          <p:cNvPr id="12" name="Shape 10"/>
          <p:cNvSpPr/>
          <p:nvPr/>
        </p:nvSpPr>
        <p:spPr>
          <a:xfrm>
            <a:off x="6080760" y="3721608"/>
            <a:ext cx="5317236" cy="395935"/>
          </a:xfrm>
          <a:prstGeom prst="rect">
            <a:avLst/>
          </a:prstGeom>
          <a:solidFill>
            <a:srgbClr val="2A78D6"/>
          </a:solidFill>
          <a:ln w="7620">
            <a:solidFill>
              <a:srgbClr val="2A78D6"/>
            </a:solidFill>
            <a:prstDash val="solid"/>
          </a:ln>
        </p:spPr>
      </p:sp>
      <p:sp>
        <p:nvSpPr>
          <p:cNvPr id="13" name="Text 11"/>
          <p:cNvSpPr/>
          <p:nvPr/>
        </p:nvSpPr>
        <p:spPr>
          <a:xfrm>
            <a:off x="619963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Action</a:t>
            </a:r>
            <a:endParaRPr lang="en-US" sz="1600" dirty="0"/>
          </a:p>
        </p:txBody>
      </p:sp>
      <p:sp>
        <p:nvSpPr>
          <p:cNvPr id="14" name="Shape 12"/>
          <p:cNvSpPr/>
          <p:nvPr/>
        </p:nvSpPr>
        <p:spPr>
          <a:xfrm>
            <a:off x="731520" y="4149547"/>
            <a:ext cx="5317236" cy="395935"/>
          </a:xfrm>
          <a:prstGeom prst="rect">
            <a:avLst/>
          </a:prstGeom>
          <a:solidFill>
            <a:srgbClr val="EAF2FC"/>
          </a:solidFill>
          <a:ln w="7620">
            <a:solidFill>
              <a:srgbClr val="EAF2FC"/>
            </a:solidFill>
            <a:prstDash val="solid"/>
          </a:ln>
        </p:spPr>
      </p:sp>
      <p:sp>
        <p:nvSpPr>
          <p:cNvPr id="15" name="Text 13"/>
          <p:cNvSpPr/>
          <p:nvPr/>
        </p:nvSpPr>
        <p:spPr>
          <a:xfrm>
            <a:off x="85039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0-10</a:t>
            </a:r>
            <a:endParaRPr lang="en-US" sz="1600" dirty="0"/>
          </a:p>
        </p:txBody>
      </p:sp>
      <p:sp>
        <p:nvSpPr>
          <p:cNvPr id="16" name="Shape 14"/>
          <p:cNvSpPr/>
          <p:nvPr/>
        </p:nvSpPr>
        <p:spPr>
          <a:xfrm>
            <a:off x="6080760" y="4149547"/>
            <a:ext cx="5317236" cy="395935"/>
          </a:xfrm>
          <a:prstGeom prst="rect">
            <a:avLst/>
          </a:prstGeom>
          <a:solidFill>
            <a:srgbClr val="EAF2FC"/>
          </a:solidFill>
          <a:ln w="7620">
            <a:solidFill>
              <a:srgbClr val="EAF2FC"/>
            </a:solidFill>
            <a:prstDash val="solid"/>
          </a:ln>
        </p:spPr>
      </p:sp>
      <p:sp>
        <p:nvSpPr>
          <p:cNvPr id="17" name="Text 15"/>
          <p:cNvSpPr/>
          <p:nvPr/>
        </p:nvSpPr>
        <p:spPr>
          <a:xfrm>
            <a:off x="619963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Predict + set up</a:t>
            </a:r>
            <a:endParaRPr lang="en-US" sz="1600" dirty="0"/>
          </a:p>
        </p:txBody>
      </p:sp>
      <p:sp>
        <p:nvSpPr>
          <p:cNvPr id="18" name="Shape 16"/>
          <p:cNvSpPr/>
          <p:nvPr/>
        </p:nvSpPr>
        <p:spPr>
          <a:xfrm>
            <a:off x="731520" y="4577486"/>
            <a:ext cx="5317236" cy="395935"/>
          </a:xfrm>
          <a:prstGeom prst="rect">
            <a:avLst/>
          </a:prstGeom>
          <a:solidFill>
            <a:srgbClr val="FFFFFF"/>
          </a:solidFill>
          <a:ln w="7620">
            <a:solidFill>
              <a:srgbClr val="FFFFFF"/>
            </a:solidFill>
            <a:prstDash val="solid"/>
          </a:ln>
        </p:spPr>
      </p:sp>
      <p:sp>
        <p:nvSpPr>
          <p:cNvPr id="19" name="Text 17"/>
          <p:cNvSpPr/>
          <p:nvPr/>
        </p:nvSpPr>
        <p:spPr>
          <a:xfrm>
            <a:off x="85039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10-30</a:t>
            </a:r>
            <a:endParaRPr lang="en-US" sz="1600" dirty="0"/>
          </a:p>
        </p:txBody>
      </p:sp>
      <p:sp>
        <p:nvSpPr>
          <p:cNvPr id="20" name="Shape 18"/>
          <p:cNvSpPr/>
          <p:nvPr/>
        </p:nvSpPr>
        <p:spPr>
          <a:xfrm>
            <a:off x="6080760" y="4577486"/>
            <a:ext cx="5317236" cy="395935"/>
          </a:xfrm>
          <a:prstGeom prst="rect">
            <a:avLst/>
          </a:prstGeom>
          <a:solidFill>
            <a:srgbClr val="FFFFFF"/>
          </a:solidFill>
          <a:ln w="7620">
            <a:solidFill>
              <a:srgbClr val="FFFFFF"/>
            </a:solidFill>
            <a:prstDash val="solid"/>
          </a:ln>
        </p:spPr>
      </p:sp>
      <p:sp>
        <p:nvSpPr>
          <p:cNvPr id="21" name="Text 19"/>
          <p:cNvSpPr/>
          <p:nvPr/>
        </p:nvSpPr>
        <p:spPr>
          <a:xfrm>
            <a:off x="619963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Run + inspect + check</a:t>
            </a:r>
            <a:endParaRPr lang="en-US" sz="1600" dirty="0"/>
          </a:p>
        </p:txBody>
      </p:sp>
      <p:sp>
        <p:nvSpPr>
          <p:cNvPr id="22" name="Shape 20"/>
          <p:cNvSpPr/>
          <p:nvPr/>
        </p:nvSpPr>
        <p:spPr>
          <a:xfrm>
            <a:off x="731520" y="5005426"/>
            <a:ext cx="5317236" cy="395935"/>
          </a:xfrm>
          <a:prstGeom prst="rect">
            <a:avLst/>
          </a:prstGeom>
          <a:solidFill>
            <a:srgbClr val="EAF2FC"/>
          </a:solidFill>
          <a:ln w="7620">
            <a:solidFill>
              <a:srgbClr val="EAF2FC"/>
            </a:solidFill>
            <a:prstDash val="solid"/>
          </a:ln>
        </p:spPr>
      </p:sp>
      <p:sp>
        <p:nvSpPr>
          <p:cNvPr id="23" name="Text 21"/>
          <p:cNvSpPr/>
          <p:nvPr/>
        </p:nvSpPr>
        <p:spPr>
          <a:xfrm>
            <a:off x="85039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30-40</a:t>
            </a:r>
            <a:endParaRPr lang="en-US" sz="1600" dirty="0"/>
          </a:p>
        </p:txBody>
      </p:sp>
      <p:sp>
        <p:nvSpPr>
          <p:cNvPr id="24" name="Shape 22"/>
          <p:cNvSpPr/>
          <p:nvPr/>
        </p:nvSpPr>
        <p:spPr>
          <a:xfrm>
            <a:off x="6080760" y="5005426"/>
            <a:ext cx="5317236" cy="395935"/>
          </a:xfrm>
          <a:prstGeom prst="rect">
            <a:avLst/>
          </a:prstGeom>
          <a:solidFill>
            <a:srgbClr val="EAF2FC"/>
          </a:solidFill>
          <a:ln w="7620">
            <a:solidFill>
              <a:srgbClr val="EAF2FC"/>
            </a:solidFill>
            <a:prstDash val="solid"/>
          </a:ln>
        </p:spPr>
      </p:sp>
      <p:sp>
        <p:nvSpPr>
          <p:cNvPr id="25" name="Text 23"/>
          <p:cNvSpPr/>
          <p:nvPr/>
        </p:nvSpPr>
        <p:spPr>
          <a:xfrm>
            <a:off x="619963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Explain + compare</a:t>
            </a:r>
            <a:endParaRPr lang="en-US" sz="1600" dirty="0"/>
          </a:p>
        </p:txBody>
      </p:sp>
      <p:sp>
        <p:nvSpPr>
          <p:cNvPr id="26" name="Shape 24"/>
          <p:cNvSpPr/>
          <p:nvPr/>
        </p:nvSpPr>
        <p:spPr>
          <a:xfrm>
            <a:off x="731520" y="5433365"/>
            <a:ext cx="5317236" cy="395935"/>
          </a:xfrm>
          <a:prstGeom prst="rect">
            <a:avLst/>
          </a:prstGeom>
          <a:solidFill>
            <a:srgbClr val="FFFFFF"/>
          </a:solidFill>
          <a:ln w="7620">
            <a:solidFill>
              <a:srgbClr val="FFFFFF"/>
            </a:solidFill>
            <a:prstDash val="solid"/>
          </a:ln>
        </p:spPr>
      </p:sp>
      <p:sp>
        <p:nvSpPr>
          <p:cNvPr id="27" name="Text 25"/>
          <p:cNvSpPr/>
          <p:nvPr/>
        </p:nvSpPr>
        <p:spPr>
          <a:xfrm>
            <a:off x="85039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40-45</a:t>
            </a:r>
            <a:endParaRPr lang="en-US" sz="1600" dirty="0"/>
          </a:p>
        </p:txBody>
      </p:sp>
      <p:sp>
        <p:nvSpPr>
          <p:cNvPr id="28" name="Shape 26"/>
          <p:cNvSpPr/>
          <p:nvPr/>
        </p:nvSpPr>
        <p:spPr>
          <a:xfrm>
            <a:off x="6080760" y="5433365"/>
            <a:ext cx="5317236" cy="395935"/>
          </a:xfrm>
          <a:prstGeom prst="rect">
            <a:avLst/>
          </a:prstGeom>
          <a:solidFill>
            <a:srgbClr val="FFFFFF"/>
          </a:solidFill>
          <a:ln w="7620">
            <a:solidFill>
              <a:srgbClr val="FFFFFF"/>
            </a:solidFill>
            <a:prstDash val="solid"/>
          </a:ln>
        </p:spPr>
      </p:sp>
      <p:sp>
        <p:nvSpPr>
          <p:cNvPr id="29" name="Text 27"/>
          <p:cNvSpPr/>
          <p:nvPr/>
        </p:nvSpPr>
        <p:spPr>
          <a:xfrm>
            <a:off x="619963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Save + submit / exit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CONSOLIDATE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Five terms to use precisely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17</a:t>
            </a:r>
            <a:endParaRPr lang="en-US" sz="800" dirty="0"/>
          </a:p>
        </p:txBody>
      </p:sp>
      <p:sp>
        <p:nvSpPr>
          <p:cNvPr id="9" name="Shape 7"/>
          <p:cNvSpPr/>
          <p:nvPr/>
        </p:nvSpPr>
        <p:spPr>
          <a:xfrm>
            <a:off x="713232" y="1984248"/>
            <a:ext cx="475488" cy="457200"/>
          </a:xfrm>
          <a:prstGeom prst="rect">
            <a:avLst/>
          </a:prstGeom>
          <a:solidFill>
            <a:srgbClr val="2A78D6"/>
          </a:solidFill>
          <a:ln w="7620">
            <a:solidFill>
              <a:srgbClr val="2A78D6"/>
            </a:solidFill>
            <a:prstDash val="solid"/>
          </a:ln>
        </p:spPr>
      </p:sp>
      <p:sp>
        <p:nvSpPr>
          <p:cNvPr id="10" name="Text 8"/>
          <p:cNvSpPr/>
          <p:nvPr/>
        </p:nvSpPr>
        <p:spPr>
          <a:xfrm>
            <a:off x="850392" y="2057400"/>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1" name="Text 9"/>
          <p:cNvSpPr/>
          <p:nvPr/>
        </p:nvSpPr>
        <p:spPr>
          <a:xfrm>
            <a:off x="1426464" y="2011680"/>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domain</a:t>
            </a:r>
            <a:endParaRPr lang="en-US" sz="2500" dirty="0"/>
          </a:p>
        </p:txBody>
      </p:sp>
      <p:sp>
        <p:nvSpPr>
          <p:cNvPr id="12" name="Shape 10"/>
          <p:cNvSpPr/>
          <p:nvPr/>
        </p:nvSpPr>
        <p:spPr>
          <a:xfrm>
            <a:off x="713232" y="2752344"/>
            <a:ext cx="475488" cy="457200"/>
          </a:xfrm>
          <a:prstGeom prst="rect">
            <a:avLst/>
          </a:prstGeom>
          <a:solidFill>
            <a:srgbClr val="2A78D6"/>
          </a:solidFill>
          <a:ln w="7620">
            <a:solidFill>
              <a:srgbClr val="2A78D6"/>
            </a:solidFill>
            <a:prstDash val="solid"/>
          </a:ln>
        </p:spPr>
      </p:sp>
      <p:sp>
        <p:nvSpPr>
          <p:cNvPr id="13" name="Text 11"/>
          <p:cNvSpPr/>
          <p:nvPr/>
        </p:nvSpPr>
        <p:spPr>
          <a:xfrm>
            <a:off x="850392" y="2825496"/>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4" name="Text 12"/>
          <p:cNvSpPr/>
          <p:nvPr/>
        </p:nvSpPr>
        <p:spPr>
          <a:xfrm>
            <a:off x="1426464" y="2779776"/>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pLDDT</a:t>
            </a:r>
            <a:endParaRPr lang="en-US" sz="2500" dirty="0"/>
          </a:p>
        </p:txBody>
      </p:sp>
      <p:sp>
        <p:nvSpPr>
          <p:cNvPr id="15" name="Shape 13"/>
          <p:cNvSpPr/>
          <p:nvPr/>
        </p:nvSpPr>
        <p:spPr>
          <a:xfrm>
            <a:off x="713232" y="3520440"/>
            <a:ext cx="475488" cy="457200"/>
          </a:xfrm>
          <a:prstGeom prst="rect">
            <a:avLst/>
          </a:prstGeom>
          <a:solidFill>
            <a:srgbClr val="2A78D6"/>
          </a:solidFill>
          <a:ln w="7620">
            <a:solidFill>
              <a:srgbClr val="2A78D6"/>
            </a:solidFill>
            <a:prstDash val="solid"/>
          </a:ln>
        </p:spPr>
      </p:sp>
      <p:sp>
        <p:nvSpPr>
          <p:cNvPr id="16" name="Text 14"/>
          <p:cNvSpPr/>
          <p:nvPr/>
        </p:nvSpPr>
        <p:spPr>
          <a:xfrm>
            <a:off x="850392" y="3593592"/>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17" name="Text 15"/>
          <p:cNvSpPr/>
          <p:nvPr/>
        </p:nvSpPr>
        <p:spPr>
          <a:xfrm>
            <a:off x="1426464" y="3547872"/>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PAE</a:t>
            </a:r>
            <a:endParaRPr lang="en-US" sz="2500" dirty="0"/>
          </a:p>
        </p:txBody>
      </p:sp>
      <p:sp>
        <p:nvSpPr>
          <p:cNvPr id="18" name="Shape 16"/>
          <p:cNvSpPr/>
          <p:nvPr/>
        </p:nvSpPr>
        <p:spPr>
          <a:xfrm>
            <a:off x="713232" y="4288536"/>
            <a:ext cx="475488" cy="457200"/>
          </a:xfrm>
          <a:prstGeom prst="rect">
            <a:avLst/>
          </a:prstGeom>
          <a:solidFill>
            <a:srgbClr val="2A78D6"/>
          </a:solidFill>
          <a:ln w="7620">
            <a:solidFill>
              <a:srgbClr val="2A78D6"/>
            </a:solidFill>
            <a:prstDash val="solid"/>
          </a:ln>
        </p:spPr>
      </p:sp>
      <p:sp>
        <p:nvSpPr>
          <p:cNvPr id="19" name="Text 17"/>
          <p:cNvSpPr/>
          <p:nvPr/>
        </p:nvSpPr>
        <p:spPr>
          <a:xfrm>
            <a:off x="850392" y="4361688"/>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0" name="Text 18"/>
          <p:cNvSpPr/>
          <p:nvPr/>
        </p:nvSpPr>
        <p:spPr>
          <a:xfrm>
            <a:off x="1426464" y="4315968"/>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confidence</a:t>
            </a:r>
            <a:endParaRPr lang="en-US" sz="2500" dirty="0"/>
          </a:p>
        </p:txBody>
      </p:sp>
      <p:sp>
        <p:nvSpPr>
          <p:cNvPr id="21" name="Shape 19"/>
          <p:cNvSpPr/>
          <p:nvPr/>
        </p:nvSpPr>
        <p:spPr>
          <a:xfrm>
            <a:off x="713232" y="5056632"/>
            <a:ext cx="475488" cy="457200"/>
          </a:xfrm>
          <a:prstGeom prst="rect">
            <a:avLst/>
          </a:prstGeom>
          <a:solidFill>
            <a:srgbClr val="2A78D6"/>
          </a:solidFill>
          <a:ln w="7620">
            <a:solidFill>
              <a:srgbClr val="2A78D6"/>
            </a:solidFill>
            <a:prstDash val="solid"/>
          </a:ln>
        </p:spPr>
      </p:sp>
      <p:sp>
        <p:nvSpPr>
          <p:cNvPr id="22" name="Text 20"/>
          <p:cNvSpPr/>
          <p:nvPr/>
        </p:nvSpPr>
        <p:spPr>
          <a:xfrm>
            <a:off x="850392" y="5129784"/>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23" name="Text 21"/>
          <p:cNvSpPr/>
          <p:nvPr/>
        </p:nvSpPr>
        <p:spPr>
          <a:xfrm>
            <a:off x="1426464" y="5084064"/>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affinity</a:t>
            </a:r>
            <a:endParaRPr lang="en-US" sz="2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2 MINUTES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Exit ticket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18</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did we actually measure or calculate?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is one assumption or limitation of that result?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check would you perform before sharing it?</a:t>
            </a:r>
            <a:endParaRPr lang="en-US" sz="2297"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OPTIONAL EXTENSION</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Go further only after the core is clear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19</a:t>
            </a:r>
            <a:endParaRPr lang="en-US" sz="800" dirty="0"/>
          </a:p>
        </p:txBody>
      </p:sp>
      <p:sp>
        <p:nvSpPr>
          <p:cNvPr id="9" name="Text 7"/>
          <p:cNvSpPr/>
          <p:nvPr/>
        </p:nvSpPr>
        <p:spPr>
          <a:xfrm>
            <a:off x="768096" y="2212848"/>
            <a:ext cx="10698480" cy="2057400"/>
          </a:xfrm>
          <a:prstGeom prst="rect">
            <a:avLst/>
          </a:prstGeom>
          <a:noFill/>
          <a:ln/>
        </p:spPr>
        <p:txBody>
          <a:bodyPr wrap="square" lIns="0" tIns="0" rIns="0" bIns="0" rtlCol="0" anchor="ctr">
            <a:normAutofit/>
          </a:bodyPr>
          <a:lstStyle/>
          <a:p>
            <a:pPr indent="0" marL="0">
              <a:buNone/>
            </a:pPr>
            <a:r>
              <a:rPr lang="en-US" sz="2797" dirty="0">
                <a:solidFill>
                  <a:srgbClr val="232D3B"/>
                </a:solidFill>
                <a:latin typeface="Aptos" pitchFamily="34" charset="0"/>
                <a:ea typeface="Aptos" pitchFamily="34" charset="-122"/>
                <a:cs typeface="Aptos" pitchFamily="34" charset="-120"/>
              </a:rPr>
              <a:t>Optional: inspect a predicted complex with interface metrics; no docking or molecular dynamics is required.</a:t>
            </a:r>
            <a:endParaRPr lang="en-US" sz="2797" dirty="0"/>
          </a:p>
        </p:txBody>
      </p:sp>
      <p:sp>
        <p:nvSpPr>
          <p:cNvPr id="10" name="Text 8"/>
          <p:cNvSpPr/>
          <p:nvPr/>
        </p:nvSpPr>
        <p:spPr>
          <a:xfrm>
            <a:off x="786384" y="4828032"/>
            <a:ext cx="10561320" cy="804672"/>
          </a:xfrm>
          <a:prstGeom prst="rect">
            <a:avLst/>
          </a:prstGeom>
          <a:noFill/>
          <a:ln/>
        </p:spPr>
        <p:txBody>
          <a:bodyPr wrap="square" lIns="0" tIns="0" rIns="0" bIns="0" rtlCol="0" anchor="ctr">
            <a:normAutofit/>
          </a:bodyPr>
          <a:lstStyle/>
          <a:p>
            <a:pPr indent="0" marL="0">
              <a:buNone/>
            </a:pPr>
            <a:r>
              <a:rPr lang="en-US" sz="2197" b="1" dirty="0">
                <a:solidFill>
                  <a:srgbClr val="EB6834"/>
                </a:solidFill>
                <a:latin typeface="Aptos" pitchFamily="34" charset="0"/>
                <a:ea typeface="Aptos" pitchFamily="34" charset="-122"/>
                <a:cs typeface="Aptos" pitchFamily="34" charset="-120"/>
              </a:rPr>
              <a:t>Not required for the core grade. No advanced model training is expected.</a:t>
            </a:r>
            <a:endParaRPr lang="en-US" sz="2197"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12</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SOURCE MAP</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Read the evidence, not only the slide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S01 / S16 / S17 / S24  |  20</a:t>
            </a:r>
            <a:endParaRPr lang="en-US" sz="800" dirty="0"/>
          </a:p>
        </p:txBody>
      </p:sp>
      <p:sp>
        <p:nvSpPr>
          <p:cNvPr id="9" name="Text 7"/>
          <p:cNvSpPr/>
          <p:nvPr/>
        </p:nvSpPr>
        <p:spPr>
          <a:xfrm>
            <a:off x="694944" y="1856232"/>
            <a:ext cx="10881360" cy="4160520"/>
          </a:xfrm>
          <a:prstGeom prst="rect">
            <a:avLst/>
          </a:prstGeom>
          <a:noFill/>
          <a:ln/>
        </p:spPr>
        <p:txBody>
          <a:bodyPr wrap="square" lIns="0" tIns="0" rIns="0" bIns="0" rtlCol="0" anchor="t">
            <a:normAutofit/>
          </a:bodyPr>
          <a:lstStyle/>
          <a:p>
            <a:pPr indent="0" marL="0">
              <a:buNone/>
            </a:pPr>
            <a:r>
              <a:rPr lang="en-US" sz="1997" dirty="0">
                <a:solidFill>
                  <a:srgbClr val="232D3B"/>
                </a:solidFill>
                <a:latin typeface="Aptos" pitchFamily="34" charset="0"/>
                <a:ea typeface="Aptos" pitchFamily="34" charset="-122"/>
                <a:cs typeface="Aptos" pitchFamily="34" charset="-120"/>
              </a:rPr>
              <a:t>S01  Alberts et al. Molecular Biology of the Cell, 4th ed. Foundational cell biology chapters.</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S16  EMBL-EBI AlphaFold training: evaluating predicted structures using confidence scores.</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S17  Jumper et al. (2021). Highly accurate protein structure prediction with AlphaFold.</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S24  RCSB PDB computed model AF_AFP69905F1 / AlphaFold DB P69905.</a:t>
            </a:r>
            <a:endParaRPr lang="en-US" sz="199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Ege University | Bioengineering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Protein structures: prediction, confidence and function</dc:title>
  <dc:subject>Scaffolded fourth-year bioengineering</dc:subject>
  <dc:creator>BIB course teaching materials</dc:creator>
  <cp:lastModifiedBy>BIB course teaching materials</cp:lastModifiedBy>
  <cp:revision>1</cp:revision>
  <dcterms:created xsi:type="dcterms:W3CDTF">2026-09-14T18:26:58Z</dcterms:created>
  <dcterms:modified xsi:type="dcterms:W3CDTF">2026-09-14T18:26:58Z</dcterms:modified>
</cp:coreProperties>
</file>