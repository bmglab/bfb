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Do more cells solve a shortage of donors?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S09: Love, Huber and Anders (2014). Moderated estimation of fold change and dispersion for RNA-seq data with DESeq2.
https://doi.org/10.1186/s13059-014-0550-8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Cells or nuclei are captured and their RNA-derived molecules labeled.
Cell barcodes identify capture compartments.
UMIs help distinguish original molecules from amplification copies, subject to error and correction.
Checkpoint: ask a student to state one conclusion the data do NOT support.
Read technical terms aloud; ask students to explain the measurement before interpreting the model. Accept justified uncertainty.
[Sources]
S12: Squair et al. (2021). Confronting false discoveries in single-cell differential expression.
https://doi.org/10.1038/s41467-021-25960-2
S27: EMBL-EBI: Single cell RNA-seq analysis using Python materials (2026).
https://www.ebi.ac.uk/training/materials/single-cell-rna-seq-analysis-using-python-materials/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AnnData convention: observations are rows; variables are columns.
For a typical single-cell dataset: cells x genes.
Check what X and layers contain; never assume every matrix stores raw counts.
Checkpoint: ask a student to state one conclusion the data do NOT support.
Read technical terms aloud; ask students to explain the measurement before interpreting the model. Accept justified uncertainty.
[Sources]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molecule may not be captured or sequenced.
Low counts can reflect biology, sampling or quality.
Avoid claiming a gene is absent from a tissue based on a few zero entries.
Checkpoint: ask a student to state one conclusion the data do NOT support.
Read technical terms aloud; ask students to explain the measurement before interpreting the model. Accept justified uncertainty.
[Sources]
S12: Squair et al. (2021). Confronting false discoveries in single-cell differential expression.
https://doi.org/10.1038/s41467-021-25960-2
S27: EMBL-EBI: Single cell RNA-seq analysis using Python materials (2026).
https://www.ebi.ac.uk/training/materials/single-cell-rna-seq-analysis-using-python-materials/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Inspect counts, detected genes, mitochondrial fraction and sample patterns.
A universal mitochondrial cutoff is not appropriate for all tissues and protocols.
Doublets and ambient RNA can distort cell profiles.
Checkpoint: ask a student to state one conclusion the data do NOT support.
Read technical terms aloud; ask students to explain the measurement before interpreting the model. Accept justified uncertainty.
[Sources]
S27: EMBL-EBI: Single cell RNA-seq analysis using Python materials (2026).
https://www.ebi.ac.uk/training/materials/single-cell-rna-seq-analysis-using-python-materials/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cluster depends on the representation and chosen resolution.
Use multiple markers and sample context to propose a cell identity.
A cluster label and a statistical significance claim are different things.
Checkpoint: ask a student to state one conclusion the data do NOT support.
Read technical terms aloud; ask students to explain the measurement before interpreting the model. Accept justified uncertainty.
[Sources]
S12: Squair et al. (2021). Confronting false discoveries in single-cell differential expression.
https://doi.org/10.1038/s41467-021-25960-2
S13: AnnData documentation: annotated data matrices.
https://anndata.readthedocs.io/en/stable/
S27: EMBL-EBI: Single cell RNA-seq analysis using Python materials (2026).
https://www.ebi.ac.uk/training/materials/single-cell-rna-seq-analysis-using-python-materials/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Many cells from one donor share biological and technical factors.
Treating them as independent donors can underestimate uncertainty.
Between-donor replication is essential for a donor-level comparison.
Checkpoint: ask a student to state one conclusion the data do NOT support.
Read technical terms aloud; ask students to explain the measurement before interpreting the model. Accept justified uncertainty.
[Sources]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Within each donor and cell type, sum raw counts.
The resulting columns or rows represent donor-cell-type samples.
A count model can then represent the experimental design, including pairing when appropriate.
Checkpoint: ask a student to state one conclusion the data do NOT support.
Read technical terms aloud; ask students to explain the measurement before interpreting the model. Accept justified uncertainty.
[Sources]
S09: Love, Huber and Anders (2014). Moderated estimation of fold change and dispersion for RNA-seq data with DESeq2.
https://doi.org/10.1186/s13059-014-0550-8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One donor per condition still lacks between-donor replication.
Very few donors imply limited precision and power.
A donor-aware mixed model is another possible approach; method choice depends on the question.
Checkpoint: ask a student to state one conclusion the data do NOT support.
Read technical terms aloud; ask students to explain the measurement before interpreting the model. Accept justified uncertainty.
[Sources]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S09: Love, Huber and Anders (2014). Moderated estimation of fold change and dispersion for RNA-seq data with DESeq2.
https://doi.org/10.1186/s13059-014-0550-8
S12: Squair et al. (2021). Confronting false discoveries in single-cell differential expression.
https://doi.org/10.1038/s41467-021-25960-2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S09: Love, Huber and Anders (2014). Moderated estimation of fold change and dispersion for RNA-seq data with DESeq2.
https://doi.org/10.1186/s13059-014-0550-8
S12: Squair et al. (2021). Confronting false discoveries in single-cell differential expression.
https://doi.org/10.1038/s41467-021-25960-2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S09: Love, Huber and Anders (2014). Moderated estimation of fold change and dispersion for RNA-seq data with DESeq2.
https://doi.org/10.1186/s13059-014-0550-8
S12: Squair et al. (2021). Confronting false discoveries in single-cell differential expression.
https://doi.org/10.1038/s41467-021-25960-2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S09: Love, Huber and Anders (2014). Moderated estimation of fold change and dispersion for RNA-seq data with DESeq2.
https://doi.org/10.1186/s13059-014-0550-8
S12: Squair et al. (2021). Confronting false discoveries in single-cell differential expression.
https://doi.org/10.1038/s41467-021-25960-2
S13: AnnData documentation: annotated data matrices.
https://anndata.readthedocs.io/en/stable/
S27: EMBL-EBI: Single cell RNA-seq analysis using Python materials (2026).
https://www.ebi.ac.uk/training/materials/single-cell-rna-seq-analysis-using-python-materials/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10</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Single cells and biological replication</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Do more cells solve a shortage of donors?</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Explain a cell-by-gene matrix, a barcode and a UMI.</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Separate exploratory markers from condition-level inference.</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Aggregate counts by donor and cell type and identify the independent sample size.</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41" dirty="0">
                <a:solidFill>
                  <a:srgbClr val="232D3B"/>
                </a:solidFill>
                <a:latin typeface="Aptos" pitchFamily="34" charset="0"/>
                <a:ea typeface="Aptos" pitchFamily="34" charset="-122"/>
                <a:cs typeface="Aptos" pitchFamily="34" charset="-120"/>
              </a:rPr>
              <a:t>Bulk RNA-seq averages mixtures. Single-cell measurements can separate cell populations, but cells remain nested within samples.</a:t>
            </a:r>
            <a:endParaRPr lang="en-US" sz="2641"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From a tissue to many cell profiles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S12 / S27  |  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Cells or nuclei are captured and their RNA-derived molecules labeled.</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Cell barcodes identify capture compartments.</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UMIs help distinguish original molecules from amplification copies, subject to error and correction.</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The matrix has an orientation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S13  |  5</a:t>
            </a:r>
            <a:endParaRPr lang="en-US" sz="800" dirty="0"/>
          </a:p>
        </p:txBody>
      </p:sp>
      <p:sp>
        <p:nvSpPr>
          <p:cNvPr id="9" name="Shape 7"/>
          <p:cNvSpPr/>
          <p:nvPr/>
        </p:nvSpPr>
        <p:spPr>
          <a:xfrm>
            <a:off x="594360" y="1828800"/>
            <a:ext cx="5463540" cy="516636"/>
          </a:xfrm>
          <a:prstGeom prst="rect">
            <a:avLst/>
          </a:prstGeom>
          <a:solidFill>
            <a:srgbClr val="2A78D6"/>
          </a:solidFill>
          <a:ln w="7620">
            <a:solidFill>
              <a:srgbClr val="2A78D6"/>
            </a:solidFill>
            <a:prstDash val="solid"/>
          </a:ln>
        </p:spPr>
      </p:sp>
      <p:sp>
        <p:nvSpPr>
          <p:cNvPr id="10" name="Text 8"/>
          <p:cNvSpPr/>
          <p:nvPr/>
        </p:nvSpPr>
        <p:spPr>
          <a:xfrm>
            <a:off x="713232" y="1901952"/>
            <a:ext cx="5221224"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Object</a:t>
            </a:r>
            <a:endParaRPr lang="en-US" sz="1600" dirty="0"/>
          </a:p>
        </p:txBody>
      </p:sp>
      <p:sp>
        <p:nvSpPr>
          <p:cNvPr id="11" name="Shape 9"/>
          <p:cNvSpPr/>
          <p:nvPr/>
        </p:nvSpPr>
        <p:spPr>
          <a:xfrm>
            <a:off x="6089904" y="1828800"/>
            <a:ext cx="5463540" cy="516636"/>
          </a:xfrm>
          <a:prstGeom prst="rect">
            <a:avLst/>
          </a:prstGeom>
          <a:solidFill>
            <a:srgbClr val="2A78D6"/>
          </a:solidFill>
          <a:ln w="7620">
            <a:solidFill>
              <a:srgbClr val="2A78D6"/>
            </a:solidFill>
            <a:prstDash val="solid"/>
          </a:ln>
        </p:spPr>
      </p:sp>
      <p:sp>
        <p:nvSpPr>
          <p:cNvPr id="12" name="Text 10"/>
          <p:cNvSpPr/>
          <p:nvPr/>
        </p:nvSpPr>
        <p:spPr>
          <a:xfrm>
            <a:off x="6208776" y="1901952"/>
            <a:ext cx="5221224"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Meaning</a:t>
            </a:r>
            <a:endParaRPr lang="en-US" sz="1600" dirty="0"/>
          </a:p>
        </p:txBody>
      </p:sp>
      <p:sp>
        <p:nvSpPr>
          <p:cNvPr id="13" name="Shape 11"/>
          <p:cNvSpPr/>
          <p:nvPr/>
        </p:nvSpPr>
        <p:spPr>
          <a:xfrm>
            <a:off x="594360" y="2377440"/>
            <a:ext cx="5463540" cy="516636"/>
          </a:xfrm>
          <a:prstGeom prst="rect">
            <a:avLst/>
          </a:prstGeom>
          <a:solidFill>
            <a:srgbClr val="EAF2FC"/>
          </a:solidFill>
          <a:ln w="7620">
            <a:solidFill>
              <a:srgbClr val="EAF2FC"/>
            </a:solidFill>
            <a:prstDash val="solid"/>
          </a:ln>
        </p:spPr>
      </p:sp>
      <p:sp>
        <p:nvSpPr>
          <p:cNvPr id="14" name="Text 12"/>
          <p:cNvSpPr/>
          <p:nvPr/>
        </p:nvSpPr>
        <p:spPr>
          <a:xfrm>
            <a:off x="713232" y="244144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obs</a:t>
            </a:r>
            <a:endParaRPr lang="en-US" sz="1600" dirty="0"/>
          </a:p>
        </p:txBody>
      </p:sp>
      <p:sp>
        <p:nvSpPr>
          <p:cNvPr id="15" name="Shape 13"/>
          <p:cNvSpPr/>
          <p:nvPr/>
        </p:nvSpPr>
        <p:spPr>
          <a:xfrm>
            <a:off x="6089904" y="2377440"/>
            <a:ext cx="5463540" cy="516636"/>
          </a:xfrm>
          <a:prstGeom prst="rect">
            <a:avLst/>
          </a:prstGeom>
          <a:solidFill>
            <a:srgbClr val="EAF2FC"/>
          </a:solidFill>
          <a:ln w="7620">
            <a:solidFill>
              <a:srgbClr val="EAF2FC"/>
            </a:solidFill>
            <a:prstDash val="solid"/>
          </a:ln>
        </p:spPr>
      </p:sp>
      <p:sp>
        <p:nvSpPr>
          <p:cNvPr id="16" name="Text 14"/>
          <p:cNvSpPr/>
          <p:nvPr/>
        </p:nvSpPr>
        <p:spPr>
          <a:xfrm>
            <a:off x="6208776" y="244144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Cell / observation metadata</a:t>
            </a:r>
            <a:endParaRPr lang="en-US" sz="1600" dirty="0"/>
          </a:p>
        </p:txBody>
      </p:sp>
      <p:sp>
        <p:nvSpPr>
          <p:cNvPr id="17" name="Shape 15"/>
          <p:cNvSpPr/>
          <p:nvPr/>
        </p:nvSpPr>
        <p:spPr>
          <a:xfrm>
            <a:off x="594360" y="2926080"/>
            <a:ext cx="5463540" cy="516636"/>
          </a:xfrm>
          <a:prstGeom prst="rect">
            <a:avLst/>
          </a:prstGeom>
          <a:solidFill>
            <a:srgbClr val="FFFFFF"/>
          </a:solidFill>
          <a:ln w="7620">
            <a:solidFill>
              <a:srgbClr val="FFFFFF"/>
            </a:solidFill>
            <a:prstDash val="solid"/>
          </a:ln>
        </p:spPr>
      </p:sp>
      <p:sp>
        <p:nvSpPr>
          <p:cNvPr id="18" name="Text 16"/>
          <p:cNvSpPr/>
          <p:nvPr/>
        </p:nvSpPr>
        <p:spPr>
          <a:xfrm>
            <a:off x="713232" y="299008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var</a:t>
            </a:r>
            <a:endParaRPr lang="en-US" sz="1600" dirty="0"/>
          </a:p>
        </p:txBody>
      </p:sp>
      <p:sp>
        <p:nvSpPr>
          <p:cNvPr id="19" name="Shape 17"/>
          <p:cNvSpPr/>
          <p:nvPr/>
        </p:nvSpPr>
        <p:spPr>
          <a:xfrm>
            <a:off x="6089904" y="2926080"/>
            <a:ext cx="5463540" cy="516636"/>
          </a:xfrm>
          <a:prstGeom prst="rect">
            <a:avLst/>
          </a:prstGeom>
          <a:solidFill>
            <a:srgbClr val="FFFFFF"/>
          </a:solidFill>
          <a:ln w="7620">
            <a:solidFill>
              <a:srgbClr val="FFFFFF"/>
            </a:solidFill>
            <a:prstDash val="solid"/>
          </a:ln>
        </p:spPr>
      </p:sp>
      <p:sp>
        <p:nvSpPr>
          <p:cNvPr id="20" name="Text 18"/>
          <p:cNvSpPr/>
          <p:nvPr/>
        </p:nvSpPr>
        <p:spPr>
          <a:xfrm>
            <a:off x="6208776" y="299008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Gene / variable metadata</a:t>
            </a:r>
            <a:endParaRPr lang="en-US" sz="1600" dirty="0"/>
          </a:p>
        </p:txBody>
      </p:sp>
      <p:sp>
        <p:nvSpPr>
          <p:cNvPr id="21" name="Shape 19"/>
          <p:cNvSpPr/>
          <p:nvPr/>
        </p:nvSpPr>
        <p:spPr>
          <a:xfrm>
            <a:off x="594360" y="3474720"/>
            <a:ext cx="5463540" cy="516636"/>
          </a:xfrm>
          <a:prstGeom prst="rect">
            <a:avLst/>
          </a:prstGeom>
          <a:solidFill>
            <a:srgbClr val="EAF2FC"/>
          </a:solidFill>
          <a:ln w="7620">
            <a:solidFill>
              <a:srgbClr val="EAF2FC"/>
            </a:solidFill>
            <a:prstDash val="solid"/>
          </a:ln>
        </p:spPr>
      </p:sp>
      <p:sp>
        <p:nvSpPr>
          <p:cNvPr id="22" name="Text 20"/>
          <p:cNvSpPr/>
          <p:nvPr/>
        </p:nvSpPr>
        <p:spPr>
          <a:xfrm>
            <a:off x="713232" y="353872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X or layers</a:t>
            </a:r>
            <a:endParaRPr lang="en-US" sz="1600" dirty="0"/>
          </a:p>
        </p:txBody>
      </p:sp>
      <p:sp>
        <p:nvSpPr>
          <p:cNvPr id="23" name="Shape 21"/>
          <p:cNvSpPr/>
          <p:nvPr/>
        </p:nvSpPr>
        <p:spPr>
          <a:xfrm>
            <a:off x="6089904" y="3474720"/>
            <a:ext cx="5463540" cy="516636"/>
          </a:xfrm>
          <a:prstGeom prst="rect">
            <a:avLst/>
          </a:prstGeom>
          <a:solidFill>
            <a:srgbClr val="EAF2FC"/>
          </a:solidFill>
          <a:ln w="7620">
            <a:solidFill>
              <a:srgbClr val="EAF2FC"/>
            </a:solidFill>
            <a:prstDash val="solid"/>
          </a:ln>
        </p:spPr>
      </p:sp>
      <p:sp>
        <p:nvSpPr>
          <p:cNvPr id="24" name="Text 22"/>
          <p:cNvSpPr/>
          <p:nvPr/>
        </p:nvSpPr>
        <p:spPr>
          <a:xfrm>
            <a:off x="6208776" y="353872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A documented measurement or transform</a:t>
            </a:r>
            <a:endParaRPr lang="en-US" sz="1600" dirty="0"/>
          </a:p>
        </p:txBody>
      </p:sp>
      <p:sp>
        <p:nvSpPr>
          <p:cNvPr id="25" name="Shape 23"/>
          <p:cNvSpPr/>
          <p:nvPr/>
        </p:nvSpPr>
        <p:spPr>
          <a:xfrm>
            <a:off x="612648" y="4279392"/>
            <a:ext cx="50292" cy="435864"/>
          </a:xfrm>
          <a:prstGeom prst="rect">
            <a:avLst/>
          </a:prstGeom>
          <a:solidFill>
            <a:srgbClr val="2A78D6"/>
          </a:solidFill>
          <a:ln w="7620">
            <a:solidFill>
              <a:srgbClr val="2A78D6"/>
            </a:solidFill>
            <a:prstDash val="solid"/>
          </a:ln>
        </p:spPr>
      </p:sp>
      <p:sp>
        <p:nvSpPr>
          <p:cNvPr id="26" name="Text 24"/>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AnnData convention: observations are rows; variables are columns.</a:t>
            </a:r>
            <a:endParaRPr lang="en-US" sz="2100" dirty="0"/>
          </a:p>
        </p:txBody>
      </p:sp>
      <p:sp>
        <p:nvSpPr>
          <p:cNvPr id="27" name="Shape 25"/>
          <p:cNvSpPr/>
          <p:nvPr/>
        </p:nvSpPr>
        <p:spPr>
          <a:xfrm>
            <a:off x="612648" y="4916424"/>
            <a:ext cx="50292" cy="435864"/>
          </a:xfrm>
          <a:prstGeom prst="rect">
            <a:avLst/>
          </a:prstGeom>
          <a:solidFill>
            <a:srgbClr val="2A78D6"/>
          </a:solidFill>
          <a:ln w="7620">
            <a:solidFill>
              <a:srgbClr val="2A78D6"/>
            </a:solidFill>
            <a:prstDash val="solid"/>
          </a:ln>
        </p:spPr>
      </p:sp>
      <p:sp>
        <p:nvSpPr>
          <p:cNvPr id="28" name="Text 26"/>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For a typical single-cell dataset: cells x genes.</a:t>
            </a:r>
            <a:endParaRPr lang="en-US" sz="2100" dirty="0"/>
          </a:p>
        </p:txBody>
      </p:sp>
      <p:sp>
        <p:nvSpPr>
          <p:cNvPr id="29" name="Shape 27"/>
          <p:cNvSpPr/>
          <p:nvPr/>
        </p:nvSpPr>
        <p:spPr>
          <a:xfrm>
            <a:off x="612648" y="5553456"/>
            <a:ext cx="50292" cy="435864"/>
          </a:xfrm>
          <a:prstGeom prst="rect">
            <a:avLst/>
          </a:prstGeom>
          <a:solidFill>
            <a:srgbClr val="2A78D6"/>
          </a:solidFill>
          <a:ln w="7620">
            <a:solidFill>
              <a:srgbClr val="2A78D6"/>
            </a:solidFill>
            <a:prstDash val="solid"/>
          </a:ln>
        </p:spPr>
      </p:sp>
      <p:sp>
        <p:nvSpPr>
          <p:cNvPr id="30" name="Text 28"/>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Check what X and layers contain; never assume every matrix stores raw counts.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zero is not proof of absence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S12 / S27  |  6</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molecule may not be captured or sequenced.</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Low counts can reflect biology, sampling or quality.</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Avoid claiming a gene is absent from a tissue based on a few zero entries.</a:t>
            </a:r>
            <a:endParaRPr lang="en-US" sz="22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Quality control is contextual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S27  |  7</a:t>
            </a:r>
            <a:endParaRPr lang="en-US" sz="800" dirty="0"/>
          </a:p>
        </p:txBody>
      </p:sp>
      <p:sp>
        <p:nvSpPr>
          <p:cNvPr id="9" name="Shape 7"/>
          <p:cNvSpPr/>
          <p:nvPr/>
        </p:nvSpPr>
        <p:spPr>
          <a:xfrm>
            <a:off x="603504" y="2011680"/>
            <a:ext cx="502920" cy="502920"/>
          </a:xfrm>
          <a:prstGeom prst="rect">
            <a:avLst/>
          </a:prstGeom>
          <a:solidFill>
            <a:srgbClr val="EAF2FC"/>
          </a:solidFill>
          <a:ln w="7620">
            <a:solidFill>
              <a:srgbClr val="EAF2FC"/>
            </a:solidFill>
            <a:prstDash val="solid"/>
          </a:ln>
        </p:spPr>
      </p:sp>
      <p:sp>
        <p:nvSpPr>
          <p:cNvPr id="10" name="Text 8"/>
          <p:cNvSpPr/>
          <p:nvPr/>
        </p:nvSpPr>
        <p:spPr>
          <a:xfrm>
            <a:off x="731520" y="206654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1</a:t>
            </a:r>
            <a:endParaRPr lang="en-US" sz="1700" dirty="0"/>
          </a:p>
        </p:txBody>
      </p:sp>
      <p:sp>
        <p:nvSpPr>
          <p:cNvPr id="11" name="Text 9"/>
          <p:cNvSpPr/>
          <p:nvPr/>
        </p:nvSpPr>
        <p:spPr>
          <a:xfrm>
            <a:off x="1353312" y="1911096"/>
            <a:ext cx="9829800" cy="941832"/>
          </a:xfrm>
          <a:prstGeom prst="rect">
            <a:avLst/>
          </a:prstGeom>
          <a:noFill/>
          <a:ln/>
        </p:spPr>
        <p:txBody>
          <a:bodyPr wrap="square" lIns="0" tIns="0" rIns="0" bIns="0" rtlCol="0" anchor="ctr">
            <a:normAutofit/>
          </a:bodyPr>
          <a:lstStyle/>
          <a:p>
            <a:pPr indent="0" marL="0">
              <a:buNone/>
            </a:pPr>
            <a:r>
              <a:rPr lang="en-US" sz="2188" dirty="0">
                <a:solidFill>
                  <a:srgbClr val="232D3B"/>
                </a:solidFill>
                <a:latin typeface="Aptos" pitchFamily="34" charset="0"/>
                <a:ea typeface="Aptos" pitchFamily="34" charset="-122"/>
                <a:cs typeface="Aptos" pitchFamily="34" charset="-120"/>
              </a:rPr>
              <a:t>Inspect counts, detected genes, mitochondrial fraction and sample patterns.</a:t>
            </a:r>
            <a:endParaRPr lang="en-US" sz="2188" dirty="0"/>
          </a:p>
        </p:txBody>
      </p:sp>
      <p:sp>
        <p:nvSpPr>
          <p:cNvPr id="12" name="Shape 10"/>
          <p:cNvSpPr/>
          <p:nvPr/>
        </p:nvSpPr>
        <p:spPr>
          <a:xfrm>
            <a:off x="603504" y="3291840"/>
            <a:ext cx="502920" cy="502920"/>
          </a:xfrm>
          <a:prstGeom prst="rect">
            <a:avLst/>
          </a:prstGeom>
          <a:solidFill>
            <a:srgbClr val="EAF2FC"/>
          </a:solidFill>
          <a:ln w="7620">
            <a:solidFill>
              <a:srgbClr val="EAF2FC"/>
            </a:solidFill>
            <a:prstDash val="solid"/>
          </a:ln>
        </p:spPr>
      </p:sp>
      <p:sp>
        <p:nvSpPr>
          <p:cNvPr id="13" name="Text 11"/>
          <p:cNvSpPr/>
          <p:nvPr/>
        </p:nvSpPr>
        <p:spPr>
          <a:xfrm>
            <a:off x="731520" y="334670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2</a:t>
            </a:r>
            <a:endParaRPr lang="en-US" sz="1700" dirty="0"/>
          </a:p>
        </p:txBody>
      </p:sp>
      <p:sp>
        <p:nvSpPr>
          <p:cNvPr id="14" name="Text 12"/>
          <p:cNvSpPr/>
          <p:nvPr/>
        </p:nvSpPr>
        <p:spPr>
          <a:xfrm>
            <a:off x="1353312" y="3191256"/>
            <a:ext cx="9829800" cy="941832"/>
          </a:xfrm>
          <a:prstGeom prst="rect">
            <a:avLst/>
          </a:prstGeom>
          <a:noFill/>
          <a:ln/>
        </p:spPr>
        <p:txBody>
          <a:bodyPr wrap="square" lIns="0" tIns="0" rIns="0" bIns="0" rtlCol="0" anchor="ctr">
            <a:normAutofit/>
          </a:bodyPr>
          <a:lstStyle/>
          <a:p>
            <a:pPr indent="0" marL="0">
              <a:buNone/>
            </a:pPr>
            <a:r>
              <a:rPr lang="en-US" sz="2188" dirty="0">
                <a:solidFill>
                  <a:srgbClr val="232D3B"/>
                </a:solidFill>
                <a:latin typeface="Aptos" pitchFamily="34" charset="0"/>
                <a:ea typeface="Aptos" pitchFamily="34" charset="-122"/>
                <a:cs typeface="Aptos" pitchFamily="34" charset="-120"/>
              </a:rPr>
              <a:t>A universal mitochondrial cutoff is not appropriate for all tissues and protocols.</a:t>
            </a:r>
            <a:endParaRPr lang="en-US" sz="2188" dirty="0"/>
          </a:p>
        </p:txBody>
      </p:sp>
      <p:sp>
        <p:nvSpPr>
          <p:cNvPr id="15" name="Shape 13"/>
          <p:cNvSpPr/>
          <p:nvPr/>
        </p:nvSpPr>
        <p:spPr>
          <a:xfrm>
            <a:off x="603504" y="4572000"/>
            <a:ext cx="502920" cy="502920"/>
          </a:xfrm>
          <a:prstGeom prst="rect">
            <a:avLst/>
          </a:prstGeom>
          <a:solidFill>
            <a:srgbClr val="EAF2FC"/>
          </a:solidFill>
          <a:ln w="7620">
            <a:solidFill>
              <a:srgbClr val="EAF2FC"/>
            </a:solidFill>
            <a:prstDash val="solid"/>
          </a:ln>
        </p:spPr>
      </p:sp>
      <p:sp>
        <p:nvSpPr>
          <p:cNvPr id="16" name="Text 14"/>
          <p:cNvSpPr/>
          <p:nvPr/>
        </p:nvSpPr>
        <p:spPr>
          <a:xfrm>
            <a:off x="731520" y="462686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1353312" y="447141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Doublets and ambient RNA can distort cell profiles.</a:t>
            </a:r>
            <a:endParaRPr lang="en-US" sz="22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Clustering is a hypothesis generator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S12 / S13 / S27  |  8</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cluster depends on the representation and chosen resolution.</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multiple markers and sample context to propose a cell identity.</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cluster label and a statistical significance claim are different things.</a:t>
            </a:r>
            <a:endParaRPr lang="en-US" sz="2297" dirty="0"/>
          </a:p>
        </p:txBody>
      </p:sp>
      <p:sp>
        <p:nvSpPr>
          <p:cNvPr id="16" name="Text 14"/>
          <p:cNvSpPr/>
          <p:nvPr/>
        </p:nvSpPr>
        <p:spPr>
          <a:xfrm>
            <a:off x="841248" y="2157984"/>
            <a:ext cx="4471416" cy="411480"/>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Illustrative 2D projection</a:t>
            </a:r>
            <a:endParaRPr lang="en-US" sz="1900" dirty="0"/>
          </a:p>
        </p:txBody>
      </p:sp>
      <p:sp>
        <p:nvSpPr>
          <p:cNvPr id="17" name="Shape 15"/>
          <p:cNvSpPr/>
          <p:nvPr/>
        </p:nvSpPr>
        <p:spPr>
          <a:xfrm>
            <a:off x="1298448" y="5038344"/>
            <a:ext cx="3657600" cy="0"/>
          </a:xfrm>
          <a:prstGeom prst="line">
            <a:avLst/>
          </a:prstGeom>
          <a:noFill/>
          <a:ln w="12700">
            <a:solidFill>
              <a:srgbClr val="526171"/>
            </a:solidFill>
            <a:prstDash val="solid"/>
          </a:ln>
        </p:spPr>
      </p:sp>
      <p:sp>
        <p:nvSpPr>
          <p:cNvPr id="18" name="Shape 16"/>
          <p:cNvSpPr/>
          <p:nvPr/>
        </p:nvSpPr>
        <p:spPr>
          <a:xfrm>
            <a:off x="1298448" y="2935224"/>
            <a:ext cx="0" cy="2103120"/>
          </a:xfrm>
          <a:prstGeom prst="line">
            <a:avLst/>
          </a:prstGeom>
          <a:noFill/>
          <a:ln w="12700">
            <a:solidFill>
              <a:srgbClr val="526171"/>
            </a:solidFill>
            <a:prstDash val="solid"/>
          </a:ln>
        </p:spPr>
      </p:sp>
      <p:sp>
        <p:nvSpPr>
          <p:cNvPr id="19" name="Shape 17"/>
          <p:cNvSpPr/>
          <p:nvPr/>
        </p:nvSpPr>
        <p:spPr>
          <a:xfrm>
            <a:off x="1709928" y="3346704"/>
            <a:ext cx="118872" cy="118872"/>
          </a:xfrm>
          <a:prstGeom prst="ellipse">
            <a:avLst/>
          </a:prstGeom>
          <a:solidFill>
            <a:srgbClr val="2A78D6"/>
          </a:solidFill>
          <a:ln w="12700">
            <a:solidFill>
              <a:srgbClr val="2A78D6"/>
            </a:solidFill>
            <a:prstDash val="solid"/>
          </a:ln>
        </p:spPr>
      </p:sp>
      <p:sp>
        <p:nvSpPr>
          <p:cNvPr id="20" name="Shape 18"/>
          <p:cNvSpPr/>
          <p:nvPr/>
        </p:nvSpPr>
        <p:spPr>
          <a:xfrm>
            <a:off x="1938528" y="3346704"/>
            <a:ext cx="118872" cy="118872"/>
          </a:xfrm>
          <a:prstGeom prst="ellipse">
            <a:avLst/>
          </a:prstGeom>
          <a:solidFill>
            <a:srgbClr val="2A78D6"/>
          </a:solidFill>
          <a:ln w="12700">
            <a:solidFill>
              <a:srgbClr val="2A78D6"/>
            </a:solidFill>
            <a:prstDash val="solid"/>
          </a:ln>
        </p:spPr>
      </p:sp>
      <p:sp>
        <p:nvSpPr>
          <p:cNvPr id="21" name="Shape 19"/>
          <p:cNvSpPr/>
          <p:nvPr/>
        </p:nvSpPr>
        <p:spPr>
          <a:xfrm>
            <a:off x="2167128" y="3346704"/>
            <a:ext cx="118872" cy="118872"/>
          </a:xfrm>
          <a:prstGeom prst="ellipse">
            <a:avLst/>
          </a:prstGeom>
          <a:solidFill>
            <a:srgbClr val="2A78D6"/>
          </a:solidFill>
          <a:ln w="12700">
            <a:solidFill>
              <a:srgbClr val="2A78D6"/>
            </a:solidFill>
            <a:prstDash val="solid"/>
          </a:ln>
        </p:spPr>
      </p:sp>
      <p:sp>
        <p:nvSpPr>
          <p:cNvPr id="22" name="Shape 20"/>
          <p:cNvSpPr/>
          <p:nvPr/>
        </p:nvSpPr>
        <p:spPr>
          <a:xfrm>
            <a:off x="1709928" y="3639312"/>
            <a:ext cx="118872" cy="118872"/>
          </a:xfrm>
          <a:prstGeom prst="ellipse">
            <a:avLst/>
          </a:prstGeom>
          <a:solidFill>
            <a:srgbClr val="2A78D6"/>
          </a:solidFill>
          <a:ln w="12700">
            <a:solidFill>
              <a:srgbClr val="2A78D6"/>
            </a:solidFill>
            <a:prstDash val="solid"/>
          </a:ln>
        </p:spPr>
      </p:sp>
      <p:sp>
        <p:nvSpPr>
          <p:cNvPr id="23" name="Shape 21"/>
          <p:cNvSpPr/>
          <p:nvPr/>
        </p:nvSpPr>
        <p:spPr>
          <a:xfrm>
            <a:off x="1938528" y="3639312"/>
            <a:ext cx="118872" cy="118872"/>
          </a:xfrm>
          <a:prstGeom prst="ellipse">
            <a:avLst/>
          </a:prstGeom>
          <a:solidFill>
            <a:srgbClr val="2A78D6"/>
          </a:solidFill>
          <a:ln w="12700">
            <a:solidFill>
              <a:srgbClr val="2A78D6"/>
            </a:solidFill>
            <a:prstDash val="solid"/>
          </a:ln>
        </p:spPr>
      </p:sp>
      <p:sp>
        <p:nvSpPr>
          <p:cNvPr id="24" name="Shape 22"/>
          <p:cNvSpPr/>
          <p:nvPr/>
        </p:nvSpPr>
        <p:spPr>
          <a:xfrm>
            <a:off x="2167128" y="3639312"/>
            <a:ext cx="118872" cy="118872"/>
          </a:xfrm>
          <a:prstGeom prst="ellipse">
            <a:avLst/>
          </a:prstGeom>
          <a:solidFill>
            <a:srgbClr val="2A78D6"/>
          </a:solidFill>
          <a:ln w="12700">
            <a:solidFill>
              <a:srgbClr val="2A78D6"/>
            </a:solidFill>
            <a:prstDash val="solid"/>
          </a:ln>
        </p:spPr>
      </p:sp>
      <p:sp>
        <p:nvSpPr>
          <p:cNvPr id="25" name="Shape 23"/>
          <p:cNvSpPr/>
          <p:nvPr/>
        </p:nvSpPr>
        <p:spPr>
          <a:xfrm>
            <a:off x="1709928" y="3931920"/>
            <a:ext cx="118872" cy="118872"/>
          </a:xfrm>
          <a:prstGeom prst="ellipse">
            <a:avLst/>
          </a:prstGeom>
          <a:solidFill>
            <a:srgbClr val="2A78D6"/>
          </a:solidFill>
          <a:ln w="12700">
            <a:solidFill>
              <a:srgbClr val="2A78D6"/>
            </a:solidFill>
            <a:prstDash val="solid"/>
          </a:ln>
        </p:spPr>
      </p:sp>
      <p:sp>
        <p:nvSpPr>
          <p:cNvPr id="26" name="Shape 24"/>
          <p:cNvSpPr/>
          <p:nvPr/>
        </p:nvSpPr>
        <p:spPr>
          <a:xfrm>
            <a:off x="1938528" y="3931920"/>
            <a:ext cx="118872" cy="118872"/>
          </a:xfrm>
          <a:prstGeom prst="ellipse">
            <a:avLst/>
          </a:prstGeom>
          <a:solidFill>
            <a:srgbClr val="2A78D6"/>
          </a:solidFill>
          <a:ln w="12700">
            <a:solidFill>
              <a:srgbClr val="2A78D6"/>
            </a:solidFill>
            <a:prstDash val="solid"/>
          </a:ln>
        </p:spPr>
      </p:sp>
      <p:sp>
        <p:nvSpPr>
          <p:cNvPr id="27" name="Shape 25"/>
          <p:cNvSpPr/>
          <p:nvPr/>
        </p:nvSpPr>
        <p:spPr>
          <a:xfrm>
            <a:off x="2167128" y="3931920"/>
            <a:ext cx="118872" cy="118872"/>
          </a:xfrm>
          <a:prstGeom prst="ellipse">
            <a:avLst/>
          </a:prstGeom>
          <a:solidFill>
            <a:srgbClr val="2A78D6"/>
          </a:solidFill>
          <a:ln w="12700">
            <a:solidFill>
              <a:srgbClr val="2A78D6"/>
            </a:solidFill>
            <a:prstDash val="solid"/>
          </a:ln>
        </p:spPr>
      </p:sp>
      <p:sp>
        <p:nvSpPr>
          <p:cNvPr id="28" name="Shape 26"/>
          <p:cNvSpPr/>
          <p:nvPr/>
        </p:nvSpPr>
        <p:spPr>
          <a:xfrm>
            <a:off x="3675888" y="3529584"/>
            <a:ext cx="118872" cy="118872"/>
          </a:xfrm>
          <a:prstGeom prst="ellipse">
            <a:avLst/>
          </a:prstGeom>
          <a:solidFill>
            <a:srgbClr val="EB6834"/>
          </a:solidFill>
          <a:ln w="12700">
            <a:solidFill>
              <a:srgbClr val="EB6834"/>
            </a:solidFill>
            <a:prstDash val="solid"/>
          </a:ln>
        </p:spPr>
      </p:sp>
      <p:sp>
        <p:nvSpPr>
          <p:cNvPr id="29" name="Shape 27"/>
          <p:cNvSpPr/>
          <p:nvPr/>
        </p:nvSpPr>
        <p:spPr>
          <a:xfrm>
            <a:off x="3904488" y="3529584"/>
            <a:ext cx="118872" cy="118872"/>
          </a:xfrm>
          <a:prstGeom prst="ellipse">
            <a:avLst/>
          </a:prstGeom>
          <a:solidFill>
            <a:srgbClr val="EB6834"/>
          </a:solidFill>
          <a:ln w="12700">
            <a:solidFill>
              <a:srgbClr val="EB6834"/>
            </a:solidFill>
            <a:prstDash val="solid"/>
          </a:ln>
        </p:spPr>
      </p:sp>
      <p:sp>
        <p:nvSpPr>
          <p:cNvPr id="30" name="Shape 28"/>
          <p:cNvSpPr/>
          <p:nvPr/>
        </p:nvSpPr>
        <p:spPr>
          <a:xfrm>
            <a:off x="4133088" y="3529584"/>
            <a:ext cx="118872" cy="118872"/>
          </a:xfrm>
          <a:prstGeom prst="ellipse">
            <a:avLst/>
          </a:prstGeom>
          <a:solidFill>
            <a:srgbClr val="EB6834"/>
          </a:solidFill>
          <a:ln w="12700">
            <a:solidFill>
              <a:srgbClr val="EB6834"/>
            </a:solidFill>
            <a:prstDash val="solid"/>
          </a:ln>
        </p:spPr>
      </p:sp>
      <p:sp>
        <p:nvSpPr>
          <p:cNvPr id="31" name="Shape 29"/>
          <p:cNvSpPr/>
          <p:nvPr/>
        </p:nvSpPr>
        <p:spPr>
          <a:xfrm>
            <a:off x="3675888" y="3822192"/>
            <a:ext cx="118872" cy="118872"/>
          </a:xfrm>
          <a:prstGeom prst="ellipse">
            <a:avLst/>
          </a:prstGeom>
          <a:solidFill>
            <a:srgbClr val="EB6834"/>
          </a:solidFill>
          <a:ln w="12700">
            <a:solidFill>
              <a:srgbClr val="EB6834"/>
            </a:solidFill>
            <a:prstDash val="solid"/>
          </a:ln>
        </p:spPr>
      </p:sp>
      <p:sp>
        <p:nvSpPr>
          <p:cNvPr id="32" name="Shape 30"/>
          <p:cNvSpPr/>
          <p:nvPr/>
        </p:nvSpPr>
        <p:spPr>
          <a:xfrm>
            <a:off x="3904488" y="3822192"/>
            <a:ext cx="118872" cy="118872"/>
          </a:xfrm>
          <a:prstGeom prst="ellipse">
            <a:avLst/>
          </a:prstGeom>
          <a:solidFill>
            <a:srgbClr val="EB6834"/>
          </a:solidFill>
          <a:ln w="12700">
            <a:solidFill>
              <a:srgbClr val="EB6834"/>
            </a:solidFill>
            <a:prstDash val="solid"/>
          </a:ln>
        </p:spPr>
      </p:sp>
      <p:sp>
        <p:nvSpPr>
          <p:cNvPr id="33" name="Shape 31"/>
          <p:cNvSpPr/>
          <p:nvPr/>
        </p:nvSpPr>
        <p:spPr>
          <a:xfrm>
            <a:off x="4133088" y="3822192"/>
            <a:ext cx="118872" cy="118872"/>
          </a:xfrm>
          <a:prstGeom prst="ellipse">
            <a:avLst/>
          </a:prstGeom>
          <a:solidFill>
            <a:srgbClr val="EB6834"/>
          </a:solidFill>
          <a:ln w="12700">
            <a:solidFill>
              <a:srgbClr val="EB6834"/>
            </a:solidFill>
            <a:prstDash val="solid"/>
          </a:ln>
        </p:spPr>
      </p:sp>
      <p:sp>
        <p:nvSpPr>
          <p:cNvPr id="34" name="Shape 32"/>
          <p:cNvSpPr/>
          <p:nvPr/>
        </p:nvSpPr>
        <p:spPr>
          <a:xfrm>
            <a:off x="3675888" y="4114800"/>
            <a:ext cx="118872" cy="118872"/>
          </a:xfrm>
          <a:prstGeom prst="ellipse">
            <a:avLst/>
          </a:prstGeom>
          <a:solidFill>
            <a:srgbClr val="EB6834"/>
          </a:solidFill>
          <a:ln w="12700">
            <a:solidFill>
              <a:srgbClr val="EB6834"/>
            </a:solidFill>
            <a:prstDash val="solid"/>
          </a:ln>
        </p:spPr>
      </p:sp>
      <p:sp>
        <p:nvSpPr>
          <p:cNvPr id="35" name="Shape 33"/>
          <p:cNvSpPr/>
          <p:nvPr/>
        </p:nvSpPr>
        <p:spPr>
          <a:xfrm>
            <a:off x="3904488" y="4114800"/>
            <a:ext cx="118872" cy="118872"/>
          </a:xfrm>
          <a:prstGeom prst="ellipse">
            <a:avLst/>
          </a:prstGeom>
          <a:solidFill>
            <a:srgbClr val="EB6834"/>
          </a:solidFill>
          <a:ln w="12700">
            <a:solidFill>
              <a:srgbClr val="EB6834"/>
            </a:solidFill>
            <a:prstDash val="solid"/>
          </a:ln>
        </p:spPr>
      </p:sp>
      <p:sp>
        <p:nvSpPr>
          <p:cNvPr id="36" name="Shape 34"/>
          <p:cNvSpPr/>
          <p:nvPr/>
        </p:nvSpPr>
        <p:spPr>
          <a:xfrm>
            <a:off x="4133088" y="4114800"/>
            <a:ext cx="118872" cy="118872"/>
          </a:xfrm>
          <a:prstGeom prst="ellipse">
            <a:avLst/>
          </a:prstGeom>
          <a:solidFill>
            <a:srgbClr val="EB6834"/>
          </a:solidFill>
          <a:ln w="12700">
            <a:solidFill>
              <a:srgbClr val="EB6834"/>
            </a:solidFill>
            <a:prstDash val="solid"/>
          </a:ln>
        </p:spPr>
      </p:sp>
      <p:sp>
        <p:nvSpPr>
          <p:cNvPr id="37" name="Text 35"/>
          <p:cNvSpPr/>
          <p:nvPr/>
        </p:nvSpPr>
        <p:spPr>
          <a:xfrm>
            <a:off x="841248" y="5340096"/>
            <a:ext cx="4471416" cy="685800"/>
          </a:xfrm>
          <a:prstGeom prst="rect">
            <a:avLst/>
          </a:prstGeom>
          <a:noFill/>
          <a:ln/>
        </p:spPr>
        <p:txBody>
          <a:bodyPr wrap="square" lIns="0" tIns="0" rIns="0" bIns="0" rtlCol="0" anchor="ctr">
            <a:normAutofit/>
          </a:bodyPr>
          <a:lstStyle/>
          <a:p>
            <a:pPr algn="ctr" indent="0" marL="0">
              <a:buNone/>
            </a:pPr>
            <a:r>
              <a:rPr lang="en-US" sz="1600" dirty="0">
                <a:solidFill>
                  <a:srgbClr val="526171"/>
                </a:solidFill>
                <a:latin typeface="Aptos" pitchFamily="34" charset="0"/>
                <a:ea typeface="Aptos" pitchFamily="34" charset="-122"/>
                <a:cs typeface="Aptos" pitchFamily="34" charset="-120"/>
              </a:rPr>
              <a:t>A displayed group is a hypothesis, not a diagnosis.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For condition comparisons, keep donor identity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S12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Many cells from one donor share biological and technical factors.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Treating them as independent donors can underestimate uncertainty.</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Between-donor replication is essential for a donor-level comparison.</a:t>
            </a:r>
            <a:endParaRPr lang="en-US" sz="2297" dirty="0"/>
          </a:p>
        </p:txBody>
      </p:sp>
      <p:sp>
        <p:nvSpPr>
          <p:cNvPr id="16" name="Text 14"/>
          <p:cNvSpPr/>
          <p:nvPr/>
        </p:nvSpPr>
        <p:spPr>
          <a:xfrm>
            <a:off x="841248"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1</a:t>
            </a:r>
            <a:endParaRPr lang="en-US" sz="1797" dirty="0"/>
          </a:p>
        </p:txBody>
      </p:sp>
      <p:sp>
        <p:nvSpPr>
          <p:cNvPr id="17" name="Shape 15"/>
          <p:cNvSpPr/>
          <p:nvPr/>
        </p:nvSpPr>
        <p:spPr>
          <a:xfrm>
            <a:off x="841248" y="3209544"/>
            <a:ext cx="1325880" cy="1554480"/>
          </a:xfrm>
          <a:prstGeom prst="rect">
            <a:avLst/>
          </a:prstGeom>
          <a:solidFill>
            <a:srgbClr val="FFFFFF"/>
          </a:solidFill>
          <a:ln w="7620">
            <a:solidFill>
              <a:srgbClr val="FFFFFF"/>
            </a:solidFill>
            <a:prstDash val="solid"/>
          </a:ln>
        </p:spPr>
      </p:sp>
      <p:sp>
        <p:nvSpPr>
          <p:cNvPr id="18" name="Shape 16"/>
          <p:cNvSpPr/>
          <p:nvPr/>
        </p:nvSpPr>
        <p:spPr>
          <a:xfrm>
            <a:off x="1024128" y="3438144"/>
            <a:ext cx="201168" cy="201168"/>
          </a:xfrm>
          <a:prstGeom prst="ellipse">
            <a:avLst/>
          </a:prstGeom>
          <a:solidFill>
            <a:srgbClr val="2A78D6"/>
          </a:solidFill>
          <a:ln w="12700">
            <a:solidFill>
              <a:srgbClr val="2A78D6"/>
            </a:solidFill>
            <a:prstDash val="solid"/>
          </a:ln>
        </p:spPr>
      </p:sp>
      <p:sp>
        <p:nvSpPr>
          <p:cNvPr id="19" name="Shape 17"/>
          <p:cNvSpPr/>
          <p:nvPr/>
        </p:nvSpPr>
        <p:spPr>
          <a:xfrm>
            <a:off x="1554480" y="3438144"/>
            <a:ext cx="201168" cy="201168"/>
          </a:xfrm>
          <a:prstGeom prst="ellipse">
            <a:avLst/>
          </a:prstGeom>
          <a:solidFill>
            <a:srgbClr val="2A78D6"/>
          </a:solidFill>
          <a:ln w="12700">
            <a:solidFill>
              <a:srgbClr val="2A78D6"/>
            </a:solidFill>
            <a:prstDash val="solid"/>
          </a:ln>
        </p:spPr>
      </p:sp>
      <p:sp>
        <p:nvSpPr>
          <p:cNvPr id="20" name="Shape 18"/>
          <p:cNvSpPr/>
          <p:nvPr/>
        </p:nvSpPr>
        <p:spPr>
          <a:xfrm>
            <a:off x="1024128" y="3822192"/>
            <a:ext cx="201168" cy="201168"/>
          </a:xfrm>
          <a:prstGeom prst="ellipse">
            <a:avLst/>
          </a:prstGeom>
          <a:solidFill>
            <a:srgbClr val="2A78D6"/>
          </a:solidFill>
          <a:ln w="12700">
            <a:solidFill>
              <a:srgbClr val="2A78D6"/>
            </a:solidFill>
            <a:prstDash val="solid"/>
          </a:ln>
        </p:spPr>
      </p:sp>
      <p:sp>
        <p:nvSpPr>
          <p:cNvPr id="21" name="Shape 19"/>
          <p:cNvSpPr/>
          <p:nvPr/>
        </p:nvSpPr>
        <p:spPr>
          <a:xfrm>
            <a:off x="1554480" y="3822192"/>
            <a:ext cx="201168" cy="201168"/>
          </a:xfrm>
          <a:prstGeom prst="ellipse">
            <a:avLst/>
          </a:prstGeom>
          <a:solidFill>
            <a:srgbClr val="2A78D6"/>
          </a:solidFill>
          <a:ln w="12700">
            <a:solidFill>
              <a:srgbClr val="2A78D6"/>
            </a:solidFill>
            <a:prstDash val="solid"/>
          </a:ln>
        </p:spPr>
      </p:sp>
      <p:sp>
        <p:nvSpPr>
          <p:cNvPr id="22" name="Shape 20"/>
          <p:cNvSpPr/>
          <p:nvPr/>
        </p:nvSpPr>
        <p:spPr>
          <a:xfrm>
            <a:off x="1024128" y="4206240"/>
            <a:ext cx="201168" cy="201168"/>
          </a:xfrm>
          <a:prstGeom prst="ellipse">
            <a:avLst/>
          </a:prstGeom>
          <a:solidFill>
            <a:srgbClr val="2A78D6"/>
          </a:solidFill>
          <a:ln w="12700">
            <a:solidFill>
              <a:srgbClr val="2A78D6"/>
            </a:solidFill>
            <a:prstDash val="solid"/>
          </a:ln>
        </p:spPr>
      </p:sp>
      <p:sp>
        <p:nvSpPr>
          <p:cNvPr id="23" name="Shape 21"/>
          <p:cNvSpPr/>
          <p:nvPr/>
        </p:nvSpPr>
        <p:spPr>
          <a:xfrm>
            <a:off x="1554480" y="4206240"/>
            <a:ext cx="201168" cy="201168"/>
          </a:xfrm>
          <a:prstGeom prst="ellipse">
            <a:avLst/>
          </a:prstGeom>
          <a:solidFill>
            <a:srgbClr val="2A78D6"/>
          </a:solidFill>
          <a:ln w="12700">
            <a:solidFill>
              <a:srgbClr val="2A78D6"/>
            </a:solidFill>
            <a:prstDash val="solid"/>
          </a:ln>
        </p:spPr>
      </p:sp>
      <p:sp>
        <p:nvSpPr>
          <p:cNvPr id="24" name="Text 22"/>
          <p:cNvSpPr/>
          <p:nvPr/>
        </p:nvSpPr>
        <p:spPr>
          <a:xfrm>
            <a:off x="2331720"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2</a:t>
            </a:r>
            <a:endParaRPr lang="en-US" sz="1797" dirty="0"/>
          </a:p>
        </p:txBody>
      </p:sp>
      <p:sp>
        <p:nvSpPr>
          <p:cNvPr id="25" name="Shape 23"/>
          <p:cNvSpPr/>
          <p:nvPr/>
        </p:nvSpPr>
        <p:spPr>
          <a:xfrm>
            <a:off x="2331720" y="3209544"/>
            <a:ext cx="1325880" cy="1554480"/>
          </a:xfrm>
          <a:prstGeom prst="rect">
            <a:avLst/>
          </a:prstGeom>
          <a:solidFill>
            <a:srgbClr val="FFFFFF"/>
          </a:solidFill>
          <a:ln w="7620">
            <a:solidFill>
              <a:srgbClr val="FFFFFF"/>
            </a:solidFill>
            <a:prstDash val="solid"/>
          </a:ln>
        </p:spPr>
      </p:sp>
      <p:sp>
        <p:nvSpPr>
          <p:cNvPr id="26" name="Shape 24"/>
          <p:cNvSpPr/>
          <p:nvPr/>
        </p:nvSpPr>
        <p:spPr>
          <a:xfrm>
            <a:off x="2514600" y="3438144"/>
            <a:ext cx="201168" cy="201168"/>
          </a:xfrm>
          <a:prstGeom prst="ellipse">
            <a:avLst/>
          </a:prstGeom>
          <a:solidFill>
            <a:srgbClr val="2A78D6"/>
          </a:solidFill>
          <a:ln w="12700">
            <a:solidFill>
              <a:srgbClr val="2A78D6"/>
            </a:solidFill>
            <a:prstDash val="solid"/>
          </a:ln>
        </p:spPr>
      </p:sp>
      <p:sp>
        <p:nvSpPr>
          <p:cNvPr id="27" name="Shape 25"/>
          <p:cNvSpPr/>
          <p:nvPr/>
        </p:nvSpPr>
        <p:spPr>
          <a:xfrm>
            <a:off x="3044952" y="3438144"/>
            <a:ext cx="201168" cy="201168"/>
          </a:xfrm>
          <a:prstGeom prst="ellipse">
            <a:avLst/>
          </a:prstGeom>
          <a:solidFill>
            <a:srgbClr val="2A78D6"/>
          </a:solidFill>
          <a:ln w="12700">
            <a:solidFill>
              <a:srgbClr val="2A78D6"/>
            </a:solidFill>
            <a:prstDash val="solid"/>
          </a:ln>
        </p:spPr>
      </p:sp>
      <p:sp>
        <p:nvSpPr>
          <p:cNvPr id="28" name="Shape 26"/>
          <p:cNvSpPr/>
          <p:nvPr/>
        </p:nvSpPr>
        <p:spPr>
          <a:xfrm>
            <a:off x="2514600" y="3822192"/>
            <a:ext cx="201168" cy="201168"/>
          </a:xfrm>
          <a:prstGeom prst="ellipse">
            <a:avLst/>
          </a:prstGeom>
          <a:solidFill>
            <a:srgbClr val="2A78D6"/>
          </a:solidFill>
          <a:ln w="12700">
            <a:solidFill>
              <a:srgbClr val="2A78D6"/>
            </a:solidFill>
            <a:prstDash val="solid"/>
          </a:ln>
        </p:spPr>
      </p:sp>
      <p:sp>
        <p:nvSpPr>
          <p:cNvPr id="29" name="Shape 27"/>
          <p:cNvSpPr/>
          <p:nvPr/>
        </p:nvSpPr>
        <p:spPr>
          <a:xfrm>
            <a:off x="3044952" y="3822192"/>
            <a:ext cx="201168" cy="201168"/>
          </a:xfrm>
          <a:prstGeom prst="ellipse">
            <a:avLst/>
          </a:prstGeom>
          <a:solidFill>
            <a:srgbClr val="2A78D6"/>
          </a:solidFill>
          <a:ln w="12700">
            <a:solidFill>
              <a:srgbClr val="2A78D6"/>
            </a:solidFill>
            <a:prstDash val="solid"/>
          </a:ln>
        </p:spPr>
      </p:sp>
      <p:sp>
        <p:nvSpPr>
          <p:cNvPr id="30" name="Shape 28"/>
          <p:cNvSpPr/>
          <p:nvPr/>
        </p:nvSpPr>
        <p:spPr>
          <a:xfrm>
            <a:off x="2514600" y="4206240"/>
            <a:ext cx="201168" cy="201168"/>
          </a:xfrm>
          <a:prstGeom prst="ellipse">
            <a:avLst/>
          </a:prstGeom>
          <a:solidFill>
            <a:srgbClr val="2A78D6"/>
          </a:solidFill>
          <a:ln w="12700">
            <a:solidFill>
              <a:srgbClr val="2A78D6"/>
            </a:solidFill>
            <a:prstDash val="solid"/>
          </a:ln>
        </p:spPr>
      </p:sp>
      <p:sp>
        <p:nvSpPr>
          <p:cNvPr id="31" name="Shape 29"/>
          <p:cNvSpPr/>
          <p:nvPr/>
        </p:nvSpPr>
        <p:spPr>
          <a:xfrm>
            <a:off x="3044952" y="4206240"/>
            <a:ext cx="201168" cy="201168"/>
          </a:xfrm>
          <a:prstGeom prst="ellipse">
            <a:avLst/>
          </a:prstGeom>
          <a:solidFill>
            <a:srgbClr val="2A78D6"/>
          </a:solidFill>
          <a:ln w="12700">
            <a:solidFill>
              <a:srgbClr val="2A78D6"/>
            </a:solidFill>
            <a:prstDash val="solid"/>
          </a:ln>
        </p:spPr>
      </p:sp>
      <p:sp>
        <p:nvSpPr>
          <p:cNvPr id="32" name="Text 30"/>
          <p:cNvSpPr/>
          <p:nvPr/>
        </p:nvSpPr>
        <p:spPr>
          <a:xfrm>
            <a:off x="3822192"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3</a:t>
            </a:r>
            <a:endParaRPr lang="en-US" sz="1797" dirty="0"/>
          </a:p>
        </p:txBody>
      </p:sp>
      <p:sp>
        <p:nvSpPr>
          <p:cNvPr id="33" name="Shape 31"/>
          <p:cNvSpPr/>
          <p:nvPr/>
        </p:nvSpPr>
        <p:spPr>
          <a:xfrm>
            <a:off x="3822192" y="3209544"/>
            <a:ext cx="1325880" cy="1554480"/>
          </a:xfrm>
          <a:prstGeom prst="rect">
            <a:avLst/>
          </a:prstGeom>
          <a:solidFill>
            <a:srgbClr val="FFFFFF"/>
          </a:solidFill>
          <a:ln w="7620">
            <a:solidFill>
              <a:srgbClr val="FFFFFF"/>
            </a:solidFill>
            <a:prstDash val="solid"/>
          </a:ln>
        </p:spPr>
      </p:sp>
      <p:sp>
        <p:nvSpPr>
          <p:cNvPr id="34" name="Shape 32"/>
          <p:cNvSpPr/>
          <p:nvPr/>
        </p:nvSpPr>
        <p:spPr>
          <a:xfrm>
            <a:off x="4005072" y="3438144"/>
            <a:ext cx="201168" cy="201168"/>
          </a:xfrm>
          <a:prstGeom prst="ellipse">
            <a:avLst/>
          </a:prstGeom>
          <a:solidFill>
            <a:srgbClr val="2A78D6"/>
          </a:solidFill>
          <a:ln w="12700">
            <a:solidFill>
              <a:srgbClr val="2A78D6"/>
            </a:solidFill>
            <a:prstDash val="solid"/>
          </a:ln>
        </p:spPr>
      </p:sp>
      <p:sp>
        <p:nvSpPr>
          <p:cNvPr id="35" name="Shape 33"/>
          <p:cNvSpPr/>
          <p:nvPr/>
        </p:nvSpPr>
        <p:spPr>
          <a:xfrm>
            <a:off x="4535424" y="3438144"/>
            <a:ext cx="201168" cy="201168"/>
          </a:xfrm>
          <a:prstGeom prst="ellipse">
            <a:avLst/>
          </a:prstGeom>
          <a:solidFill>
            <a:srgbClr val="2A78D6"/>
          </a:solidFill>
          <a:ln w="12700">
            <a:solidFill>
              <a:srgbClr val="2A78D6"/>
            </a:solidFill>
            <a:prstDash val="solid"/>
          </a:ln>
        </p:spPr>
      </p:sp>
      <p:sp>
        <p:nvSpPr>
          <p:cNvPr id="36" name="Shape 34"/>
          <p:cNvSpPr/>
          <p:nvPr/>
        </p:nvSpPr>
        <p:spPr>
          <a:xfrm>
            <a:off x="4005072" y="3822192"/>
            <a:ext cx="201168" cy="201168"/>
          </a:xfrm>
          <a:prstGeom prst="ellipse">
            <a:avLst/>
          </a:prstGeom>
          <a:solidFill>
            <a:srgbClr val="2A78D6"/>
          </a:solidFill>
          <a:ln w="12700">
            <a:solidFill>
              <a:srgbClr val="2A78D6"/>
            </a:solidFill>
            <a:prstDash val="solid"/>
          </a:ln>
        </p:spPr>
      </p:sp>
      <p:sp>
        <p:nvSpPr>
          <p:cNvPr id="37" name="Shape 35"/>
          <p:cNvSpPr/>
          <p:nvPr/>
        </p:nvSpPr>
        <p:spPr>
          <a:xfrm>
            <a:off x="4535424" y="3822192"/>
            <a:ext cx="201168" cy="201168"/>
          </a:xfrm>
          <a:prstGeom prst="ellipse">
            <a:avLst/>
          </a:prstGeom>
          <a:solidFill>
            <a:srgbClr val="2A78D6"/>
          </a:solidFill>
          <a:ln w="12700">
            <a:solidFill>
              <a:srgbClr val="2A78D6"/>
            </a:solidFill>
            <a:prstDash val="solid"/>
          </a:ln>
        </p:spPr>
      </p:sp>
      <p:sp>
        <p:nvSpPr>
          <p:cNvPr id="38" name="Shape 36"/>
          <p:cNvSpPr/>
          <p:nvPr/>
        </p:nvSpPr>
        <p:spPr>
          <a:xfrm>
            <a:off x="4005072" y="4206240"/>
            <a:ext cx="201168" cy="201168"/>
          </a:xfrm>
          <a:prstGeom prst="ellipse">
            <a:avLst/>
          </a:prstGeom>
          <a:solidFill>
            <a:srgbClr val="2A78D6"/>
          </a:solidFill>
          <a:ln w="12700">
            <a:solidFill>
              <a:srgbClr val="2A78D6"/>
            </a:solidFill>
            <a:prstDash val="solid"/>
          </a:ln>
        </p:spPr>
      </p:sp>
      <p:sp>
        <p:nvSpPr>
          <p:cNvPr id="39" name="Shape 37"/>
          <p:cNvSpPr/>
          <p:nvPr/>
        </p:nvSpPr>
        <p:spPr>
          <a:xfrm>
            <a:off x="4535424" y="4206240"/>
            <a:ext cx="201168" cy="201168"/>
          </a:xfrm>
          <a:prstGeom prst="ellipse">
            <a:avLst/>
          </a:prstGeom>
          <a:solidFill>
            <a:srgbClr val="2A78D6"/>
          </a:solidFill>
          <a:ln w="12700">
            <a:solidFill>
              <a:srgbClr val="2A78D6"/>
            </a:solidFill>
            <a:prstDash val="solid"/>
          </a:ln>
        </p:spPr>
      </p:sp>
      <p:sp>
        <p:nvSpPr>
          <p:cNvPr id="40" name="Text 38"/>
          <p:cNvSpPr/>
          <p:nvPr/>
        </p:nvSpPr>
        <p:spPr>
          <a:xfrm>
            <a:off x="841248" y="5175504"/>
            <a:ext cx="4471416" cy="621792"/>
          </a:xfrm>
          <a:prstGeom prst="rect">
            <a:avLst/>
          </a:prstGeom>
          <a:noFill/>
          <a:ln/>
        </p:spPr>
        <p:txBody>
          <a:bodyPr wrap="square" lIns="0" tIns="0" rIns="0" bIns="0" rtlCol="0" anchor="ctr">
            <a:normAutofit/>
          </a:bodyPr>
          <a:lstStyle/>
          <a:p>
            <a:pPr algn="ctr" indent="0" marL="0">
              <a:buNone/>
            </a:pPr>
            <a:r>
              <a:rPr lang="en-US" sz="1903" dirty="0">
                <a:solidFill>
                  <a:srgbClr val="526171"/>
                </a:solidFill>
                <a:latin typeface="Aptos" pitchFamily="34" charset="0"/>
                <a:ea typeface="Aptos" pitchFamily="34" charset="-122"/>
                <a:cs typeface="Aptos" pitchFamily="34" charset="-120"/>
              </a:rPr>
              <a:t>Nested cells do not create new donors.</a:t>
            </a:r>
            <a:endParaRPr lang="en-US" sz="190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Pseudobulk retains the biological unit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S09 / S12  |  10</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Within each donor and cell type, sum raw counts.</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resulting columns or rows represent donor-cell-type samples.</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 count model can then represent the experimental design, including pairing when appropriate.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Pseudobulk is not a magic rescue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S12  |  11</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One donor per condition still lacks between-donor replication.</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Very few donors imply limited precision and power.</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donor-aware mixed model is another possible approach; method choice depends on the question.</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aggregate, do not multiply donors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A cell type has counts [2,3] in donor A and [4,1,2] in donor B.</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Pseudobulk count for A = 5.</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Pseudobulk count for B = 7.</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There are two donor-cell-type samples, not five independent donors.</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 study measures 10,000 cells from one control donor and one treated donor. Would doubling the cells enable a defensible population-level treatment comparison?</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No. It improves within-donor sampling but does not add independent donors or estimate general between-donor variability.</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W10: aggregate a synthetic cell table, compare cell and donor sample sizes, and explain why a cell-level shortcut fails. The lab uses no AnnData installation.</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barcode</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UMI</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cell type</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pseudobulk</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donor</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differential abundance and paired donor designs; no atlas integration pipeline is required.</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10</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S09 / S12 / S13 / S27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S09  Love, Huber and Anders (2014). Moderated estimation of fold change and dispersion for RNA-seq data with DESeq2.</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S12  Squair et al. (2021). Confronting false discoveries in single-cell differential expression.</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S13  AnnData documentation: annotated data matrices.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S27  EMBL-EBI: Single cell RNA-seq analysis using Python materials (2026).</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cells and biological replication</dc:title>
  <dc:subject>Scaffolded fourth-year bioengineering</dc:subject>
  <dc:creator>BIB course teaching materials</dc:creator>
  <cp:lastModifiedBy>BIB course teaching materials</cp:lastModifiedBy>
  <cp:revision>1</cp:revision>
  <dcterms:created xsi:type="dcterms:W3CDTF">2026-09-14T18:26:57Z</dcterms:created>
  <dcterms:modified xsi:type="dcterms:W3CDTF">2026-09-14T18:26:57Z</dcterms:modified>
</cp:coreProperties>
</file>